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2.xml" ContentType="application/inkml+xml"/>
  <Override PartName="/ppt/notesSlides/notesSlide16.xml" ContentType="application/vnd.openxmlformats-officedocument.presentationml.notesSlide+xml"/>
  <Override PartName="/ppt/ink/ink3.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4.xml" ContentType="application/inkml+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ink/ink5.xml" ContentType="application/inkml+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ink/ink6.xml" ContentType="application/inkml+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ink/ink7.xml" ContentType="application/inkml+xml"/>
  <Override PartName="/ppt/notesSlides/notesSlide28.xml" ContentType="application/vnd.openxmlformats-officedocument.presentationml.notesSlide+xml"/>
  <Override PartName="/ppt/ink/ink8.xml" ContentType="application/inkml+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ink/ink9.xml" ContentType="application/inkml+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ink/ink10.xml" ContentType="application/inkml+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ink/ink11.xml" ContentType="application/inkml+xml"/>
  <Override PartName="/ppt/notesSlides/notesSlide64.xml" ContentType="application/vnd.openxmlformats-officedocument.presentationml.notesSlide+xml"/>
  <Override PartName="/ppt/ink/ink12.xml" ContentType="application/inkml+xml"/>
  <Override PartName="/ppt/notesSlides/notesSlide65.xml" ContentType="application/vnd.openxmlformats-officedocument.presentationml.notesSlide+xml"/>
  <Override PartName="/ppt/ink/ink13.xml" ContentType="application/inkml+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06" r:id="rId1"/>
  </p:sldMasterIdLst>
  <p:notesMasterIdLst>
    <p:notesMasterId r:id="rId125"/>
  </p:notesMasterIdLst>
  <p:sldIdLst>
    <p:sldId id="256" r:id="rId2"/>
    <p:sldId id="275" r:id="rId3"/>
    <p:sldId id="274" r:id="rId4"/>
    <p:sldId id="276" r:id="rId5"/>
    <p:sldId id="273" r:id="rId6"/>
    <p:sldId id="277" r:id="rId7"/>
    <p:sldId id="278" r:id="rId8"/>
    <p:sldId id="279" r:id="rId9"/>
    <p:sldId id="358" r:id="rId10"/>
    <p:sldId id="272" r:id="rId11"/>
    <p:sldId id="257" r:id="rId12"/>
    <p:sldId id="269" r:id="rId13"/>
    <p:sldId id="268" r:id="rId14"/>
    <p:sldId id="270" r:id="rId15"/>
    <p:sldId id="292" r:id="rId16"/>
    <p:sldId id="359" r:id="rId17"/>
    <p:sldId id="293" r:id="rId18"/>
    <p:sldId id="280" r:id="rId19"/>
    <p:sldId id="258" r:id="rId20"/>
    <p:sldId id="281" r:id="rId21"/>
    <p:sldId id="291" r:id="rId22"/>
    <p:sldId id="406" r:id="rId23"/>
    <p:sldId id="364" r:id="rId24"/>
    <p:sldId id="271" r:id="rId25"/>
    <p:sldId id="360" r:id="rId26"/>
    <p:sldId id="373" r:id="rId27"/>
    <p:sldId id="394" r:id="rId28"/>
    <p:sldId id="365" r:id="rId29"/>
    <p:sldId id="366" r:id="rId30"/>
    <p:sldId id="367" r:id="rId31"/>
    <p:sldId id="372" r:id="rId32"/>
    <p:sldId id="368" r:id="rId33"/>
    <p:sldId id="371" r:id="rId34"/>
    <p:sldId id="374" r:id="rId35"/>
    <p:sldId id="387" r:id="rId36"/>
    <p:sldId id="379" r:id="rId37"/>
    <p:sldId id="380" r:id="rId38"/>
    <p:sldId id="388" r:id="rId39"/>
    <p:sldId id="381" r:id="rId40"/>
    <p:sldId id="382" r:id="rId41"/>
    <p:sldId id="383" r:id="rId42"/>
    <p:sldId id="384" r:id="rId43"/>
    <p:sldId id="610" r:id="rId44"/>
    <p:sldId id="375" r:id="rId45"/>
    <p:sldId id="391" r:id="rId46"/>
    <p:sldId id="397" r:id="rId47"/>
    <p:sldId id="398" r:id="rId48"/>
    <p:sldId id="392" r:id="rId49"/>
    <p:sldId id="393" r:id="rId50"/>
    <p:sldId id="396" r:id="rId51"/>
    <p:sldId id="377" r:id="rId52"/>
    <p:sldId id="386" r:id="rId53"/>
    <p:sldId id="399" r:id="rId54"/>
    <p:sldId id="376" r:id="rId55"/>
    <p:sldId id="389" r:id="rId56"/>
    <p:sldId id="390" r:id="rId57"/>
    <p:sldId id="404" r:id="rId58"/>
    <p:sldId id="400" r:id="rId59"/>
    <p:sldId id="403" r:id="rId60"/>
    <p:sldId id="590" r:id="rId61"/>
    <p:sldId id="395" r:id="rId62"/>
    <p:sldId id="260" r:id="rId63"/>
    <p:sldId id="283" r:id="rId64"/>
    <p:sldId id="592" r:id="rId65"/>
    <p:sldId id="261" r:id="rId66"/>
    <p:sldId id="603" r:id="rId67"/>
    <p:sldId id="284" r:id="rId68"/>
    <p:sldId id="625" r:id="rId69"/>
    <p:sldId id="604" r:id="rId70"/>
    <p:sldId id="605" r:id="rId71"/>
    <p:sldId id="606" r:id="rId72"/>
    <p:sldId id="611" r:id="rId73"/>
    <p:sldId id="607" r:id="rId74"/>
    <p:sldId id="627" r:id="rId75"/>
    <p:sldId id="330" r:id="rId76"/>
    <p:sldId id="608" r:id="rId77"/>
    <p:sldId id="613" r:id="rId78"/>
    <p:sldId id="628" r:id="rId79"/>
    <p:sldId id="474" r:id="rId80"/>
    <p:sldId id="300" r:id="rId81"/>
    <p:sldId id="476" r:id="rId82"/>
    <p:sldId id="303" r:id="rId83"/>
    <p:sldId id="630" r:id="rId84"/>
    <p:sldId id="631" r:id="rId85"/>
    <p:sldId id="632" r:id="rId86"/>
    <p:sldId id="634" r:id="rId87"/>
    <p:sldId id="635" r:id="rId88"/>
    <p:sldId id="636" r:id="rId89"/>
    <p:sldId id="307" r:id="rId90"/>
    <p:sldId id="482" r:id="rId91"/>
    <p:sldId id="478" r:id="rId92"/>
    <p:sldId id="483" r:id="rId93"/>
    <p:sldId id="624" r:id="rId94"/>
    <p:sldId id="402" r:id="rId95"/>
    <p:sldId id="262" r:id="rId96"/>
    <p:sldId id="285" r:id="rId97"/>
    <p:sldId id="593" r:id="rId98"/>
    <p:sldId id="594" r:id="rId99"/>
    <p:sldId id="616" r:id="rId100"/>
    <p:sldId id="614" r:id="rId101"/>
    <p:sldId id="622" r:id="rId102"/>
    <p:sldId id="620" r:id="rId103"/>
    <p:sldId id="601" r:id="rId104"/>
    <p:sldId id="626" r:id="rId105"/>
    <p:sldId id="619" r:id="rId106"/>
    <p:sldId id="407" r:id="rId107"/>
    <p:sldId id="597" r:id="rId108"/>
    <p:sldId id="598" r:id="rId109"/>
    <p:sldId id="617" r:id="rId110"/>
    <p:sldId id="263" r:id="rId111"/>
    <p:sldId id="286" r:id="rId112"/>
    <p:sldId id="265" r:id="rId113"/>
    <p:sldId id="288" r:id="rId114"/>
    <p:sldId id="642" r:id="rId115"/>
    <p:sldId id="637" r:id="rId116"/>
    <p:sldId id="640" r:id="rId117"/>
    <p:sldId id="621" r:id="rId118"/>
    <p:sldId id="638" r:id="rId119"/>
    <p:sldId id="641" r:id="rId120"/>
    <p:sldId id="639" r:id="rId121"/>
    <p:sldId id="595" r:id="rId122"/>
    <p:sldId id="596" r:id="rId123"/>
    <p:sldId id="599" r:id="rId1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A00"/>
    <a:srgbClr val="E4650C"/>
    <a:srgbClr val="FF9300"/>
    <a:srgbClr val="FF2F92"/>
    <a:srgbClr val="0096FF"/>
    <a:srgbClr val="D883FF"/>
    <a:srgbClr val="943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09"/>
    <p:restoredTop sz="83008"/>
  </p:normalViewPr>
  <p:slideViewPr>
    <p:cSldViewPr snapToGrid="0">
      <p:cViewPr varScale="1">
        <p:scale>
          <a:sx n="94" d="100"/>
          <a:sy n="94" d="100"/>
        </p:scale>
        <p:origin x="114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diagrams/_rels/data1.xml.rels><?xml version="1.0" encoding="UTF-8" standalone="yes"?>
<Relationships xmlns="http://schemas.openxmlformats.org/package/2006/relationships"><Relationship Id="rId8" Type="http://schemas.openxmlformats.org/officeDocument/2006/relationships/image" Target="../media/image65.sv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svg"/><Relationship Id="rId1" Type="http://schemas.openxmlformats.org/officeDocument/2006/relationships/image" Target="../media/image58.png"/><Relationship Id="rId6" Type="http://schemas.openxmlformats.org/officeDocument/2006/relationships/image" Target="../media/image63.svg"/><Relationship Id="rId5" Type="http://schemas.openxmlformats.org/officeDocument/2006/relationships/image" Target="../media/image62.png"/><Relationship Id="rId10" Type="http://schemas.openxmlformats.org/officeDocument/2006/relationships/image" Target="../media/image67.svg"/><Relationship Id="rId4" Type="http://schemas.openxmlformats.org/officeDocument/2006/relationships/image" Target="../media/image61.svg"/><Relationship Id="rId9" Type="http://schemas.openxmlformats.org/officeDocument/2006/relationships/image" Target="../media/image66.png"/></Relationships>
</file>

<file path=ppt/diagrams/_rels/data2.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svg"/><Relationship Id="rId1" Type="http://schemas.openxmlformats.org/officeDocument/2006/relationships/image" Target="../media/image113.png"/><Relationship Id="rId6" Type="http://schemas.openxmlformats.org/officeDocument/2006/relationships/image" Target="../media/image118.svg"/><Relationship Id="rId5" Type="http://schemas.openxmlformats.org/officeDocument/2006/relationships/image" Target="../media/image117.png"/><Relationship Id="rId4" Type="http://schemas.openxmlformats.org/officeDocument/2006/relationships/image" Target="../media/image11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65.sv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svg"/><Relationship Id="rId1" Type="http://schemas.openxmlformats.org/officeDocument/2006/relationships/image" Target="../media/image58.png"/><Relationship Id="rId6" Type="http://schemas.openxmlformats.org/officeDocument/2006/relationships/image" Target="../media/image63.svg"/><Relationship Id="rId5" Type="http://schemas.openxmlformats.org/officeDocument/2006/relationships/image" Target="../media/image62.png"/><Relationship Id="rId10" Type="http://schemas.openxmlformats.org/officeDocument/2006/relationships/image" Target="../media/image67.svg"/><Relationship Id="rId4" Type="http://schemas.openxmlformats.org/officeDocument/2006/relationships/image" Target="../media/image61.svg"/><Relationship Id="rId9" Type="http://schemas.openxmlformats.org/officeDocument/2006/relationships/image" Target="../media/image66.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svg"/><Relationship Id="rId1" Type="http://schemas.openxmlformats.org/officeDocument/2006/relationships/image" Target="../media/image113.png"/><Relationship Id="rId6" Type="http://schemas.openxmlformats.org/officeDocument/2006/relationships/image" Target="../media/image118.svg"/><Relationship Id="rId5" Type="http://schemas.openxmlformats.org/officeDocument/2006/relationships/image" Target="../media/image117.png"/><Relationship Id="rId4" Type="http://schemas.openxmlformats.org/officeDocument/2006/relationships/image" Target="../media/image116.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DE9ADB-F8BB-49DB-9C19-83014C35ABD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EAF5616-6197-4874-8766-5F4BB7D04E8B}">
      <dgm:prSet custT="1"/>
      <dgm:spPr/>
      <dgm:t>
        <a:bodyPr/>
        <a:lstStyle/>
        <a:p>
          <a:pPr>
            <a:lnSpc>
              <a:spcPct val="100000"/>
            </a:lnSpc>
          </a:pPr>
          <a:r>
            <a:rPr lang="en-US" sz="2800" dirty="0"/>
            <a:t>Week 5 STI’s.</a:t>
          </a:r>
        </a:p>
      </dgm:t>
    </dgm:pt>
    <dgm:pt modelId="{569F0A04-88E0-4299-ABBE-85281493B1DE}" type="parTrans" cxnId="{59EC7B23-6881-4C3A-8D74-8E9BB9DFC5F6}">
      <dgm:prSet/>
      <dgm:spPr/>
      <dgm:t>
        <a:bodyPr/>
        <a:lstStyle/>
        <a:p>
          <a:endParaRPr lang="en-US"/>
        </a:p>
      </dgm:t>
    </dgm:pt>
    <dgm:pt modelId="{01C27BB6-4E5B-4C5F-8A4F-323939EEACEE}" type="sibTrans" cxnId="{59EC7B23-6881-4C3A-8D74-8E9BB9DFC5F6}">
      <dgm:prSet/>
      <dgm:spPr/>
      <dgm:t>
        <a:bodyPr/>
        <a:lstStyle/>
        <a:p>
          <a:endParaRPr lang="en-US"/>
        </a:p>
      </dgm:t>
    </dgm:pt>
    <dgm:pt modelId="{F5502EDD-7816-4448-A3E2-CC23C846FD58}">
      <dgm:prSet custT="1"/>
      <dgm:spPr/>
      <dgm:t>
        <a:bodyPr/>
        <a:lstStyle/>
        <a:p>
          <a:pPr>
            <a:lnSpc>
              <a:spcPct val="100000"/>
            </a:lnSpc>
          </a:pPr>
          <a:r>
            <a:rPr lang="en-US" sz="2800" dirty="0"/>
            <a:t>Week 6 = STI’s + Task 3: STI Oral Presentations.</a:t>
          </a:r>
        </a:p>
      </dgm:t>
    </dgm:pt>
    <dgm:pt modelId="{D1D71C9A-DEDB-4C56-AC8F-B56A53E89EC2}" type="parTrans" cxnId="{57A70D9A-C05E-4C51-A55D-A31A995BCB02}">
      <dgm:prSet/>
      <dgm:spPr/>
      <dgm:t>
        <a:bodyPr/>
        <a:lstStyle/>
        <a:p>
          <a:endParaRPr lang="en-US"/>
        </a:p>
      </dgm:t>
    </dgm:pt>
    <dgm:pt modelId="{28A2D4A4-A94A-4C35-A302-C650D8C224B1}" type="sibTrans" cxnId="{57A70D9A-C05E-4C51-A55D-A31A995BCB02}">
      <dgm:prSet/>
      <dgm:spPr/>
      <dgm:t>
        <a:bodyPr/>
        <a:lstStyle/>
        <a:p>
          <a:endParaRPr lang="en-US"/>
        </a:p>
      </dgm:t>
    </dgm:pt>
    <dgm:pt modelId="{7EF85F7E-F73D-4B6B-BBD4-8EDC2EF21958}">
      <dgm:prSet custT="1"/>
      <dgm:spPr/>
      <dgm:t>
        <a:bodyPr/>
        <a:lstStyle/>
        <a:p>
          <a:pPr>
            <a:lnSpc>
              <a:spcPct val="100000"/>
            </a:lnSpc>
          </a:pPr>
          <a:r>
            <a:rPr lang="en-US" sz="2800" dirty="0"/>
            <a:t>Week 7 = Work on assignment. </a:t>
          </a:r>
        </a:p>
      </dgm:t>
    </dgm:pt>
    <dgm:pt modelId="{CB8F2E68-8D95-4E45-8FD0-28475D2B225E}" type="parTrans" cxnId="{DF4D5598-A324-4652-B129-5E21F3CD8590}">
      <dgm:prSet/>
      <dgm:spPr/>
      <dgm:t>
        <a:bodyPr/>
        <a:lstStyle/>
        <a:p>
          <a:endParaRPr lang="en-US"/>
        </a:p>
      </dgm:t>
    </dgm:pt>
    <dgm:pt modelId="{4E744D25-7A80-46C8-98CD-32646C17C215}" type="sibTrans" cxnId="{DF4D5598-A324-4652-B129-5E21F3CD8590}">
      <dgm:prSet/>
      <dgm:spPr/>
      <dgm:t>
        <a:bodyPr/>
        <a:lstStyle/>
        <a:p>
          <a:endParaRPr lang="en-US"/>
        </a:p>
      </dgm:t>
    </dgm:pt>
    <dgm:pt modelId="{01838A37-019A-411E-8869-0EB4A87DC52A}">
      <dgm:prSet custT="1"/>
      <dgm:spPr/>
      <dgm:t>
        <a:bodyPr/>
        <a:lstStyle/>
        <a:p>
          <a:pPr>
            <a:lnSpc>
              <a:spcPct val="100000"/>
            </a:lnSpc>
          </a:pPr>
          <a:r>
            <a:rPr lang="en-US" sz="2800" dirty="0"/>
            <a:t>Week 8 = EXAM BREAK.</a:t>
          </a:r>
        </a:p>
      </dgm:t>
    </dgm:pt>
    <dgm:pt modelId="{3DFD89CC-EDA0-4561-9CFF-2D96B9F6BF19}" type="parTrans" cxnId="{A1D48BAB-4EA6-4D30-9541-42F462A19160}">
      <dgm:prSet/>
      <dgm:spPr/>
      <dgm:t>
        <a:bodyPr/>
        <a:lstStyle/>
        <a:p>
          <a:endParaRPr lang="en-US"/>
        </a:p>
      </dgm:t>
    </dgm:pt>
    <dgm:pt modelId="{C071D11B-4E24-434B-A0C0-A433332692F3}" type="sibTrans" cxnId="{A1D48BAB-4EA6-4D30-9541-42F462A19160}">
      <dgm:prSet/>
      <dgm:spPr/>
      <dgm:t>
        <a:bodyPr/>
        <a:lstStyle/>
        <a:p>
          <a:endParaRPr lang="en-US"/>
        </a:p>
      </dgm:t>
    </dgm:pt>
    <dgm:pt modelId="{A185E882-81CD-4F24-A445-91C5E4810318}">
      <dgm:prSet custT="1"/>
      <dgm:spPr/>
      <dgm:t>
        <a:bodyPr/>
        <a:lstStyle/>
        <a:p>
          <a:pPr>
            <a:lnSpc>
              <a:spcPct val="100000"/>
            </a:lnSpc>
          </a:pPr>
          <a:r>
            <a:rPr lang="en-US" sz="2400" dirty="0"/>
            <a:t>Week 9 – 11 = Assignment Presentations.</a:t>
          </a:r>
        </a:p>
        <a:p>
          <a:pPr>
            <a:lnSpc>
              <a:spcPct val="100000"/>
            </a:lnSpc>
          </a:pPr>
          <a:r>
            <a:rPr lang="en-US" sz="1800" dirty="0"/>
            <a:t>- </a:t>
          </a:r>
          <a:r>
            <a:rPr lang="en-US" sz="1800" b="1" u="sng" dirty="0"/>
            <a:t>ALL</a:t>
          </a:r>
          <a:r>
            <a:rPr lang="en-US" sz="1800" dirty="0"/>
            <a:t> assignments are due in week 9 and names will be drawn at random. </a:t>
          </a:r>
        </a:p>
      </dgm:t>
    </dgm:pt>
    <dgm:pt modelId="{6F4A1032-4428-424F-8CDC-1961B2C8197D}" type="parTrans" cxnId="{9E05FD9E-72E8-4C43-8F6D-38B98A4C8CDD}">
      <dgm:prSet/>
      <dgm:spPr/>
      <dgm:t>
        <a:bodyPr/>
        <a:lstStyle/>
        <a:p>
          <a:endParaRPr lang="en-US"/>
        </a:p>
      </dgm:t>
    </dgm:pt>
    <dgm:pt modelId="{5863E5F5-AB71-436B-8900-38DFE7BC452B}" type="sibTrans" cxnId="{9E05FD9E-72E8-4C43-8F6D-38B98A4C8CDD}">
      <dgm:prSet/>
      <dgm:spPr/>
      <dgm:t>
        <a:bodyPr/>
        <a:lstStyle/>
        <a:p>
          <a:endParaRPr lang="en-US"/>
        </a:p>
      </dgm:t>
    </dgm:pt>
    <dgm:pt modelId="{BB3E35E2-9F3A-4178-BE3A-F37982BD2E61}" type="pres">
      <dgm:prSet presAssocID="{C7DE9ADB-F8BB-49DB-9C19-83014C35ABD1}" presName="root" presStyleCnt="0">
        <dgm:presLayoutVars>
          <dgm:dir/>
          <dgm:resizeHandles val="exact"/>
        </dgm:presLayoutVars>
      </dgm:prSet>
      <dgm:spPr/>
    </dgm:pt>
    <dgm:pt modelId="{95A01A1C-D44F-4062-925D-26F431671242}" type="pres">
      <dgm:prSet presAssocID="{3EAF5616-6197-4874-8766-5F4BB7D04E8B}" presName="compNode" presStyleCnt="0"/>
      <dgm:spPr/>
    </dgm:pt>
    <dgm:pt modelId="{BC811C98-CC56-4E66-B459-39C583D434E3}" type="pres">
      <dgm:prSet presAssocID="{3EAF5616-6197-4874-8766-5F4BB7D04E8B}" presName="bgRect" presStyleLbl="bgShp" presStyleIdx="0" presStyleCnt="5"/>
      <dgm:spPr/>
    </dgm:pt>
    <dgm:pt modelId="{54522CFB-28D3-4606-BB80-339A25369261}" type="pres">
      <dgm:prSet presAssocID="{3EAF5616-6197-4874-8766-5F4BB7D04E8B}"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s"/>
        </a:ext>
      </dgm:extLst>
    </dgm:pt>
    <dgm:pt modelId="{83EB9195-E891-4F66-91A4-B8B221B34B17}" type="pres">
      <dgm:prSet presAssocID="{3EAF5616-6197-4874-8766-5F4BB7D04E8B}" presName="spaceRect" presStyleCnt="0"/>
      <dgm:spPr/>
    </dgm:pt>
    <dgm:pt modelId="{959142C3-DF34-4899-B5ED-E1DA7F976127}" type="pres">
      <dgm:prSet presAssocID="{3EAF5616-6197-4874-8766-5F4BB7D04E8B}" presName="parTx" presStyleLbl="revTx" presStyleIdx="0" presStyleCnt="5">
        <dgm:presLayoutVars>
          <dgm:chMax val="0"/>
          <dgm:chPref val="0"/>
        </dgm:presLayoutVars>
      </dgm:prSet>
      <dgm:spPr/>
    </dgm:pt>
    <dgm:pt modelId="{A21662D3-4D3D-4E41-8A6F-6189579E5808}" type="pres">
      <dgm:prSet presAssocID="{01C27BB6-4E5B-4C5F-8A4F-323939EEACEE}" presName="sibTrans" presStyleCnt="0"/>
      <dgm:spPr/>
    </dgm:pt>
    <dgm:pt modelId="{B62B3734-2C87-462B-B0AE-DA96046D9884}" type="pres">
      <dgm:prSet presAssocID="{F5502EDD-7816-4448-A3E2-CC23C846FD58}" presName="compNode" presStyleCnt="0"/>
      <dgm:spPr/>
    </dgm:pt>
    <dgm:pt modelId="{79A32036-1F0B-416F-82ED-DE294A4DDFEE}" type="pres">
      <dgm:prSet presAssocID="{F5502EDD-7816-4448-A3E2-CC23C846FD58}" presName="bgRect" presStyleLbl="bgShp" presStyleIdx="1" presStyleCnt="5"/>
      <dgm:spPr/>
    </dgm:pt>
    <dgm:pt modelId="{D851201A-F1DD-4E78-85C5-9D6EB970CD4D}" type="pres">
      <dgm:prSet presAssocID="{F5502EDD-7816-4448-A3E2-CC23C846FD58}"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eacher"/>
        </a:ext>
      </dgm:extLst>
    </dgm:pt>
    <dgm:pt modelId="{EF36C713-B875-4432-99BC-B1CA6FF71E43}" type="pres">
      <dgm:prSet presAssocID="{F5502EDD-7816-4448-A3E2-CC23C846FD58}" presName="spaceRect" presStyleCnt="0"/>
      <dgm:spPr/>
    </dgm:pt>
    <dgm:pt modelId="{C58E8C22-BC90-4362-BD87-DB247553DADB}" type="pres">
      <dgm:prSet presAssocID="{F5502EDD-7816-4448-A3E2-CC23C846FD58}" presName="parTx" presStyleLbl="revTx" presStyleIdx="1" presStyleCnt="5">
        <dgm:presLayoutVars>
          <dgm:chMax val="0"/>
          <dgm:chPref val="0"/>
        </dgm:presLayoutVars>
      </dgm:prSet>
      <dgm:spPr/>
    </dgm:pt>
    <dgm:pt modelId="{77FF953C-D2BC-442F-8D40-5B96F6D3F529}" type="pres">
      <dgm:prSet presAssocID="{28A2D4A4-A94A-4C35-A302-C650D8C224B1}" presName="sibTrans" presStyleCnt="0"/>
      <dgm:spPr/>
    </dgm:pt>
    <dgm:pt modelId="{669EAC73-765D-45FE-BE03-EB686D57F44E}" type="pres">
      <dgm:prSet presAssocID="{7EF85F7E-F73D-4B6B-BBD4-8EDC2EF21958}" presName="compNode" presStyleCnt="0"/>
      <dgm:spPr/>
    </dgm:pt>
    <dgm:pt modelId="{67380DAD-87D7-4D45-81FC-72279EFD3258}" type="pres">
      <dgm:prSet presAssocID="{7EF85F7E-F73D-4B6B-BBD4-8EDC2EF21958}" presName="bgRect" presStyleLbl="bgShp" presStyleIdx="2" presStyleCnt="5"/>
      <dgm:spPr/>
    </dgm:pt>
    <dgm:pt modelId="{6DD1F972-DF6D-4E72-9CF0-76FB92654C85}" type="pres">
      <dgm:prSet presAssocID="{7EF85F7E-F73D-4B6B-BBD4-8EDC2EF21958}"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ick"/>
        </a:ext>
      </dgm:extLst>
    </dgm:pt>
    <dgm:pt modelId="{27439383-7DFA-4688-AD1E-0E2AA97794A7}" type="pres">
      <dgm:prSet presAssocID="{7EF85F7E-F73D-4B6B-BBD4-8EDC2EF21958}" presName="spaceRect" presStyleCnt="0"/>
      <dgm:spPr/>
    </dgm:pt>
    <dgm:pt modelId="{96CB073C-F679-407E-A1B4-48CEB9056F7D}" type="pres">
      <dgm:prSet presAssocID="{7EF85F7E-F73D-4B6B-BBD4-8EDC2EF21958}" presName="parTx" presStyleLbl="revTx" presStyleIdx="2" presStyleCnt="5">
        <dgm:presLayoutVars>
          <dgm:chMax val="0"/>
          <dgm:chPref val="0"/>
        </dgm:presLayoutVars>
      </dgm:prSet>
      <dgm:spPr/>
    </dgm:pt>
    <dgm:pt modelId="{E8A93EAF-12D9-4AE3-884D-CACF9BEF5FFA}" type="pres">
      <dgm:prSet presAssocID="{4E744D25-7A80-46C8-98CD-32646C17C215}" presName="sibTrans" presStyleCnt="0"/>
      <dgm:spPr/>
    </dgm:pt>
    <dgm:pt modelId="{7687D50F-D607-4102-A427-6CCCA5CF84BF}" type="pres">
      <dgm:prSet presAssocID="{01838A37-019A-411E-8869-0EB4A87DC52A}" presName="compNode" presStyleCnt="0"/>
      <dgm:spPr/>
    </dgm:pt>
    <dgm:pt modelId="{0967C147-F5FF-441C-9A26-6DCD6C8C801F}" type="pres">
      <dgm:prSet presAssocID="{01838A37-019A-411E-8869-0EB4A87DC52A}" presName="bgRect" presStyleLbl="bgShp" presStyleIdx="3" presStyleCnt="5"/>
      <dgm:spPr/>
    </dgm:pt>
    <dgm:pt modelId="{4C73377C-06F6-4033-B121-D99FDF7D82CD}" type="pres">
      <dgm:prSet presAssocID="{01838A37-019A-411E-8869-0EB4A87DC52A}"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ffee"/>
        </a:ext>
      </dgm:extLst>
    </dgm:pt>
    <dgm:pt modelId="{1AE7033C-CEC8-4FC7-8BB0-1143E8ADB9DB}" type="pres">
      <dgm:prSet presAssocID="{01838A37-019A-411E-8869-0EB4A87DC52A}" presName="spaceRect" presStyleCnt="0"/>
      <dgm:spPr/>
    </dgm:pt>
    <dgm:pt modelId="{C55A49A1-6F7F-4E9E-AD2A-97381A9216E4}" type="pres">
      <dgm:prSet presAssocID="{01838A37-019A-411E-8869-0EB4A87DC52A}" presName="parTx" presStyleLbl="revTx" presStyleIdx="3" presStyleCnt="5">
        <dgm:presLayoutVars>
          <dgm:chMax val="0"/>
          <dgm:chPref val="0"/>
        </dgm:presLayoutVars>
      </dgm:prSet>
      <dgm:spPr/>
    </dgm:pt>
    <dgm:pt modelId="{58AAA013-293F-42FE-9572-2E9E22EED021}" type="pres">
      <dgm:prSet presAssocID="{C071D11B-4E24-434B-A0C0-A433332692F3}" presName="sibTrans" presStyleCnt="0"/>
      <dgm:spPr/>
    </dgm:pt>
    <dgm:pt modelId="{38C6867E-D5E5-4AF7-A6E6-3D1502E7B3F1}" type="pres">
      <dgm:prSet presAssocID="{A185E882-81CD-4F24-A445-91C5E4810318}" presName="compNode" presStyleCnt="0"/>
      <dgm:spPr/>
    </dgm:pt>
    <dgm:pt modelId="{BA5A426F-DC04-4DBD-B9ED-E3E5B5583088}" type="pres">
      <dgm:prSet presAssocID="{A185E882-81CD-4F24-A445-91C5E4810318}" presName="bgRect" presStyleLbl="bgShp" presStyleIdx="4" presStyleCnt="5"/>
      <dgm:spPr/>
    </dgm:pt>
    <dgm:pt modelId="{5F51AF84-7FF2-4979-A27E-39552CF92951}" type="pres">
      <dgm:prSet presAssocID="{A185E882-81CD-4F24-A445-91C5E4810318}"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rojector screen"/>
        </a:ext>
      </dgm:extLst>
    </dgm:pt>
    <dgm:pt modelId="{C58DD36E-5146-4841-94BF-8DE1668A01F0}" type="pres">
      <dgm:prSet presAssocID="{A185E882-81CD-4F24-A445-91C5E4810318}" presName="spaceRect" presStyleCnt="0"/>
      <dgm:spPr/>
    </dgm:pt>
    <dgm:pt modelId="{2EE8E618-865D-413E-9A98-FA8C90A5C173}" type="pres">
      <dgm:prSet presAssocID="{A185E882-81CD-4F24-A445-91C5E4810318}" presName="parTx" presStyleLbl="revTx" presStyleIdx="4" presStyleCnt="5">
        <dgm:presLayoutVars>
          <dgm:chMax val="0"/>
          <dgm:chPref val="0"/>
        </dgm:presLayoutVars>
      </dgm:prSet>
      <dgm:spPr/>
    </dgm:pt>
  </dgm:ptLst>
  <dgm:cxnLst>
    <dgm:cxn modelId="{4A68500E-2BC3-4AC6-8DEF-2E4251B6F5E8}" type="presOf" srcId="{A185E882-81CD-4F24-A445-91C5E4810318}" destId="{2EE8E618-865D-413E-9A98-FA8C90A5C173}" srcOrd="0" destOrd="0" presId="urn:microsoft.com/office/officeart/2018/2/layout/IconVerticalSolidList"/>
    <dgm:cxn modelId="{11745A1E-04C1-4396-8F33-4E076B447AAC}" type="presOf" srcId="{3EAF5616-6197-4874-8766-5F4BB7D04E8B}" destId="{959142C3-DF34-4899-B5ED-E1DA7F976127}" srcOrd="0" destOrd="0" presId="urn:microsoft.com/office/officeart/2018/2/layout/IconVerticalSolidList"/>
    <dgm:cxn modelId="{59EC7B23-6881-4C3A-8D74-8E9BB9DFC5F6}" srcId="{C7DE9ADB-F8BB-49DB-9C19-83014C35ABD1}" destId="{3EAF5616-6197-4874-8766-5F4BB7D04E8B}" srcOrd="0" destOrd="0" parTransId="{569F0A04-88E0-4299-ABBE-85281493B1DE}" sibTransId="{01C27BB6-4E5B-4C5F-8A4F-323939EEACEE}"/>
    <dgm:cxn modelId="{D920C146-64EB-470B-921D-90E3009F5CE5}" type="presOf" srcId="{7EF85F7E-F73D-4B6B-BBD4-8EDC2EF21958}" destId="{96CB073C-F679-407E-A1B4-48CEB9056F7D}" srcOrd="0" destOrd="0" presId="urn:microsoft.com/office/officeart/2018/2/layout/IconVerticalSolidList"/>
    <dgm:cxn modelId="{0D5F536D-30C0-4587-9261-540563C20462}" type="presOf" srcId="{01838A37-019A-411E-8869-0EB4A87DC52A}" destId="{C55A49A1-6F7F-4E9E-AD2A-97381A9216E4}" srcOrd="0" destOrd="0" presId="urn:microsoft.com/office/officeart/2018/2/layout/IconVerticalSolidList"/>
    <dgm:cxn modelId="{DF4D5598-A324-4652-B129-5E21F3CD8590}" srcId="{C7DE9ADB-F8BB-49DB-9C19-83014C35ABD1}" destId="{7EF85F7E-F73D-4B6B-BBD4-8EDC2EF21958}" srcOrd="2" destOrd="0" parTransId="{CB8F2E68-8D95-4E45-8FD0-28475D2B225E}" sibTransId="{4E744D25-7A80-46C8-98CD-32646C17C215}"/>
    <dgm:cxn modelId="{57A70D9A-C05E-4C51-A55D-A31A995BCB02}" srcId="{C7DE9ADB-F8BB-49DB-9C19-83014C35ABD1}" destId="{F5502EDD-7816-4448-A3E2-CC23C846FD58}" srcOrd="1" destOrd="0" parTransId="{D1D71C9A-DEDB-4C56-AC8F-B56A53E89EC2}" sibTransId="{28A2D4A4-A94A-4C35-A302-C650D8C224B1}"/>
    <dgm:cxn modelId="{9E05FD9E-72E8-4C43-8F6D-38B98A4C8CDD}" srcId="{C7DE9ADB-F8BB-49DB-9C19-83014C35ABD1}" destId="{A185E882-81CD-4F24-A445-91C5E4810318}" srcOrd="4" destOrd="0" parTransId="{6F4A1032-4428-424F-8CDC-1961B2C8197D}" sibTransId="{5863E5F5-AB71-436B-8900-38DFE7BC452B}"/>
    <dgm:cxn modelId="{A1D48BAB-4EA6-4D30-9541-42F462A19160}" srcId="{C7DE9ADB-F8BB-49DB-9C19-83014C35ABD1}" destId="{01838A37-019A-411E-8869-0EB4A87DC52A}" srcOrd="3" destOrd="0" parTransId="{3DFD89CC-EDA0-4561-9CFF-2D96B9F6BF19}" sibTransId="{C071D11B-4E24-434B-A0C0-A433332692F3}"/>
    <dgm:cxn modelId="{6C829CB8-3E4D-4A65-ABAF-00FDB1C974CF}" type="presOf" srcId="{F5502EDD-7816-4448-A3E2-CC23C846FD58}" destId="{C58E8C22-BC90-4362-BD87-DB247553DADB}" srcOrd="0" destOrd="0" presId="urn:microsoft.com/office/officeart/2018/2/layout/IconVerticalSolidList"/>
    <dgm:cxn modelId="{29E0F4D5-7560-49FE-B4AF-86E0A8FDCD70}" type="presOf" srcId="{C7DE9ADB-F8BB-49DB-9C19-83014C35ABD1}" destId="{BB3E35E2-9F3A-4178-BE3A-F37982BD2E61}" srcOrd="0" destOrd="0" presId="urn:microsoft.com/office/officeart/2018/2/layout/IconVerticalSolidList"/>
    <dgm:cxn modelId="{D5690063-965E-47DF-8453-D620FA07EAEC}" type="presParOf" srcId="{BB3E35E2-9F3A-4178-BE3A-F37982BD2E61}" destId="{95A01A1C-D44F-4062-925D-26F431671242}" srcOrd="0" destOrd="0" presId="urn:microsoft.com/office/officeart/2018/2/layout/IconVerticalSolidList"/>
    <dgm:cxn modelId="{4A38986A-A68C-45B7-B712-C3897DFA21EE}" type="presParOf" srcId="{95A01A1C-D44F-4062-925D-26F431671242}" destId="{BC811C98-CC56-4E66-B459-39C583D434E3}" srcOrd="0" destOrd="0" presId="urn:microsoft.com/office/officeart/2018/2/layout/IconVerticalSolidList"/>
    <dgm:cxn modelId="{2D766CBA-6B15-41F3-98B7-5ECEF64FF540}" type="presParOf" srcId="{95A01A1C-D44F-4062-925D-26F431671242}" destId="{54522CFB-28D3-4606-BB80-339A25369261}" srcOrd="1" destOrd="0" presId="urn:microsoft.com/office/officeart/2018/2/layout/IconVerticalSolidList"/>
    <dgm:cxn modelId="{8FDEDF7D-5420-4A67-90B4-22F21761F11B}" type="presParOf" srcId="{95A01A1C-D44F-4062-925D-26F431671242}" destId="{83EB9195-E891-4F66-91A4-B8B221B34B17}" srcOrd="2" destOrd="0" presId="urn:microsoft.com/office/officeart/2018/2/layout/IconVerticalSolidList"/>
    <dgm:cxn modelId="{A1BDDFB1-9A70-4537-BEE9-9BF3ADB96877}" type="presParOf" srcId="{95A01A1C-D44F-4062-925D-26F431671242}" destId="{959142C3-DF34-4899-B5ED-E1DA7F976127}" srcOrd="3" destOrd="0" presId="urn:microsoft.com/office/officeart/2018/2/layout/IconVerticalSolidList"/>
    <dgm:cxn modelId="{A8980A90-A14E-473D-96F1-FE4A563DA54D}" type="presParOf" srcId="{BB3E35E2-9F3A-4178-BE3A-F37982BD2E61}" destId="{A21662D3-4D3D-4E41-8A6F-6189579E5808}" srcOrd="1" destOrd="0" presId="urn:microsoft.com/office/officeart/2018/2/layout/IconVerticalSolidList"/>
    <dgm:cxn modelId="{17705D46-9593-4C01-A35D-3E83EEDCF686}" type="presParOf" srcId="{BB3E35E2-9F3A-4178-BE3A-F37982BD2E61}" destId="{B62B3734-2C87-462B-B0AE-DA96046D9884}" srcOrd="2" destOrd="0" presId="urn:microsoft.com/office/officeart/2018/2/layout/IconVerticalSolidList"/>
    <dgm:cxn modelId="{C6E85517-5459-4093-BF3A-420C878E7BDE}" type="presParOf" srcId="{B62B3734-2C87-462B-B0AE-DA96046D9884}" destId="{79A32036-1F0B-416F-82ED-DE294A4DDFEE}" srcOrd="0" destOrd="0" presId="urn:microsoft.com/office/officeart/2018/2/layout/IconVerticalSolidList"/>
    <dgm:cxn modelId="{DEFA0D5A-168C-40C6-854B-E5E30C4C7918}" type="presParOf" srcId="{B62B3734-2C87-462B-B0AE-DA96046D9884}" destId="{D851201A-F1DD-4E78-85C5-9D6EB970CD4D}" srcOrd="1" destOrd="0" presId="urn:microsoft.com/office/officeart/2018/2/layout/IconVerticalSolidList"/>
    <dgm:cxn modelId="{F806A446-E116-4AF5-A094-4F7943017AF5}" type="presParOf" srcId="{B62B3734-2C87-462B-B0AE-DA96046D9884}" destId="{EF36C713-B875-4432-99BC-B1CA6FF71E43}" srcOrd="2" destOrd="0" presId="urn:microsoft.com/office/officeart/2018/2/layout/IconVerticalSolidList"/>
    <dgm:cxn modelId="{8CCE55C6-3E00-4DC5-9B78-FFA7FDD0BC86}" type="presParOf" srcId="{B62B3734-2C87-462B-B0AE-DA96046D9884}" destId="{C58E8C22-BC90-4362-BD87-DB247553DADB}" srcOrd="3" destOrd="0" presId="urn:microsoft.com/office/officeart/2018/2/layout/IconVerticalSolidList"/>
    <dgm:cxn modelId="{90D794A5-80C4-4EF6-8CE7-0568ADFD37A4}" type="presParOf" srcId="{BB3E35E2-9F3A-4178-BE3A-F37982BD2E61}" destId="{77FF953C-D2BC-442F-8D40-5B96F6D3F529}" srcOrd="3" destOrd="0" presId="urn:microsoft.com/office/officeart/2018/2/layout/IconVerticalSolidList"/>
    <dgm:cxn modelId="{343E3B14-1DB8-4D60-98F5-30B08DDDE302}" type="presParOf" srcId="{BB3E35E2-9F3A-4178-BE3A-F37982BD2E61}" destId="{669EAC73-765D-45FE-BE03-EB686D57F44E}" srcOrd="4" destOrd="0" presId="urn:microsoft.com/office/officeart/2018/2/layout/IconVerticalSolidList"/>
    <dgm:cxn modelId="{3FCB9035-8EDB-4AFE-A848-A26ADF1E94C3}" type="presParOf" srcId="{669EAC73-765D-45FE-BE03-EB686D57F44E}" destId="{67380DAD-87D7-4D45-81FC-72279EFD3258}" srcOrd="0" destOrd="0" presId="urn:microsoft.com/office/officeart/2018/2/layout/IconVerticalSolidList"/>
    <dgm:cxn modelId="{06C9662F-7483-410B-97EA-6E488BBD7D6B}" type="presParOf" srcId="{669EAC73-765D-45FE-BE03-EB686D57F44E}" destId="{6DD1F972-DF6D-4E72-9CF0-76FB92654C85}" srcOrd="1" destOrd="0" presId="urn:microsoft.com/office/officeart/2018/2/layout/IconVerticalSolidList"/>
    <dgm:cxn modelId="{3AEB4031-92C2-4A63-BD60-5D3715BE6618}" type="presParOf" srcId="{669EAC73-765D-45FE-BE03-EB686D57F44E}" destId="{27439383-7DFA-4688-AD1E-0E2AA97794A7}" srcOrd="2" destOrd="0" presId="urn:microsoft.com/office/officeart/2018/2/layout/IconVerticalSolidList"/>
    <dgm:cxn modelId="{CB46C5DA-F6CC-40F9-BA98-29B981F02E9B}" type="presParOf" srcId="{669EAC73-765D-45FE-BE03-EB686D57F44E}" destId="{96CB073C-F679-407E-A1B4-48CEB9056F7D}" srcOrd="3" destOrd="0" presId="urn:microsoft.com/office/officeart/2018/2/layout/IconVerticalSolidList"/>
    <dgm:cxn modelId="{39970570-A189-4F59-A96F-674510045506}" type="presParOf" srcId="{BB3E35E2-9F3A-4178-BE3A-F37982BD2E61}" destId="{E8A93EAF-12D9-4AE3-884D-CACF9BEF5FFA}" srcOrd="5" destOrd="0" presId="urn:microsoft.com/office/officeart/2018/2/layout/IconVerticalSolidList"/>
    <dgm:cxn modelId="{E038889B-F409-4579-8724-ED653EBAB59B}" type="presParOf" srcId="{BB3E35E2-9F3A-4178-BE3A-F37982BD2E61}" destId="{7687D50F-D607-4102-A427-6CCCA5CF84BF}" srcOrd="6" destOrd="0" presId="urn:microsoft.com/office/officeart/2018/2/layout/IconVerticalSolidList"/>
    <dgm:cxn modelId="{C41C809B-59F3-4B11-8172-F05949DBA2CB}" type="presParOf" srcId="{7687D50F-D607-4102-A427-6CCCA5CF84BF}" destId="{0967C147-F5FF-441C-9A26-6DCD6C8C801F}" srcOrd="0" destOrd="0" presId="urn:microsoft.com/office/officeart/2018/2/layout/IconVerticalSolidList"/>
    <dgm:cxn modelId="{C59DDEE1-98B3-432E-BC05-6790D0C46F3E}" type="presParOf" srcId="{7687D50F-D607-4102-A427-6CCCA5CF84BF}" destId="{4C73377C-06F6-4033-B121-D99FDF7D82CD}" srcOrd="1" destOrd="0" presId="urn:microsoft.com/office/officeart/2018/2/layout/IconVerticalSolidList"/>
    <dgm:cxn modelId="{9BA736BE-C392-47AE-ADF8-77BEB0BB7C36}" type="presParOf" srcId="{7687D50F-D607-4102-A427-6CCCA5CF84BF}" destId="{1AE7033C-CEC8-4FC7-8BB0-1143E8ADB9DB}" srcOrd="2" destOrd="0" presId="urn:microsoft.com/office/officeart/2018/2/layout/IconVerticalSolidList"/>
    <dgm:cxn modelId="{1406B77D-542C-416C-98D4-E6337588F5A6}" type="presParOf" srcId="{7687D50F-D607-4102-A427-6CCCA5CF84BF}" destId="{C55A49A1-6F7F-4E9E-AD2A-97381A9216E4}" srcOrd="3" destOrd="0" presId="urn:microsoft.com/office/officeart/2018/2/layout/IconVerticalSolidList"/>
    <dgm:cxn modelId="{2C566DC7-DEA5-45D4-B9D8-D5CD7A24A296}" type="presParOf" srcId="{BB3E35E2-9F3A-4178-BE3A-F37982BD2E61}" destId="{58AAA013-293F-42FE-9572-2E9E22EED021}" srcOrd="7" destOrd="0" presId="urn:microsoft.com/office/officeart/2018/2/layout/IconVerticalSolidList"/>
    <dgm:cxn modelId="{731C8AD0-0666-496A-B70F-FE505537D6F7}" type="presParOf" srcId="{BB3E35E2-9F3A-4178-BE3A-F37982BD2E61}" destId="{38C6867E-D5E5-4AF7-A6E6-3D1502E7B3F1}" srcOrd="8" destOrd="0" presId="urn:microsoft.com/office/officeart/2018/2/layout/IconVerticalSolidList"/>
    <dgm:cxn modelId="{3E72BAD2-3C96-4ACE-8432-C6C37D7A3139}" type="presParOf" srcId="{38C6867E-D5E5-4AF7-A6E6-3D1502E7B3F1}" destId="{BA5A426F-DC04-4DBD-B9ED-E3E5B5583088}" srcOrd="0" destOrd="0" presId="urn:microsoft.com/office/officeart/2018/2/layout/IconVerticalSolidList"/>
    <dgm:cxn modelId="{75DBDDC9-DB91-4C5D-BFF4-38F69C2699E3}" type="presParOf" srcId="{38C6867E-D5E5-4AF7-A6E6-3D1502E7B3F1}" destId="{5F51AF84-7FF2-4979-A27E-39552CF92951}" srcOrd="1" destOrd="0" presId="urn:microsoft.com/office/officeart/2018/2/layout/IconVerticalSolidList"/>
    <dgm:cxn modelId="{B47E9A7B-D4B4-4697-BB8B-7D0C5A8F306D}" type="presParOf" srcId="{38C6867E-D5E5-4AF7-A6E6-3D1502E7B3F1}" destId="{C58DD36E-5146-4841-94BF-8DE1668A01F0}" srcOrd="2" destOrd="0" presId="urn:microsoft.com/office/officeart/2018/2/layout/IconVerticalSolidList"/>
    <dgm:cxn modelId="{7AA29937-0E59-4BA8-98A4-88AA07921125}" type="presParOf" srcId="{38C6867E-D5E5-4AF7-A6E6-3D1502E7B3F1}" destId="{2EE8E618-865D-413E-9A98-FA8C90A5C17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925D76E-EC58-4998-AAB4-B13CD039A6B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70A902F-D177-41C8-8291-0C68BD9FCA34}">
      <dgm:prSet/>
      <dgm:spPr/>
      <dgm:t>
        <a:bodyPr/>
        <a:lstStyle/>
        <a:p>
          <a:pPr>
            <a:lnSpc>
              <a:spcPct val="100000"/>
            </a:lnSpc>
          </a:pPr>
          <a:r>
            <a:rPr lang="en-US" dirty="0"/>
            <a:t>Placed around the room are response cards </a:t>
          </a:r>
        </a:p>
      </dgm:t>
    </dgm:pt>
    <dgm:pt modelId="{E677CDB8-CD7C-40BE-9C5D-E813A8B81BEC}" type="parTrans" cxnId="{2D1CE0BB-49E7-4FC1-BE2A-4EB1AE8844F1}">
      <dgm:prSet/>
      <dgm:spPr/>
      <dgm:t>
        <a:bodyPr/>
        <a:lstStyle/>
        <a:p>
          <a:endParaRPr lang="en-US"/>
        </a:p>
      </dgm:t>
    </dgm:pt>
    <dgm:pt modelId="{8C11CB5B-93AB-4B30-8DF7-CF433AB62CCA}" type="sibTrans" cxnId="{2D1CE0BB-49E7-4FC1-BE2A-4EB1AE8844F1}">
      <dgm:prSet/>
      <dgm:spPr/>
      <dgm:t>
        <a:bodyPr/>
        <a:lstStyle/>
        <a:p>
          <a:endParaRPr lang="en-US"/>
        </a:p>
      </dgm:t>
    </dgm:pt>
    <dgm:pt modelId="{21226F8E-9C82-45F3-AABE-FBF830F6F899}">
      <dgm:prSet custT="1"/>
      <dgm:spPr/>
      <dgm:t>
        <a:bodyPr/>
        <a:lstStyle/>
        <a:p>
          <a:pPr>
            <a:lnSpc>
              <a:spcPct val="100000"/>
            </a:lnSpc>
          </a:pPr>
          <a:r>
            <a:rPr lang="en-US" sz="2400" dirty="0"/>
            <a:t>Strongly Agree </a:t>
          </a:r>
          <a:r>
            <a:rPr lang="en-US" sz="2400" dirty="0">
              <a:sym typeface="Wingdings" panose="05000000000000000000" pitchFamily="2" charset="2"/>
            </a:rPr>
            <a:t></a:t>
          </a:r>
          <a:r>
            <a:rPr lang="en-US" sz="2400" dirty="0"/>
            <a:t> Strongly Disagree</a:t>
          </a:r>
        </a:p>
      </dgm:t>
    </dgm:pt>
    <dgm:pt modelId="{1F9CA17A-2682-46EA-8CA2-FCF306E02D92}" type="parTrans" cxnId="{558A5905-92D6-47EF-AAFB-0EFCF3BA989B}">
      <dgm:prSet/>
      <dgm:spPr/>
      <dgm:t>
        <a:bodyPr/>
        <a:lstStyle/>
        <a:p>
          <a:endParaRPr lang="en-US"/>
        </a:p>
      </dgm:t>
    </dgm:pt>
    <dgm:pt modelId="{F3EEE2D8-BF2B-4E1C-A1B9-5FD4ED8DD5D3}" type="sibTrans" cxnId="{558A5905-92D6-47EF-AAFB-0EFCF3BA989B}">
      <dgm:prSet/>
      <dgm:spPr/>
      <dgm:t>
        <a:bodyPr/>
        <a:lstStyle/>
        <a:p>
          <a:endParaRPr lang="en-US"/>
        </a:p>
      </dgm:t>
    </dgm:pt>
    <dgm:pt modelId="{A2599C3D-FF1A-410C-A98A-FC1E6F81FF72}">
      <dgm:prSet/>
      <dgm:spPr/>
      <dgm:t>
        <a:bodyPr/>
        <a:lstStyle/>
        <a:p>
          <a:pPr>
            <a:lnSpc>
              <a:spcPct val="100000"/>
            </a:lnSpc>
          </a:pPr>
          <a:r>
            <a:rPr lang="en-US"/>
            <a:t>Your teacher will read out a statement and you need to decide how you feel about it and move to the card that best describes how you feel. </a:t>
          </a:r>
        </a:p>
      </dgm:t>
    </dgm:pt>
    <dgm:pt modelId="{51C0F6D7-EAE2-4AD9-B4AC-99D51A73F2FB}" type="parTrans" cxnId="{F3966E25-B518-4A8A-9CFE-7F77C2BD90F3}">
      <dgm:prSet/>
      <dgm:spPr/>
      <dgm:t>
        <a:bodyPr/>
        <a:lstStyle/>
        <a:p>
          <a:endParaRPr lang="en-US"/>
        </a:p>
      </dgm:t>
    </dgm:pt>
    <dgm:pt modelId="{A45A7E49-1834-4C5D-9752-5593FD8BBDE3}" type="sibTrans" cxnId="{F3966E25-B518-4A8A-9CFE-7F77C2BD90F3}">
      <dgm:prSet/>
      <dgm:spPr/>
      <dgm:t>
        <a:bodyPr/>
        <a:lstStyle/>
        <a:p>
          <a:endParaRPr lang="en-US"/>
        </a:p>
      </dgm:t>
    </dgm:pt>
    <dgm:pt modelId="{3E39DEC6-B849-4426-8332-216176B02DFE}">
      <dgm:prSet/>
      <dgm:spPr/>
      <dgm:t>
        <a:bodyPr/>
        <a:lstStyle/>
        <a:p>
          <a:pPr>
            <a:lnSpc>
              <a:spcPct val="100000"/>
            </a:lnSpc>
          </a:pPr>
          <a:r>
            <a:rPr lang="en-US" dirty="0"/>
            <a:t>When doing this activity, really think about </a:t>
          </a:r>
          <a:r>
            <a:rPr lang="en-US" b="1" u="sng" dirty="0"/>
            <a:t>WHY</a:t>
          </a:r>
          <a:r>
            <a:rPr lang="en-US" dirty="0"/>
            <a:t> you feel that way. </a:t>
          </a:r>
        </a:p>
        <a:p>
          <a:pPr>
            <a:lnSpc>
              <a:spcPct val="100000"/>
            </a:lnSpc>
          </a:pPr>
          <a:r>
            <a:rPr lang="en-US" dirty="0"/>
            <a:t>Be prepared to share your response and reasoning.</a:t>
          </a:r>
        </a:p>
      </dgm:t>
    </dgm:pt>
    <dgm:pt modelId="{F6A88918-C76D-4F6C-AAF8-A9CAFF2DDE68}" type="parTrans" cxnId="{08EBDBE2-B977-43E5-9567-0AE3153B947D}">
      <dgm:prSet/>
      <dgm:spPr/>
      <dgm:t>
        <a:bodyPr/>
        <a:lstStyle/>
        <a:p>
          <a:endParaRPr lang="en-US"/>
        </a:p>
      </dgm:t>
    </dgm:pt>
    <dgm:pt modelId="{4B956BF0-4A18-44AB-9F6B-8E70B31AAEDA}" type="sibTrans" cxnId="{08EBDBE2-B977-43E5-9567-0AE3153B947D}">
      <dgm:prSet/>
      <dgm:spPr/>
      <dgm:t>
        <a:bodyPr/>
        <a:lstStyle/>
        <a:p>
          <a:endParaRPr lang="en-US"/>
        </a:p>
      </dgm:t>
    </dgm:pt>
    <dgm:pt modelId="{37E636D3-7329-4D03-8F4A-0B8B48414723}" type="pres">
      <dgm:prSet presAssocID="{A925D76E-EC58-4998-AAB4-B13CD039A6B0}" presName="root" presStyleCnt="0">
        <dgm:presLayoutVars>
          <dgm:dir/>
          <dgm:resizeHandles val="exact"/>
        </dgm:presLayoutVars>
      </dgm:prSet>
      <dgm:spPr/>
    </dgm:pt>
    <dgm:pt modelId="{6DA74D99-FA3F-40F6-B7F4-BB6CFE47DCFB}" type="pres">
      <dgm:prSet presAssocID="{D70A902F-D177-41C8-8291-0C68BD9FCA34}" presName="compNode" presStyleCnt="0"/>
      <dgm:spPr/>
    </dgm:pt>
    <dgm:pt modelId="{83ADF342-61C8-41B5-86DF-B8E578DAA602}" type="pres">
      <dgm:prSet presAssocID="{D70A902F-D177-41C8-8291-0C68BD9FCA34}" presName="bgRect" presStyleLbl="bgShp" presStyleIdx="0" presStyleCnt="3"/>
      <dgm:spPr/>
    </dgm:pt>
    <dgm:pt modelId="{D0EAB6C1-3526-4971-A1D2-1F45F464DD69}" type="pres">
      <dgm:prSet presAssocID="{D70A902F-D177-41C8-8291-0C68BD9FCA3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miling Face with No Fill"/>
        </a:ext>
      </dgm:extLst>
    </dgm:pt>
    <dgm:pt modelId="{4EC35A75-01DB-4D37-9D40-D01743A58A66}" type="pres">
      <dgm:prSet presAssocID="{D70A902F-D177-41C8-8291-0C68BD9FCA34}" presName="spaceRect" presStyleCnt="0"/>
      <dgm:spPr/>
    </dgm:pt>
    <dgm:pt modelId="{9002E3D5-3FCD-4CEA-A313-A8AAEDEFE558}" type="pres">
      <dgm:prSet presAssocID="{D70A902F-D177-41C8-8291-0C68BD9FCA34}" presName="parTx" presStyleLbl="revTx" presStyleIdx="0" presStyleCnt="4">
        <dgm:presLayoutVars>
          <dgm:chMax val="0"/>
          <dgm:chPref val="0"/>
        </dgm:presLayoutVars>
      </dgm:prSet>
      <dgm:spPr/>
    </dgm:pt>
    <dgm:pt modelId="{36F26006-4E54-4DE2-A4AE-9E00DF875068}" type="pres">
      <dgm:prSet presAssocID="{D70A902F-D177-41C8-8291-0C68BD9FCA34}" presName="desTx" presStyleLbl="revTx" presStyleIdx="1" presStyleCnt="4">
        <dgm:presLayoutVars/>
      </dgm:prSet>
      <dgm:spPr/>
    </dgm:pt>
    <dgm:pt modelId="{504F2D9F-0840-44F9-9B28-54056939553C}" type="pres">
      <dgm:prSet presAssocID="{8C11CB5B-93AB-4B30-8DF7-CF433AB62CCA}" presName="sibTrans" presStyleCnt="0"/>
      <dgm:spPr/>
    </dgm:pt>
    <dgm:pt modelId="{93C900CC-F566-49E2-9E82-2C78FDB3C244}" type="pres">
      <dgm:prSet presAssocID="{A2599C3D-FF1A-410C-A98A-FC1E6F81FF72}" presName="compNode" presStyleCnt="0"/>
      <dgm:spPr/>
    </dgm:pt>
    <dgm:pt modelId="{94D466C9-3006-4E39-A4B3-6AE0F4D3D293}" type="pres">
      <dgm:prSet presAssocID="{A2599C3D-FF1A-410C-A98A-FC1E6F81FF72}" presName="bgRect" presStyleLbl="bgShp" presStyleIdx="1" presStyleCnt="3"/>
      <dgm:spPr/>
    </dgm:pt>
    <dgm:pt modelId="{DBB8625B-3413-462D-8E7F-FD8DE7E7F53B}" type="pres">
      <dgm:prSet presAssocID="{A2599C3D-FF1A-410C-A98A-FC1E6F81FF7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ooks"/>
        </a:ext>
      </dgm:extLst>
    </dgm:pt>
    <dgm:pt modelId="{9BE49C39-9B59-49EB-9A11-944ADECF868D}" type="pres">
      <dgm:prSet presAssocID="{A2599C3D-FF1A-410C-A98A-FC1E6F81FF72}" presName="spaceRect" presStyleCnt="0"/>
      <dgm:spPr/>
    </dgm:pt>
    <dgm:pt modelId="{6A307F96-5D8D-494A-8D5F-E7343041F49C}" type="pres">
      <dgm:prSet presAssocID="{A2599C3D-FF1A-410C-A98A-FC1E6F81FF72}" presName="parTx" presStyleLbl="revTx" presStyleIdx="2" presStyleCnt="4">
        <dgm:presLayoutVars>
          <dgm:chMax val="0"/>
          <dgm:chPref val="0"/>
        </dgm:presLayoutVars>
      </dgm:prSet>
      <dgm:spPr/>
    </dgm:pt>
    <dgm:pt modelId="{EA89BE3A-745F-419C-B4A7-239B44AE8963}" type="pres">
      <dgm:prSet presAssocID="{A45A7E49-1834-4C5D-9752-5593FD8BBDE3}" presName="sibTrans" presStyleCnt="0"/>
      <dgm:spPr/>
    </dgm:pt>
    <dgm:pt modelId="{0EB3406B-94A9-4BEA-84A2-0FB7B53FE7A5}" type="pres">
      <dgm:prSet presAssocID="{3E39DEC6-B849-4426-8332-216176B02DFE}" presName="compNode" presStyleCnt="0"/>
      <dgm:spPr/>
    </dgm:pt>
    <dgm:pt modelId="{FADDB4BA-31F4-4DEC-9336-77A71272B5B7}" type="pres">
      <dgm:prSet presAssocID="{3E39DEC6-B849-4426-8332-216176B02DFE}" presName="bgRect" presStyleLbl="bgShp" presStyleIdx="2" presStyleCnt="3"/>
      <dgm:spPr/>
    </dgm:pt>
    <dgm:pt modelId="{3128BCAC-E4DC-4266-B9B1-70A62CDA1C15}" type="pres">
      <dgm:prSet presAssocID="{3E39DEC6-B849-4426-8332-216176B02DF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ustomer Review"/>
        </a:ext>
      </dgm:extLst>
    </dgm:pt>
    <dgm:pt modelId="{10D0DCF4-BE82-4781-9081-620B715AA7C2}" type="pres">
      <dgm:prSet presAssocID="{3E39DEC6-B849-4426-8332-216176B02DFE}" presName="spaceRect" presStyleCnt="0"/>
      <dgm:spPr/>
    </dgm:pt>
    <dgm:pt modelId="{EA23042D-B88D-4414-BA99-7FEEC45F0541}" type="pres">
      <dgm:prSet presAssocID="{3E39DEC6-B849-4426-8332-216176B02DFE}" presName="parTx" presStyleLbl="revTx" presStyleIdx="3" presStyleCnt="4">
        <dgm:presLayoutVars>
          <dgm:chMax val="0"/>
          <dgm:chPref val="0"/>
        </dgm:presLayoutVars>
      </dgm:prSet>
      <dgm:spPr/>
    </dgm:pt>
  </dgm:ptLst>
  <dgm:cxnLst>
    <dgm:cxn modelId="{558A5905-92D6-47EF-AAFB-0EFCF3BA989B}" srcId="{D70A902F-D177-41C8-8291-0C68BD9FCA34}" destId="{21226F8E-9C82-45F3-AABE-FBF830F6F899}" srcOrd="0" destOrd="0" parTransId="{1F9CA17A-2682-46EA-8CA2-FCF306E02D92}" sibTransId="{F3EEE2D8-BF2B-4E1C-A1B9-5FD4ED8DD5D3}"/>
    <dgm:cxn modelId="{8F0F0306-4F44-4687-804F-31F37EC4FE76}" type="presOf" srcId="{3E39DEC6-B849-4426-8332-216176B02DFE}" destId="{EA23042D-B88D-4414-BA99-7FEEC45F0541}" srcOrd="0" destOrd="0" presId="urn:microsoft.com/office/officeart/2018/2/layout/IconVerticalSolidList"/>
    <dgm:cxn modelId="{41881108-A7B4-4EA6-B7E8-6023A941BEFF}" type="presOf" srcId="{A925D76E-EC58-4998-AAB4-B13CD039A6B0}" destId="{37E636D3-7329-4D03-8F4A-0B8B48414723}" srcOrd="0" destOrd="0" presId="urn:microsoft.com/office/officeart/2018/2/layout/IconVerticalSolidList"/>
    <dgm:cxn modelId="{F3966E25-B518-4A8A-9CFE-7F77C2BD90F3}" srcId="{A925D76E-EC58-4998-AAB4-B13CD039A6B0}" destId="{A2599C3D-FF1A-410C-A98A-FC1E6F81FF72}" srcOrd="1" destOrd="0" parTransId="{51C0F6D7-EAE2-4AD9-B4AC-99D51A73F2FB}" sibTransId="{A45A7E49-1834-4C5D-9752-5593FD8BBDE3}"/>
    <dgm:cxn modelId="{44A935A1-6282-4ECE-B7A0-1248A2C0E952}" type="presOf" srcId="{A2599C3D-FF1A-410C-A98A-FC1E6F81FF72}" destId="{6A307F96-5D8D-494A-8D5F-E7343041F49C}" srcOrd="0" destOrd="0" presId="urn:microsoft.com/office/officeart/2018/2/layout/IconVerticalSolidList"/>
    <dgm:cxn modelId="{60DAC9B4-4CD2-4515-A65F-92D85E366817}" type="presOf" srcId="{D70A902F-D177-41C8-8291-0C68BD9FCA34}" destId="{9002E3D5-3FCD-4CEA-A313-A8AAEDEFE558}" srcOrd="0" destOrd="0" presId="urn:microsoft.com/office/officeart/2018/2/layout/IconVerticalSolidList"/>
    <dgm:cxn modelId="{2D1CE0BB-49E7-4FC1-BE2A-4EB1AE8844F1}" srcId="{A925D76E-EC58-4998-AAB4-B13CD039A6B0}" destId="{D70A902F-D177-41C8-8291-0C68BD9FCA34}" srcOrd="0" destOrd="0" parTransId="{E677CDB8-CD7C-40BE-9C5D-E813A8B81BEC}" sibTransId="{8C11CB5B-93AB-4B30-8DF7-CF433AB62CCA}"/>
    <dgm:cxn modelId="{6A3FC3CD-0700-47A4-84C2-D7407ED2A289}" type="presOf" srcId="{21226F8E-9C82-45F3-AABE-FBF830F6F899}" destId="{36F26006-4E54-4DE2-A4AE-9E00DF875068}" srcOrd="0" destOrd="0" presId="urn:microsoft.com/office/officeart/2018/2/layout/IconVerticalSolidList"/>
    <dgm:cxn modelId="{08EBDBE2-B977-43E5-9567-0AE3153B947D}" srcId="{A925D76E-EC58-4998-AAB4-B13CD039A6B0}" destId="{3E39DEC6-B849-4426-8332-216176B02DFE}" srcOrd="2" destOrd="0" parTransId="{F6A88918-C76D-4F6C-AAF8-A9CAFF2DDE68}" sibTransId="{4B956BF0-4A18-44AB-9F6B-8E70B31AAEDA}"/>
    <dgm:cxn modelId="{802217BF-9BFE-455A-8B53-3ED546A13DEE}" type="presParOf" srcId="{37E636D3-7329-4D03-8F4A-0B8B48414723}" destId="{6DA74D99-FA3F-40F6-B7F4-BB6CFE47DCFB}" srcOrd="0" destOrd="0" presId="urn:microsoft.com/office/officeart/2018/2/layout/IconVerticalSolidList"/>
    <dgm:cxn modelId="{C0461017-1C81-4570-9DE0-56022AA086B3}" type="presParOf" srcId="{6DA74D99-FA3F-40F6-B7F4-BB6CFE47DCFB}" destId="{83ADF342-61C8-41B5-86DF-B8E578DAA602}" srcOrd="0" destOrd="0" presId="urn:microsoft.com/office/officeart/2018/2/layout/IconVerticalSolidList"/>
    <dgm:cxn modelId="{D44B9411-3F29-46FF-BCFB-BB3218B6C3DD}" type="presParOf" srcId="{6DA74D99-FA3F-40F6-B7F4-BB6CFE47DCFB}" destId="{D0EAB6C1-3526-4971-A1D2-1F45F464DD69}" srcOrd="1" destOrd="0" presId="urn:microsoft.com/office/officeart/2018/2/layout/IconVerticalSolidList"/>
    <dgm:cxn modelId="{3B0F729B-CE79-4339-A75A-B9DED8567064}" type="presParOf" srcId="{6DA74D99-FA3F-40F6-B7F4-BB6CFE47DCFB}" destId="{4EC35A75-01DB-4D37-9D40-D01743A58A66}" srcOrd="2" destOrd="0" presId="urn:microsoft.com/office/officeart/2018/2/layout/IconVerticalSolidList"/>
    <dgm:cxn modelId="{D7E51B09-C302-4784-83A2-037A01ED71EC}" type="presParOf" srcId="{6DA74D99-FA3F-40F6-B7F4-BB6CFE47DCFB}" destId="{9002E3D5-3FCD-4CEA-A313-A8AAEDEFE558}" srcOrd="3" destOrd="0" presId="urn:microsoft.com/office/officeart/2018/2/layout/IconVerticalSolidList"/>
    <dgm:cxn modelId="{C07BA142-5BD2-4FCC-900B-A1733AFDBB75}" type="presParOf" srcId="{6DA74D99-FA3F-40F6-B7F4-BB6CFE47DCFB}" destId="{36F26006-4E54-4DE2-A4AE-9E00DF875068}" srcOrd="4" destOrd="0" presId="urn:microsoft.com/office/officeart/2018/2/layout/IconVerticalSolidList"/>
    <dgm:cxn modelId="{F635561C-B268-48BB-943A-95B526DEA70C}" type="presParOf" srcId="{37E636D3-7329-4D03-8F4A-0B8B48414723}" destId="{504F2D9F-0840-44F9-9B28-54056939553C}" srcOrd="1" destOrd="0" presId="urn:microsoft.com/office/officeart/2018/2/layout/IconVerticalSolidList"/>
    <dgm:cxn modelId="{EC150FA8-A40C-4D55-9815-37CB28191E34}" type="presParOf" srcId="{37E636D3-7329-4D03-8F4A-0B8B48414723}" destId="{93C900CC-F566-49E2-9E82-2C78FDB3C244}" srcOrd="2" destOrd="0" presId="urn:microsoft.com/office/officeart/2018/2/layout/IconVerticalSolidList"/>
    <dgm:cxn modelId="{FDC63F8B-6548-42C8-BF41-EA6ED001080B}" type="presParOf" srcId="{93C900CC-F566-49E2-9E82-2C78FDB3C244}" destId="{94D466C9-3006-4E39-A4B3-6AE0F4D3D293}" srcOrd="0" destOrd="0" presId="urn:microsoft.com/office/officeart/2018/2/layout/IconVerticalSolidList"/>
    <dgm:cxn modelId="{7ACEBA9A-5708-47C7-B4B2-3F980EA507EF}" type="presParOf" srcId="{93C900CC-F566-49E2-9E82-2C78FDB3C244}" destId="{DBB8625B-3413-462D-8E7F-FD8DE7E7F53B}" srcOrd="1" destOrd="0" presId="urn:microsoft.com/office/officeart/2018/2/layout/IconVerticalSolidList"/>
    <dgm:cxn modelId="{BCF915A3-AA49-446F-A8B4-4A76C6448468}" type="presParOf" srcId="{93C900CC-F566-49E2-9E82-2C78FDB3C244}" destId="{9BE49C39-9B59-49EB-9A11-944ADECF868D}" srcOrd="2" destOrd="0" presId="urn:microsoft.com/office/officeart/2018/2/layout/IconVerticalSolidList"/>
    <dgm:cxn modelId="{B8A4178A-6ED7-4079-973B-62A809B5FEB1}" type="presParOf" srcId="{93C900CC-F566-49E2-9E82-2C78FDB3C244}" destId="{6A307F96-5D8D-494A-8D5F-E7343041F49C}" srcOrd="3" destOrd="0" presId="urn:microsoft.com/office/officeart/2018/2/layout/IconVerticalSolidList"/>
    <dgm:cxn modelId="{C1738ACE-0BE3-4C28-AB74-552C0E4C9AC4}" type="presParOf" srcId="{37E636D3-7329-4D03-8F4A-0B8B48414723}" destId="{EA89BE3A-745F-419C-B4A7-239B44AE8963}" srcOrd="3" destOrd="0" presId="urn:microsoft.com/office/officeart/2018/2/layout/IconVerticalSolidList"/>
    <dgm:cxn modelId="{94BF0D9D-B7C8-4B95-8FDC-521BDFE78FDD}" type="presParOf" srcId="{37E636D3-7329-4D03-8F4A-0B8B48414723}" destId="{0EB3406B-94A9-4BEA-84A2-0FB7B53FE7A5}" srcOrd="4" destOrd="0" presId="urn:microsoft.com/office/officeart/2018/2/layout/IconVerticalSolidList"/>
    <dgm:cxn modelId="{32A83790-5B7B-4632-812A-3404E077B5EF}" type="presParOf" srcId="{0EB3406B-94A9-4BEA-84A2-0FB7B53FE7A5}" destId="{FADDB4BA-31F4-4DEC-9336-77A71272B5B7}" srcOrd="0" destOrd="0" presId="urn:microsoft.com/office/officeart/2018/2/layout/IconVerticalSolidList"/>
    <dgm:cxn modelId="{3B78D5CD-0924-46F2-BB1E-92A1F2721D35}" type="presParOf" srcId="{0EB3406B-94A9-4BEA-84A2-0FB7B53FE7A5}" destId="{3128BCAC-E4DC-4266-B9B1-70A62CDA1C15}" srcOrd="1" destOrd="0" presId="urn:microsoft.com/office/officeart/2018/2/layout/IconVerticalSolidList"/>
    <dgm:cxn modelId="{30C68735-8ABB-4189-AC70-E47704AC81E3}" type="presParOf" srcId="{0EB3406B-94A9-4BEA-84A2-0FB7B53FE7A5}" destId="{10D0DCF4-BE82-4781-9081-620B715AA7C2}" srcOrd="2" destOrd="0" presId="urn:microsoft.com/office/officeart/2018/2/layout/IconVerticalSolidList"/>
    <dgm:cxn modelId="{148AF73E-B2BA-49C8-B751-CE73A4F271B1}" type="presParOf" srcId="{0EB3406B-94A9-4BEA-84A2-0FB7B53FE7A5}" destId="{EA23042D-B88D-4414-BA99-7FEEC45F054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6CC552A-87BF-4482-BED4-648EC9CCF222}" type="doc">
      <dgm:prSet loTypeId="urn:microsoft.com/office/officeart/2008/layout/LinedList" loCatId="list" qsTypeId="urn:microsoft.com/office/officeart/2005/8/quickstyle/simple1" qsCatId="simple" csTypeId="urn:microsoft.com/office/officeart/2005/8/colors/colorful5" csCatId="colorful" phldr="1"/>
      <dgm:spPr/>
      <dgm:t>
        <a:bodyPr/>
        <a:lstStyle/>
        <a:p>
          <a:endParaRPr lang="en-US"/>
        </a:p>
      </dgm:t>
    </dgm:pt>
    <dgm:pt modelId="{783D33A2-2BB2-4D50-A3D5-1FF9B86B2012}">
      <dgm:prSet/>
      <dgm:spPr/>
      <dgm:t>
        <a:bodyPr/>
        <a:lstStyle/>
        <a:p>
          <a:r>
            <a:rPr lang="en-US" b="1" dirty="0">
              <a:highlight>
                <a:srgbClr val="FFFF00"/>
              </a:highlight>
            </a:rPr>
            <a:t>You may work in groups of 2, 3 or 4 (max). </a:t>
          </a:r>
          <a:r>
            <a:rPr lang="en-US" dirty="0"/>
            <a:t>Each group will be allocated a different STI to research and present on. </a:t>
          </a:r>
        </a:p>
      </dgm:t>
    </dgm:pt>
    <dgm:pt modelId="{ED038D9C-C994-470A-97AC-4FDBD308FA4E}" type="parTrans" cxnId="{269B6017-3F4C-4877-996B-1A3BF18F19C2}">
      <dgm:prSet/>
      <dgm:spPr/>
      <dgm:t>
        <a:bodyPr/>
        <a:lstStyle/>
        <a:p>
          <a:endParaRPr lang="en-US"/>
        </a:p>
      </dgm:t>
    </dgm:pt>
    <dgm:pt modelId="{BFEC237E-033A-4622-A450-6CDF49E2F19E}" type="sibTrans" cxnId="{269B6017-3F4C-4877-996B-1A3BF18F19C2}">
      <dgm:prSet/>
      <dgm:spPr/>
      <dgm:t>
        <a:bodyPr/>
        <a:lstStyle/>
        <a:p>
          <a:endParaRPr lang="en-US"/>
        </a:p>
      </dgm:t>
    </dgm:pt>
    <dgm:pt modelId="{9E0A744D-4FBB-4121-AFF0-D48D94F55E0F}">
      <dgm:prSet/>
      <dgm:spPr/>
      <dgm:t>
        <a:bodyPr/>
        <a:lstStyle/>
        <a:p>
          <a:r>
            <a:rPr lang="en-US" dirty="0"/>
            <a:t>While groups are presenting, the audience will have a worksheet/table to fill out. By the end of all the presentations you will have a collection of information on all the different STI’s.</a:t>
          </a:r>
        </a:p>
      </dgm:t>
    </dgm:pt>
    <dgm:pt modelId="{DE74A40A-41DC-4CB1-A917-C67C0B962545}" type="parTrans" cxnId="{3A680C08-7836-43C0-BD23-C5CB19AF02C5}">
      <dgm:prSet/>
      <dgm:spPr/>
      <dgm:t>
        <a:bodyPr/>
        <a:lstStyle/>
        <a:p>
          <a:endParaRPr lang="en-US"/>
        </a:p>
      </dgm:t>
    </dgm:pt>
    <dgm:pt modelId="{F5C1335A-A099-4F77-AAFE-1035FFBBCB75}" type="sibTrans" cxnId="{3A680C08-7836-43C0-BD23-C5CB19AF02C5}">
      <dgm:prSet/>
      <dgm:spPr/>
      <dgm:t>
        <a:bodyPr/>
        <a:lstStyle/>
        <a:p>
          <a:endParaRPr lang="en-US"/>
        </a:p>
      </dgm:t>
    </dgm:pt>
    <dgm:pt modelId="{A4CF66F8-08A9-426F-86BD-ED85953880C6}">
      <dgm:prSet/>
      <dgm:spPr/>
      <dgm:t>
        <a:bodyPr/>
        <a:lstStyle/>
        <a:p>
          <a:r>
            <a:rPr lang="en-US" b="1" dirty="0">
              <a:highlight>
                <a:srgbClr val="FFFF00"/>
              </a:highlight>
            </a:rPr>
            <a:t>All assignments will be due by Week 9</a:t>
          </a:r>
          <a:r>
            <a:rPr lang="en-US" b="1" dirty="0"/>
            <a:t> (regardless of when you are presenting).</a:t>
          </a:r>
          <a:endParaRPr lang="en-US" dirty="0"/>
        </a:p>
      </dgm:t>
    </dgm:pt>
    <dgm:pt modelId="{4622FD5D-2115-4F70-A7FA-106D47407EF0}" type="parTrans" cxnId="{8848D82B-8908-4969-B938-3317A02521B5}">
      <dgm:prSet/>
      <dgm:spPr/>
      <dgm:t>
        <a:bodyPr/>
        <a:lstStyle/>
        <a:p>
          <a:endParaRPr lang="en-US"/>
        </a:p>
      </dgm:t>
    </dgm:pt>
    <dgm:pt modelId="{A64A25B4-9858-42CB-A884-06DB6AB9C8CF}" type="sibTrans" cxnId="{8848D82B-8908-4969-B938-3317A02521B5}">
      <dgm:prSet/>
      <dgm:spPr/>
      <dgm:t>
        <a:bodyPr/>
        <a:lstStyle/>
        <a:p>
          <a:endParaRPr lang="en-US"/>
        </a:p>
      </dgm:t>
    </dgm:pt>
    <dgm:pt modelId="{C608B4DD-DABB-4990-BB3B-EB5D88B1DD33}">
      <dgm:prSet/>
      <dgm:spPr/>
      <dgm:t>
        <a:bodyPr/>
        <a:lstStyle/>
        <a:p>
          <a:r>
            <a:rPr lang="en-US" u="sng" dirty="0"/>
            <a:t>Each group member needs to talk </a:t>
          </a:r>
          <a:r>
            <a:rPr lang="en-US" dirty="0"/>
            <a:t>during the presentation.</a:t>
          </a:r>
        </a:p>
      </dgm:t>
    </dgm:pt>
    <dgm:pt modelId="{09148888-0D1D-4F56-B556-BAA6DAEE4F0F}" type="parTrans" cxnId="{918DB4BB-F7FA-4687-9260-E9749AF3D545}">
      <dgm:prSet/>
      <dgm:spPr/>
      <dgm:t>
        <a:bodyPr/>
        <a:lstStyle/>
        <a:p>
          <a:endParaRPr lang="en-US"/>
        </a:p>
      </dgm:t>
    </dgm:pt>
    <dgm:pt modelId="{04D0AC37-F72F-4D66-B626-913641D7EDFF}" type="sibTrans" cxnId="{918DB4BB-F7FA-4687-9260-E9749AF3D545}">
      <dgm:prSet/>
      <dgm:spPr/>
      <dgm:t>
        <a:bodyPr/>
        <a:lstStyle/>
        <a:p>
          <a:endParaRPr lang="en-US"/>
        </a:p>
      </dgm:t>
    </dgm:pt>
    <dgm:pt modelId="{9A23E9AC-D65C-44E9-8C64-C6F441AD45C8}">
      <dgm:prSet/>
      <dgm:spPr/>
      <dgm:t>
        <a:bodyPr/>
        <a:lstStyle/>
        <a:p>
          <a:r>
            <a:rPr lang="en-US" b="1" dirty="0">
              <a:highlight>
                <a:srgbClr val="FFFF00"/>
              </a:highlight>
            </a:rPr>
            <a:t>Four parts to the task: </a:t>
          </a:r>
          <a:r>
            <a:rPr lang="en-US" dirty="0"/>
            <a:t>PowerPoint </a:t>
          </a:r>
          <a:r>
            <a:rPr lang="en-US" dirty="0">
              <a:sym typeface="Wingdings" panose="05000000000000000000" pitchFamily="2" charset="2"/>
            </a:rPr>
            <a:t></a:t>
          </a:r>
          <a:r>
            <a:rPr lang="en-US" dirty="0"/>
            <a:t> Brochure </a:t>
          </a:r>
          <a:r>
            <a:rPr lang="en-US" dirty="0">
              <a:sym typeface="Wingdings" panose="05000000000000000000" pitchFamily="2" charset="2"/>
            </a:rPr>
            <a:t></a:t>
          </a:r>
          <a:r>
            <a:rPr lang="en-US" dirty="0"/>
            <a:t> Presentation </a:t>
          </a:r>
          <a:r>
            <a:rPr lang="en-US" dirty="0">
              <a:sym typeface="Wingdings" panose="05000000000000000000" pitchFamily="2" charset="2"/>
            </a:rPr>
            <a:t></a:t>
          </a:r>
          <a:r>
            <a:rPr lang="en-US" dirty="0"/>
            <a:t> Individual Group Reflection (all due week 9).</a:t>
          </a:r>
        </a:p>
      </dgm:t>
    </dgm:pt>
    <dgm:pt modelId="{1E5DEA46-F2CB-4906-ACC9-261C51FF26DB}" type="parTrans" cxnId="{60992119-4ED8-4781-A9CA-9D0A886AF9B9}">
      <dgm:prSet/>
      <dgm:spPr/>
      <dgm:t>
        <a:bodyPr/>
        <a:lstStyle/>
        <a:p>
          <a:endParaRPr lang="en-US"/>
        </a:p>
      </dgm:t>
    </dgm:pt>
    <dgm:pt modelId="{6FD847F2-75FB-46EC-8D65-64BEF565B9EE}" type="sibTrans" cxnId="{60992119-4ED8-4781-A9CA-9D0A886AF9B9}">
      <dgm:prSet/>
      <dgm:spPr/>
      <dgm:t>
        <a:bodyPr/>
        <a:lstStyle/>
        <a:p>
          <a:endParaRPr lang="en-US"/>
        </a:p>
      </dgm:t>
    </dgm:pt>
    <dgm:pt modelId="{33B73260-92B0-874A-8E48-273E1B2A11D5}" type="pres">
      <dgm:prSet presAssocID="{A6CC552A-87BF-4482-BED4-648EC9CCF222}" presName="vert0" presStyleCnt="0">
        <dgm:presLayoutVars>
          <dgm:dir/>
          <dgm:animOne val="branch"/>
          <dgm:animLvl val="lvl"/>
        </dgm:presLayoutVars>
      </dgm:prSet>
      <dgm:spPr/>
    </dgm:pt>
    <dgm:pt modelId="{DE4D3C12-1519-3644-86EE-A9611A5ED8DA}" type="pres">
      <dgm:prSet presAssocID="{783D33A2-2BB2-4D50-A3D5-1FF9B86B2012}" presName="thickLine" presStyleLbl="alignNode1" presStyleIdx="0" presStyleCnt="5"/>
      <dgm:spPr/>
    </dgm:pt>
    <dgm:pt modelId="{08DC2BA1-897C-AC48-854C-C8BA049536E0}" type="pres">
      <dgm:prSet presAssocID="{783D33A2-2BB2-4D50-A3D5-1FF9B86B2012}" presName="horz1" presStyleCnt="0"/>
      <dgm:spPr/>
    </dgm:pt>
    <dgm:pt modelId="{23A947CA-9127-2447-8B4C-30FC982FC2C0}" type="pres">
      <dgm:prSet presAssocID="{783D33A2-2BB2-4D50-A3D5-1FF9B86B2012}" presName="tx1" presStyleLbl="revTx" presStyleIdx="0" presStyleCnt="5"/>
      <dgm:spPr/>
    </dgm:pt>
    <dgm:pt modelId="{F1A209E2-73E3-4048-95C9-A82A6554C57F}" type="pres">
      <dgm:prSet presAssocID="{783D33A2-2BB2-4D50-A3D5-1FF9B86B2012}" presName="vert1" presStyleCnt="0"/>
      <dgm:spPr/>
    </dgm:pt>
    <dgm:pt modelId="{F210BEE8-1F7A-7449-8DB9-85F0C41AC92B}" type="pres">
      <dgm:prSet presAssocID="{9E0A744D-4FBB-4121-AFF0-D48D94F55E0F}" presName="thickLine" presStyleLbl="alignNode1" presStyleIdx="1" presStyleCnt="5"/>
      <dgm:spPr/>
    </dgm:pt>
    <dgm:pt modelId="{9E13DA29-C6D7-394F-9095-3A7ADB0E20B0}" type="pres">
      <dgm:prSet presAssocID="{9E0A744D-4FBB-4121-AFF0-D48D94F55E0F}" presName="horz1" presStyleCnt="0"/>
      <dgm:spPr/>
    </dgm:pt>
    <dgm:pt modelId="{F09815AE-9582-BE40-A8A3-43F30D43A936}" type="pres">
      <dgm:prSet presAssocID="{9E0A744D-4FBB-4121-AFF0-D48D94F55E0F}" presName="tx1" presStyleLbl="revTx" presStyleIdx="1" presStyleCnt="5"/>
      <dgm:spPr/>
    </dgm:pt>
    <dgm:pt modelId="{BA627FDB-8D16-EF44-AF20-7FF8CCC764A1}" type="pres">
      <dgm:prSet presAssocID="{9E0A744D-4FBB-4121-AFF0-D48D94F55E0F}" presName="vert1" presStyleCnt="0"/>
      <dgm:spPr/>
    </dgm:pt>
    <dgm:pt modelId="{86E8E211-0460-324E-B741-9769763C1030}" type="pres">
      <dgm:prSet presAssocID="{A4CF66F8-08A9-426F-86BD-ED85953880C6}" presName="thickLine" presStyleLbl="alignNode1" presStyleIdx="2" presStyleCnt="5"/>
      <dgm:spPr/>
    </dgm:pt>
    <dgm:pt modelId="{C30198D0-BA8F-B244-A647-7C2DB8AF9217}" type="pres">
      <dgm:prSet presAssocID="{A4CF66F8-08A9-426F-86BD-ED85953880C6}" presName="horz1" presStyleCnt="0"/>
      <dgm:spPr/>
    </dgm:pt>
    <dgm:pt modelId="{8F0BA13D-E079-A046-B9D6-183915BF9B49}" type="pres">
      <dgm:prSet presAssocID="{A4CF66F8-08A9-426F-86BD-ED85953880C6}" presName="tx1" presStyleLbl="revTx" presStyleIdx="2" presStyleCnt="5"/>
      <dgm:spPr/>
    </dgm:pt>
    <dgm:pt modelId="{6FC7E674-322A-7843-BEC9-D342408FED37}" type="pres">
      <dgm:prSet presAssocID="{A4CF66F8-08A9-426F-86BD-ED85953880C6}" presName="vert1" presStyleCnt="0"/>
      <dgm:spPr/>
    </dgm:pt>
    <dgm:pt modelId="{95A9CD63-425F-9847-AF49-FB0A4A902A5A}" type="pres">
      <dgm:prSet presAssocID="{C608B4DD-DABB-4990-BB3B-EB5D88B1DD33}" presName="thickLine" presStyleLbl="alignNode1" presStyleIdx="3" presStyleCnt="5"/>
      <dgm:spPr/>
    </dgm:pt>
    <dgm:pt modelId="{3E41AC73-BE55-5149-84F9-59F2F709F7B5}" type="pres">
      <dgm:prSet presAssocID="{C608B4DD-DABB-4990-BB3B-EB5D88B1DD33}" presName="horz1" presStyleCnt="0"/>
      <dgm:spPr/>
    </dgm:pt>
    <dgm:pt modelId="{D4845925-3A0E-3745-B823-37F5F2FAB2E7}" type="pres">
      <dgm:prSet presAssocID="{C608B4DD-DABB-4990-BB3B-EB5D88B1DD33}" presName="tx1" presStyleLbl="revTx" presStyleIdx="3" presStyleCnt="5"/>
      <dgm:spPr/>
    </dgm:pt>
    <dgm:pt modelId="{70539747-1920-E84B-9884-C36F5C11E8F5}" type="pres">
      <dgm:prSet presAssocID="{C608B4DD-DABB-4990-BB3B-EB5D88B1DD33}" presName="vert1" presStyleCnt="0"/>
      <dgm:spPr/>
    </dgm:pt>
    <dgm:pt modelId="{DC90E70E-82AF-8849-B520-22EF8A88FD7C}" type="pres">
      <dgm:prSet presAssocID="{9A23E9AC-D65C-44E9-8C64-C6F441AD45C8}" presName="thickLine" presStyleLbl="alignNode1" presStyleIdx="4" presStyleCnt="5"/>
      <dgm:spPr/>
    </dgm:pt>
    <dgm:pt modelId="{8C03D5BD-3EED-0049-9015-5FD35B68DB91}" type="pres">
      <dgm:prSet presAssocID="{9A23E9AC-D65C-44E9-8C64-C6F441AD45C8}" presName="horz1" presStyleCnt="0"/>
      <dgm:spPr/>
    </dgm:pt>
    <dgm:pt modelId="{B67FD673-3B4F-B142-BAA4-C4E81277212B}" type="pres">
      <dgm:prSet presAssocID="{9A23E9AC-D65C-44E9-8C64-C6F441AD45C8}" presName="tx1" presStyleLbl="revTx" presStyleIdx="4" presStyleCnt="5"/>
      <dgm:spPr/>
    </dgm:pt>
    <dgm:pt modelId="{80D3284B-67A1-C549-9CC1-36A02CD1B52E}" type="pres">
      <dgm:prSet presAssocID="{9A23E9AC-D65C-44E9-8C64-C6F441AD45C8}" presName="vert1" presStyleCnt="0"/>
      <dgm:spPr/>
    </dgm:pt>
  </dgm:ptLst>
  <dgm:cxnLst>
    <dgm:cxn modelId="{3A680C08-7836-43C0-BD23-C5CB19AF02C5}" srcId="{A6CC552A-87BF-4482-BED4-648EC9CCF222}" destId="{9E0A744D-4FBB-4121-AFF0-D48D94F55E0F}" srcOrd="1" destOrd="0" parTransId="{DE74A40A-41DC-4CB1-A917-C67C0B962545}" sibTransId="{F5C1335A-A099-4F77-AAFE-1035FFBBCB75}"/>
    <dgm:cxn modelId="{269B6017-3F4C-4877-996B-1A3BF18F19C2}" srcId="{A6CC552A-87BF-4482-BED4-648EC9CCF222}" destId="{783D33A2-2BB2-4D50-A3D5-1FF9B86B2012}" srcOrd="0" destOrd="0" parTransId="{ED038D9C-C994-470A-97AC-4FDBD308FA4E}" sibTransId="{BFEC237E-033A-4622-A450-6CDF49E2F19E}"/>
    <dgm:cxn modelId="{60992119-4ED8-4781-A9CA-9D0A886AF9B9}" srcId="{A6CC552A-87BF-4482-BED4-648EC9CCF222}" destId="{9A23E9AC-D65C-44E9-8C64-C6F441AD45C8}" srcOrd="4" destOrd="0" parTransId="{1E5DEA46-F2CB-4906-ACC9-261C51FF26DB}" sibTransId="{6FD847F2-75FB-46EC-8D65-64BEF565B9EE}"/>
    <dgm:cxn modelId="{8848D82B-8908-4969-B938-3317A02521B5}" srcId="{A6CC552A-87BF-4482-BED4-648EC9CCF222}" destId="{A4CF66F8-08A9-426F-86BD-ED85953880C6}" srcOrd="2" destOrd="0" parTransId="{4622FD5D-2115-4F70-A7FA-106D47407EF0}" sibTransId="{A64A25B4-9858-42CB-A884-06DB6AB9C8CF}"/>
    <dgm:cxn modelId="{E678CA64-AD34-C146-97AE-0A959DC84690}" type="presOf" srcId="{A6CC552A-87BF-4482-BED4-648EC9CCF222}" destId="{33B73260-92B0-874A-8E48-273E1B2A11D5}" srcOrd="0" destOrd="0" presId="urn:microsoft.com/office/officeart/2008/layout/LinedList"/>
    <dgm:cxn modelId="{6E979075-7F93-0D4A-9DAC-2E4FC9672029}" type="presOf" srcId="{9E0A744D-4FBB-4121-AFF0-D48D94F55E0F}" destId="{F09815AE-9582-BE40-A8A3-43F30D43A936}" srcOrd="0" destOrd="0" presId="urn:microsoft.com/office/officeart/2008/layout/LinedList"/>
    <dgm:cxn modelId="{25AB3892-6931-724E-92DE-F5BFD7F42383}" type="presOf" srcId="{C608B4DD-DABB-4990-BB3B-EB5D88B1DD33}" destId="{D4845925-3A0E-3745-B823-37F5F2FAB2E7}" srcOrd="0" destOrd="0" presId="urn:microsoft.com/office/officeart/2008/layout/LinedList"/>
    <dgm:cxn modelId="{5139FDAB-A857-AA44-A1FD-59E20B9DA8A1}" type="presOf" srcId="{A4CF66F8-08A9-426F-86BD-ED85953880C6}" destId="{8F0BA13D-E079-A046-B9D6-183915BF9B49}" srcOrd="0" destOrd="0" presId="urn:microsoft.com/office/officeart/2008/layout/LinedList"/>
    <dgm:cxn modelId="{918DB4BB-F7FA-4687-9260-E9749AF3D545}" srcId="{A6CC552A-87BF-4482-BED4-648EC9CCF222}" destId="{C608B4DD-DABB-4990-BB3B-EB5D88B1DD33}" srcOrd="3" destOrd="0" parTransId="{09148888-0D1D-4F56-B556-BAA6DAEE4F0F}" sibTransId="{04D0AC37-F72F-4D66-B626-913641D7EDFF}"/>
    <dgm:cxn modelId="{C9E065C4-9206-8F4D-A46A-1691B0B5F3B6}" type="presOf" srcId="{783D33A2-2BB2-4D50-A3D5-1FF9B86B2012}" destId="{23A947CA-9127-2447-8B4C-30FC982FC2C0}" srcOrd="0" destOrd="0" presId="urn:microsoft.com/office/officeart/2008/layout/LinedList"/>
    <dgm:cxn modelId="{7637E0FD-54AE-1843-A2B3-C5373A438715}" type="presOf" srcId="{9A23E9AC-D65C-44E9-8C64-C6F441AD45C8}" destId="{B67FD673-3B4F-B142-BAA4-C4E81277212B}" srcOrd="0" destOrd="0" presId="urn:microsoft.com/office/officeart/2008/layout/LinedList"/>
    <dgm:cxn modelId="{45C9F8E3-2CD1-6141-8F14-451BD66CB3B8}" type="presParOf" srcId="{33B73260-92B0-874A-8E48-273E1B2A11D5}" destId="{DE4D3C12-1519-3644-86EE-A9611A5ED8DA}" srcOrd="0" destOrd="0" presId="urn:microsoft.com/office/officeart/2008/layout/LinedList"/>
    <dgm:cxn modelId="{70027059-98E8-2648-82C6-95F5515F6445}" type="presParOf" srcId="{33B73260-92B0-874A-8E48-273E1B2A11D5}" destId="{08DC2BA1-897C-AC48-854C-C8BA049536E0}" srcOrd="1" destOrd="0" presId="urn:microsoft.com/office/officeart/2008/layout/LinedList"/>
    <dgm:cxn modelId="{FCEAC235-A64C-7440-932E-31917EE723A6}" type="presParOf" srcId="{08DC2BA1-897C-AC48-854C-C8BA049536E0}" destId="{23A947CA-9127-2447-8B4C-30FC982FC2C0}" srcOrd="0" destOrd="0" presId="urn:microsoft.com/office/officeart/2008/layout/LinedList"/>
    <dgm:cxn modelId="{BB661749-C5EA-084A-8A2F-4D6CE9D1BE56}" type="presParOf" srcId="{08DC2BA1-897C-AC48-854C-C8BA049536E0}" destId="{F1A209E2-73E3-4048-95C9-A82A6554C57F}" srcOrd="1" destOrd="0" presId="urn:microsoft.com/office/officeart/2008/layout/LinedList"/>
    <dgm:cxn modelId="{D97B6B1F-6FE6-2647-818F-07EBF8C0104E}" type="presParOf" srcId="{33B73260-92B0-874A-8E48-273E1B2A11D5}" destId="{F210BEE8-1F7A-7449-8DB9-85F0C41AC92B}" srcOrd="2" destOrd="0" presId="urn:microsoft.com/office/officeart/2008/layout/LinedList"/>
    <dgm:cxn modelId="{BB07A925-80E3-0E4F-806B-F3A1A62C62D9}" type="presParOf" srcId="{33B73260-92B0-874A-8E48-273E1B2A11D5}" destId="{9E13DA29-C6D7-394F-9095-3A7ADB0E20B0}" srcOrd="3" destOrd="0" presId="urn:microsoft.com/office/officeart/2008/layout/LinedList"/>
    <dgm:cxn modelId="{F073727F-4994-9D45-B1E7-AE9156939A25}" type="presParOf" srcId="{9E13DA29-C6D7-394F-9095-3A7ADB0E20B0}" destId="{F09815AE-9582-BE40-A8A3-43F30D43A936}" srcOrd="0" destOrd="0" presId="urn:microsoft.com/office/officeart/2008/layout/LinedList"/>
    <dgm:cxn modelId="{4DA5AC8B-BA50-A942-9DB4-345699A79366}" type="presParOf" srcId="{9E13DA29-C6D7-394F-9095-3A7ADB0E20B0}" destId="{BA627FDB-8D16-EF44-AF20-7FF8CCC764A1}" srcOrd="1" destOrd="0" presId="urn:microsoft.com/office/officeart/2008/layout/LinedList"/>
    <dgm:cxn modelId="{33B48E58-75F1-4346-941E-F384138AEE10}" type="presParOf" srcId="{33B73260-92B0-874A-8E48-273E1B2A11D5}" destId="{86E8E211-0460-324E-B741-9769763C1030}" srcOrd="4" destOrd="0" presId="urn:microsoft.com/office/officeart/2008/layout/LinedList"/>
    <dgm:cxn modelId="{F1F8FDC2-3FF1-C743-B5ED-7272272AA69F}" type="presParOf" srcId="{33B73260-92B0-874A-8E48-273E1B2A11D5}" destId="{C30198D0-BA8F-B244-A647-7C2DB8AF9217}" srcOrd="5" destOrd="0" presId="urn:microsoft.com/office/officeart/2008/layout/LinedList"/>
    <dgm:cxn modelId="{B302DC41-7DFD-8F44-853A-F8D535B79372}" type="presParOf" srcId="{C30198D0-BA8F-B244-A647-7C2DB8AF9217}" destId="{8F0BA13D-E079-A046-B9D6-183915BF9B49}" srcOrd="0" destOrd="0" presId="urn:microsoft.com/office/officeart/2008/layout/LinedList"/>
    <dgm:cxn modelId="{DD5BB70D-615C-694C-B2E5-360DCF955C54}" type="presParOf" srcId="{C30198D0-BA8F-B244-A647-7C2DB8AF9217}" destId="{6FC7E674-322A-7843-BEC9-D342408FED37}" srcOrd="1" destOrd="0" presId="urn:microsoft.com/office/officeart/2008/layout/LinedList"/>
    <dgm:cxn modelId="{FC693FC0-9301-8648-AE74-7455B0C23D3E}" type="presParOf" srcId="{33B73260-92B0-874A-8E48-273E1B2A11D5}" destId="{95A9CD63-425F-9847-AF49-FB0A4A902A5A}" srcOrd="6" destOrd="0" presId="urn:microsoft.com/office/officeart/2008/layout/LinedList"/>
    <dgm:cxn modelId="{5999FA5C-B908-E04F-8E14-F29D6A34AAF7}" type="presParOf" srcId="{33B73260-92B0-874A-8E48-273E1B2A11D5}" destId="{3E41AC73-BE55-5149-84F9-59F2F709F7B5}" srcOrd="7" destOrd="0" presId="urn:microsoft.com/office/officeart/2008/layout/LinedList"/>
    <dgm:cxn modelId="{AE8A0216-FFCC-9D4A-9C96-11FBC3E159E8}" type="presParOf" srcId="{3E41AC73-BE55-5149-84F9-59F2F709F7B5}" destId="{D4845925-3A0E-3745-B823-37F5F2FAB2E7}" srcOrd="0" destOrd="0" presId="urn:microsoft.com/office/officeart/2008/layout/LinedList"/>
    <dgm:cxn modelId="{1F23CE23-7552-7C45-833B-CACE7A9CCE4C}" type="presParOf" srcId="{3E41AC73-BE55-5149-84F9-59F2F709F7B5}" destId="{70539747-1920-E84B-9884-C36F5C11E8F5}" srcOrd="1" destOrd="0" presId="urn:microsoft.com/office/officeart/2008/layout/LinedList"/>
    <dgm:cxn modelId="{61F7A1F3-61E8-F74D-B5CE-E0123C30E49C}" type="presParOf" srcId="{33B73260-92B0-874A-8E48-273E1B2A11D5}" destId="{DC90E70E-82AF-8849-B520-22EF8A88FD7C}" srcOrd="8" destOrd="0" presId="urn:microsoft.com/office/officeart/2008/layout/LinedList"/>
    <dgm:cxn modelId="{B543BAA4-CC8D-3E42-8EC6-1413880193D3}" type="presParOf" srcId="{33B73260-92B0-874A-8E48-273E1B2A11D5}" destId="{8C03D5BD-3EED-0049-9015-5FD35B68DB91}" srcOrd="9" destOrd="0" presId="urn:microsoft.com/office/officeart/2008/layout/LinedList"/>
    <dgm:cxn modelId="{B82954B6-14D4-6B4F-B410-27EF82B20E01}" type="presParOf" srcId="{8C03D5BD-3EED-0049-9015-5FD35B68DB91}" destId="{B67FD673-3B4F-B142-BAA4-C4E81277212B}" srcOrd="0" destOrd="0" presId="urn:microsoft.com/office/officeart/2008/layout/LinedList"/>
    <dgm:cxn modelId="{0EEAAF45-E7FA-FA4C-AD93-ED59CC4BB8CE}" type="presParOf" srcId="{8C03D5BD-3EED-0049-9015-5FD35B68DB91}" destId="{80D3284B-67A1-C549-9CC1-36A02CD1B52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811C98-CC56-4E66-B459-39C583D434E3}">
      <dsp:nvSpPr>
        <dsp:cNvPr id="0" name=""/>
        <dsp:cNvSpPr/>
      </dsp:nvSpPr>
      <dsp:spPr>
        <a:xfrm>
          <a:off x="0" y="4590"/>
          <a:ext cx="7004845" cy="9776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522CFB-28D3-4606-BB80-339A25369261}">
      <dsp:nvSpPr>
        <dsp:cNvPr id="0" name=""/>
        <dsp:cNvSpPr/>
      </dsp:nvSpPr>
      <dsp:spPr>
        <a:xfrm>
          <a:off x="295752" y="224570"/>
          <a:ext cx="537731" cy="53773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59142C3-DF34-4899-B5ED-E1DA7F976127}">
      <dsp:nvSpPr>
        <dsp:cNvPr id="0" name=""/>
        <dsp:cNvSpPr/>
      </dsp:nvSpPr>
      <dsp:spPr>
        <a:xfrm>
          <a:off x="1129235" y="4590"/>
          <a:ext cx="5875609" cy="9776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472" tIns="103472" rIns="103472" bIns="103472" numCol="1" spcCol="1270" anchor="ctr" anchorCtr="0">
          <a:noAutofit/>
        </a:bodyPr>
        <a:lstStyle/>
        <a:p>
          <a:pPr marL="0" lvl="0" indent="0" algn="l" defTabSz="1244600">
            <a:lnSpc>
              <a:spcPct val="100000"/>
            </a:lnSpc>
            <a:spcBef>
              <a:spcPct val="0"/>
            </a:spcBef>
            <a:spcAft>
              <a:spcPct val="35000"/>
            </a:spcAft>
            <a:buNone/>
          </a:pPr>
          <a:r>
            <a:rPr lang="en-US" sz="2800" kern="1200" dirty="0"/>
            <a:t>Week 5 STI’s.</a:t>
          </a:r>
        </a:p>
      </dsp:txBody>
      <dsp:txXfrm>
        <a:off x="1129235" y="4590"/>
        <a:ext cx="5875609" cy="977692"/>
      </dsp:txXfrm>
    </dsp:sp>
    <dsp:sp modelId="{79A32036-1F0B-416F-82ED-DE294A4DDFEE}">
      <dsp:nvSpPr>
        <dsp:cNvPr id="0" name=""/>
        <dsp:cNvSpPr/>
      </dsp:nvSpPr>
      <dsp:spPr>
        <a:xfrm>
          <a:off x="0" y="1226706"/>
          <a:ext cx="7004845" cy="9776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51201A-F1DD-4E78-85C5-9D6EB970CD4D}">
      <dsp:nvSpPr>
        <dsp:cNvPr id="0" name=""/>
        <dsp:cNvSpPr/>
      </dsp:nvSpPr>
      <dsp:spPr>
        <a:xfrm>
          <a:off x="295752" y="1446686"/>
          <a:ext cx="537731" cy="53773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8E8C22-BC90-4362-BD87-DB247553DADB}">
      <dsp:nvSpPr>
        <dsp:cNvPr id="0" name=""/>
        <dsp:cNvSpPr/>
      </dsp:nvSpPr>
      <dsp:spPr>
        <a:xfrm>
          <a:off x="1129235" y="1226706"/>
          <a:ext cx="5875609" cy="9776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472" tIns="103472" rIns="103472" bIns="103472" numCol="1" spcCol="1270" anchor="ctr" anchorCtr="0">
          <a:noAutofit/>
        </a:bodyPr>
        <a:lstStyle/>
        <a:p>
          <a:pPr marL="0" lvl="0" indent="0" algn="l" defTabSz="1244600">
            <a:lnSpc>
              <a:spcPct val="100000"/>
            </a:lnSpc>
            <a:spcBef>
              <a:spcPct val="0"/>
            </a:spcBef>
            <a:spcAft>
              <a:spcPct val="35000"/>
            </a:spcAft>
            <a:buNone/>
          </a:pPr>
          <a:r>
            <a:rPr lang="en-US" sz="2800" kern="1200" dirty="0"/>
            <a:t>Week 6 = STI’s + Task 3: STI Oral Presentations.</a:t>
          </a:r>
        </a:p>
      </dsp:txBody>
      <dsp:txXfrm>
        <a:off x="1129235" y="1226706"/>
        <a:ext cx="5875609" cy="977692"/>
      </dsp:txXfrm>
    </dsp:sp>
    <dsp:sp modelId="{67380DAD-87D7-4D45-81FC-72279EFD3258}">
      <dsp:nvSpPr>
        <dsp:cNvPr id="0" name=""/>
        <dsp:cNvSpPr/>
      </dsp:nvSpPr>
      <dsp:spPr>
        <a:xfrm>
          <a:off x="0" y="2448822"/>
          <a:ext cx="7004845" cy="9776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D1F972-DF6D-4E72-9CF0-76FB92654C85}">
      <dsp:nvSpPr>
        <dsp:cNvPr id="0" name=""/>
        <dsp:cNvSpPr/>
      </dsp:nvSpPr>
      <dsp:spPr>
        <a:xfrm>
          <a:off x="295752" y="2668802"/>
          <a:ext cx="537731" cy="53773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6CB073C-F679-407E-A1B4-48CEB9056F7D}">
      <dsp:nvSpPr>
        <dsp:cNvPr id="0" name=""/>
        <dsp:cNvSpPr/>
      </dsp:nvSpPr>
      <dsp:spPr>
        <a:xfrm>
          <a:off x="1129235" y="2448822"/>
          <a:ext cx="5875609" cy="9776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472" tIns="103472" rIns="103472" bIns="103472" numCol="1" spcCol="1270" anchor="ctr" anchorCtr="0">
          <a:noAutofit/>
        </a:bodyPr>
        <a:lstStyle/>
        <a:p>
          <a:pPr marL="0" lvl="0" indent="0" algn="l" defTabSz="1244600">
            <a:lnSpc>
              <a:spcPct val="100000"/>
            </a:lnSpc>
            <a:spcBef>
              <a:spcPct val="0"/>
            </a:spcBef>
            <a:spcAft>
              <a:spcPct val="35000"/>
            </a:spcAft>
            <a:buNone/>
          </a:pPr>
          <a:r>
            <a:rPr lang="en-US" sz="2800" kern="1200" dirty="0"/>
            <a:t>Week 7 = Work on assignment. </a:t>
          </a:r>
        </a:p>
      </dsp:txBody>
      <dsp:txXfrm>
        <a:off x="1129235" y="2448822"/>
        <a:ext cx="5875609" cy="977692"/>
      </dsp:txXfrm>
    </dsp:sp>
    <dsp:sp modelId="{0967C147-F5FF-441C-9A26-6DCD6C8C801F}">
      <dsp:nvSpPr>
        <dsp:cNvPr id="0" name=""/>
        <dsp:cNvSpPr/>
      </dsp:nvSpPr>
      <dsp:spPr>
        <a:xfrm>
          <a:off x="0" y="3670938"/>
          <a:ext cx="7004845" cy="9776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73377C-06F6-4033-B121-D99FDF7D82CD}">
      <dsp:nvSpPr>
        <dsp:cNvPr id="0" name=""/>
        <dsp:cNvSpPr/>
      </dsp:nvSpPr>
      <dsp:spPr>
        <a:xfrm>
          <a:off x="295752" y="3890918"/>
          <a:ext cx="537731" cy="53773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5A49A1-6F7F-4E9E-AD2A-97381A9216E4}">
      <dsp:nvSpPr>
        <dsp:cNvPr id="0" name=""/>
        <dsp:cNvSpPr/>
      </dsp:nvSpPr>
      <dsp:spPr>
        <a:xfrm>
          <a:off x="1129235" y="3670938"/>
          <a:ext cx="5875609" cy="9776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472" tIns="103472" rIns="103472" bIns="103472" numCol="1" spcCol="1270" anchor="ctr" anchorCtr="0">
          <a:noAutofit/>
        </a:bodyPr>
        <a:lstStyle/>
        <a:p>
          <a:pPr marL="0" lvl="0" indent="0" algn="l" defTabSz="1244600">
            <a:lnSpc>
              <a:spcPct val="100000"/>
            </a:lnSpc>
            <a:spcBef>
              <a:spcPct val="0"/>
            </a:spcBef>
            <a:spcAft>
              <a:spcPct val="35000"/>
            </a:spcAft>
            <a:buNone/>
          </a:pPr>
          <a:r>
            <a:rPr lang="en-US" sz="2800" kern="1200" dirty="0"/>
            <a:t>Week 8 = EXAM BREAK.</a:t>
          </a:r>
        </a:p>
      </dsp:txBody>
      <dsp:txXfrm>
        <a:off x="1129235" y="3670938"/>
        <a:ext cx="5875609" cy="977692"/>
      </dsp:txXfrm>
    </dsp:sp>
    <dsp:sp modelId="{BA5A426F-DC04-4DBD-B9ED-E3E5B5583088}">
      <dsp:nvSpPr>
        <dsp:cNvPr id="0" name=""/>
        <dsp:cNvSpPr/>
      </dsp:nvSpPr>
      <dsp:spPr>
        <a:xfrm>
          <a:off x="0" y="4893054"/>
          <a:ext cx="7004845" cy="9776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51AF84-7FF2-4979-A27E-39552CF92951}">
      <dsp:nvSpPr>
        <dsp:cNvPr id="0" name=""/>
        <dsp:cNvSpPr/>
      </dsp:nvSpPr>
      <dsp:spPr>
        <a:xfrm>
          <a:off x="295752" y="5113034"/>
          <a:ext cx="537731" cy="53773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EE8E618-865D-413E-9A98-FA8C90A5C173}">
      <dsp:nvSpPr>
        <dsp:cNvPr id="0" name=""/>
        <dsp:cNvSpPr/>
      </dsp:nvSpPr>
      <dsp:spPr>
        <a:xfrm>
          <a:off x="1129235" y="4893054"/>
          <a:ext cx="5875609" cy="9776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472" tIns="103472" rIns="103472" bIns="103472" numCol="1" spcCol="1270" anchor="ctr" anchorCtr="0">
          <a:noAutofit/>
        </a:bodyPr>
        <a:lstStyle/>
        <a:p>
          <a:pPr marL="0" lvl="0" indent="0" algn="l" defTabSz="1066800">
            <a:lnSpc>
              <a:spcPct val="100000"/>
            </a:lnSpc>
            <a:spcBef>
              <a:spcPct val="0"/>
            </a:spcBef>
            <a:spcAft>
              <a:spcPct val="35000"/>
            </a:spcAft>
            <a:buNone/>
          </a:pPr>
          <a:r>
            <a:rPr lang="en-US" sz="2400" kern="1200" dirty="0"/>
            <a:t>Week 9 – 11 = Assignment Presentations.</a:t>
          </a:r>
        </a:p>
        <a:p>
          <a:pPr marL="0" lvl="0" indent="0" algn="l" defTabSz="1066800">
            <a:lnSpc>
              <a:spcPct val="100000"/>
            </a:lnSpc>
            <a:spcBef>
              <a:spcPct val="0"/>
            </a:spcBef>
            <a:spcAft>
              <a:spcPct val="35000"/>
            </a:spcAft>
            <a:buNone/>
          </a:pPr>
          <a:r>
            <a:rPr lang="en-US" sz="1800" kern="1200" dirty="0"/>
            <a:t>- </a:t>
          </a:r>
          <a:r>
            <a:rPr lang="en-US" sz="1800" b="1" u="sng" kern="1200" dirty="0"/>
            <a:t>ALL</a:t>
          </a:r>
          <a:r>
            <a:rPr lang="en-US" sz="1800" kern="1200" dirty="0"/>
            <a:t> assignments are due in week 9 and names will be drawn at random. </a:t>
          </a:r>
        </a:p>
      </dsp:txBody>
      <dsp:txXfrm>
        <a:off x="1129235" y="4893054"/>
        <a:ext cx="5875609" cy="9776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ADF342-61C8-41B5-86DF-B8E578DAA602}">
      <dsp:nvSpPr>
        <dsp:cNvPr id="0" name=""/>
        <dsp:cNvSpPr/>
      </dsp:nvSpPr>
      <dsp:spPr>
        <a:xfrm>
          <a:off x="0" y="519"/>
          <a:ext cx="10515600" cy="121454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EAB6C1-3526-4971-A1D2-1F45F464DD69}">
      <dsp:nvSpPr>
        <dsp:cNvPr id="0" name=""/>
        <dsp:cNvSpPr/>
      </dsp:nvSpPr>
      <dsp:spPr>
        <a:xfrm>
          <a:off x="367401" y="273792"/>
          <a:ext cx="668002" cy="6680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02E3D5-3FCD-4CEA-A313-A8AAEDEFE558}">
      <dsp:nvSpPr>
        <dsp:cNvPr id="0" name=""/>
        <dsp:cNvSpPr/>
      </dsp:nvSpPr>
      <dsp:spPr>
        <a:xfrm>
          <a:off x="1402804" y="519"/>
          <a:ext cx="4732020" cy="1214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540" tIns="128540" rIns="128540" bIns="128540" numCol="1" spcCol="1270" anchor="ctr" anchorCtr="0">
          <a:noAutofit/>
        </a:bodyPr>
        <a:lstStyle/>
        <a:p>
          <a:pPr marL="0" lvl="0" indent="0" algn="l" defTabSz="1111250">
            <a:lnSpc>
              <a:spcPct val="100000"/>
            </a:lnSpc>
            <a:spcBef>
              <a:spcPct val="0"/>
            </a:spcBef>
            <a:spcAft>
              <a:spcPct val="35000"/>
            </a:spcAft>
            <a:buNone/>
          </a:pPr>
          <a:r>
            <a:rPr lang="en-US" sz="2500" kern="1200" dirty="0"/>
            <a:t>Placed around the room are response cards </a:t>
          </a:r>
        </a:p>
      </dsp:txBody>
      <dsp:txXfrm>
        <a:off x="1402804" y="519"/>
        <a:ext cx="4732020" cy="1214549"/>
      </dsp:txXfrm>
    </dsp:sp>
    <dsp:sp modelId="{36F26006-4E54-4DE2-A4AE-9E00DF875068}">
      <dsp:nvSpPr>
        <dsp:cNvPr id="0" name=""/>
        <dsp:cNvSpPr/>
      </dsp:nvSpPr>
      <dsp:spPr>
        <a:xfrm>
          <a:off x="6134824" y="519"/>
          <a:ext cx="4380775" cy="1214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540" tIns="128540" rIns="128540" bIns="128540" numCol="1" spcCol="1270" anchor="ctr" anchorCtr="0">
          <a:noAutofit/>
        </a:bodyPr>
        <a:lstStyle/>
        <a:p>
          <a:pPr marL="0" lvl="0" indent="0" algn="l" defTabSz="1066800">
            <a:lnSpc>
              <a:spcPct val="100000"/>
            </a:lnSpc>
            <a:spcBef>
              <a:spcPct val="0"/>
            </a:spcBef>
            <a:spcAft>
              <a:spcPct val="35000"/>
            </a:spcAft>
            <a:buNone/>
          </a:pPr>
          <a:r>
            <a:rPr lang="en-US" sz="2400" kern="1200" dirty="0"/>
            <a:t>Strongly Agree </a:t>
          </a:r>
          <a:r>
            <a:rPr lang="en-US" sz="2400" kern="1200" dirty="0">
              <a:sym typeface="Wingdings" panose="05000000000000000000" pitchFamily="2" charset="2"/>
            </a:rPr>
            <a:t></a:t>
          </a:r>
          <a:r>
            <a:rPr lang="en-US" sz="2400" kern="1200" dirty="0"/>
            <a:t> Strongly Disagree</a:t>
          </a:r>
        </a:p>
      </dsp:txBody>
      <dsp:txXfrm>
        <a:off x="6134824" y="519"/>
        <a:ext cx="4380775" cy="1214549"/>
      </dsp:txXfrm>
    </dsp:sp>
    <dsp:sp modelId="{94D466C9-3006-4E39-A4B3-6AE0F4D3D293}">
      <dsp:nvSpPr>
        <dsp:cNvPr id="0" name=""/>
        <dsp:cNvSpPr/>
      </dsp:nvSpPr>
      <dsp:spPr>
        <a:xfrm>
          <a:off x="0" y="1518705"/>
          <a:ext cx="10515600" cy="121454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B8625B-3413-462D-8E7F-FD8DE7E7F53B}">
      <dsp:nvSpPr>
        <dsp:cNvPr id="0" name=""/>
        <dsp:cNvSpPr/>
      </dsp:nvSpPr>
      <dsp:spPr>
        <a:xfrm>
          <a:off x="367401" y="1791978"/>
          <a:ext cx="668002" cy="6680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307F96-5D8D-494A-8D5F-E7343041F49C}">
      <dsp:nvSpPr>
        <dsp:cNvPr id="0" name=""/>
        <dsp:cNvSpPr/>
      </dsp:nvSpPr>
      <dsp:spPr>
        <a:xfrm>
          <a:off x="1402804" y="1518705"/>
          <a:ext cx="9112795" cy="1214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540" tIns="128540" rIns="128540" bIns="128540" numCol="1" spcCol="1270" anchor="ctr" anchorCtr="0">
          <a:noAutofit/>
        </a:bodyPr>
        <a:lstStyle/>
        <a:p>
          <a:pPr marL="0" lvl="0" indent="0" algn="l" defTabSz="1111250">
            <a:lnSpc>
              <a:spcPct val="100000"/>
            </a:lnSpc>
            <a:spcBef>
              <a:spcPct val="0"/>
            </a:spcBef>
            <a:spcAft>
              <a:spcPct val="35000"/>
            </a:spcAft>
            <a:buNone/>
          </a:pPr>
          <a:r>
            <a:rPr lang="en-US" sz="2500" kern="1200"/>
            <a:t>Your teacher will read out a statement and you need to decide how you feel about it and move to the card that best describes how you feel. </a:t>
          </a:r>
        </a:p>
      </dsp:txBody>
      <dsp:txXfrm>
        <a:off x="1402804" y="1518705"/>
        <a:ext cx="9112795" cy="1214549"/>
      </dsp:txXfrm>
    </dsp:sp>
    <dsp:sp modelId="{FADDB4BA-31F4-4DEC-9336-77A71272B5B7}">
      <dsp:nvSpPr>
        <dsp:cNvPr id="0" name=""/>
        <dsp:cNvSpPr/>
      </dsp:nvSpPr>
      <dsp:spPr>
        <a:xfrm>
          <a:off x="0" y="3036891"/>
          <a:ext cx="10515600" cy="121454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28BCAC-E4DC-4266-B9B1-70A62CDA1C15}">
      <dsp:nvSpPr>
        <dsp:cNvPr id="0" name=""/>
        <dsp:cNvSpPr/>
      </dsp:nvSpPr>
      <dsp:spPr>
        <a:xfrm>
          <a:off x="367401" y="3310165"/>
          <a:ext cx="668002" cy="6680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23042D-B88D-4414-BA99-7FEEC45F0541}">
      <dsp:nvSpPr>
        <dsp:cNvPr id="0" name=""/>
        <dsp:cNvSpPr/>
      </dsp:nvSpPr>
      <dsp:spPr>
        <a:xfrm>
          <a:off x="1402804" y="3036891"/>
          <a:ext cx="9112795" cy="1214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540" tIns="128540" rIns="128540" bIns="128540" numCol="1" spcCol="1270" anchor="ctr" anchorCtr="0">
          <a:noAutofit/>
        </a:bodyPr>
        <a:lstStyle/>
        <a:p>
          <a:pPr marL="0" lvl="0" indent="0" algn="l" defTabSz="1111250">
            <a:lnSpc>
              <a:spcPct val="100000"/>
            </a:lnSpc>
            <a:spcBef>
              <a:spcPct val="0"/>
            </a:spcBef>
            <a:spcAft>
              <a:spcPct val="35000"/>
            </a:spcAft>
            <a:buNone/>
          </a:pPr>
          <a:r>
            <a:rPr lang="en-US" sz="2500" kern="1200" dirty="0"/>
            <a:t>When doing this activity, really think about </a:t>
          </a:r>
          <a:r>
            <a:rPr lang="en-US" sz="2500" b="1" u="sng" kern="1200" dirty="0"/>
            <a:t>WHY</a:t>
          </a:r>
          <a:r>
            <a:rPr lang="en-US" sz="2500" kern="1200" dirty="0"/>
            <a:t> you feel that way. </a:t>
          </a:r>
        </a:p>
        <a:p>
          <a:pPr marL="0" lvl="0" indent="0" algn="l" defTabSz="1111250">
            <a:lnSpc>
              <a:spcPct val="100000"/>
            </a:lnSpc>
            <a:spcBef>
              <a:spcPct val="0"/>
            </a:spcBef>
            <a:spcAft>
              <a:spcPct val="35000"/>
            </a:spcAft>
            <a:buNone/>
          </a:pPr>
          <a:r>
            <a:rPr lang="en-US" sz="2500" kern="1200" dirty="0"/>
            <a:t>Be prepared to share your response and reasoning.</a:t>
          </a:r>
        </a:p>
      </dsp:txBody>
      <dsp:txXfrm>
        <a:off x="1402804" y="3036891"/>
        <a:ext cx="9112795" cy="121454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4D3C12-1519-3644-86EE-A9611A5ED8DA}">
      <dsp:nvSpPr>
        <dsp:cNvPr id="0" name=""/>
        <dsp:cNvSpPr/>
      </dsp:nvSpPr>
      <dsp:spPr>
        <a:xfrm>
          <a:off x="0" y="516"/>
          <a:ext cx="10915869"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A947CA-9127-2447-8B4C-30FC982FC2C0}">
      <dsp:nvSpPr>
        <dsp:cNvPr id="0" name=""/>
        <dsp:cNvSpPr/>
      </dsp:nvSpPr>
      <dsp:spPr>
        <a:xfrm>
          <a:off x="0" y="516"/>
          <a:ext cx="10915869" cy="845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a:highlight>
                <a:srgbClr val="FFFF00"/>
              </a:highlight>
            </a:rPr>
            <a:t>You may work in groups of 2, 3 or 4 (max). </a:t>
          </a:r>
          <a:r>
            <a:rPr lang="en-US" sz="2400" kern="1200" dirty="0"/>
            <a:t>Each group will be allocated a different STI to research and present on. </a:t>
          </a:r>
        </a:p>
      </dsp:txBody>
      <dsp:txXfrm>
        <a:off x="0" y="516"/>
        <a:ext cx="10915869" cy="845613"/>
      </dsp:txXfrm>
    </dsp:sp>
    <dsp:sp modelId="{F210BEE8-1F7A-7449-8DB9-85F0C41AC92B}">
      <dsp:nvSpPr>
        <dsp:cNvPr id="0" name=""/>
        <dsp:cNvSpPr/>
      </dsp:nvSpPr>
      <dsp:spPr>
        <a:xfrm>
          <a:off x="0" y="846129"/>
          <a:ext cx="10915869" cy="0"/>
        </a:xfrm>
        <a:prstGeom prst="line">
          <a:avLst/>
        </a:prstGeom>
        <a:solidFill>
          <a:schemeClr val="accent5">
            <a:hueOff val="4352466"/>
            <a:satOff val="1923"/>
            <a:lumOff val="-2108"/>
            <a:alphaOff val="0"/>
          </a:schemeClr>
        </a:solidFill>
        <a:ln w="12700" cap="flat" cmpd="sng" algn="ctr">
          <a:solidFill>
            <a:schemeClr val="accent5">
              <a:hueOff val="4352466"/>
              <a:satOff val="1923"/>
              <a:lumOff val="-210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9815AE-9582-BE40-A8A3-43F30D43A936}">
      <dsp:nvSpPr>
        <dsp:cNvPr id="0" name=""/>
        <dsp:cNvSpPr/>
      </dsp:nvSpPr>
      <dsp:spPr>
        <a:xfrm>
          <a:off x="0" y="846129"/>
          <a:ext cx="10915869" cy="845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While groups are presenting, the audience will have a worksheet/table to fill out. By the end of all the presentations you will have a collection of information on all the different STI’s.</a:t>
          </a:r>
        </a:p>
      </dsp:txBody>
      <dsp:txXfrm>
        <a:off x="0" y="846129"/>
        <a:ext cx="10915869" cy="845613"/>
      </dsp:txXfrm>
    </dsp:sp>
    <dsp:sp modelId="{86E8E211-0460-324E-B741-9769763C1030}">
      <dsp:nvSpPr>
        <dsp:cNvPr id="0" name=""/>
        <dsp:cNvSpPr/>
      </dsp:nvSpPr>
      <dsp:spPr>
        <a:xfrm>
          <a:off x="0" y="1691743"/>
          <a:ext cx="10915869" cy="0"/>
        </a:xfrm>
        <a:prstGeom prst="line">
          <a:avLst/>
        </a:prstGeom>
        <a:solidFill>
          <a:schemeClr val="accent5">
            <a:hueOff val="8704933"/>
            <a:satOff val="3846"/>
            <a:lumOff val="-4216"/>
            <a:alphaOff val="0"/>
          </a:schemeClr>
        </a:solidFill>
        <a:ln w="12700" cap="flat" cmpd="sng" algn="ctr">
          <a:solidFill>
            <a:schemeClr val="accent5">
              <a:hueOff val="8704933"/>
              <a:satOff val="3846"/>
              <a:lumOff val="-421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0BA13D-E079-A046-B9D6-183915BF9B49}">
      <dsp:nvSpPr>
        <dsp:cNvPr id="0" name=""/>
        <dsp:cNvSpPr/>
      </dsp:nvSpPr>
      <dsp:spPr>
        <a:xfrm>
          <a:off x="0" y="1691743"/>
          <a:ext cx="10915869" cy="845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a:highlight>
                <a:srgbClr val="FFFF00"/>
              </a:highlight>
            </a:rPr>
            <a:t>All assignments will be due by Week 9</a:t>
          </a:r>
          <a:r>
            <a:rPr lang="en-US" sz="2400" b="1" kern="1200" dirty="0"/>
            <a:t> (regardless of when you are presenting).</a:t>
          </a:r>
          <a:endParaRPr lang="en-US" sz="2400" kern="1200" dirty="0"/>
        </a:p>
      </dsp:txBody>
      <dsp:txXfrm>
        <a:off x="0" y="1691743"/>
        <a:ext cx="10915869" cy="845613"/>
      </dsp:txXfrm>
    </dsp:sp>
    <dsp:sp modelId="{95A9CD63-425F-9847-AF49-FB0A4A902A5A}">
      <dsp:nvSpPr>
        <dsp:cNvPr id="0" name=""/>
        <dsp:cNvSpPr/>
      </dsp:nvSpPr>
      <dsp:spPr>
        <a:xfrm>
          <a:off x="0" y="2537356"/>
          <a:ext cx="10915869" cy="0"/>
        </a:xfrm>
        <a:prstGeom prst="line">
          <a:avLst/>
        </a:prstGeom>
        <a:solidFill>
          <a:schemeClr val="accent5">
            <a:hueOff val="13057399"/>
            <a:satOff val="5769"/>
            <a:lumOff val="-6324"/>
            <a:alphaOff val="0"/>
          </a:schemeClr>
        </a:solidFill>
        <a:ln w="12700" cap="flat" cmpd="sng" algn="ctr">
          <a:solidFill>
            <a:schemeClr val="accent5">
              <a:hueOff val="13057399"/>
              <a:satOff val="5769"/>
              <a:lumOff val="-632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845925-3A0E-3745-B823-37F5F2FAB2E7}">
      <dsp:nvSpPr>
        <dsp:cNvPr id="0" name=""/>
        <dsp:cNvSpPr/>
      </dsp:nvSpPr>
      <dsp:spPr>
        <a:xfrm>
          <a:off x="0" y="2537356"/>
          <a:ext cx="10915869" cy="845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u="sng" kern="1200" dirty="0"/>
            <a:t>Each group member needs to talk </a:t>
          </a:r>
          <a:r>
            <a:rPr lang="en-US" sz="2400" kern="1200" dirty="0"/>
            <a:t>during the presentation.</a:t>
          </a:r>
        </a:p>
      </dsp:txBody>
      <dsp:txXfrm>
        <a:off x="0" y="2537356"/>
        <a:ext cx="10915869" cy="845613"/>
      </dsp:txXfrm>
    </dsp:sp>
    <dsp:sp modelId="{DC90E70E-82AF-8849-B520-22EF8A88FD7C}">
      <dsp:nvSpPr>
        <dsp:cNvPr id="0" name=""/>
        <dsp:cNvSpPr/>
      </dsp:nvSpPr>
      <dsp:spPr>
        <a:xfrm>
          <a:off x="0" y="3382970"/>
          <a:ext cx="10915869" cy="0"/>
        </a:xfrm>
        <a:prstGeom prst="line">
          <a:avLst/>
        </a:prstGeom>
        <a:solidFill>
          <a:schemeClr val="accent5">
            <a:hueOff val="17409866"/>
            <a:satOff val="7692"/>
            <a:lumOff val="-8432"/>
            <a:alphaOff val="0"/>
          </a:schemeClr>
        </a:solidFill>
        <a:ln w="12700" cap="flat" cmpd="sng" algn="ctr">
          <a:solidFill>
            <a:schemeClr val="accent5">
              <a:hueOff val="17409866"/>
              <a:satOff val="7692"/>
              <a:lumOff val="-843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7FD673-3B4F-B142-BAA4-C4E81277212B}">
      <dsp:nvSpPr>
        <dsp:cNvPr id="0" name=""/>
        <dsp:cNvSpPr/>
      </dsp:nvSpPr>
      <dsp:spPr>
        <a:xfrm>
          <a:off x="0" y="3382970"/>
          <a:ext cx="10915869" cy="845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a:highlight>
                <a:srgbClr val="FFFF00"/>
              </a:highlight>
            </a:rPr>
            <a:t>Four parts to the task: </a:t>
          </a:r>
          <a:r>
            <a:rPr lang="en-US" sz="2400" kern="1200" dirty="0"/>
            <a:t>PowerPoint </a:t>
          </a:r>
          <a:r>
            <a:rPr lang="en-US" sz="2400" kern="1200" dirty="0">
              <a:sym typeface="Wingdings" panose="05000000000000000000" pitchFamily="2" charset="2"/>
            </a:rPr>
            <a:t></a:t>
          </a:r>
          <a:r>
            <a:rPr lang="en-US" sz="2400" kern="1200" dirty="0"/>
            <a:t> Brochure </a:t>
          </a:r>
          <a:r>
            <a:rPr lang="en-US" sz="2400" kern="1200" dirty="0">
              <a:sym typeface="Wingdings" panose="05000000000000000000" pitchFamily="2" charset="2"/>
            </a:rPr>
            <a:t></a:t>
          </a:r>
          <a:r>
            <a:rPr lang="en-US" sz="2400" kern="1200" dirty="0"/>
            <a:t> Presentation </a:t>
          </a:r>
          <a:r>
            <a:rPr lang="en-US" sz="2400" kern="1200" dirty="0">
              <a:sym typeface="Wingdings" panose="05000000000000000000" pitchFamily="2" charset="2"/>
            </a:rPr>
            <a:t></a:t>
          </a:r>
          <a:r>
            <a:rPr lang="en-US" sz="2400" kern="1200" dirty="0"/>
            <a:t> Individual Group Reflection (all due week 9).</a:t>
          </a:r>
        </a:p>
      </dsp:txBody>
      <dsp:txXfrm>
        <a:off x="0" y="3382970"/>
        <a:ext cx="10915869" cy="84561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3T01:00:11.978"/>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6T08:09:39.172"/>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1T01:10:37.558"/>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8T00:10:16.205"/>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8T00:10:16.205"/>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8T00:10:16.205"/>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8T00:10:16.205"/>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8T00:10:16.205"/>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3T03:05:11.790"/>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3T07:29:30.550"/>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3T04:32:59.475"/>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3T04:32:59.475"/>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3T04:32:59.475"/>
    </inkml:context>
    <inkml:brush xml:id="br0">
      <inkml:brushProperty name="width" value="0.1" units="cm"/>
      <inkml:brushProperty name="height" value="0.1" units="cm"/>
      <inkml:brushProperty name="color" value="#FFFFFF"/>
    </inkml:brush>
  </inkml:definitions>
  <inkml:trace contextRef="#ctx0" brushRef="#br0">1 0 128,'0'6'0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FA96B-52EF-9242-8C41-C7CBD737B41E}" type="datetimeFigureOut">
              <a:rPr lang="en-US" smtClean="0"/>
              <a:t>3/4/24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5F8A8C-F201-E64D-999A-A6161AAF2014}" type="slidenum">
              <a:rPr lang="en-US" smtClean="0"/>
              <a:t>‹#›</a:t>
            </a:fld>
            <a:endParaRPr lang="en-US"/>
          </a:p>
        </p:txBody>
      </p:sp>
    </p:spTree>
    <p:extLst>
      <p:ext uri="{BB962C8B-B14F-4D97-AF65-F5344CB8AC3E}">
        <p14:creationId xmlns:p14="http://schemas.microsoft.com/office/powerpoint/2010/main" val="3992379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create.kahoot.it/share/duplicate-of-sti-s/c27f6ea9-2b50-418b-812a-25b134679b46" TargetMode="External"/><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this slide and the upcoming assessment tasks. </a:t>
            </a:r>
          </a:p>
          <a:p>
            <a:endParaRPr lang="en-US" dirty="0"/>
          </a:p>
          <a:p>
            <a:endParaRPr lang="en-US" dirty="0"/>
          </a:p>
        </p:txBody>
      </p:sp>
      <p:sp>
        <p:nvSpPr>
          <p:cNvPr id="4" name="Slide Number Placeholder 3"/>
          <p:cNvSpPr>
            <a:spLocks noGrp="1"/>
          </p:cNvSpPr>
          <p:nvPr>
            <p:ph type="sldNum" sz="quarter" idx="5"/>
          </p:nvPr>
        </p:nvSpPr>
        <p:spPr/>
        <p:txBody>
          <a:bodyPr/>
          <a:lstStyle/>
          <a:p>
            <a:fld id="{4D5F8A8C-F201-E64D-999A-A6161AAF2014}" type="slidenum">
              <a:rPr lang="en-US" smtClean="0"/>
              <a:t>2</a:t>
            </a:fld>
            <a:endParaRPr lang="en-US"/>
          </a:p>
        </p:txBody>
      </p:sp>
    </p:spTree>
    <p:extLst>
      <p:ext uri="{BB962C8B-B14F-4D97-AF65-F5344CB8AC3E}">
        <p14:creationId xmlns:p14="http://schemas.microsoft.com/office/powerpoint/2010/main" val="794753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Relevant to test</a:t>
            </a:r>
          </a:p>
        </p:txBody>
      </p:sp>
      <p:sp>
        <p:nvSpPr>
          <p:cNvPr id="4" name="Slide Number Placeholder 3"/>
          <p:cNvSpPr>
            <a:spLocks noGrp="1"/>
          </p:cNvSpPr>
          <p:nvPr>
            <p:ph type="sldNum" sz="quarter" idx="5"/>
          </p:nvPr>
        </p:nvSpPr>
        <p:spPr/>
        <p:txBody>
          <a:bodyPr/>
          <a:lstStyle/>
          <a:p>
            <a:fld id="{4D5F8A8C-F201-E64D-999A-A6161AAF2014}" type="slidenum">
              <a:rPr lang="en-US" smtClean="0"/>
              <a:t>4</a:t>
            </a:fld>
            <a:endParaRPr lang="en-US"/>
          </a:p>
        </p:txBody>
      </p:sp>
    </p:spTree>
    <p:extLst>
      <p:ext uri="{BB962C8B-B14F-4D97-AF65-F5344CB8AC3E}">
        <p14:creationId xmlns:p14="http://schemas.microsoft.com/office/powerpoint/2010/main" val="17558034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Relevant to test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Discuss</a:t>
            </a:r>
          </a:p>
          <a:p>
            <a:endParaRPr lang="en-US" dirty="0"/>
          </a:p>
          <a:p>
            <a:r>
              <a:rPr lang="en-US" dirty="0"/>
              <a:t>Instruct students to add any information they did not have in their brainstorm to their work. </a:t>
            </a:r>
          </a:p>
        </p:txBody>
      </p:sp>
      <p:sp>
        <p:nvSpPr>
          <p:cNvPr id="4" name="Slide Number Placeholder 3"/>
          <p:cNvSpPr>
            <a:spLocks noGrp="1"/>
          </p:cNvSpPr>
          <p:nvPr>
            <p:ph type="sldNum" sz="quarter" idx="5"/>
          </p:nvPr>
        </p:nvSpPr>
        <p:spPr/>
        <p:txBody>
          <a:bodyPr/>
          <a:lstStyle/>
          <a:p>
            <a:fld id="{4D5F8A8C-F201-E64D-999A-A6161AAF2014}" type="slidenum">
              <a:rPr lang="en-US" smtClean="0"/>
              <a:t>5</a:t>
            </a:fld>
            <a:endParaRPr lang="en-US"/>
          </a:p>
        </p:txBody>
      </p:sp>
    </p:spTree>
    <p:extLst>
      <p:ext uri="{BB962C8B-B14F-4D97-AF65-F5344CB8AC3E}">
        <p14:creationId xmlns:p14="http://schemas.microsoft.com/office/powerpoint/2010/main" val="15803055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Relevant to test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Discuss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Instruct students to add any information they did not have in their brainstorm to their work. </a:t>
            </a:r>
          </a:p>
          <a:p>
            <a:endParaRPr lang="en-US" dirty="0"/>
          </a:p>
        </p:txBody>
      </p:sp>
      <p:sp>
        <p:nvSpPr>
          <p:cNvPr id="4" name="Slide Number Placeholder 3"/>
          <p:cNvSpPr>
            <a:spLocks noGrp="1"/>
          </p:cNvSpPr>
          <p:nvPr>
            <p:ph type="sldNum" sz="quarter" idx="5"/>
          </p:nvPr>
        </p:nvSpPr>
        <p:spPr/>
        <p:txBody>
          <a:bodyPr/>
          <a:lstStyle/>
          <a:p>
            <a:fld id="{4D5F8A8C-F201-E64D-999A-A6161AAF2014}" type="slidenum">
              <a:rPr lang="en-US" smtClean="0"/>
              <a:t>6</a:t>
            </a:fld>
            <a:endParaRPr lang="en-US"/>
          </a:p>
        </p:txBody>
      </p:sp>
    </p:spTree>
    <p:extLst>
      <p:ext uri="{BB962C8B-B14F-4D97-AF65-F5344CB8AC3E}">
        <p14:creationId xmlns:p14="http://schemas.microsoft.com/office/powerpoint/2010/main" val="22340321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Relevant to test (discussed in T1 L7 P.P.)</a:t>
            </a:r>
          </a:p>
          <a:p>
            <a:r>
              <a:rPr lang="en-US" dirty="0"/>
              <a:t>Discuss</a:t>
            </a:r>
          </a:p>
          <a:p>
            <a:r>
              <a:rPr lang="en-US" dirty="0"/>
              <a:t>FREEDOM example – if a person has been threatened, black mailed, tricked, coerced, forced, intimidated into having sex </a:t>
            </a:r>
            <a:r>
              <a:rPr lang="en-US" dirty="0">
                <a:sym typeface="Wingdings" pitchFamily="2" charset="2"/>
              </a:rPr>
              <a:t> consent cannot be given because the person has not had the freedom to make their own decision, they have been influenced by the other person’s behaviours. </a:t>
            </a:r>
          </a:p>
        </p:txBody>
      </p:sp>
      <p:sp>
        <p:nvSpPr>
          <p:cNvPr id="4" name="Slide Number Placeholder 3"/>
          <p:cNvSpPr>
            <a:spLocks noGrp="1"/>
          </p:cNvSpPr>
          <p:nvPr>
            <p:ph type="sldNum" sz="quarter" idx="5"/>
          </p:nvPr>
        </p:nvSpPr>
        <p:spPr/>
        <p:txBody>
          <a:bodyPr/>
          <a:lstStyle/>
          <a:p>
            <a:fld id="{4D5F8A8C-F201-E64D-999A-A6161AAF2014}" type="slidenum">
              <a:rPr lang="en-US" smtClean="0"/>
              <a:t>7</a:t>
            </a:fld>
            <a:endParaRPr lang="en-US"/>
          </a:p>
        </p:txBody>
      </p:sp>
    </p:spTree>
    <p:extLst>
      <p:ext uri="{BB962C8B-B14F-4D97-AF65-F5344CB8AC3E}">
        <p14:creationId xmlns:p14="http://schemas.microsoft.com/office/powerpoint/2010/main" val="4965439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OPTIONAL </a:t>
            </a:r>
            <a:r>
              <a:rPr lang="en-US" b="0" dirty="0"/>
              <a:t>– can also use this as a revision activity.</a:t>
            </a:r>
          </a:p>
          <a:p>
            <a:endParaRPr lang="en-US" b="1" dirty="0"/>
          </a:p>
          <a:p>
            <a:r>
              <a:rPr lang="en-US" b="1" dirty="0"/>
              <a:t>Resources required</a:t>
            </a:r>
            <a:r>
              <a:rPr lang="en-US" dirty="0"/>
              <a:t> – consent scenario cards + teacher information sheet (located in health storeroom).</a:t>
            </a:r>
          </a:p>
          <a:p>
            <a:endParaRPr lang="en-US" dirty="0"/>
          </a:p>
          <a:p>
            <a:r>
              <a:rPr lang="en-US" dirty="0"/>
              <a:t>Students work in groups of 4 max.</a:t>
            </a:r>
          </a:p>
          <a:p>
            <a:r>
              <a:rPr lang="en-US" dirty="0"/>
              <a:t>Give each group a different scenario.</a:t>
            </a:r>
          </a:p>
          <a:p>
            <a:r>
              <a:rPr lang="en-US" dirty="0"/>
              <a:t>Allow 5 minutes for students to read and discuss. </a:t>
            </a:r>
          </a:p>
          <a:p>
            <a:r>
              <a:rPr lang="en-US" dirty="0"/>
              <a:t>At the end of the 5 minutes, get each group to read out their scenario and their responses to the questions (if multiple groups have the same scenario, just get one group to share their answers. </a:t>
            </a:r>
          </a:p>
        </p:txBody>
      </p:sp>
      <p:sp>
        <p:nvSpPr>
          <p:cNvPr id="4" name="Slide Number Placeholder 3"/>
          <p:cNvSpPr>
            <a:spLocks noGrp="1"/>
          </p:cNvSpPr>
          <p:nvPr>
            <p:ph type="sldNum" sz="quarter" idx="5"/>
          </p:nvPr>
        </p:nvSpPr>
        <p:spPr/>
        <p:txBody>
          <a:bodyPr/>
          <a:lstStyle/>
          <a:p>
            <a:fld id="{4D5F8A8C-F201-E64D-999A-A6161AAF2014}" type="slidenum">
              <a:rPr lang="en-US" smtClean="0"/>
              <a:t>8</a:t>
            </a:fld>
            <a:endParaRPr lang="en-US"/>
          </a:p>
        </p:txBody>
      </p:sp>
    </p:spTree>
    <p:extLst>
      <p:ext uri="{BB962C8B-B14F-4D97-AF65-F5344CB8AC3E}">
        <p14:creationId xmlns:p14="http://schemas.microsoft.com/office/powerpoint/2010/main" val="28723714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5F8A8C-F201-E64D-999A-A6161AAF2014}" type="slidenum">
              <a:rPr lang="en-US" smtClean="0"/>
              <a:t>10</a:t>
            </a:fld>
            <a:endParaRPr lang="en-US"/>
          </a:p>
        </p:txBody>
      </p:sp>
    </p:spTree>
    <p:extLst>
      <p:ext uri="{BB962C8B-B14F-4D97-AF65-F5344CB8AC3E}">
        <p14:creationId xmlns:p14="http://schemas.microsoft.com/office/powerpoint/2010/main" val="5914407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OPTIONAL </a:t>
            </a:r>
          </a:p>
          <a:p>
            <a:r>
              <a:rPr lang="en-US" dirty="0"/>
              <a:t>Read answers from the whiteboard. Comment on any common answers. </a:t>
            </a:r>
          </a:p>
          <a:p>
            <a:endParaRPr lang="en-US" dirty="0"/>
          </a:p>
          <a:p>
            <a:r>
              <a:rPr lang="en-US" dirty="0"/>
              <a:t>Resources = sticky notes.</a:t>
            </a:r>
          </a:p>
          <a:p>
            <a:r>
              <a:rPr lang="en-US" dirty="0"/>
              <a:t>Sticky </a:t>
            </a:r>
          </a:p>
        </p:txBody>
      </p:sp>
      <p:sp>
        <p:nvSpPr>
          <p:cNvPr id="4" name="Slide Number Placeholder 3"/>
          <p:cNvSpPr>
            <a:spLocks noGrp="1"/>
          </p:cNvSpPr>
          <p:nvPr>
            <p:ph type="sldNum" sz="quarter" idx="5"/>
          </p:nvPr>
        </p:nvSpPr>
        <p:spPr/>
        <p:txBody>
          <a:bodyPr/>
          <a:lstStyle/>
          <a:p>
            <a:fld id="{4D5F8A8C-F201-E64D-999A-A6161AAF2014}" type="slidenum">
              <a:rPr lang="en-US" smtClean="0"/>
              <a:t>11</a:t>
            </a:fld>
            <a:endParaRPr lang="en-US"/>
          </a:p>
        </p:txBody>
      </p:sp>
    </p:spTree>
    <p:extLst>
      <p:ext uri="{BB962C8B-B14F-4D97-AF65-F5344CB8AC3E}">
        <p14:creationId xmlns:p14="http://schemas.microsoft.com/office/powerpoint/2010/main" val="7998949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Relevant to test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Fill in their books. </a:t>
            </a:r>
          </a:p>
          <a:p>
            <a:endParaRPr lang="en-US" dirty="0"/>
          </a:p>
        </p:txBody>
      </p:sp>
      <p:sp>
        <p:nvSpPr>
          <p:cNvPr id="4" name="Slide Number Placeholder 3"/>
          <p:cNvSpPr>
            <a:spLocks noGrp="1"/>
          </p:cNvSpPr>
          <p:nvPr>
            <p:ph type="sldNum" sz="quarter" idx="5"/>
          </p:nvPr>
        </p:nvSpPr>
        <p:spPr/>
        <p:txBody>
          <a:bodyPr/>
          <a:lstStyle/>
          <a:p>
            <a:fld id="{4D5F8A8C-F201-E64D-999A-A6161AAF2014}" type="slidenum">
              <a:rPr lang="en-US" smtClean="0"/>
              <a:t>12</a:t>
            </a:fld>
            <a:endParaRPr lang="en-US"/>
          </a:p>
        </p:txBody>
      </p:sp>
    </p:spTree>
    <p:extLst>
      <p:ext uri="{BB962C8B-B14F-4D97-AF65-F5344CB8AC3E}">
        <p14:creationId xmlns:p14="http://schemas.microsoft.com/office/powerpoint/2010/main" val="29867274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OPTIONAL </a:t>
            </a:r>
          </a:p>
        </p:txBody>
      </p:sp>
      <p:sp>
        <p:nvSpPr>
          <p:cNvPr id="4" name="Slide Number Placeholder 3"/>
          <p:cNvSpPr>
            <a:spLocks noGrp="1"/>
          </p:cNvSpPr>
          <p:nvPr>
            <p:ph type="sldNum" sz="quarter" idx="5"/>
          </p:nvPr>
        </p:nvSpPr>
        <p:spPr/>
        <p:txBody>
          <a:bodyPr/>
          <a:lstStyle/>
          <a:p>
            <a:fld id="{4D5F8A8C-F201-E64D-999A-A6161AAF2014}" type="slidenum">
              <a:rPr lang="en-US" smtClean="0"/>
              <a:t>13</a:t>
            </a:fld>
            <a:endParaRPr lang="en-US"/>
          </a:p>
        </p:txBody>
      </p:sp>
    </p:spTree>
    <p:extLst>
      <p:ext uri="{BB962C8B-B14F-4D97-AF65-F5344CB8AC3E}">
        <p14:creationId xmlns:p14="http://schemas.microsoft.com/office/powerpoint/2010/main" val="8083869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OPTIONAL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Approx. 7 mins</a:t>
            </a:r>
            <a:endParaRPr lang="en-US" b="1" dirty="0"/>
          </a:p>
          <a:p>
            <a:r>
              <a:rPr lang="en-US" b="1" dirty="0"/>
              <a:t>Any extra time can be used to continue with the next PP and the contraception methods. </a:t>
            </a:r>
          </a:p>
          <a:p>
            <a:endParaRPr lang="en-US" b="1" dirty="0"/>
          </a:p>
          <a:p>
            <a:r>
              <a:rPr lang="en-US" b="0" dirty="0"/>
              <a:t>Video talks about different methods of contraception and how they work, including how hormonal methods impact hormones and prevent pregnancy. </a:t>
            </a:r>
          </a:p>
          <a:p>
            <a:r>
              <a:rPr lang="en-US" dirty="0"/>
              <a:t>https://</a:t>
            </a:r>
            <a:r>
              <a:rPr lang="en-US" dirty="0" err="1"/>
              <a:t>youtu.be</a:t>
            </a:r>
            <a:r>
              <a:rPr lang="en-US" dirty="0"/>
              <a:t>/kMY-v0F6bX0?si=E83uNy_WVzsVF1I9</a:t>
            </a:r>
          </a:p>
        </p:txBody>
      </p:sp>
      <p:sp>
        <p:nvSpPr>
          <p:cNvPr id="4" name="Slide Number Placeholder 3"/>
          <p:cNvSpPr>
            <a:spLocks noGrp="1"/>
          </p:cNvSpPr>
          <p:nvPr>
            <p:ph type="sldNum" sz="quarter" idx="5"/>
          </p:nvPr>
        </p:nvSpPr>
        <p:spPr/>
        <p:txBody>
          <a:bodyPr/>
          <a:lstStyle/>
          <a:p>
            <a:fld id="{4D5F8A8C-F201-E64D-999A-A6161AAF2014}" type="slidenum">
              <a:rPr lang="en-US" smtClean="0"/>
              <a:t>14</a:t>
            </a:fld>
            <a:endParaRPr lang="en-US"/>
          </a:p>
        </p:txBody>
      </p:sp>
    </p:spTree>
    <p:extLst>
      <p:ext uri="{BB962C8B-B14F-4D97-AF65-F5344CB8AC3E}">
        <p14:creationId xmlns:p14="http://schemas.microsoft.com/office/powerpoint/2010/main" val="39497923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OPTIONAL ACTIVITY</a:t>
            </a:r>
          </a:p>
        </p:txBody>
      </p:sp>
      <p:sp>
        <p:nvSpPr>
          <p:cNvPr id="4" name="Slide Number Placeholder 3"/>
          <p:cNvSpPr>
            <a:spLocks noGrp="1"/>
          </p:cNvSpPr>
          <p:nvPr>
            <p:ph type="sldNum" sz="quarter" idx="5"/>
          </p:nvPr>
        </p:nvSpPr>
        <p:spPr/>
        <p:txBody>
          <a:bodyPr/>
          <a:lstStyle/>
          <a:p>
            <a:fld id="{4D5F8A8C-F201-E64D-999A-A6161AAF2014}" type="slidenum">
              <a:rPr lang="en-US" smtClean="0"/>
              <a:t>15</a:t>
            </a:fld>
            <a:endParaRPr lang="en-US"/>
          </a:p>
        </p:txBody>
      </p:sp>
    </p:spTree>
    <p:extLst>
      <p:ext uri="{BB962C8B-B14F-4D97-AF65-F5344CB8AC3E}">
        <p14:creationId xmlns:p14="http://schemas.microsoft.com/office/powerpoint/2010/main" val="5738111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OPTIONAL ACTIVITY</a:t>
            </a:r>
          </a:p>
        </p:txBody>
      </p:sp>
      <p:sp>
        <p:nvSpPr>
          <p:cNvPr id="4" name="Slide Number Placeholder 3"/>
          <p:cNvSpPr>
            <a:spLocks noGrp="1"/>
          </p:cNvSpPr>
          <p:nvPr>
            <p:ph type="sldNum" sz="quarter" idx="5"/>
          </p:nvPr>
        </p:nvSpPr>
        <p:spPr/>
        <p:txBody>
          <a:bodyPr/>
          <a:lstStyle/>
          <a:p>
            <a:fld id="{4D5F8A8C-F201-E64D-999A-A6161AAF2014}" type="slidenum">
              <a:rPr lang="en-US" smtClean="0"/>
              <a:t>16</a:t>
            </a:fld>
            <a:endParaRPr lang="en-US"/>
          </a:p>
        </p:txBody>
      </p:sp>
    </p:spTree>
    <p:extLst>
      <p:ext uri="{BB962C8B-B14F-4D97-AF65-F5344CB8AC3E}">
        <p14:creationId xmlns:p14="http://schemas.microsoft.com/office/powerpoint/2010/main" val="7591023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answer into their books.</a:t>
            </a:r>
          </a:p>
        </p:txBody>
      </p:sp>
      <p:sp>
        <p:nvSpPr>
          <p:cNvPr id="4" name="Slide Number Placeholder 3"/>
          <p:cNvSpPr>
            <a:spLocks noGrp="1"/>
          </p:cNvSpPr>
          <p:nvPr>
            <p:ph type="sldNum" sz="quarter" idx="5"/>
          </p:nvPr>
        </p:nvSpPr>
        <p:spPr/>
        <p:txBody>
          <a:bodyPr/>
          <a:lstStyle/>
          <a:p>
            <a:fld id="{4D5F8A8C-F201-E64D-999A-A6161AAF2014}" type="slidenum">
              <a:rPr lang="en-US" smtClean="0"/>
              <a:t>18</a:t>
            </a:fld>
            <a:endParaRPr lang="en-US"/>
          </a:p>
        </p:txBody>
      </p:sp>
    </p:spTree>
    <p:extLst>
      <p:ext uri="{BB962C8B-B14F-4D97-AF65-F5344CB8AC3E}">
        <p14:creationId xmlns:p14="http://schemas.microsoft.com/office/powerpoint/2010/main" val="20742615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OPTIONAL</a:t>
            </a:r>
          </a:p>
          <a:p>
            <a:r>
              <a:rPr lang="en-US" dirty="0"/>
              <a:t>Choose which option you prefer.</a:t>
            </a:r>
          </a:p>
          <a:p>
            <a:endParaRPr lang="en-US" dirty="0"/>
          </a:p>
          <a:p>
            <a:r>
              <a:rPr lang="en-US" dirty="0"/>
              <a:t>Statements are found in the student/teacher workbook.</a:t>
            </a:r>
          </a:p>
        </p:txBody>
      </p:sp>
      <p:sp>
        <p:nvSpPr>
          <p:cNvPr id="4" name="Slide Number Placeholder 3"/>
          <p:cNvSpPr>
            <a:spLocks noGrp="1"/>
          </p:cNvSpPr>
          <p:nvPr>
            <p:ph type="sldNum" sz="quarter" idx="5"/>
          </p:nvPr>
        </p:nvSpPr>
        <p:spPr/>
        <p:txBody>
          <a:bodyPr/>
          <a:lstStyle/>
          <a:p>
            <a:fld id="{4D5F8A8C-F201-E64D-999A-A6161AAF2014}" type="slidenum">
              <a:rPr lang="en-US" smtClean="0"/>
              <a:t>21</a:t>
            </a:fld>
            <a:endParaRPr lang="en-US"/>
          </a:p>
        </p:txBody>
      </p:sp>
    </p:spTree>
    <p:extLst>
      <p:ext uri="{BB962C8B-B14F-4D97-AF65-F5344CB8AC3E}">
        <p14:creationId xmlns:p14="http://schemas.microsoft.com/office/powerpoint/2010/main" val="33424439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Relevant to test (but was covered in </a:t>
            </a:r>
            <a:r>
              <a:rPr lang="en-US" b="1"/>
              <a:t>Lesson 6 &amp; 9, </a:t>
            </a:r>
            <a:r>
              <a:rPr lang="en-US" b="1" dirty="0"/>
              <a:t>T1 P.P.)</a:t>
            </a:r>
          </a:p>
        </p:txBody>
      </p:sp>
      <p:sp>
        <p:nvSpPr>
          <p:cNvPr id="4" name="Slide Number Placeholder 3"/>
          <p:cNvSpPr>
            <a:spLocks noGrp="1"/>
          </p:cNvSpPr>
          <p:nvPr>
            <p:ph type="sldNum" sz="quarter" idx="5"/>
          </p:nvPr>
        </p:nvSpPr>
        <p:spPr/>
        <p:txBody>
          <a:bodyPr/>
          <a:lstStyle/>
          <a:p>
            <a:fld id="{4D5F8A8C-F201-E64D-999A-A6161AAF2014}" type="slidenum">
              <a:rPr lang="en-US" smtClean="0"/>
              <a:t>22</a:t>
            </a:fld>
            <a:endParaRPr lang="en-US"/>
          </a:p>
        </p:txBody>
      </p:sp>
    </p:spTree>
    <p:extLst>
      <p:ext uri="{BB962C8B-B14F-4D97-AF65-F5344CB8AC3E}">
        <p14:creationId xmlns:p14="http://schemas.microsoft.com/office/powerpoint/2010/main" val="25007548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OPTIONAL – </a:t>
            </a:r>
            <a:r>
              <a:rPr lang="en-US" b="0" dirty="0"/>
              <a:t>4 mins</a:t>
            </a:r>
          </a:p>
          <a:p>
            <a:r>
              <a:rPr lang="en-US" b="0" dirty="0"/>
              <a:t>Funny video: Rachel comes over to tell Ross that she is pregnant with his baby, due to a contraception failure. Ross freaks out and tries to call the condom company and tell them off. </a:t>
            </a:r>
          </a:p>
          <a:p>
            <a:r>
              <a:rPr lang="en-US" b="0" dirty="0"/>
              <a:t>Discussion points: </a:t>
            </a:r>
          </a:p>
          <a:p>
            <a:pPr marL="171450" indent="-171450">
              <a:buFontTx/>
              <a:buChar char="-"/>
            </a:pPr>
            <a:r>
              <a:rPr lang="en-US" b="0" dirty="0"/>
              <a:t>Effectiveness: no method (other than abstinence) is 100% effective in preventing pregnancy.</a:t>
            </a:r>
          </a:p>
          <a:p>
            <a:pPr marL="171450" indent="-171450">
              <a:buFontTx/>
              <a:buChar char="-"/>
            </a:pPr>
            <a:r>
              <a:rPr lang="en-US" b="0" dirty="0"/>
              <a:t>Always check the use by date on condoms.</a:t>
            </a:r>
          </a:p>
          <a:p>
            <a:pPr marL="171450" indent="-171450">
              <a:buFontTx/>
              <a:buChar char="-"/>
            </a:pPr>
            <a:r>
              <a:rPr lang="en-US" b="0" dirty="0"/>
              <a:t>Condoms can split or fall off during intercourse. If this happens and ejaculation occurs, then the female will need to consider the use of the emergency contraceptive pill as a back up. </a:t>
            </a:r>
          </a:p>
          <a:p>
            <a:pPr marL="171450" indent="-171450">
              <a:buFontTx/>
              <a:buChar char="-"/>
            </a:pPr>
            <a:r>
              <a:rPr lang="en-US" b="0" dirty="0"/>
              <a:t>Emphasis on being careful as it can only take one time to get pregnant.</a:t>
            </a:r>
          </a:p>
          <a:p>
            <a:pPr marL="171450" indent="-171450">
              <a:buFontTx/>
              <a:buChar char="-"/>
            </a:pPr>
            <a:r>
              <a:rPr lang="en-US" b="0" dirty="0"/>
              <a:t>Discuss impacts of unplanned pregnancy: financial impacts (cost of appointments, raising a child etc.), physical health for the female, stress, work implications etc. </a:t>
            </a:r>
            <a:r>
              <a:rPr lang="en-US" b="1" dirty="0"/>
              <a:t>(relevant to test)</a:t>
            </a:r>
            <a:endParaRPr lang="en-US" b="0" dirty="0"/>
          </a:p>
          <a:p>
            <a:endParaRPr lang="en-US" dirty="0"/>
          </a:p>
          <a:p>
            <a:r>
              <a:rPr lang="en-US" dirty="0"/>
              <a:t>https://</a:t>
            </a:r>
            <a:r>
              <a:rPr lang="en-US" dirty="0" err="1"/>
              <a:t>www.youtube.com</a:t>
            </a:r>
            <a:r>
              <a:rPr lang="en-US" dirty="0"/>
              <a:t>/</a:t>
            </a:r>
            <a:r>
              <a:rPr lang="en-US" dirty="0" err="1"/>
              <a:t>watch?v</a:t>
            </a:r>
            <a:r>
              <a:rPr lang="en-US" dirty="0"/>
              <a:t>=biZEstQVD24</a:t>
            </a:r>
          </a:p>
          <a:p>
            <a:endParaRPr lang="en-US" dirty="0"/>
          </a:p>
        </p:txBody>
      </p:sp>
      <p:sp>
        <p:nvSpPr>
          <p:cNvPr id="4" name="Slide Number Placeholder 3"/>
          <p:cNvSpPr>
            <a:spLocks noGrp="1"/>
          </p:cNvSpPr>
          <p:nvPr>
            <p:ph type="sldNum" sz="quarter" idx="5"/>
          </p:nvPr>
        </p:nvSpPr>
        <p:spPr/>
        <p:txBody>
          <a:bodyPr/>
          <a:lstStyle/>
          <a:p>
            <a:fld id="{4D5F8A8C-F201-E64D-999A-A6161AAF2014}" type="slidenum">
              <a:rPr lang="en-US" smtClean="0"/>
              <a:t>24</a:t>
            </a:fld>
            <a:endParaRPr lang="en-US"/>
          </a:p>
        </p:txBody>
      </p:sp>
    </p:spTree>
    <p:extLst>
      <p:ext uri="{BB962C8B-B14F-4D97-AF65-F5344CB8AC3E}">
        <p14:creationId xmlns:p14="http://schemas.microsoft.com/office/powerpoint/2010/main" val="3285389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ighlight>
                  <a:srgbClr val="FFFF00"/>
                </a:highlight>
              </a:rPr>
              <a:t>The following slides will cover all the different methods of contraception. Using the information in the slides, students need to fill in the missing information in their tables in their books.</a:t>
            </a:r>
          </a:p>
          <a:p>
            <a:endParaRPr lang="en-US" dirty="0">
              <a:highlight>
                <a:srgbClr val="FFFF00"/>
              </a:highlight>
            </a:endParaRPr>
          </a:p>
          <a:p>
            <a:pPr marL="171450" indent="-171450">
              <a:buFont typeface="Arial" panose="020B0604020202020204" pitchFamily="34" charset="0"/>
              <a:buChar char="•"/>
            </a:pPr>
            <a:r>
              <a:rPr lang="en-US" sz="1600" b="1" dirty="0">
                <a:highlight>
                  <a:srgbClr val="FFFF00"/>
                </a:highlight>
              </a:rPr>
              <a:t>If time is an issue:</a:t>
            </a:r>
            <a:r>
              <a:rPr lang="en-US" sz="1600" b="0" dirty="0">
                <a:highlight>
                  <a:srgbClr val="FFFF00"/>
                </a:highlight>
              </a:rPr>
              <a:t> </a:t>
            </a:r>
            <a:r>
              <a:rPr lang="en-US" b="0" dirty="0">
                <a:highlight>
                  <a:srgbClr val="FFFF00"/>
                </a:highlight>
              </a:rPr>
              <a:t>use your best judgement and</a:t>
            </a:r>
            <a:r>
              <a:rPr lang="en-US" dirty="0">
                <a:highlight>
                  <a:srgbClr val="FFFF00"/>
                </a:highlight>
              </a:rPr>
              <a:t> check against the test and pick the most relevant methods to focus on to allow you to get through enough content during lessons 2 &amp; 3.</a:t>
            </a:r>
          </a:p>
          <a:p>
            <a:pPr marL="171450" indent="-171450">
              <a:buFont typeface="Arial" panose="020B0604020202020204" pitchFamily="34" charset="0"/>
              <a:buChar char="•"/>
            </a:pPr>
            <a:r>
              <a:rPr lang="en-US" dirty="0">
                <a:highlight>
                  <a:srgbClr val="FFFF00"/>
                </a:highlight>
              </a:rPr>
              <a:t>At the end of the contraceptive methods slides there are various optional activities which can be used as revision. </a:t>
            </a:r>
          </a:p>
          <a:p>
            <a:pPr marL="171450" indent="-171450">
              <a:buFont typeface="Arial" panose="020B0604020202020204" pitchFamily="34" charset="0"/>
              <a:buChar char="•"/>
            </a:pPr>
            <a:r>
              <a:rPr lang="en-US" dirty="0">
                <a:highlight>
                  <a:srgbClr val="FFFF00"/>
                </a:highlight>
              </a:rPr>
              <a:t>Be sure to hand out revision at the end of lesson 3 in preparation for the topic test during lesson 4.</a:t>
            </a:r>
          </a:p>
          <a:p>
            <a:pPr marL="171450" indent="-171450">
              <a:buFont typeface="Arial" panose="020B0604020202020204" pitchFamily="34" charset="0"/>
              <a:buChar char="•"/>
            </a:pPr>
            <a:r>
              <a:rPr lang="en-US" dirty="0">
                <a:highlight>
                  <a:srgbClr val="FFFF00"/>
                </a:highlight>
              </a:rPr>
              <a:t>**Vaginal Ring and Contraceptive Patch are in the PP, but not in the table in their books. Still speak about these methods using the slides.  </a:t>
            </a:r>
          </a:p>
        </p:txBody>
      </p:sp>
      <p:sp>
        <p:nvSpPr>
          <p:cNvPr id="4" name="Slide Number Placeholder 3"/>
          <p:cNvSpPr>
            <a:spLocks noGrp="1"/>
          </p:cNvSpPr>
          <p:nvPr>
            <p:ph type="sldNum" sz="quarter" idx="5"/>
          </p:nvPr>
        </p:nvSpPr>
        <p:spPr/>
        <p:txBody>
          <a:bodyPr/>
          <a:lstStyle/>
          <a:p>
            <a:fld id="{4D5F8A8C-F201-E64D-999A-A6161AAF2014}" type="slidenum">
              <a:rPr lang="en-US" smtClean="0"/>
              <a:t>25</a:t>
            </a:fld>
            <a:endParaRPr lang="en-US"/>
          </a:p>
        </p:txBody>
      </p:sp>
    </p:spTree>
    <p:extLst>
      <p:ext uri="{BB962C8B-B14F-4D97-AF65-F5344CB8AC3E}">
        <p14:creationId xmlns:p14="http://schemas.microsoft.com/office/powerpoint/2010/main" val="5176100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5F8A8C-F201-E64D-999A-A6161AAF2014}" type="slidenum">
              <a:rPr lang="en-US" smtClean="0"/>
              <a:t>26</a:t>
            </a:fld>
            <a:endParaRPr lang="en-US"/>
          </a:p>
        </p:txBody>
      </p:sp>
    </p:spTree>
    <p:extLst>
      <p:ext uri="{BB962C8B-B14F-4D97-AF65-F5344CB8AC3E}">
        <p14:creationId xmlns:p14="http://schemas.microsoft.com/office/powerpoint/2010/main" val="4965832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OPTIONAL</a:t>
            </a:r>
          </a:p>
          <a:p>
            <a:r>
              <a:rPr lang="en-US" b="0" dirty="0"/>
              <a:t>2:52mins</a:t>
            </a:r>
          </a:p>
          <a:p>
            <a:endParaRPr lang="en-US" b="0" dirty="0"/>
          </a:p>
          <a:p>
            <a:r>
              <a:rPr lang="en-US" dirty="0"/>
              <a:t>https://</a:t>
            </a:r>
            <a:r>
              <a:rPr lang="en-US" dirty="0" err="1"/>
              <a:t>www.youtube.com</a:t>
            </a:r>
            <a:r>
              <a:rPr lang="en-US" dirty="0"/>
              <a:t>/</a:t>
            </a:r>
            <a:r>
              <a:rPr lang="en-US" dirty="0" err="1"/>
              <a:t>watch?v</a:t>
            </a:r>
            <a:r>
              <a:rPr lang="en-US" dirty="0"/>
              <a:t>=hNcDm37yj5Q</a:t>
            </a:r>
          </a:p>
          <a:p>
            <a:endParaRPr lang="en-US" dirty="0"/>
          </a:p>
          <a:p>
            <a:endParaRPr lang="en-US" dirty="0"/>
          </a:p>
        </p:txBody>
      </p:sp>
      <p:sp>
        <p:nvSpPr>
          <p:cNvPr id="4" name="Slide Number Placeholder 3"/>
          <p:cNvSpPr>
            <a:spLocks noGrp="1"/>
          </p:cNvSpPr>
          <p:nvPr>
            <p:ph type="sldNum" sz="quarter" idx="5"/>
          </p:nvPr>
        </p:nvSpPr>
        <p:spPr/>
        <p:txBody>
          <a:bodyPr/>
          <a:lstStyle/>
          <a:p>
            <a:fld id="{4D5F8A8C-F201-E64D-999A-A6161AAF2014}" type="slidenum">
              <a:rPr lang="en-US" smtClean="0"/>
              <a:t>31</a:t>
            </a:fld>
            <a:endParaRPr lang="en-US"/>
          </a:p>
        </p:txBody>
      </p:sp>
    </p:spTree>
    <p:extLst>
      <p:ext uri="{BB962C8B-B14F-4D97-AF65-F5344CB8AC3E}">
        <p14:creationId xmlns:p14="http://schemas.microsoft.com/office/powerpoint/2010/main" val="1915112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5F8A8C-F201-E64D-999A-A6161AAF2014}" type="slidenum">
              <a:rPr lang="en-US" smtClean="0"/>
              <a:t>32</a:t>
            </a:fld>
            <a:endParaRPr lang="en-US"/>
          </a:p>
        </p:txBody>
      </p:sp>
    </p:spTree>
    <p:extLst>
      <p:ext uri="{BB962C8B-B14F-4D97-AF65-F5344CB8AC3E}">
        <p14:creationId xmlns:p14="http://schemas.microsoft.com/office/powerpoint/2010/main" val="14916182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INCLUDED IN THE TABLE IN THEIR BOOK.</a:t>
            </a:r>
          </a:p>
        </p:txBody>
      </p:sp>
      <p:sp>
        <p:nvSpPr>
          <p:cNvPr id="4" name="Slide Number Placeholder 3"/>
          <p:cNvSpPr>
            <a:spLocks noGrp="1"/>
          </p:cNvSpPr>
          <p:nvPr>
            <p:ph type="sldNum" sz="quarter" idx="5"/>
          </p:nvPr>
        </p:nvSpPr>
        <p:spPr/>
        <p:txBody>
          <a:bodyPr/>
          <a:lstStyle/>
          <a:p>
            <a:fld id="{4D5F8A8C-F201-E64D-999A-A6161AAF2014}" type="slidenum">
              <a:rPr lang="en-US" smtClean="0"/>
              <a:t>38</a:t>
            </a:fld>
            <a:endParaRPr lang="en-US"/>
          </a:p>
        </p:txBody>
      </p:sp>
    </p:spTree>
    <p:extLst>
      <p:ext uri="{BB962C8B-B14F-4D97-AF65-F5344CB8AC3E}">
        <p14:creationId xmlns:p14="http://schemas.microsoft.com/office/powerpoint/2010/main" val="29104615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INCLUDED IN THE TABLE IN THEIR BOOK.</a:t>
            </a:r>
          </a:p>
        </p:txBody>
      </p:sp>
      <p:sp>
        <p:nvSpPr>
          <p:cNvPr id="4" name="Slide Number Placeholder 3"/>
          <p:cNvSpPr>
            <a:spLocks noGrp="1"/>
          </p:cNvSpPr>
          <p:nvPr>
            <p:ph type="sldNum" sz="quarter" idx="5"/>
          </p:nvPr>
        </p:nvSpPr>
        <p:spPr/>
        <p:txBody>
          <a:bodyPr/>
          <a:lstStyle/>
          <a:p>
            <a:fld id="{4D5F8A8C-F201-E64D-999A-A6161AAF2014}" type="slidenum">
              <a:rPr lang="en-US" smtClean="0"/>
              <a:t>41</a:t>
            </a:fld>
            <a:endParaRPr lang="en-US"/>
          </a:p>
        </p:txBody>
      </p:sp>
    </p:spTree>
    <p:extLst>
      <p:ext uri="{BB962C8B-B14F-4D97-AF65-F5344CB8AC3E}">
        <p14:creationId xmlns:p14="http://schemas.microsoft.com/office/powerpoint/2010/main" val="16100328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Combined pill – contains two hormones (progesterone and oestrogen) and prevents ovulation. </a:t>
            </a:r>
          </a:p>
          <a:p>
            <a:r>
              <a:rPr lang="en-US" dirty="0"/>
              <a:t>Mini pill – contains progesterone only and works by changing the mucus of the cervix so that sperm cannot pass through. </a:t>
            </a:r>
          </a:p>
        </p:txBody>
      </p:sp>
      <p:sp>
        <p:nvSpPr>
          <p:cNvPr id="4" name="Slide Number Placeholder 3"/>
          <p:cNvSpPr>
            <a:spLocks noGrp="1"/>
          </p:cNvSpPr>
          <p:nvPr>
            <p:ph type="sldNum" sz="quarter" idx="5"/>
          </p:nvPr>
        </p:nvSpPr>
        <p:spPr/>
        <p:txBody>
          <a:bodyPr/>
          <a:lstStyle/>
          <a:p>
            <a:fld id="{4D5F8A8C-F201-E64D-999A-A6161AAF2014}" type="slidenum">
              <a:rPr lang="en-US" smtClean="0"/>
              <a:t>42</a:t>
            </a:fld>
            <a:endParaRPr lang="en-US"/>
          </a:p>
        </p:txBody>
      </p:sp>
    </p:spTree>
    <p:extLst>
      <p:ext uri="{BB962C8B-B14F-4D97-AF65-F5344CB8AC3E}">
        <p14:creationId xmlns:p14="http://schemas.microsoft.com/office/powerpoint/2010/main" val="20192961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Apps include Apple Health App, Cycles, Flo - some have free services, others have subscriptions available. </a:t>
            </a:r>
          </a:p>
        </p:txBody>
      </p:sp>
      <p:sp>
        <p:nvSpPr>
          <p:cNvPr id="4" name="Slide Number Placeholder 3"/>
          <p:cNvSpPr>
            <a:spLocks noGrp="1"/>
          </p:cNvSpPr>
          <p:nvPr>
            <p:ph type="sldNum" sz="quarter" idx="5"/>
          </p:nvPr>
        </p:nvSpPr>
        <p:spPr/>
        <p:txBody>
          <a:bodyPr/>
          <a:lstStyle/>
          <a:p>
            <a:fld id="{4D5F8A8C-F201-E64D-999A-A6161AAF2014}" type="slidenum">
              <a:rPr lang="en-US" smtClean="0"/>
              <a:t>46</a:t>
            </a:fld>
            <a:endParaRPr lang="en-US"/>
          </a:p>
        </p:txBody>
      </p:sp>
    </p:spTree>
    <p:extLst>
      <p:ext uri="{BB962C8B-B14F-4D97-AF65-F5344CB8AC3E}">
        <p14:creationId xmlns:p14="http://schemas.microsoft.com/office/powerpoint/2010/main" val="18469397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OPTIONAL </a:t>
            </a:r>
            <a:r>
              <a:rPr lang="en-US" b="0" dirty="0"/>
              <a:t>to show this image with your class. Gauge your classes maturity level.</a:t>
            </a:r>
          </a:p>
          <a:p>
            <a:endParaRPr lang="en-US" b="0" dirty="0"/>
          </a:p>
          <a:p>
            <a:r>
              <a:rPr lang="en-US" b="0" dirty="0"/>
              <a:t>Can use this slide to discuss the importance of withdrawal not occurring near the vulva/vagina. Pre-ejaculate can still contain semen which means it can still lead to pregnancy so if the withdrawal method is being used, it is important to withdraw/pull out away from the vaginal opening. </a:t>
            </a:r>
          </a:p>
          <a:p>
            <a:endParaRPr lang="en-US" b="0" dirty="0"/>
          </a:p>
          <a:p>
            <a:r>
              <a:rPr lang="en-US" b="0" dirty="0"/>
              <a:t>Withdrawal method can be partnered with other hormonal contraception. </a:t>
            </a:r>
            <a:endParaRPr lang="en-US" b="1" dirty="0"/>
          </a:p>
        </p:txBody>
      </p:sp>
      <p:sp>
        <p:nvSpPr>
          <p:cNvPr id="4" name="Slide Number Placeholder 3"/>
          <p:cNvSpPr>
            <a:spLocks noGrp="1"/>
          </p:cNvSpPr>
          <p:nvPr>
            <p:ph type="sldNum" sz="quarter" idx="5"/>
          </p:nvPr>
        </p:nvSpPr>
        <p:spPr/>
        <p:txBody>
          <a:bodyPr/>
          <a:lstStyle/>
          <a:p>
            <a:fld id="{4D5F8A8C-F201-E64D-999A-A6161AAF2014}" type="slidenum">
              <a:rPr lang="en-US" smtClean="0"/>
              <a:t>49</a:t>
            </a:fld>
            <a:endParaRPr lang="en-US"/>
          </a:p>
        </p:txBody>
      </p:sp>
    </p:spTree>
    <p:extLst>
      <p:ext uri="{BB962C8B-B14F-4D97-AF65-F5344CB8AC3E}">
        <p14:creationId xmlns:p14="http://schemas.microsoft.com/office/powerpoint/2010/main" val="11473537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the copper IUD as an emergency method – can be inserted up to 5 days after having unprotected sex.</a:t>
            </a:r>
          </a:p>
        </p:txBody>
      </p:sp>
      <p:sp>
        <p:nvSpPr>
          <p:cNvPr id="4" name="Slide Number Placeholder 3"/>
          <p:cNvSpPr>
            <a:spLocks noGrp="1"/>
          </p:cNvSpPr>
          <p:nvPr>
            <p:ph type="sldNum" sz="quarter" idx="5"/>
          </p:nvPr>
        </p:nvSpPr>
        <p:spPr/>
        <p:txBody>
          <a:bodyPr/>
          <a:lstStyle/>
          <a:p>
            <a:fld id="{4D5F8A8C-F201-E64D-999A-A6161AAF2014}" type="slidenum">
              <a:rPr lang="en-US" smtClean="0"/>
              <a:t>51</a:t>
            </a:fld>
            <a:endParaRPr lang="en-US"/>
          </a:p>
        </p:txBody>
      </p:sp>
    </p:spTree>
    <p:extLst>
      <p:ext uri="{BB962C8B-B14F-4D97-AF65-F5344CB8AC3E}">
        <p14:creationId xmlns:p14="http://schemas.microsoft.com/office/powerpoint/2010/main" val="324692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Contraceptive failure = missed pill, condom malfunction (incorrectly used, slipped off, split)</a:t>
            </a:r>
          </a:p>
        </p:txBody>
      </p:sp>
      <p:sp>
        <p:nvSpPr>
          <p:cNvPr id="4" name="Slide Number Placeholder 3"/>
          <p:cNvSpPr>
            <a:spLocks noGrp="1"/>
          </p:cNvSpPr>
          <p:nvPr>
            <p:ph type="sldNum" sz="quarter" idx="5"/>
          </p:nvPr>
        </p:nvSpPr>
        <p:spPr/>
        <p:txBody>
          <a:bodyPr/>
          <a:lstStyle/>
          <a:p>
            <a:fld id="{4D5F8A8C-F201-E64D-999A-A6161AAF2014}" type="slidenum">
              <a:rPr lang="en-US" smtClean="0"/>
              <a:t>52</a:t>
            </a:fld>
            <a:endParaRPr lang="en-US"/>
          </a:p>
        </p:txBody>
      </p:sp>
    </p:spTree>
    <p:extLst>
      <p:ext uri="{BB962C8B-B14F-4D97-AF65-F5344CB8AC3E}">
        <p14:creationId xmlns:p14="http://schemas.microsoft.com/office/powerpoint/2010/main" val="27460690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99+% effective – if in some way the tubes become unblocked, then there is still a chance of pregnancy. </a:t>
            </a:r>
          </a:p>
          <a:p>
            <a:r>
              <a:rPr lang="en-US" dirty="0"/>
              <a:t>** Usually permanent – depending on how the procedure occurs, and the age of the female, there could be room for reversal. If reversed, there is a higher chance of ectopic pregnancy. </a:t>
            </a:r>
          </a:p>
          <a:p>
            <a:r>
              <a:rPr lang="en-US" dirty="0"/>
              <a:t>Pregnancy can still happen via IVF if a person changed their mind about having children. </a:t>
            </a:r>
          </a:p>
        </p:txBody>
      </p:sp>
      <p:sp>
        <p:nvSpPr>
          <p:cNvPr id="4" name="Slide Number Placeholder 3"/>
          <p:cNvSpPr>
            <a:spLocks noGrp="1"/>
          </p:cNvSpPr>
          <p:nvPr>
            <p:ph type="sldNum" sz="quarter" idx="5"/>
          </p:nvPr>
        </p:nvSpPr>
        <p:spPr/>
        <p:txBody>
          <a:bodyPr/>
          <a:lstStyle/>
          <a:p>
            <a:fld id="{4D5F8A8C-F201-E64D-999A-A6161AAF2014}" type="slidenum">
              <a:rPr lang="en-US" smtClean="0"/>
              <a:t>55</a:t>
            </a:fld>
            <a:endParaRPr lang="en-US"/>
          </a:p>
        </p:txBody>
      </p:sp>
    </p:spTree>
    <p:extLst>
      <p:ext uri="{BB962C8B-B14F-4D97-AF65-F5344CB8AC3E}">
        <p14:creationId xmlns:p14="http://schemas.microsoft.com/office/powerpoint/2010/main" val="15956351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**Reversal procedure does not always work, and fertility may not be regained. </a:t>
            </a:r>
          </a:p>
          <a:p>
            <a:r>
              <a:rPr lang="en-US" dirty="0"/>
              <a:t>IVF is still possible as the testes continue to produce sperm. If sperm was not stored before the procedure, it may be possible for sperm to be retrieved with a minor procedure. </a:t>
            </a:r>
          </a:p>
        </p:txBody>
      </p:sp>
      <p:sp>
        <p:nvSpPr>
          <p:cNvPr id="4" name="Slide Number Placeholder 3"/>
          <p:cNvSpPr>
            <a:spLocks noGrp="1"/>
          </p:cNvSpPr>
          <p:nvPr>
            <p:ph type="sldNum" sz="quarter" idx="5"/>
          </p:nvPr>
        </p:nvSpPr>
        <p:spPr/>
        <p:txBody>
          <a:bodyPr/>
          <a:lstStyle/>
          <a:p>
            <a:fld id="{4D5F8A8C-F201-E64D-999A-A6161AAF2014}" type="slidenum">
              <a:rPr lang="en-US" smtClean="0"/>
              <a:t>56</a:t>
            </a:fld>
            <a:endParaRPr lang="en-US"/>
          </a:p>
        </p:txBody>
      </p:sp>
    </p:spTree>
    <p:extLst>
      <p:ext uri="{BB962C8B-B14F-4D97-AF65-F5344CB8AC3E}">
        <p14:creationId xmlns:p14="http://schemas.microsoft.com/office/powerpoint/2010/main" val="6542191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RELEVANT TO TEST.</a:t>
            </a:r>
          </a:p>
          <a:p>
            <a:r>
              <a:rPr lang="en-US" b="0" dirty="0"/>
              <a:t>Resources available in health storeroom. </a:t>
            </a:r>
          </a:p>
          <a:p>
            <a:endParaRPr lang="en-US" b="0" dirty="0"/>
          </a:p>
          <a:p>
            <a:r>
              <a:rPr lang="en-US" b="0" dirty="0"/>
              <a:t>Ways to complete this activity: </a:t>
            </a:r>
          </a:p>
          <a:p>
            <a:pPr marL="228600" indent="-228600">
              <a:buFont typeface="+mj-lt"/>
              <a:buAutoNum type="arabicPeriod"/>
            </a:pPr>
            <a:r>
              <a:rPr lang="en-US" b="0" dirty="0"/>
              <a:t>As role plays: </a:t>
            </a:r>
          </a:p>
          <a:p>
            <a:pPr marL="685800" lvl="1" indent="-228600">
              <a:buFont typeface="Arial" panose="020B0604020202020204" pitchFamily="34" charset="0"/>
              <a:buChar char="•"/>
            </a:pPr>
            <a:r>
              <a:rPr lang="en-US" b="0" dirty="0"/>
              <a:t>Students work in small groups and perform the scenario card as a role play acting out the scene and contraception discussion. </a:t>
            </a:r>
          </a:p>
          <a:p>
            <a:pPr marL="228600" lvl="0" indent="-228600">
              <a:buFont typeface="+mj-lt"/>
              <a:buAutoNum type="arabicPeriod"/>
            </a:pPr>
            <a:r>
              <a:rPr lang="en-US" b="0" dirty="0"/>
              <a:t>Complete the scenarios in their books:</a:t>
            </a:r>
          </a:p>
          <a:p>
            <a:pPr marL="685800" lvl="1" indent="-228600">
              <a:buFont typeface="Arial" panose="020B0604020202020204" pitchFamily="34" charset="0"/>
              <a:buChar char="•"/>
            </a:pPr>
            <a:r>
              <a:rPr lang="en-US" b="0" dirty="0"/>
              <a:t>In their workbooks, three scenarios have been included. Students can spend time responding to the questions on their own. Discuss answers as a class.</a:t>
            </a:r>
          </a:p>
          <a:p>
            <a:pPr marL="685800" lvl="1" indent="-228600">
              <a:buFont typeface="Arial" panose="020B0604020202020204" pitchFamily="34" charset="0"/>
              <a:buChar char="•"/>
            </a:pPr>
            <a:r>
              <a:rPr lang="en-US" b="0" dirty="0"/>
              <a:t>Can also be completed as a reflection/revision activity. </a:t>
            </a:r>
          </a:p>
          <a:p>
            <a:pPr marL="685800" lvl="1" indent="-228600">
              <a:buFont typeface="Arial" panose="020B0604020202020204" pitchFamily="34" charset="0"/>
              <a:buChar char="•"/>
            </a:pPr>
            <a:r>
              <a:rPr lang="en-US" b="1" dirty="0"/>
              <a:t>THREE different scenarios are included in their workbooks to encourage them to consider different methods of contraception based on the scenario given.</a:t>
            </a:r>
          </a:p>
          <a:p>
            <a:pPr marL="228600" lvl="0" indent="-228600">
              <a:buFont typeface="+mj-lt"/>
              <a:buAutoNum type="arabicPeriod"/>
            </a:pPr>
            <a:r>
              <a:rPr lang="en-US" b="0" dirty="0"/>
              <a:t>Group </a:t>
            </a:r>
            <a:r>
              <a:rPr lang="en-US" b="0" dirty="0">
                <a:sym typeface="Wingdings" pitchFamily="2" charset="2"/>
              </a:rPr>
              <a:t> whole class discussions:</a:t>
            </a:r>
          </a:p>
          <a:p>
            <a:pPr marL="685800" lvl="1" indent="-228600">
              <a:buFont typeface="Arial" panose="020B0604020202020204" pitchFamily="34" charset="0"/>
              <a:buChar char="•"/>
            </a:pPr>
            <a:r>
              <a:rPr lang="en-US" b="0" dirty="0"/>
              <a:t>Students work in small groups and each group will be given a different scenario to discuss. Taking turns, each group will read out their scenario and their response to the rest of the class. Allow for whole class discussion. </a:t>
            </a:r>
          </a:p>
        </p:txBody>
      </p:sp>
      <p:sp>
        <p:nvSpPr>
          <p:cNvPr id="4" name="Slide Number Placeholder 3"/>
          <p:cNvSpPr>
            <a:spLocks noGrp="1"/>
          </p:cNvSpPr>
          <p:nvPr>
            <p:ph type="sldNum" sz="quarter" idx="5"/>
          </p:nvPr>
        </p:nvSpPr>
        <p:spPr/>
        <p:txBody>
          <a:bodyPr/>
          <a:lstStyle/>
          <a:p>
            <a:fld id="{4D5F8A8C-F201-E64D-999A-A6161AAF2014}" type="slidenum">
              <a:rPr lang="en-US" smtClean="0"/>
              <a:t>57</a:t>
            </a:fld>
            <a:endParaRPr lang="en-US"/>
          </a:p>
        </p:txBody>
      </p:sp>
    </p:spTree>
    <p:extLst>
      <p:ext uri="{BB962C8B-B14F-4D97-AF65-F5344CB8AC3E}">
        <p14:creationId xmlns:p14="http://schemas.microsoft.com/office/powerpoint/2010/main" val="9860954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 available in Health Storeroom.</a:t>
            </a:r>
          </a:p>
        </p:txBody>
      </p:sp>
      <p:sp>
        <p:nvSpPr>
          <p:cNvPr id="4" name="Slide Number Placeholder 3"/>
          <p:cNvSpPr>
            <a:spLocks noGrp="1"/>
          </p:cNvSpPr>
          <p:nvPr>
            <p:ph type="sldNum" sz="quarter" idx="5"/>
          </p:nvPr>
        </p:nvSpPr>
        <p:spPr/>
        <p:txBody>
          <a:bodyPr/>
          <a:lstStyle/>
          <a:p>
            <a:fld id="{4D5F8A8C-F201-E64D-999A-A6161AAF2014}" type="slidenum">
              <a:rPr lang="en-US" smtClean="0"/>
              <a:t>58</a:t>
            </a:fld>
            <a:endParaRPr lang="en-US"/>
          </a:p>
        </p:txBody>
      </p:sp>
    </p:spTree>
    <p:extLst>
      <p:ext uri="{BB962C8B-B14F-4D97-AF65-F5344CB8AC3E}">
        <p14:creationId xmlns:p14="http://schemas.microsoft.com/office/powerpoint/2010/main" val="2071141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 available in Health Storeroom.</a:t>
            </a:r>
          </a:p>
          <a:p>
            <a:endParaRPr lang="en-US" dirty="0"/>
          </a:p>
          <a:p>
            <a:r>
              <a:rPr lang="en-US" dirty="0"/>
              <a:t>Can be used as a revision activity.</a:t>
            </a:r>
          </a:p>
        </p:txBody>
      </p:sp>
      <p:sp>
        <p:nvSpPr>
          <p:cNvPr id="4" name="Slide Number Placeholder 3"/>
          <p:cNvSpPr>
            <a:spLocks noGrp="1"/>
          </p:cNvSpPr>
          <p:nvPr>
            <p:ph type="sldNum" sz="quarter" idx="5"/>
          </p:nvPr>
        </p:nvSpPr>
        <p:spPr/>
        <p:txBody>
          <a:bodyPr/>
          <a:lstStyle/>
          <a:p>
            <a:fld id="{4D5F8A8C-F201-E64D-999A-A6161AAF2014}" type="slidenum">
              <a:rPr lang="en-US" smtClean="0"/>
              <a:t>59</a:t>
            </a:fld>
            <a:endParaRPr lang="en-US"/>
          </a:p>
        </p:txBody>
      </p:sp>
    </p:spTree>
    <p:extLst>
      <p:ext uri="{BB962C8B-B14F-4D97-AF65-F5344CB8AC3E}">
        <p14:creationId xmlns:p14="http://schemas.microsoft.com/office/powerpoint/2010/main" val="14413874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Hand out revision</a:t>
            </a:r>
          </a:p>
          <a:p>
            <a:r>
              <a:rPr lang="en-US" dirty="0"/>
              <a:t>Any time remaining at the end of the lesson can be spent doing revision.</a:t>
            </a:r>
          </a:p>
          <a:p>
            <a:endParaRPr lang="en-US" dirty="0"/>
          </a:p>
          <a:p>
            <a:r>
              <a:rPr lang="en-US" dirty="0"/>
              <a:t>OR complete the previous activities and hand out revision as homework. </a:t>
            </a:r>
          </a:p>
        </p:txBody>
      </p:sp>
      <p:sp>
        <p:nvSpPr>
          <p:cNvPr id="4" name="Slide Number Placeholder 3"/>
          <p:cNvSpPr>
            <a:spLocks noGrp="1"/>
          </p:cNvSpPr>
          <p:nvPr>
            <p:ph type="sldNum" sz="quarter" idx="5"/>
          </p:nvPr>
        </p:nvSpPr>
        <p:spPr/>
        <p:txBody>
          <a:bodyPr/>
          <a:lstStyle/>
          <a:p>
            <a:fld id="{6CFA5B9A-3C2C-634F-8582-DEDD16CFA49C}" type="slidenum">
              <a:rPr lang="en-US" smtClean="0"/>
              <a:t>60</a:t>
            </a:fld>
            <a:endParaRPr lang="en-US"/>
          </a:p>
        </p:txBody>
      </p:sp>
    </p:spTree>
    <p:extLst>
      <p:ext uri="{BB962C8B-B14F-4D97-AF65-F5344CB8AC3E}">
        <p14:creationId xmlns:p14="http://schemas.microsoft.com/office/powerpoint/2010/main" val="10129732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Year 10 Social Event on Thursday week 11 (27</a:t>
            </a:r>
            <a:r>
              <a:rPr lang="en-US" baseline="30000" dirty="0"/>
              <a:t>th</a:t>
            </a:r>
            <a:r>
              <a:rPr lang="en-US" dirty="0"/>
              <a:t> June)</a:t>
            </a:r>
          </a:p>
        </p:txBody>
      </p:sp>
      <p:sp>
        <p:nvSpPr>
          <p:cNvPr id="4" name="Slide Number Placeholder 3"/>
          <p:cNvSpPr>
            <a:spLocks noGrp="1"/>
          </p:cNvSpPr>
          <p:nvPr>
            <p:ph type="sldNum" sz="quarter" idx="5"/>
          </p:nvPr>
        </p:nvSpPr>
        <p:spPr/>
        <p:txBody>
          <a:bodyPr/>
          <a:lstStyle/>
          <a:p>
            <a:fld id="{4D5F8A8C-F201-E64D-999A-A6161AAF2014}" type="slidenum">
              <a:rPr lang="en-US" smtClean="0"/>
              <a:t>66</a:t>
            </a:fld>
            <a:endParaRPr lang="en-US"/>
          </a:p>
        </p:txBody>
      </p:sp>
    </p:spTree>
    <p:extLst>
      <p:ext uri="{BB962C8B-B14F-4D97-AF65-F5344CB8AC3E}">
        <p14:creationId xmlns:p14="http://schemas.microsoft.com/office/powerpoint/2010/main" val="31876804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altLang="en-US" sz="1200" b="1" dirty="0">
                <a:hlinkClick r:id="rId3"/>
              </a:rPr>
              <a:t>OPTIONAL ACTIVITY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altLang="en-US" sz="1200" b="1" dirty="0">
              <a:hlinkClick r:id="rId3"/>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altLang="en-US" sz="1200" dirty="0">
                <a:hlinkClick r:id="rId3"/>
              </a:rPr>
              <a:t>https://create.kahoot.it/share/duplicate-of-sti-s/c27f6ea9-2b50-418b-812a-25b134679b46</a:t>
            </a:r>
            <a:endParaRPr lang="en-AU" altLang="en-US" sz="1200" dirty="0"/>
          </a:p>
          <a:p>
            <a:endParaRPr lang="en-US" b="1" dirty="0"/>
          </a:p>
        </p:txBody>
      </p:sp>
      <p:sp>
        <p:nvSpPr>
          <p:cNvPr id="4" name="Slide Number Placeholder 3"/>
          <p:cNvSpPr>
            <a:spLocks noGrp="1"/>
          </p:cNvSpPr>
          <p:nvPr>
            <p:ph type="sldNum" sz="quarter" idx="5"/>
          </p:nvPr>
        </p:nvSpPr>
        <p:spPr/>
        <p:txBody>
          <a:bodyPr/>
          <a:lstStyle/>
          <a:p>
            <a:fld id="{4D5F8A8C-F201-E64D-999A-A6161AAF2014}" type="slidenum">
              <a:rPr lang="en-US" smtClean="0"/>
              <a:t>68</a:t>
            </a:fld>
            <a:endParaRPr lang="en-US"/>
          </a:p>
        </p:txBody>
      </p:sp>
    </p:spTree>
    <p:extLst>
      <p:ext uri="{BB962C8B-B14F-4D97-AF65-F5344CB8AC3E}">
        <p14:creationId xmlns:p14="http://schemas.microsoft.com/office/powerpoint/2010/main" val="26450434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RESOURCES</a:t>
            </a:r>
            <a:r>
              <a:rPr lang="en-US" dirty="0"/>
              <a:t> – print O + X’s worksheet (available on shared drive/connect). Make sure there are enough, so each student gets one shape (either O or X).</a:t>
            </a:r>
          </a:p>
          <a:p>
            <a:endParaRPr lang="en-US" dirty="0"/>
          </a:p>
          <a:p>
            <a:r>
              <a:rPr lang="en-US" dirty="0"/>
              <a:t>Everyone in the class receives a piece of paper with either a O or a X on it (can give these out as students walk through the door).</a:t>
            </a:r>
          </a:p>
          <a:p>
            <a:r>
              <a:rPr lang="en-US" dirty="0"/>
              <a:t>**Give the X to students who won’t mind being told they spread an STI or will go around and be lively in shaking hands.**</a:t>
            </a:r>
          </a:p>
          <a:p>
            <a:endParaRPr lang="en-US" dirty="0"/>
          </a:p>
          <a:p>
            <a:pPr marL="171450" indent="-171450">
              <a:buFont typeface="Arial" panose="020B0604020202020204" pitchFamily="34" charset="0"/>
              <a:buChar char="•"/>
            </a:pPr>
            <a:r>
              <a:rPr lang="en-US" dirty="0"/>
              <a:t>All students need a pen.</a:t>
            </a:r>
          </a:p>
          <a:p>
            <a:pPr marL="171450" indent="-171450">
              <a:buFont typeface="Arial" panose="020B0604020202020204" pitchFamily="34" charset="0"/>
              <a:buChar char="•"/>
            </a:pPr>
            <a:r>
              <a:rPr lang="en-US" dirty="0"/>
              <a:t>Students need to walk around and shake hands with each other.</a:t>
            </a:r>
          </a:p>
          <a:p>
            <a:pPr marL="171450" indent="-171450">
              <a:buFont typeface="Arial" panose="020B0604020202020204" pitchFamily="34" charset="0"/>
              <a:buChar char="•"/>
            </a:pPr>
            <a:r>
              <a:rPr lang="en-US" dirty="0"/>
              <a:t>If you have an O, you write an O on the other person's paper when you shake hands. </a:t>
            </a:r>
          </a:p>
          <a:p>
            <a:pPr marL="171450" indent="-171450">
              <a:buFont typeface="Arial" panose="020B0604020202020204" pitchFamily="34" charset="0"/>
              <a:buChar char="•"/>
            </a:pPr>
            <a:r>
              <a:rPr lang="en-US" dirty="0"/>
              <a:t>If you have an X, you write an X on the other person’s paper when you shake hands. </a:t>
            </a:r>
          </a:p>
          <a:p>
            <a:pPr marL="171450" indent="-171450">
              <a:buFont typeface="Arial" panose="020B0604020202020204" pitchFamily="34" charset="0"/>
              <a:buChar char="•"/>
            </a:pPr>
            <a:r>
              <a:rPr lang="en-US" dirty="0"/>
              <a:t>If you are an O and shake hands with an X, and now have an X on your paper, you are now an X and will continue to write X on other people’s paper when you shake hands. </a:t>
            </a:r>
          </a:p>
          <a:p>
            <a:pPr marL="171450" indent="-171450">
              <a:buFont typeface="Arial" panose="020B0604020202020204" pitchFamily="34" charset="0"/>
              <a:buChar char="•"/>
            </a:pPr>
            <a:r>
              <a:rPr lang="en-US" dirty="0"/>
              <a:t>Allow 1-2 minutes to walk around and shake hands.</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Debrief:</a:t>
            </a:r>
          </a:p>
          <a:p>
            <a:pPr marL="171450" indent="-171450">
              <a:buFont typeface="Arial" panose="020B0604020202020204" pitchFamily="34" charset="0"/>
              <a:buChar char="•"/>
            </a:pPr>
            <a:r>
              <a:rPr lang="en-US" dirty="0"/>
              <a:t>Stand up the people who have the X shape on their paper. Stay standing.</a:t>
            </a:r>
          </a:p>
          <a:p>
            <a:pPr marL="171450" indent="-171450">
              <a:buFont typeface="Arial" panose="020B0604020202020204" pitchFamily="34" charset="0"/>
              <a:buChar char="•"/>
            </a:pPr>
            <a:r>
              <a:rPr lang="en-US" dirty="0"/>
              <a:t>Stand up if you shook hands with one of these people. Stay standing.</a:t>
            </a:r>
          </a:p>
          <a:p>
            <a:pPr marL="171450" indent="-171450">
              <a:buFont typeface="Arial" panose="020B0604020202020204" pitchFamily="34" charset="0"/>
              <a:buChar char="•"/>
            </a:pPr>
            <a:r>
              <a:rPr lang="en-US" dirty="0"/>
              <a:t>Now stand up if you shook hands with one of these people.</a:t>
            </a:r>
          </a:p>
          <a:p>
            <a:pPr marL="171450" indent="-171450">
              <a:buFont typeface="Arial" panose="020B0604020202020204" pitchFamily="34" charset="0"/>
              <a:buChar char="•"/>
            </a:pPr>
            <a:r>
              <a:rPr lang="en-US" dirty="0"/>
              <a:t>Everyone with an X on their paper now has an STI.</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b="1" dirty="0"/>
              <a:t>This activity is used to demonstrate that STI’s can be invisible and can be easily transmitted through skin-to-skin contact. </a:t>
            </a:r>
          </a:p>
          <a:p>
            <a:pPr marL="171450" indent="-171450">
              <a:buFont typeface="Arial" panose="020B0604020202020204" pitchFamily="34" charset="0"/>
              <a:buChar char="•"/>
            </a:pPr>
            <a:endParaRPr lang="en-US" dirty="0"/>
          </a:p>
          <a:p>
            <a:endParaRPr lang="en-US" dirty="0"/>
          </a:p>
        </p:txBody>
      </p:sp>
      <p:sp>
        <p:nvSpPr>
          <p:cNvPr id="4" name="Slide Number Placeholder 3"/>
          <p:cNvSpPr>
            <a:spLocks noGrp="1"/>
          </p:cNvSpPr>
          <p:nvPr>
            <p:ph type="sldNum" sz="quarter" idx="5"/>
          </p:nvPr>
        </p:nvSpPr>
        <p:spPr/>
        <p:txBody>
          <a:bodyPr/>
          <a:lstStyle/>
          <a:p>
            <a:fld id="{4D5F8A8C-F201-E64D-999A-A6161AAF2014}" type="slidenum">
              <a:rPr lang="en-US" smtClean="0"/>
              <a:t>69</a:t>
            </a:fld>
            <a:endParaRPr lang="en-US"/>
          </a:p>
        </p:txBody>
      </p:sp>
    </p:spTree>
    <p:extLst>
      <p:ext uri="{BB962C8B-B14F-4D97-AF65-F5344CB8AC3E}">
        <p14:creationId xmlns:p14="http://schemas.microsoft.com/office/powerpoint/2010/main" val="41711911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OPTIONAL </a:t>
            </a:r>
          </a:p>
          <a:p>
            <a:r>
              <a:rPr lang="en-US" dirty="0"/>
              <a:t>STI House – 2:26mins</a:t>
            </a:r>
          </a:p>
        </p:txBody>
      </p:sp>
      <p:sp>
        <p:nvSpPr>
          <p:cNvPr id="4" name="Slide Number Placeholder 3"/>
          <p:cNvSpPr>
            <a:spLocks noGrp="1"/>
          </p:cNvSpPr>
          <p:nvPr>
            <p:ph type="sldNum" sz="quarter" idx="5"/>
          </p:nvPr>
        </p:nvSpPr>
        <p:spPr/>
        <p:txBody>
          <a:bodyPr/>
          <a:lstStyle/>
          <a:p>
            <a:fld id="{4D5F8A8C-F201-E64D-999A-A6161AAF2014}" type="slidenum">
              <a:rPr lang="en-US" smtClean="0"/>
              <a:t>70</a:t>
            </a:fld>
            <a:endParaRPr lang="en-US"/>
          </a:p>
        </p:txBody>
      </p:sp>
    </p:spTree>
    <p:extLst>
      <p:ext uri="{BB962C8B-B14F-4D97-AF65-F5344CB8AC3E}">
        <p14:creationId xmlns:p14="http://schemas.microsoft.com/office/powerpoint/2010/main" val="6267680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watching the video, ask students to recall the STI’s that were mentioned.</a:t>
            </a:r>
          </a:p>
        </p:txBody>
      </p:sp>
      <p:sp>
        <p:nvSpPr>
          <p:cNvPr id="4" name="Slide Number Placeholder 3"/>
          <p:cNvSpPr>
            <a:spLocks noGrp="1"/>
          </p:cNvSpPr>
          <p:nvPr>
            <p:ph type="sldNum" sz="quarter" idx="5"/>
          </p:nvPr>
        </p:nvSpPr>
        <p:spPr/>
        <p:txBody>
          <a:bodyPr/>
          <a:lstStyle/>
          <a:p>
            <a:fld id="{4D5F8A8C-F201-E64D-999A-A6161AAF2014}" type="slidenum">
              <a:rPr lang="en-US" smtClean="0"/>
              <a:t>71</a:t>
            </a:fld>
            <a:endParaRPr lang="en-US"/>
          </a:p>
        </p:txBody>
      </p:sp>
    </p:spTree>
    <p:extLst>
      <p:ext uri="{BB962C8B-B14F-4D97-AF65-F5344CB8AC3E}">
        <p14:creationId xmlns:p14="http://schemas.microsoft.com/office/powerpoint/2010/main" val="40859884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 students that STI’s and STD’s mean the same thing (Infections vs. Diseases) but that STI’s is the language more commonly used now.</a:t>
            </a:r>
          </a:p>
          <a:p>
            <a:pPr marL="171450" indent="-171450">
              <a:buFont typeface="Arial" panose="020B0604020202020204" pitchFamily="34" charset="0"/>
              <a:buChar char="•"/>
            </a:pPr>
            <a:r>
              <a:rPr lang="en-US" dirty="0"/>
              <a:t>The concepts of disease suggests a clear medical problem, usually some obvious signs/symptoms. But commonly, many sexually transmitted diseases do not have obvious signs/symptoms or have mild signs that can be easily overlooked. So, the term ‘infection’ is more commonly used now, though may or may not result in a ‘disease’.</a:t>
            </a:r>
          </a:p>
        </p:txBody>
      </p:sp>
      <p:sp>
        <p:nvSpPr>
          <p:cNvPr id="4" name="Slide Number Placeholder 3"/>
          <p:cNvSpPr>
            <a:spLocks noGrp="1"/>
          </p:cNvSpPr>
          <p:nvPr>
            <p:ph type="sldNum" sz="quarter" idx="5"/>
          </p:nvPr>
        </p:nvSpPr>
        <p:spPr/>
        <p:txBody>
          <a:bodyPr/>
          <a:lstStyle/>
          <a:p>
            <a:fld id="{4D5F8A8C-F201-E64D-999A-A6161AAF2014}" type="slidenum">
              <a:rPr lang="en-US" smtClean="0"/>
              <a:t>73</a:t>
            </a:fld>
            <a:endParaRPr lang="en-US"/>
          </a:p>
        </p:txBody>
      </p:sp>
    </p:spTree>
    <p:extLst>
      <p:ext uri="{BB962C8B-B14F-4D97-AF65-F5344CB8AC3E}">
        <p14:creationId xmlns:p14="http://schemas.microsoft.com/office/powerpoint/2010/main" val="20466617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5F8A8C-F201-E64D-999A-A6161AAF2014}" type="slidenum">
              <a:rPr lang="en-US" smtClean="0"/>
              <a:t>77</a:t>
            </a:fld>
            <a:endParaRPr lang="en-US"/>
          </a:p>
        </p:txBody>
      </p:sp>
    </p:spTree>
    <p:extLst>
      <p:ext uri="{BB962C8B-B14F-4D97-AF65-F5344CB8AC3E}">
        <p14:creationId xmlns:p14="http://schemas.microsoft.com/office/powerpoint/2010/main" val="310197248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the next collection of slides a variety of STI’s will be shown. While following along, students can write their own notes into the space provided on pg.20 of their workbooks. The main purpose is to introduce them to the different STI’s and generate discussion. When students are presenting their assignments, the audience will need to complete a table about each different STI that is presented. By the end of the presentations, students will have collated more information on all the different STI’s into their workbooks. </a:t>
            </a:r>
          </a:p>
        </p:txBody>
      </p:sp>
      <p:sp>
        <p:nvSpPr>
          <p:cNvPr id="4" name="Slide Number Placeholder 3"/>
          <p:cNvSpPr>
            <a:spLocks noGrp="1"/>
          </p:cNvSpPr>
          <p:nvPr>
            <p:ph type="sldNum" sz="quarter" idx="5"/>
          </p:nvPr>
        </p:nvSpPr>
        <p:spPr/>
        <p:txBody>
          <a:bodyPr/>
          <a:lstStyle/>
          <a:p>
            <a:fld id="{4D5F8A8C-F201-E64D-999A-A6161AAF2014}" type="slidenum">
              <a:rPr lang="en-US" smtClean="0"/>
              <a:t>78</a:t>
            </a:fld>
            <a:endParaRPr lang="en-US"/>
          </a:p>
        </p:txBody>
      </p:sp>
    </p:spTree>
    <p:extLst>
      <p:ext uri="{BB962C8B-B14F-4D97-AF65-F5344CB8AC3E}">
        <p14:creationId xmlns:p14="http://schemas.microsoft.com/office/powerpoint/2010/main" val="35532766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7AECF1CD-9247-F74B-88DF-FDFA4066ADCF}"/>
              </a:ext>
            </a:extLst>
          </p:cNvPr>
          <p:cNvSpPr>
            <a:spLocks noGrp="1" noRot="1" noChangeAspect="1" noTextEdit="1"/>
          </p:cNvSpPr>
          <p:nvPr>
            <p:ph type="sldImg"/>
          </p:nvPr>
        </p:nvSpPr>
        <p:spPr>
          <a:ln/>
        </p:spPr>
      </p:sp>
      <p:sp>
        <p:nvSpPr>
          <p:cNvPr id="15363" name="Notes Placeholder 2">
            <a:extLst>
              <a:ext uri="{FF2B5EF4-FFF2-40B4-BE49-F238E27FC236}">
                <a16:creationId xmlns:a16="http://schemas.microsoft.com/office/drawing/2014/main" id="{E96E5F62-AFF9-7245-9125-64BC27B5303A}"/>
              </a:ext>
            </a:extLst>
          </p:cNvPr>
          <p:cNvSpPr>
            <a:spLocks noGrp="1"/>
          </p:cNvSpPr>
          <p:nvPr>
            <p:ph type="body" idx="1"/>
          </p:nvPr>
        </p:nvSpPr>
        <p:spPr>
          <a:noFill/>
        </p:spPr>
        <p:txBody>
          <a:bodyPr/>
          <a:lstStyle/>
          <a:p>
            <a:endParaRPr lang="en-CA" altLang="en-US" dirty="0">
              <a:latin typeface="Times New Roman" panose="02020603050405020304" pitchFamily="18" charset="0"/>
            </a:endParaRPr>
          </a:p>
        </p:txBody>
      </p:sp>
      <p:sp>
        <p:nvSpPr>
          <p:cNvPr id="15364" name="Slide Number Placeholder 3">
            <a:extLst>
              <a:ext uri="{FF2B5EF4-FFF2-40B4-BE49-F238E27FC236}">
                <a16:creationId xmlns:a16="http://schemas.microsoft.com/office/drawing/2014/main" id="{C6AD1BBA-43B3-494F-94BC-C698E634EB16}"/>
              </a:ext>
            </a:extLst>
          </p:cNvPr>
          <p:cNvSpPr>
            <a:spLocks noGrp="1"/>
          </p:cNvSpPr>
          <p:nvPr>
            <p:ph type="sldNum" sz="quarter" idx="5"/>
          </p:nvPr>
        </p:nvSpPr>
        <p:spPr>
          <a:noFill/>
        </p:spPr>
        <p:txBody>
          <a:bodyPr/>
          <a:lstStyle>
            <a:lvl1pPr defTabSz="881063">
              <a:spcBef>
                <a:spcPct val="30000"/>
              </a:spcBef>
              <a:defRPr sz="1200">
                <a:solidFill>
                  <a:schemeClr val="tx1"/>
                </a:solidFill>
                <a:latin typeface="Times New Roman" panose="02020603050405020304" pitchFamily="18" charset="0"/>
              </a:defRPr>
            </a:lvl1pPr>
            <a:lvl2pPr marL="742950" indent="-285750" defTabSz="881063">
              <a:spcBef>
                <a:spcPct val="30000"/>
              </a:spcBef>
              <a:defRPr sz="1200">
                <a:solidFill>
                  <a:schemeClr val="tx1"/>
                </a:solidFill>
                <a:latin typeface="Times New Roman" panose="02020603050405020304" pitchFamily="18" charset="0"/>
              </a:defRPr>
            </a:lvl2pPr>
            <a:lvl3pPr marL="1143000" indent="-228600" defTabSz="881063">
              <a:spcBef>
                <a:spcPct val="30000"/>
              </a:spcBef>
              <a:defRPr sz="1200">
                <a:solidFill>
                  <a:schemeClr val="tx1"/>
                </a:solidFill>
                <a:latin typeface="Times New Roman" panose="02020603050405020304" pitchFamily="18" charset="0"/>
              </a:defRPr>
            </a:lvl3pPr>
            <a:lvl4pPr marL="1600200" indent="-228600" defTabSz="881063">
              <a:spcBef>
                <a:spcPct val="30000"/>
              </a:spcBef>
              <a:defRPr sz="1200">
                <a:solidFill>
                  <a:schemeClr val="tx1"/>
                </a:solidFill>
                <a:latin typeface="Times New Roman" panose="02020603050405020304" pitchFamily="18" charset="0"/>
              </a:defRPr>
            </a:lvl4pPr>
            <a:lvl5pPr marL="2057400" indent="-228600" defTabSz="881063">
              <a:spcBef>
                <a:spcPct val="30000"/>
              </a:spcBef>
              <a:defRPr sz="1200">
                <a:solidFill>
                  <a:schemeClr val="tx1"/>
                </a:solidFill>
                <a:latin typeface="Times New Roman" panose="02020603050405020304" pitchFamily="18" charset="0"/>
              </a:defRPr>
            </a:lvl5pPr>
            <a:lvl6pPr marL="2514600" indent="-228600" defTabSz="8810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8810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8810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8810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46C667C-F52F-2549-BE6F-14821EA4B964}" type="slidenum">
              <a:rPr lang="en-US" altLang="en-US"/>
              <a:pPr>
                <a:spcBef>
                  <a:spcPct val="0"/>
                </a:spcBef>
              </a:pPr>
              <a:t>79</a:t>
            </a:fld>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CB288FE2-16E1-F54F-8157-900A12EE96E5}"/>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9CCDC4C8-0876-724B-BF4B-4026385D06D3}"/>
              </a:ext>
            </a:extLst>
          </p:cNvPr>
          <p:cNvSpPr>
            <a:spLocks noGrp="1"/>
          </p:cNvSpPr>
          <p:nvPr>
            <p:ph type="body" idx="1"/>
          </p:nvPr>
        </p:nvSpPr>
        <p:spPr/>
        <p:txBody>
          <a:bodyPr/>
          <a:lstStyle/>
          <a:p>
            <a:pPr>
              <a:defRPr/>
            </a:pPr>
            <a:endParaRPr lang="en-US" b="1" dirty="0">
              <a:solidFill>
                <a:schemeClr val="accent6"/>
              </a:solidFill>
              <a:latin typeface="Century Gothic" pitchFamily="34" charset="0"/>
            </a:endParaRPr>
          </a:p>
          <a:p>
            <a:pPr>
              <a:defRPr/>
            </a:pPr>
            <a:endParaRPr lang="en-US" dirty="0">
              <a:latin typeface="Century Gothic" pitchFamily="34" charset="0"/>
            </a:endParaRPr>
          </a:p>
          <a:p>
            <a:pPr>
              <a:defRPr/>
            </a:pPr>
            <a:endParaRPr lang="en-CA" dirty="0"/>
          </a:p>
        </p:txBody>
      </p:sp>
      <p:sp>
        <p:nvSpPr>
          <p:cNvPr id="21508" name="Slide Number Placeholder 3">
            <a:extLst>
              <a:ext uri="{FF2B5EF4-FFF2-40B4-BE49-F238E27FC236}">
                <a16:creationId xmlns:a16="http://schemas.microsoft.com/office/drawing/2014/main" id="{15415786-6957-6441-9831-07C0D8E950E0}"/>
              </a:ext>
            </a:extLst>
          </p:cNvPr>
          <p:cNvSpPr>
            <a:spLocks noGrp="1"/>
          </p:cNvSpPr>
          <p:nvPr>
            <p:ph type="sldNum" sz="quarter" idx="5"/>
          </p:nvPr>
        </p:nvSpPr>
        <p:spPr>
          <a:noFill/>
        </p:spPr>
        <p:txBody>
          <a:bodyPr/>
          <a:lstStyle>
            <a:lvl1pPr defTabSz="881063">
              <a:spcBef>
                <a:spcPct val="30000"/>
              </a:spcBef>
              <a:defRPr sz="1200">
                <a:solidFill>
                  <a:schemeClr val="tx1"/>
                </a:solidFill>
                <a:latin typeface="Times New Roman" panose="02020603050405020304" pitchFamily="18" charset="0"/>
              </a:defRPr>
            </a:lvl1pPr>
            <a:lvl2pPr marL="742950" indent="-285750" defTabSz="881063">
              <a:spcBef>
                <a:spcPct val="30000"/>
              </a:spcBef>
              <a:defRPr sz="1200">
                <a:solidFill>
                  <a:schemeClr val="tx1"/>
                </a:solidFill>
                <a:latin typeface="Times New Roman" panose="02020603050405020304" pitchFamily="18" charset="0"/>
              </a:defRPr>
            </a:lvl2pPr>
            <a:lvl3pPr marL="1143000" indent="-228600" defTabSz="881063">
              <a:spcBef>
                <a:spcPct val="30000"/>
              </a:spcBef>
              <a:defRPr sz="1200">
                <a:solidFill>
                  <a:schemeClr val="tx1"/>
                </a:solidFill>
                <a:latin typeface="Times New Roman" panose="02020603050405020304" pitchFamily="18" charset="0"/>
              </a:defRPr>
            </a:lvl3pPr>
            <a:lvl4pPr marL="1600200" indent="-228600" defTabSz="881063">
              <a:spcBef>
                <a:spcPct val="30000"/>
              </a:spcBef>
              <a:defRPr sz="1200">
                <a:solidFill>
                  <a:schemeClr val="tx1"/>
                </a:solidFill>
                <a:latin typeface="Times New Roman" panose="02020603050405020304" pitchFamily="18" charset="0"/>
              </a:defRPr>
            </a:lvl4pPr>
            <a:lvl5pPr marL="2057400" indent="-228600" defTabSz="881063">
              <a:spcBef>
                <a:spcPct val="30000"/>
              </a:spcBef>
              <a:defRPr sz="1200">
                <a:solidFill>
                  <a:schemeClr val="tx1"/>
                </a:solidFill>
                <a:latin typeface="Times New Roman" panose="02020603050405020304" pitchFamily="18" charset="0"/>
              </a:defRPr>
            </a:lvl5pPr>
            <a:lvl6pPr marL="2514600" indent="-228600" defTabSz="8810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8810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8810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8810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C046E3A-ED9A-E14D-8DAB-18CFB4608D3A}" type="slidenum">
              <a:rPr lang="en-US" altLang="en-US"/>
              <a:pPr>
                <a:spcBef>
                  <a:spcPct val="0"/>
                </a:spcBef>
              </a:pPr>
              <a:t>80</a:t>
            </a:fld>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F89AC62C-38A5-D842-8875-998CE2879224}"/>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6D3E120A-F16E-064C-A4BD-DE35DA171E0B}"/>
              </a:ext>
            </a:extLst>
          </p:cNvPr>
          <p:cNvSpPr>
            <a:spLocks noGrp="1"/>
          </p:cNvSpPr>
          <p:nvPr>
            <p:ph type="body" idx="1"/>
          </p:nvPr>
        </p:nvSpPr>
        <p:spPr/>
        <p:txBody>
          <a:bodyPr/>
          <a:lstStyle/>
          <a:p>
            <a:pPr>
              <a:defRPr/>
            </a:pPr>
            <a:r>
              <a:rPr lang="en-US" dirty="0" err="1"/>
              <a:t>Syphillis</a:t>
            </a:r>
            <a:r>
              <a:rPr lang="en-US" dirty="0"/>
              <a:t> Can spread from an infected mother to her unborn child</a:t>
            </a:r>
          </a:p>
          <a:p>
            <a:pPr>
              <a:defRPr/>
            </a:pPr>
            <a:endParaRPr lang="en-US" b="1" dirty="0">
              <a:solidFill>
                <a:schemeClr val="accent6"/>
              </a:solidFill>
              <a:latin typeface="Century Gothic" pitchFamily="34" charset="0"/>
            </a:endParaRPr>
          </a:p>
          <a:p>
            <a:pPr>
              <a:defRPr/>
            </a:pPr>
            <a:endParaRPr lang="en-US" dirty="0">
              <a:latin typeface="Century Gothic" pitchFamily="34" charset="0"/>
            </a:endParaRPr>
          </a:p>
          <a:p>
            <a:pPr>
              <a:defRPr/>
            </a:pPr>
            <a:endParaRPr lang="en-CA" dirty="0"/>
          </a:p>
        </p:txBody>
      </p:sp>
      <p:sp>
        <p:nvSpPr>
          <p:cNvPr id="27652" name="Slide Number Placeholder 3">
            <a:extLst>
              <a:ext uri="{FF2B5EF4-FFF2-40B4-BE49-F238E27FC236}">
                <a16:creationId xmlns:a16="http://schemas.microsoft.com/office/drawing/2014/main" id="{C211948F-E545-E94C-B79B-5763EA369DA0}"/>
              </a:ext>
            </a:extLst>
          </p:cNvPr>
          <p:cNvSpPr>
            <a:spLocks noGrp="1"/>
          </p:cNvSpPr>
          <p:nvPr>
            <p:ph type="sldNum" sz="quarter" idx="5"/>
          </p:nvPr>
        </p:nvSpPr>
        <p:spPr>
          <a:noFill/>
        </p:spPr>
        <p:txBody>
          <a:bodyPr/>
          <a:lstStyle>
            <a:lvl1pPr defTabSz="881063">
              <a:spcBef>
                <a:spcPct val="30000"/>
              </a:spcBef>
              <a:defRPr sz="1200">
                <a:solidFill>
                  <a:schemeClr val="tx1"/>
                </a:solidFill>
                <a:latin typeface="Times New Roman" panose="02020603050405020304" pitchFamily="18" charset="0"/>
              </a:defRPr>
            </a:lvl1pPr>
            <a:lvl2pPr marL="742950" indent="-285750" defTabSz="881063">
              <a:spcBef>
                <a:spcPct val="30000"/>
              </a:spcBef>
              <a:defRPr sz="1200">
                <a:solidFill>
                  <a:schemeClr val="tx1"/>
                </a:solidFill>
                <a:latin typeface="Times New Roman" panose="02020603050405020304" pitchFamily="18" charset="0"/>
              </a:defRPr>
            </a:lvl2pPr>
            <a:lvl3pPr marL="1143000" indent="-228600" defTabSz="881063">
              <a:spcBef>
                <a:spcPct val="30000"/>
              </a:spcBef>
              <a:defRPr sz="1200">
                <a:solidFill>
                  <a:schemeClr val="tx1"/>
                </a:solidFill>
                <a:latin typeface="Times New Roman" panose="02020603050405020304" pitchFamily="18" charset="0"/>
              </a:defRPr>
            </a:lvl3pPr>
            <a:lvl4pPr marL="1600200" indent="-228600" defTabSz="881063">
              <a:spcBef>
                <a:spcPct val="30000"/>
              </a:spcBef>
              <a:defRPr sz="1200">
                <a:solidFill>
                  <a:schemeClr val="tx1"/>
                </a:solidFill>
                <a:latin typeface="Times New Roman" panose="02020603050405020304" pitchFamily="18" charset="0"/>
              </a:defRPr>
            </a:lvl4pPr>
            <a:lvl5pPr marL="2057400" indent="-228600" defTabSz="881063">
              <a:spcBef>
                <a:spcPct val="30000"/>
              </a:spcBef>
              <a:defRPr sz="1200">
                <a:solidFill>
                  <a:schemeClr val="tx1"/>
                </a:solidFill>
                <a:latin typeface="Times New Roman" panose="02020603050405020304" pitchFamily="18" charset="0"/>
              </a:defRPr>
            </a:lvl5pPr>
            <a:lvl6pPr marL="2514600" indent="-228600" defTabSz="8810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8810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8810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8810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DF79403-C6B1-6947-952B-274CF651AE61}" type="slidenum">
              <a:rPr lang="en-US" altLang="en-US"/>
              <a:pPr>
                <a:spcBef>
                  <a:spcPct val="0"/>
                </a:spcBef>
              </a:pPr>
              <a:t>81</a:t>
            </a:fld>
            <a:endParaRPr lang="en-US"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4DA1AFC1-B7E7-1B4E-B044-40931766540B}"/>
              </a:ext>
            </a:extLst>
          </p:cNvPr>
          <p:cNvSpPr>
            <a:spLocks noGrp="1" noChangeArrowheads="1"/>
          </p:cNvSpPr>
          <p:nvPr>
            <p:ph type="sldNum" sz="quarter" idx="5"/>
          </p:nvPr>
        </p:nvSpPr>
        <p:spPr>
          <a:noFill/>
        </p:spPr>
        <p:txBody>
          <a:bodyPr/>
          <a:lstStyle>
            <a:lvl1pPr defTabSz="881063">
              <a:spcBef>
                <a:spcPct val="30000"/>
              </a:spcBef>
              <a:defRPr sz="1200">
                <a:solidFill>
                  <a:schemeClr val="tx1"/>
                </a:solidFill>
                <a:latin typeface="Times New Roman" panose="02020603050405020304" pitchFamily="18" charset="0"/>
              </a:defRPr>
            </a:lvl1pPr>
            <a:lvl2pPr marL="742950" indent="-285750" defTabSz="881063">
              <a:spcBef>
                <a:spcPct val="30000"/>
              </a:spcBef>
              <a:defRPr sz="1200">
                <a:solidFill>
                  <a:schemeClr val="tx1"/>
                </a:solidFill>
                <a:latin typeface="Times New Roman" panose="02020603050405020304" pitchFamily="18" charset="0"/>
              </a:defRPr>
            </a:lvl2pPr>
            <a:lvl3pPr marL="1143000" indent="-228600" defTabSz="881063">
              <a:spcBef>
                <a:spcPct val="30000"/>
              </a:spcBef>
              <a:defRPr sz="1200">
                <a:solidFill>
                  <a:schemeClr val="tx1"/>
                </a:solidFill>
                <a:latin typeface="Times New Roman" panose="02020603050405020304" pitchFamily="18" charset="0"/>
              </a:defRPr>
            </a:lvl3pPr>
            <a:lvl4pPr marL="1600200" indent="-228600" defTabSz="881063">
              <a:spcBef>
                <a:spcPct val="30000"/>
              </a:spcBef>
              <a:defRPr sz="1200">
                <a:solidFill>
                  <a:schemeClr val="tx1"/>
                </a:solidFill>
                <a:latin typeface="Times New Roman" panose="02020603050405020304" pitchFamily="18" charset="0"/>
              </a:defRPr>
            </a:lvl4pPr>
            <a:lvl5pPr marL="2057400" indent="-228600" defTabSz="881063">
              <a:spcBef>
                <a:spcPct val="30000"/>
              </a:spcBef>
              <a:defRPr sz="1200">
                <a:solidFill>
                  <a:schemeClr val="tx1"/>
                </a:solidFill>
                <a:latin typeface="Times New Roman" panose="02020603050405020304" pitchFamily="18" charset="0"/>
              </a:defRPr>
            </a:lvl5pPr>
            <a:lvl6pPr marL="2514600" indent="-228600" defTabSz="8810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8810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8810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8810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050F196-E429-E14C-8D05-DD0ED23E09BC}" type="slidenum">
              <a:rPr lang="en-US" altLang="en-US"/>
              <a:pPr>
                <a:spcBef>
                  <a:spcPct val="0"/>
                </a:spcBef>
              </a:pPr>
              <a:t>82</a:t>
            </a:fld>
            <a:endParaRPr lang="en-US" altLang="en-US"/>
          </a:p>
        </p:txBody>
      </p:sp>
      <p:sp>
        <p:nvSpPr>
          <p:cNvPr id="31747" name="Rectangle 2">
            <a:extLst>
              <a:ext uri="{FF2B5EF4-FFF2-40B4-BE49-F238E27FC236}">
                <a16:creationId xmlns:a16="http://schemas.microsoft.com/office/drawing/2014/main" id="{A2AEA9E6-AA23-714A-9FF9-D337B2214427}"/>
              </a:ext>
            </a:extLst>
          </p:cNvPr>
          <p:cNvSpPr>
            <a:spLocks noGrp="1" noRot="1" noChangeAspect="1" noChangeArrowheads="1" noTextEdit="1"/>
          </p:cNvSpPr>
          <p:nvPr>
            <p:ph type="sldImg"/>
          </p:nvPr>
        </p:nvSpPr>
        <p:spPr>
          <a:xfrm>
            <a:off x="406400" y="698500"/>
            <a:ext cx="6197600" cy="3486150"/>
          </a:xfrm>
          <a:ln/>
        </p:spPr>
      </p:sp>
      <p:sp>
        <p:nvSpPr>
          <p:cNvPr id="31748" name="Rectangle 3">
            <a:extLst>
              <a:ext uri="{FF2B5EF4-FFF2-40B4-BE49-F238E27FC236}">
                <a16:creationId xmlns:a16="http://schemas.microsoft.com/office/drawing/2014/main" id="{BF05A147-A0A4-1443-9596-6C0B6A71003A}"/>
              </a:ext>
            </a:extLst>
          </p:cNvPr>
          <p:cNvSpPr>
            <a:spLocks noGrp="1" noChangeArrowheads="1"/>
          </p:cNvSpPr>
          <p:nvPr>
            <p:ph type="body" idx="1"/>
          </p:nvPr>
        </p:nvSpPr>
        <p:spPr>
          <a:xfrm>
            <a:off x="701675" y="4416425"/>
            <a:ext cx="5607050" cy="4181475"/>
          </a:xfrm>
          <a:noFill/>
        </p:spPr>
        <p:txBody>
          <a:bodyPr lIns="93172" tIns="46586" rIns="93172" bIns="46586"/>
          <a:lstStyle/>
          <a:p>
            <a:pPr eaLnBrk="1" hangingPunct="1"/>
            <a:r>
              <a:rPr lang="en-US" altLang="en-US">
                <a:latin typeface="Times New Roman" panose="02020603050405020304" pitchFamily="18" charset="0"/>
              </a:rPr>
              <a:t>Primary Syphilis: a painless open sore which heals on it’s own, but the infection remains</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CB288FE2-16E1-F54F-8157-900A12EE96E5}"/>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9CCDC4C8-0876-724B-BF4B-4026385D06D3}"/>
              </a:ext>
            </a:extLst>
          </p:cNvPr>
          <p:cNvSpPr>
            <a:spLocks noGrp="1"/>
          </p:cNvSpPr>
          <p:nvPr>
            <p:ph type="body" idx="1"/>
          </p:nvPr>
        </p:nvSpPr>
        <p:spPr/>
        <p:txBody>
          <a:bodyPr/>
          <a:lstStyle/>
          <a:p>
            <a:pPr>
              <a:defRPr/>
            </a:pPr>
            <a:endParaRPr lang="en-US" b="1" dirty="0">
              <a:solidFill>
                <a:schemeClr val="accent6"/>
              </a:solidFill>
              <a:latin typeface="Century Gothic" pitchFamily="34" charset="0"/>
            </a:endParaRPr>
          </a:p>
          <a:p>
            <a:pPr>
              <a:defRPr/>
            </a:pPr>
            <a:endParaRPr lang="en-US" dirty="0">
              <a:latin typeface="Century Gothic" pitchFamily="34" charset="0"/>
            </a:endParaRPr>
          </a:p>
          <a:p>
            <a:pPr>
              <a:defRPr/>
            </a:pPr>
            <a:endParaRPr lang="en-CA" dirty="0"/>
          </a:p>
        </p:txBody>
      </p:sp>
      <p:sp>
        <p:nvSpPr>
          <p:cNvPr id="21508" name="Slide Number Placeholder 3">
            <a:extLst>
              <a:ext uri="{FF2B5EF4-FFF2-40B4-BE49-F238E27FC236}">
                <a16:creationId xmlns:a16="http://schemas.microsoft.com/office/drawing/2014/main" id="{15415786-6957-6441-9831-07C0D8E950E0}"/>
              </a:ext>
            </a:extLst>
          </p:cNvPr>
          <p:cNvSpPr>
            <a:spLocks noGrp="1"/>
          </p:cNvSpPr>
          <p:nvPr>
            <p:ph type="sldNum" sz="quarter" idx="5"/>
          </p:nvPr>
        </p:nvSpPr>
        <p:spPr>
          <a:noFill/>
        </p:spPr>
        <p:txBody>
          <a:bodyPr/>
          <a:lstStyle>
            <a:lvl1pPr defTabSz="881063">
              <a:spcBef>
                <a:spcPct val="30000"/>
              </a:spcBef>
              <a:defRPr sz="1200">
                <a:solidFill>
                  <a:schemeClr val="tx1"/>
                </a:solidFill>
                <a:latin typeface="Times New Roman" panose="02020603050405020304" pitchFamily="18" charset="0"/>
              </a:defRPr>
            </a:lvl1pPr>
            <a:lvl2pPr marL="742950" indent="-285750" defTabSz="881063">
              <a:spcBef>
                <a:spcPct val="30000"/>
              </a:spcBef>
              <a:defRPr sz="1200">
                <a:solidFill>
                  <a:schemeClr val="tx1"/>
                </a:solidFill>
                <a:latin typeface="Times New Roman" panose="02020603050405020304" pitchFamily="18" charset="0"/>
              </a:defRPr>
            </a:lvl2pPr>
            <a:lvl3pPr marL="1143000" indent="-228600" defTabSz="881063">
              <a:spcBef>
                <a:spcPct val="30000"/>
              </a:spcBef>
              <a:defRPr sz="1200">
                <a:solidFill>
                  <a:schemeClr val="tx1"/>
                </a:solidFill>
                <a:latin typeface="Times New Roman" panose="02020603050405020304" pitchFamily="18" charset="0"/>
              </a:defRPr>
            </a:lvl3pPr>
            <a:lvl4pPr marL="1600200" indent="-228600" defTabSz="881063">
              <a:spcBef>
                <a:spcPct val="30000"/>
              </a:spcBef>
              <a:defRPr sz="1200">
                <a:solidFill>
                  <a:schemeClr val="tx1"/>
                </a:solidFill>
                <a:latin typeface="Times New Roman" panose="02020603050405020304" pitchFamily="18" charset="0"/>
              </a:defRPr>
            </a:lvl4pPr>
            <a:lvl5pPr marL="2057400" indent="-228600" defTabSz="881063">
              <a:spcBef>
                <a:spcPct val="30000"/>
              </a:spcBef>
              <a:defRPr sz="1200">
                <a:solidFill>
                  <a:schemeClr val="tx1"/>
                </a:solidFill>
                <a:latin typeface="Times New Roman" panose="02020603050405020304" pitchFamily="18" charset="0"/>
              </a:defRPr>
            </a:lvl5pPr>
            <a:lvl6pPr marL="2514600" indent="-228600" defTabSz="8810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8810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8810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8810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C046E3A-ED9A-E14D-8DAB-18CFB4608D3A}" type="slidenum">
              <a:rPr lang="en-US" altLang="en-US"/>
              <a:pPr>
                <a:spcBef>
                  <a:spcPct val="0"/>
                </a:spcBef>
              </a:pPr>
              <a:t>83</a:t>
            </a:fld>
            <a:endParaRPr lang="en-US" altLang="en-US"/>
          </a:p>
        </p:txBody>
      </p:sp>
    </p:spTree>
    <p:extLst>
      <p:ext uri="{BB962C8B-B14F-4D97-AF65-F5344CB8AC3E}">
        <p14:creationId xmlns:p14="http://schemas.microsoft.com/office/powerpoint/2010/main" val="279431083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HPV can cause cervical cancer, anal cancer, vaginal cancer, throat cancer, vulva cancer, penile cancer.</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Vaccine available for the type that causes most genital warts, 90% of cervical cancers and 95% of other HPV related cancers. </a:t>
            </a:r>
          </a:p>
          <a:p>
            <a:endParaRPr lang="en-US" dirty="0"/>
          </a:p>
        </p:txBody>
      </p:sp>
      <p:sp>
        <p:nvSpPr>
          <p:cNvPr id="4" name="Slide Number Placeholder 3"/>
          <p:cNvSpPr>
            <a:spLocks noGrp="1"/>
          </p:cNvSpPr>
          <p:nvPr>
            <p:ph type="sldNum" sz="quarter" idx="5"/>
          </p:nvPr>
        </p:nvSpPr>
        <p:spPr/>
        <p:txBody>
          <a:bodyPr/>
          <a:lstStyle/>
          <a:p>
            <a:fld id="{4D5F8A8C-F201-E64D-999A-A6161AAF2014}" type="slidenum">
              <a:rPr lang="en-US" smtClean="0"/>
              <a:t>85</a:t>
            </a:fld>
            <a:endParaRPr lang="en-US"/>
          </a:p>
        </p:txBody>
      </p:sp>
    </p:spTree>
    <p:extLst>
      <p:ext uri="{BB962C8B-B14F-4D97-AF65-F5344CB8AC3E}">
        <p14:creationId xmlns:p14="http://schemas.microsoft.com/office/powerpoint/2010/main" val="39476069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HPV can cause cervical cancer, anal cancer, vaginal cancer, throat cancer, vulva cancer, penile cancer.</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Vaccine available for the type that causes most genital warts, 90% of cervical cancers and 95% of other HPV related cancers. </a:t>
            </a:r>
          </a:p>
          <a:p>
            <a:endParaRPr lang="en-US" dirty="0"/>
          </a:p>
        </p:txBody>
      </p:sp>
      <p:sp>
        <p:nvSpPr>
          <p:cNvPr id="4" name="Slide Number Placeholder 3"/>
          <p:cNvSpPr>
            <a:spLocks noGrp="1"/>
          </p:cNvSpPr>
          <p:nvPr>
            <p:ph type="sldNum" sz="quarter" idx="5"/>
          </p:nvPr>
        </p:nvSpPr>
        <p:spPr/>
        <p:txBody>
          <a:bodyPr/>
          <a:lstStyle/>
          <a:p>
            <a:fld id="{4D5F8A8C-F201-E64D-999A-A6161AAF2014}" type="slidenum">
              <a:rPr lang="en-US" smtClean="0"/>
              <a:t>86</a:t>
            </a:fld>
            <a:endParaRPr lang="en-US"/>
          </a:p>
        </p:txBody>
      </p:sp>
    </p:spTree>
    <p:extLst>
      <p:ext uri="{BB962C8B-B14F-4D97-AF65-F5344CB8AC3E}">
        <p14:creationId xmlns:p14="http://schemas.microsoft.com/office/powerpoint/2010/main" val="306742431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Spread initially from chimpanzees when Africans used to hunt them and would come into contact with their infected blood. </a:t>
            </a:r>
          </a:p>
        </p:txBody>
      </p:sp>
      <p:sp>
        <p:nvSpPr>
          <p:cNvPr id="4" name="Slide Number Placeholder 3"/>
          <p:cNvSpPr>
            <a:spLocks noGrp="1"/>
          </p:cNvSpPr>
          <p:nvPr>
            <p:ph type="sldNum" sz="quarter" idx="5"/>
          </p:nvPr>
        </p:nvSpPr>
        <p:spPr/>
        <p:txBody>
          <a:bodyPr/>
          <a:lstStyle/>
          <a:p>
            <a:fld id="{4D5F8A8C-F201-E64D-999A-A6161AAF2014}" type="slidenum">
              <a:rPr lang="en-US" smtClean="0"/>
              <a:t>87</a:t>
            </a:fld>
            <a:endParaRPr lang="en-US"/>
          </a:p>
        </p:txBody>
      </p:sp>
    </p:spTree>
    <p:extLst>
      <p:ext uri="{BB962C8B-B14F-4D97-AF65-F5344CB8AC3E}">
        <p14:creationId xmlns:p14="http://schemas.microsoft.com/office/powerpoint/2010/main" val="299583687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BD51719E-F631-E74A-AB81-89685CC25C41}"/>
              </a:ext>
            </a:extLst>
          </p:cNvPr>
          <p:cNvSpPr>
            <a:spLocks noGrp="1" noChangeArrowheads="1"/>
          </p:cNvSpPr>
          <p:nvPr>
            <p:ph type="sldNum" sz="quarter" idx="5"/>
          </p:nvPr>
        </p:nvSpPr>
        <p:spPr>
          <a:noFill/>
        </p:spPr>
        <p:txBody>
          <a:bodyPr/>
          <a:lstStyle>
            <a:lvl1pPr defTabSz="881063">
              <a:spcBef>
                <a:spcPct val="30000"/>
              </a:spcBef>
              <a:defRPr sz="1200">
                <a:solidFill>
                  <a:schemeClr val="tx1"/>
                </a:solidFill>
                <a:latin typeface="Times New Roman" panose="02020603050405020304" pitchFamily="18" charset="0"/>
              </a:defRPr>
            </a:lvl1pPr>
            <a:lvl2pPr marL="742950" indent="-285750" defTabSz="881063">
              <a:spcBef>
                <a:spcPct val="30000"/>
              </a:spcBef>
              <a:defRPr sz="1200">
                <a:solidFill>
                  <a:schemeClr val="tx1"/>
                </a:solidFill>
                <a:latin typeface="Times New Roman" panose="02020603050405020304" pitchFamily="18" charset="0"/>
              </a:defRPr>
            </a:lvl2pPr>
            <a:lvl3pPr marL="1143000" indent="-228600" defTabSz="881063">
              <a:spcBef>
                <a:spcPct val="30000"/>
              </a:spcBef>
              <a:defRPr sz="1200">
                <a:solidFill>
                  <a:schemeClr val="tx1"/>
                </a:solidFill>
                <a:latin typeface="Times New Roman" panose="02020603050405020304" pitchFamily="18" charset="0"/>
              </a:defRPr>
            </a:lvl3pPr>
            <a:lvl4pPr marL="1600200" indent="-228600" defTabSz="881063">
              <a:spcBef>
                <a:spcPct val="30000"/>
              </a:spcBef>
              <a:defRPr sz="1200">
                <a:solidFill>
                  <a:schemeClr val="tx1"/>
                </a:solidFill>
                <a:latin typeface="Times New Roman" panose="02020603050405020304" pitchFamily="18" charset="0"/>
              </a:defRPr>
            </a:lvl4pPr>
            <a:lvl5pPr marL="2057400" indent="-228600" defTabSz="881063">
              <a:spcBef>
                <a:spcPct val="30000"/>
              </a:spcBef>
              <a:defRPr sz="1200">
                <a:solidFill>
                  <a:schemeClr val="tx1"/>
                </a:solidFill>
                <a:latin typeface="Times New Roman" panose="02020603050405020304" pitchFamily="18" charset="0"/>
              </a:defRPr>
            </a:lvl5pPr>
            <a:lvl6pPr marL="2514600" indent="-228600" defTabSz="8810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8810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8810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8810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3EDB4E3-BAD5-7A48-8F8A-4F42D652B676}" type="slidenum">
              <a:rPr lang="en-US" altLang="en-US"/>
              <a:pPr>
                <a:spcBef>
                  <a:spcPct val="0"/>
                </a:spcBef>
              </a:pPr>
              <a:t>89</a:t>
            </a:fld>
            <a:endParaRPr lang="en-US" altLang="en-US"/>
          </a:p>
        </p:txBody>
      </p:sp>
      <p:sp>
        <p:nvSpPr>
          <p:cNvPr id="35843" name="Rectangle 2">
            <a:extLst>
              <a:ext uri="{FF2B5EF4-FFF2-40B4-BE49-F238E27FC236}">
                <a16:creationId xmlns:a16="http://schemas.microsoft.com/office/drawing/2014/main" id="{4BDD3910-E985-064E-9E09-DAA425BBBD35}"/>
              </a:ext>
            </a:extLst>
          </p:cNvPr>
          <p:cNvSpPr>
            <a:spLocks noGrp="1" noRot="1" noChangeAspect="1" noChangeArrowheads="1" noTextEdit="1"/>
          </p:cNvSpPr>
          <p:nvPr>
            <p:ph type="sldImg"/>
          </p:nvPr>
        </p:nvSpPr>
        <p:spPr>
          <a:xfrm>
            <a:off x="406400" y="698500"/>
            <a:ext cx="6197600" cy="3486150"/>
          </a:xfrm>
          <a:ln/>
        </p:spPr>
      </p:sp>
      <p:sp>
        <p:nvSpPr>
          <p:cNvPr id="35844" name="Rectangle 3">
            <a:extLst>
              <a:ext uri="{FF2B5EF4-FFF2-40B4-BE49-F238E27FC236}">
                <a16:creationId xmlns:a16="http://schemas.microsoft.com/office/drawing/2014/main" id="{28810281-2545-7C42-937E-5FC97F2930B4}"/>
              </a:ext>
            </a:extLst>
          </p:cNvPr>
          <p:cNvSpPr>
            <a:spLocks noGrp="1" noChangeArrowheads="1"/>
          </p:cNvSpPr>
          <p:nvPr>
            <p:ph type="body" idx="1"/>
          </p:nvPr>
        </p:nvSpPr>
        <p:spPr>
          <a:xfrm>
            <a:off x="701675" y="4416425"/>
            <a:ext cx="5607050" cy="4181475"/>
          </a:xfrm>
          <a:noFill/>
        </p:spPr>
        <p:txBody>
          <a:bodyPr lIns="93172" tIns="46586" rIns="93172" bIns="46586"/>
          <a:lstStyle/>
          <a:p>
            <a:pPr eaLnBrk="1" hangingPunct="1"/>
            <a:r>
              <a:rPr lang="en-US" altLang="en-US">
                <a:solidFill>
                  <a:srgbClr val="FF0000"/>
                </a:solidFill>
                <a:latin typeface="Times New Roman" panose="02020603050405020304" pitchFamily="18" charset="0"/>
              </a:rPr>
              <a:t>Spread by sexual contact.  Not the same as head lice. Pubic lice do not live on the head and head lice do not live in the pubic area.</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a:extLst>
              <a:ext uri="{FF2B5EF4-FFF2-40B4-BE49-F238E27FC236}">
                <a16:creationId xmlns:a16="http://schemas.microsoft.com/office/drawing/2014/main" id="{23EC5340-FB3A-8244-B52B-4C4421CAEA8F}"/>
              </a:ext>
            </a:extLst>
          </p:cNvPr>
          <p:cNvSpPr>
            <a:spLocks noGrp="1" noRot="1" noChangeAspect="1" noTextEdit="1"/>
          </p:cNvSpPr>
          <p:nvPr>
            <p:ph type="sldImg"/>
          </p:nvPr>
        </p:nvSpPr>
        <p:spPr>
          <a:ln/>
        </p:spPr>
      </p:sp>
      <p:sp>
        <p:nvSpPr>
          <p:cNvPr id="41987" name="Notes Placeholder 2">
            <a:extLst>
              <a:ext uri="{FF2B5EF4-FFF2-40B4-BE49-F238E27FC236}">
                <a16:creationId xmlns:a16="http://schemas.microsoft.com/office/drawing/2014/main" id="{DA875E97-FB06-7E49-9879-0C9BCE8AE134}"/>
              </a:ext>
            </a:extLst>
          </p:cNvPr>
          <p:cNvSpPr>
            <a:spLocks noGrp="1"/>
          </p:cNvSpPr>
          <p:nvPr>
            <p:ph type="body" idx="1"/>
          </p:nvPr>
        </p:nvSpPr>
        <p:spPr>
          <a:noFill/>
        </p:spPr>
        <p:txBody>
          <a:bodyPr/>
          <a:lstStyle/>
          <a:p>
            <a:r>
              <a:rPr lang="en-CA" altLang="en-US">
                <a:latin typeface="Times New Roman" panose="02020603050405020304" pitchFamily="18" charset="0"/>
              </a:rPr>
              <a:t>Trichomoniasis ( trich-o-mo-ni-a-sis) or Trich</a:t>
            </a:r>
          </a:p>
          <a:p>
            <a:endParaRPr lang="en-CA" altLang="en-US">
              <a:latin typeface="Times New Roman" panose="02020603050405020304" pitchFamily="18" charset="0"/>
            </a:endParaRPr>
          </a:p>
        </p:txBody>
      </p:sp>
      <p:sp>
        <p:nvSpPr>
          <p:cNvPr id="41988" name="Slide Number Placeholder 3">
            <a:extLst>
              <a:ext uri="{FF2B5EF4-FFF2-40B4-BE49-F238E27FC236}">
                <a16:creationId xmlns:a16="http://schemas.microsoft.com/office/drawing/2014/main" id="{DBF56C9A-92E7-8348-86FE-3DC9BB6DC3ED}"/>
              </a:ext>
            </a:extLst>
          </p:cNvPr>
          <p:cNvSpPr>
            <a:spLocks noGrp="1"/>
          </p:cNvSpPr>
          <p:nvPr>
            <p:ph type="sldNum" sz="quarter" idx="5"/>
          </p:nvPr>
        </p:nvSpPr>
        <p:spPr>
          <a:noFill/>
        </p:spPr>
        <p:txBody>
          <a:bodyPr/>
          <a:lstStyle>
            <a:lvl1pPr defTabSz="881063">
              <a:spcBef>
                <a:spcPct val="30000"/>
              </a:spcBef>
              <a:defRPr sz="1200">
                <a:solidFill>
                  <a:schemeClr val="tx1"/>
                </a:solidFill>
                <a:latin typeface="Times New Roman" panose="02020603050405020304" pitchFamily="18" charset="0"/>
              </a:defRPr>
            </a:lvl1pPr>
            <a:lvl2pPr marL="742950" indent="-285750" defTabSz="881063">
              <a:spcBef>
                <a:spcPct val="30000"/>
              </a:spcBef>
              <a:defRPr sz="1200">
                <a:solidFill>
                  <a:schemeClr val="tx1"/>
                </a:solidFill>
                <a:latin typeface="Times New Roman" panose="02020603050405020304" pitchFamily="18" charset="0"/>
              </a:defRPr>
            </a:lvl2pPr>
            <a:lvl3pPr marL="1143000" indent="-228600" defTabSz="881063">
              <a:spcBef>
                <a:spcPct val="30000"/>
              </a:spcBef>
              <a:defRPr sz="1200">
                <a:solidFill>
                  <a:schemeClr val="tx1"/>
                </a:solidFill>
                <a:latin typeface="Times New Roman" panose="02020603050405020304" pitchFamily="18" charset="0"/>
              </a:defRPr>
            </a:lvl3pPr>
            <a:lvl4pPr marL="1600200" indent="-228600" defTabSz="881063">
              <a:spcBef>
                <a:spcPct val="30000"/>
              </a:spcBef>
              <a:defRPr sz="1200">
                <a:solidFill>
                  <a:schemeClr val="tx1"/>
                </a:solidFill>
                <a:latin typeface="Times New Roman" panose="02020603050405020304" pitchFamily="18" charset="0"/>
              </a:defRPr>
            </a:lvl4pPr>
            <a:lvl5pPr marL="2057400" indent="-228600" defTabSz="881063">
              <a:spcBef>
                <a:spcPct val="30000"/>
              </a:spcBef>
              <a:defRPr sz="1200">
                <a:solidFill>
                  <a:schemeClr val="tx1"/>
                </a:solidFill>
                <a:latin typeface="Times New Roman" panose="02020603050405020304" pitchFamily="18" charset="0"/>
              </a:defRPr>
            </a:lvl5pPr>
            <a:lvl6pPr marL="2514600" indent="-228600" defTabSz="8810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8810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8810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8810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54C216B-E6B3-1E47-A784-5C3C420749A5}" type="slidenum">
              <a:rPr lang="en-US" altLang="en-US"/>
              <a:pPr>
                <a:spcBef>
                  <a:spcPct val="0"/>
                </a:spcBef>
              </a:pPr>
              <a:t>91</a:t>
            </a:fld>
            <a:endParaRPr lang="en-US"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OPTIONAL ACTIVITY </a:t>
            </a:r>
          </a:p>
          <a:p>
            <a:r>
              <a:rPr lang="en-US" b="0" dirty="0"/>
              <a:t>7:09mins</a:t>
            </a:r>
          </a:p>
          <a:p>
            <a:endParaRPr lang="en-US" b="0" dirty="0"/>
          </a:p>
          <a:p>
            <a:r>
              <a:rPr lang="en-US" b="0" dirty="0"/>
              <a:t>https://</a:t>
            </a:r>
            <a:r>
              <a:rPr lang="en-US" b="0" dirty="0" err="1"/>
              <a:t>www.youtube.com</a:t>
            </a:r>
            <a:r>
              <a:rPr lang="en-US" b="0" dirty="0"/>
              <a:t>/</a:t>
            </a:r>
            <a:r>
              <a:rPr lang="en-US" b="0" dirty="0" err="1"/>
              <a:t>watch?v</a:t>
            </a:r>
            <a:r>
              <a:rPr lang="en-US" b="0" dirty="0"/>
              <a:t>=e6MNzZn4W0w</a:t>
            </a:r>
          </a:p>
        </p:txBody>
      </p:sp>
      <p:sp>
        <p:nvSpPr>
          <p:cNvPr id="4" name="Slide Number Placeholder 3"/>
          <p:cNvSpPr>
            <a:spLocks noGrp="1"/>
          </p:cNvSpPr>
          <p:nvPr>
            <p:ph type="sldNum" sz="quarter" idx="5"/>
          </p:nvPr>
        </p:nvSpPr>
        <p:spPr/>
        <p:txBody>
          <a:bodyPr/>
          <a:lstStyle/>
          <a:p>
            <a:fld id="{4D5F8A8C-F201-E64D-999A-A6161AAF2014}" type="slidenum">
              <a:rPr lang="en-US" smtClean="0"/>
              <a:t>92</a:t>
            </a:fld>
            <a:endParaRPr lang="en-US"/>
          </a:p>
        </p:txBody>
      </p:sp>
    </p:spTree>
    <p:extLst>
      <p:ext uri="{BB962C8B-B14F-4D97-AF65-F5344CB8AC3E}">
        <p14:creationId xmlns:p14="http://schemas.microsoft.com/office/powerpoint/2010/main" val="14961675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Included in their books (pg.18)</a:t>
            </a:r>
          </a:p>
        </p:txBody>
      </p:sp>
      <p:sp>
        <p:nvSpPr>
          <p:cNvPr id="4" name="Slide Number Placeholder 3"/>
          <p:cNvSpPr>
            <a:spLocks noGrp="1"/>
          </p:cNvSpPr>
          <p:nvPr>
            <p:ph type="sldNum" sz="quarter" idx="5"/>
          </p:nvPr>
        </p:nvSpPr>
        <p:spPr/>
        <p:txBody>
          <a:bodyPr/>
          <a:lstStyle/>
          <a:p>
            <a:fld id="{4D5F8A8C-F201-E64D-999A-A6161AAF2014}" type="slidenum">
              <a:rPr lang="en-US" smtClean="0"/>
              <a:t>93</a:t>
            </a:fld>
            <a:endParaRPr lang="en-US"/>
          </a:p>
        </p:txBody>
      </p:sp>
    </p:spTree>
    <p:extLst>
      <p:ext uri="{BB962C8B-B14F-4D97-AF65-F5344CB8AC3E}">
        <p14:creationId xmlns:p14="http://schemas.microsoft.com/office/powerpoint/2010/main" val="314868918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Resources = Response cards (available in Health Storeroom) and </a:t>
            </a:r>
            <a:r>
              <a:rPr lang="en-US" dirty="0" err="1"/>
              <a:t>blutack</a:t>
            </a:r>
            <a:r>
              <a:rPr lang="en-US" dirty="0"/>
              <a:t>.</a:t>
            </a:r>
          </a:p>
          <a:p>
            <a:endParaRPr lang="en-US" dirty="0"/>
          </a:p>
          <a:p>
            <a:r>
              <a:rPr lang="en-US" dirty="0"/>
              <a:t>Place STRONGLY AGREE, AGREE, NEUTRAL, DISAGREE, STRONGLY DISAGREE cards around the room.</a:t>
            </a:r>
          </a:p>
          <a:p>
            <a:r>
              <a:rPr lang="en-US" dirty="0"/>
              <a:t>Read the statement out to students. </a:t>
            </a:r>
          </a:p>
          <a:p>
            <a:r>
              <a:rPr lang="en-US" dirty="0"/>
              <a:t>Give them 20 seconds to move to the card that best describes their response to the statement. </a:t>
            </a:r>
          </a:p>
          <a:p>
            <a:r>
              <a:rPr lang="en-US" dirty="0"/>
              <a:t>Ask students why they feel the way they feel. </a:t>
            </a:r>
          </a:p>
          <a:p>
            <a:endParaRPr lang="en-US" dirty="0"/>
          </a:p>
          <a:p>
            <a:r>
              <a:rPr lang="en-US" dirty="0"/>
              <a:t>This activity allows students to consider their values when it comes to relationships and sexual relationships. </a:t>
            </a:r>
          </a:p>
          <a:p>
            <a:endParaRPr lang="en-US" dirty="0"/>
          </a:p>
          <a:p>
            <a:r>
              <a:rPr lang="en-US" dirty="0"/>
              <a:t>You can use the statements on the following slides OR read them out from a piece of paper. </a:t>
            </a:r>
          </a:p>
        </p:txBody>
      </p:sp>
      <p:sp>
        <p:nvSpPr>
          <p:cNvPr id="4" name="Slide Number Placeholder 3"/>
          <p:cNvSpPr>
            <a:spLocks noGrp="1"/>
          </p:cNvSpPr>
          <p:nvPr>
            <p:ph type="sldNum" sz="quarter" idx="5"/>
          </p:nvPr>
        </p:nvSpPr>
        <p:spPr/>
        <p:txBody>
          <a:bodyPr/>
          <a:lstStyle/>
          <a:p>
            <a:fld id="{4D5F8A8C-F201-E64D-999A-A6161AAF2014}" type="slidenum">
              <a:rPr lang="en-US" smtClean="0"/>
              <a:t>97</a:t>
            </a:fld>
            <a:endParaRPr lang="en-US"/>
          </a:p>
        </p:txBody>
      </p:sp>
    </p:spTree>
    <p:extLst>
      <p:ext uri="{BB962C8B-B14F-4D97-AF65-F5344CB8AC3E}">
        <p14:creationId xmlns:p14="http://schemas.microsoft.com/office/powerpoint/2010/main" val="6613093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out the statement. Allow students 20 seconds to move to the appropriate card that describes their response. Encourage students to discuss and share their answers. </a:t>
            </a:r>
          </a:p>
          <a:p>
            <a:endParaRPr lang="en-US" dirty="0"/>
          </a:p>
        </p:txBody>
      </p:sp>
      <p:sp>
        <p:nvSpPr>
          <p:cNvPr id="4" name="Slide Number Placeholder 3"/>
          <p:cNvSpPr>
            <a:spLocks noGrp="1"/>
          </p:cNvSpPr>
          <p:nvPr>
            <p:ph type="sldNum" sz="quarter" idx="5"/>
          </p:nvPr>
        </p:nvSpPr>
        <p:spPr/>
        <p:txBody>
          <a:bodyPr/>
          <a:lstStyle/>
          <a:p>
            <a:fld id="{4D5F8A8C-F201-E64D-999A-A6161AAF2014}" type="slidenum">
              <a:rPr lang="en-US" smtClean="0"/>
              <a:t>98</a:t>
            </a:fld>
            <a:endParaRPr lang="en-US"/>
          </a:p>
        </p:txBody>
      </p:sp>
    </p:spTree>
    <p:extLst>
      <p:ext uri="{BB962C8B-B14F-4D97-AF65-F5344CB8AC3E}">
        <p14:creationId xmlns:p14="http://schemas.microsoft.com/office/powerpoint/2010/main" val="55384794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is included in their books with space to complete the headings under neath each tip.</a:t>
            </a:r>
          </a:p>
        </p:txBody>
      </p:sp>
      <p:sp>
        <p:nvSpPr>
          <p:cNvPr id="4" name="Slide Number Placeholder 3"/>
          <p:cNvSpPr>
            <a:spLocks noGrp="1"/>
          </p:cNvSpPr>
          <p:nvPr>
            <p:ph type="sldNum" sz="quarter" idx="5"/>
          </p:nvPr>
        </p:nvSpPr>
        <p:spPr/>
        <p:txBody>
          <a:bodyPr/>
          <a:lstStyle/>
          <a:p>
            <a:fld id="{4D5F8A8C-F201-E64D-999A-A6161AAF2014}" type="slidenum">
              <a:rPr lang="en-US" smtClean="0"/>
              <a:t>99</a:t>
            </a:fld>
            <a:endParaRPr lang="en-US"/>
          </a:p>
        </p:txBody>
      </p:sp>
    </p:spTree>
    <p:extLst>
      <p:ext uri="{BB962C8B-B14F-4D97-AF65-F5344CB8AC3E}">
        <p14:creationId xmlns:p14="http://schemas.microsoft.com/office/powerpoint/2010/main" val="351109485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add these to their books. </a:t>
            </a:r>
          </a:p>
        </p:txBody>
      </p:sp>
      <p:sp>
        <p:nvSpPr>
          <p:cNvPr id="4" name="Slide Number Placeholder 3"/>
          <p:cNvSpPr>
            <a:spLocks noGrp="1"/>
          </p:cNvSpPr>
          <p:nvPr>
            <p:ph type="sldNum" sz="quarter" idx="5"/>
          </p:nvPr>
        </p:nvSpPr>
        <p:spPr/>
        <p:txBody>
          <a:bodyPr/>
          <a:lstStyle/>
          <a:p>
            <a:fld id="{4D5F8A8C-F201-E64D-999A-A6161AAF2014}" type="slidenum">
              <a:rPr lang="en-US" smtClean="0"/>
              <a:t>103</a:t>
            </a:fld>
            <a:endParaRPr lang="en-US"/>
          </a:p>
        </p:txBody>
      </p:sp>
    </p:spTree>
    <p:extLst>
      <p:ext uri="{BB962C8B-B14F-4D97-AF65-F5344CB8AC3E}">
        <p14:creationId xmlns:p14="http://schemas.microsoft.com/office/powerpoint/2010/main" val="177093255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what trends they can </a:t>
            </a:r>
            <a:r>
              <a:rPr lang="en-US" dirty="0" err="1"/>
              <a:t>idenifty</a:t>
            </a:r>
            <a:r>
              <a:rPr lang="en-US" dirty="0"/>
              <a:t> from the graph about STI rates from 1996-2017. </a:t>
            </a:r>
          </a:p>
        </p:txBody>
      </p:sp>
      <p:sp>
        <p:nvSpPr>
          <p:cNvPr id="4" name="Slide Number Placeholder 3"/>
          <p:cNvSpPr>
            <a:spLocks noGrp="1"/>
          </p:cNvSpPr>
          <p:nvPr>
            <p:ph type="sldNum" sz="quarter" idx="5"/>
          </p:nvPr>
        </p:nvSpPr>
        <p:spPr/>
        <p:txBody>
          <a:bodyPr/>
          <a:lstStyle/>
          <a:p>
            <a:fld id="{4D5F8A8C-F201-E64D-999A-A6161AAF2014}" type="slidenum">
              <a:rPr lang="en-US" smtClean="0"/>
              <a:t>104</a:t>
            </a:fld>
            <a:endParaRPr lang="en-US"/>
          </a:p>
        </p:txBody>
      </p:sp>
    </p:spTree>
    <p:extLst>
      <p:ext uri="{BB962C8B-B14F-4D97-AF65-F5344CB8AC3E}">
        <p14:creationId xmlns:p14="http://schemas.microsoft.com/office/powerpoint/2010/main" val="219611847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www.kirby.unsw.edu.au</a:t>
            </a:r>
            <a:r>
              <a:rPr lang="en-US" dirty="0"/>
              <a:t>/news/sexually-transmissible-infections-are-rise-australia-syphilis-rates-tripling-over-decade#:~:text=Early%20testing%2C%20diagnosis%2C%20and%20treatment,6%2C036%20diagnoses%20of%20infectious%20syphilis.</a:t>
            </a:r>
          </a:p>
          <a:p>
            <a:endParaRPr lang="en-US" dirty="0"/>
          </a:p>
          <a:p>
            <a:endParaRPr lang="en-US" dirty="0"/>
          </a:p>
        </p:txBody>
      </p:sp>
      <p:sp>
        <p:nvSpPr>
          <p:cNvPr id="4" name="Slide Number Placeholder 3"/>
          <p:cNvSpPr>
            <a:spLocks noGrp="1"/>
          </p:cNvSpPr>
          <p:nvPr>
            <p:ph type="sldNum" sz="quarter" idx="5"/>
          </p:nvPr>
        </p:nvSpPr>
        <p:spPr/>
        <p:txBody>
          <a:bodyPr/>
          <a:lstStyle/>
          <a:p>
            <a:fld id="{4D5F8A8C-F201-E64D-999A-A6161AAF2014}" type="slidenum">
              <a:rPr lang="en-US" smtClean="0"/>
              <a:t>105</a:t>
            </a:fld>
            <a:endParaRPr lang="en-US"/>
          </a:p>
        </p:txBody>
      </p:sp>
    </p:spTree>
    <p:extLst>
      <p:ext uri="{BB962C8B-B14F-4D97-AF65-F5344CB8AC3E}">
        <p14:creationId xmlns:p14="http://schemas.microsoft.com/office/powerpoint/2010/main" val="362412875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contribute their answers. </a:t>
            </a:r>
          </a:p>
          <a:p>
            <a:endParaRPr lang="en-US" dirty="0"/>
          </a:p>
          <a:p>
            <a:r>
              <a:rPr lang="en-US" dirty="0"/>
              <a:t>Think about this when creating their own presentation and make it as engaging and entertaining as possible. </a:t>
            </a:r>
          </a:p>
        </p:txBody>
      </p:sp>
      <p:sp>
        <p:nvSpPr>
          <p:cNvPr id="4" name="Slide Number Placeholder 3"/>
          <p:cNvSpPr>
            <a:spLocks noGrp="1"/>
          </p:cNvSpPr>
          <p:nvPr>
            <p:ph type="sldNum" sz="quarter" idx="5"/>
          </p:nvPr>
        </p:nvSpPr>
        <p:spPr/>
        <p:txBody>
          <a:bodyPr/>
          <a:lstStyle/>
          <a:p>
            <a:fld id="{4D5F8A8C-F201-E64D-999A-A6161AAF2014}" type="slidenum">
              <a:rPr lang="en-US" smtClean="0"/>
              <a:t>107</a:t>
            </a:fld>
            <a:endParaRPr lang="en-US"/>
          </a:p>
        </p:txBody>
      </p:sp>
    </p:spTree>
    <p:extLst>
      <p:ext uri="{BB962C8B-B14F-4D97-AF65-F5344CB8AC3E}">
        <p14:creationId xmlns:p14="http://schemas.microsoft.com/office/powerpoint/2010/main" val="97988174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Allocate one group to a different STI. </a:t>
            </a:r>
          </a:p>
          <a:p>
            <a:endParaRPr lang="en-US" dirty="0"/>
          </a:p>
          <a:p>
            <a:r>
              <a:rPr lang="en-US" dirty="0"/>
              <a:t>When students are presenting their assignments, the audience will need to complete a table about each different STI that is presented. By the end of the presentations, students will have collated information on all the different STI’s into their workbooks. </a:t>
            </a:r>
          </a:p>
        </p:txBody>
      </p:sp>
      <p:sp>
        <p:nvSpPr>
          <p:cNvPr id="4" name="Slide Number Placeholder 3"/>
          <p:cNvSpPr>
            <a:spLocks noGrp="1"/>
          </p:cNvSpPr>
          <p:nvPr>
            <p:ph type="sldNum" sz="quarter" idx="5"/>
          </p:nvPr>
        </p:nvSpPr>
        <p:spPr/>
        <p:txBody>
          <a:bodyPr/>
          <a:lstStyle/>
          <a:p>
            <a:fld id="{4D5F8A8C-F201-E64D-999A-A6161AAF2014}" type="slidenum">
              <a:rPr lang="en-US" smtClean="0"/>
              <a:t>109</a:t>
            </a:fld>
            <a:endParaRPr lang="en-US"/>
          </a:p>
        </p:txBody>
      </p:sp>
    </p:spTree>
    <p:extLst>
      <p:ext uri="{BB962C8B-B14F-4D97-AF65-F5344CB8AC3E}">
        <p14:creationId xmlns:p14="http://schemas.microsoft.com/office/powerpoint/2010/main" val="65855723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When students are presenting their assignments, the audience will need to complete a table about each different STI that is presented. By the end of the presentations, students will have collated information on all the different STI’s into their workbooks. </a:t>
            </a:r>
          </a:p>
          <a:p>
            <a:endParaRPr lang="en-US" dirty="0"/>
          </a:p>
        </p:txBody>
      </p:sp>
      <p:sp>
        <p:nvSpPr>
          <p:cNvPr id="4" name="Slide Number Placeholder 3"/>
          <p:cNvSpPr>
            <a:spLocks noGrp="1"/>
          </p:cNvSpPr>
          <p:nvPr>
            <p:ph type="sldNum" sz="quarter" idx="5"/>
          </p:nvPr>
        </p:nvSpPr>
        <p:spPr/>
        <p:txBody>
          <a:bodyPr/>
          <a:lstStyle/>
          <a:p>
            <a:fld id="{4D5F8A8C-F201-E64D-999A-A6161AAF2014}" type="slidenum">
              <a:rPr lang="en-US" smtClean="0"/>
              <a:t>114</a:t>
            </a:fld>
            <a:endParaRPr lang="en-US"/>
          </a:p>
        </p:txBody>
      </p:sp>
    </p:spTree>
    <p:extLst>
      <p:ext uri="{BB962C8B-B14F-4D97-AF65-F5344CB8AC3E}">
        <p14:creationId xmlns:p14="http://schemas.microsoft.com/office/powerpoint/2010/main" val="33324214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When students are presenting their assignments, the audience will need to complete a table about each different STI that is presented. By the end of the presentations, students will have collated information on all the different STI’s into their workbooks. </a:t>
            </a:r>
          </a:p>
          <a:p>
            <a:endParaRPr lang="en-US" dirty="0"/>
          </a:p>
        </p:txBody>
      </p:sp>
      <p:sp>
        <p:nvSpPr>
          <p:cNvPr id="4" name="Slide Number Placeholder 3"/>
          <p:cNvSpPr>
            <a:spLocks noGrp="1"/>
          </p:cNvSpPr>
          <p:nvPr>
            <p:ph type="sldNum" sz="quarter" idx="5"/>
          </p:nvPr>
        </p:nvSpPr>
        <p:spPr/>
        <p:txBody>
          <a:bodyPr/>
          <a:lstStyle/>
          <a:p>
            <a:fld id="{4D5F8A8C-F201-E64D-999A-A6161AAF2014}" type="slidenum">
              <a:rPr lang="en-US" smtClean="0"/>
              <a:t>117</a:t>
            </a:fld>
            <a:endParaRPr lang="en-US"/>
          </a:p>
        </p:txBody>
      </p:sp>
    </p:spTree>
    <p:extLst>
      <p:ext uri="{BB962C8B-B14F-4D97-AF65-F5344CB8AC3E}">
        <p14:creationId xmlns:p14="http://schemas.microsoft.com/office/powerpoint/2010/main" val="384368820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When students are presenting their assignments, the audience will need to complete a table about each different STI that is presented. By the end of the presentations, students will have collated information on all the different STI’s into their workbooks. </a:t>
            </a:r>
          </a:p>
          <a:p>
            <a:endParaRPr lang="en-US" dirty="0"/>
          </a:p>
        </p:txBody>
      </p:sp>
      <p:sp>
        <p:nvSpPr>
          <p:cNvPr id="4" name="Slide Number Placeholder 3"/>
          <p:cNvSpPr>
            <a:spLocks noGrp="1"/>
          </p:cNvSpPr>
          <p:nvPr>
            <p:ph type="sldNum" sz="quarter" idx="5"/>
          </p:nvPr>
        </p:nvSpPr>
        <p:spPr/>
        <p:txBody>
          <a:bodyPr/>
          <a:lstStyle/>
          <a:p>
            <a:fld id="{4D5F8A8C-F201-E64D-999A-A6161AAF2014}" type="slidenum">
              <a:rPr lang="en-US" smtClean="0"/>
              <a:t>120</a:t>
            </a:fld>
            <a:endParaRPr lang="en-US"/>
          </a:p>
        </p:txBody>
      </p:sp>
    </p:spTree>
    <p:extLst>
      <p:ext uri="{BB962C8B-B14F-4D97-AF65-F5344CB8AC3E}">
        <p14:creationId xmlns:p14="http://schemas.microsoft.com/office/powerpoint/2010/main" val="426776197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OPTIONAL ACTIVITY IF ALL PRESENTATIONS ARE COMPLETED.</a:t>
            </a:r>
          </a:p>
          <a:p>
            <a:endParaRPr lang="en-US" b="1" dirty="0"/>
          </a:p>
          <a:p>
            <a:r>
              <a:rPr lang="en-US" b="1" dirty="0"/>
              <a:t>ALTERNATIVE</a:t>
            </a:r>
          </a:p>
          <a:p>
            <a:r>
              <a:rPr lang="en-US" b="0" dirty="0"/>
              <a:t>Allow students approx. 10-15mins for students to research 4 resources of their choice (skip the sharing/group work).</a:t>
            </a:r>
          </a:p>
        </p:txBody>
      </p:sp>
      <p:sp>
        <p:nvSpPr>
          <p:cNvPr id="4" name="Slide Number Placeholder 3"/>
          <p:cNvSpPr>
            <a:spLocks noGrp="1"/>
          </p:cNvSpPr>
          <p:nvPr>
            <p:ph type="sldNum" sz="quarter" idx="5"/>
          </p:nvPr>
        </p:nvSpPr>
        <p:spPr/>
        <p:txBody>
          <a:bodyPr/>
          <a:lstStyle/>
          <a:p>
            <a:fld id="{4D5F8A8C-F201-E64D-999A-A6161AAF2014}" type="slidenum">
              <a:rPr lang="en-US" smtClean="0"/>
              <a:t>121</a:t>
            </a:fld>
            <a:endParaRPr lang="en-US"/>
          </a:p>
        </p:txBody>
      </p:sp>
    </p:spTree>
    <p:extLst>
      <p:ext uri="{BB962C8B-B14F-4D97-AF65-F5344CB8AC3E}">
        <p14:creationId xmlns:p14="http://schemas.microsoft.com/office/powerpoint/2010/main" val="191343303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these links are included in their books. </a:t>
            </a:r>
          </a:p>
        </p:txBody>
      </p:sp>
      <p:sp>
        <p:nvSpPr>
          <p:cNvPr id="4" name="Slide Number Placeholder 3"/>
          <p:cNvSpPr>
            <a:spLocks noGrp="1"/>
          </p:cNvSpPr>
          <p:nvPr>
            <p:ph type="sldNum" sz="quarter" idx="5"/>
          </p:nvPr>
        </p:nvSpPr>
        <p:spPr/>
        <p:txBody>
          <a:bodyPr/>
          <a:lstStyle/>
          <a:p>
            <a:fld id="{4D5F8A8C-F201-E64D-999A-A6161AAF2014}" type="slidenum">
              <a:rPr lang="en-US" smtClean="0"/>
              <a:t>122</a:t>
            </a:fld>
            <a:endParaRPr lang="en-US"/>
          </a:p>
        </p:txBody>
      </p:sp>
    </p:spTree>
    <p:extLst>
      <p:ext uri="{BB962C8B-B14F-4D97-AF65-F5344CB8AC3E}">
        <p14:creationId xmlns:p14="http://schemas.microsoft.com/office/powerpoint/2010/main" val="105508213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5F8A8C-F201-E64D-999A-A6161AAF2014}" type="slidenum">
              <a:rPr lang="en-US" smtClean="0"/>
              <a:t>123</a:t>
            </a:fld>
            <a:endParaRPr lang="en-US"/>
          </a:p>
        </p:txBody>
      </p:sp>
    </p:spTree>
    <p:extLst>
      <p:ext uri="{BB962C8B-B14F-4D97-AF65-F5344CB8AC3E}">
        <p14:creationId xmlns:p14="http://schemas.microsoft.com/office/powerpoint/2010/main" val="1991321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72345051-2045-45DA-935E-2E3CA1A69ADC}" type="datetimeFigureOut">
              <a:rPr lang="en-US" smtClean="0"/>
              <a:t>3/4/24</a:t>
            </a:fld>
            <a:endParaRPr lang="en-US" dirty="0"/>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639378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72345051-2045-45DA-935E-2E3CA1A69ADC}" type="datetimeFigureOut">
              <a:rPr lang="en-US" smtClean="0"/>
              <a:t>3/4/24</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368133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72345051-2045-45DA-935E-2E3CA1A69ADC}" type="datetimeFigureOut">
              <a:rPr lang="en-US" smtClean="0"/>
              <a:t>3/4/24</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804494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1929384"/>
            <a:ext cx="5181600" cy="4251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72345051-2045-45DA-935E-2E3CA1A69ADC}" type="datetimeFigureOut">
              <a:rPr lang="en-US" smtClean="0"/>
              <a:t>3/4/24</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946216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2926080"/>
            <a:ext cx="5157787" cy="32644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72345051-2045-45DA-935E-2E3CA1A69ADC}" type="datetimeFigureOut">
              <a:rPr lang="en-US" smtClean="0"/>
              <a:t>3/4/24</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279193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72345051-2045-45DA-935E-2E3CA1A69ADC}" type="datetimeFigureOut">
              <a:rPr lang="en-US" smtClean="0"/>
              <a:t>3/4/24</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3974206" y="5126892"/>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657560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72345051-2045-45DA-935E-2E3CA1A69ADC}" type="datetimeFigureOut">
              <a:rPr lang="en-US" smtClean="0"/>
              <a:t>3/4/24</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4071595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72345051-2045-45DA-935E-2E3CA1A69ADC}" type="datetimeFigureOut">
              <a:rPr lang="en-US" smtClean="0"/>
              <a:t>3/4/24</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07126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72345051-2045-45DA-935E-2E3CA1A69ADC}" type="datetimeFigureOut">
              <a:rPr lang="en-US" smtClean="0"/>
              <a:t>3/4/24</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208173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72345051-2045-45DA-935E-2E3CA1A69ADC}" type="datetimeFigureOut">
              <a:rPr lang="en-US" smtClean="0"/>
              <a:t>3/4/24</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814447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72345051-2045-45DA-935E-2E3CA1A69ADC}" type="datetimeFigureOut">
              <a:rPr lang="en-US" smtClean="0"/>
              <a:t>3/4/24</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726710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2345051-2045-45DA-935E-2E3CA1A69ADC}" type="datetimeFigureOut">
              <a:rPr lang="en-US" smtClean="0"/>
              <a:t>3/4/24</a:t>
            </a:fld>
            <a:endParaRPr lang="en-US" dirty="0"/>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t>‹#›</a:t>
            </a:fld>
            <a:endParaRPr lang="en-US" dirty="0"/>
          </a:p>
        </p:txBody>
      </p:sp>
    </p:spTree>
    <p:extLst>
      <p:ext uri="{BB962C8B-B14F-4D97-AF65-F5344CB8AC3E}">
        <p14:creationId xmlns:p14="http://schemas.microsoft.com/office/powerpoint/2010/main" val="1723933155"/>
      </p:ext>
    </p:extLst>
  </p:cSld>
  <p:clrMap bg1="lt1" tx1="dk1" bg2="lt2" tx2="dk2" accent1="accent1" accent2="accent2" accent3="accent3" accent4="accent4" accent5="accent5" accent6="accent6" hlink="hlink" folHlink="folHlink"/>
  <p:sldLayoutIdLst>
    <p:sldLayoutId id="2147484095" r:id="rId1"/>
    <p:sldLayoutId id="2147484096" r:id="rId2"/>
    <p:sldLayoutId id="2147484097" r:id="rId3"/>
    <p:sldLayoutId id="2147484098" r:id="rId4"/>
    <p:sldLayoutId id="2147484099" r:id="rId5"/>
    <p:sldLayoutId id="2147484105" r:id="rId6"/>
    <p:sldLayoutId id="2147484100" r:id="rId7"/>
    <p:sldLayoutId id="2147484101" r:id="rId8"/>
    <p:sldLayoutId id="2147484102" r:id="rId9"/>
    <p:sldLayoutId id="2147484104" r:id="rId10"/>
    <p:sldLayoutId id="2147484103" r:id="rId11"/>
  </p:sldLayoutIdLst>
  <p:txStyles>
    <p:titleStyle>
      <a:lvl1pPr algn="l" defTabSz="914400" rtl="0" eaLnBrk="1" latinLnBrk="0" hangingPunct="1">
        <a:lnSpc>
          <a:spcPct val="100000"/>
        </a:lnSpc>
        <a:spcBef>
          <a:spcPct val="0"/>
        </a:spcBef>
        <a:buNone/>
        <a:defRPr sz="5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ideo" Target="https://www.youtube.com/embed/kMY-v0F6bX0?feature=oembed" TargetMode="External"/><Relationship Id="rId4" Type="http://schemas.openxmlformats.org/officeDocument/2006/relationships/image" Target="../media/image13.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2.wdp"/></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ideo" Target="https://www.youtube.com/embed/biZEstQVD24?feature=oembed" TargetMode="External"/><Relationship Id="rId4" Type="http://schemas.openxmlformats.org/officeDocument/2006/relationships/image" Target="../media/image17.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customXml" Target="../ink/ink4.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2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video" Target="https://www.youtube.com/embed/hNcDm37yj5Q?feature=oembed" TargetMode="External"/><Relationship Id="rId4" Type="http://schemas.openxmlformats.org/officeDocument/2006/relationships/image" Target="../media/image26.jpeg"/></Relationships>
</file>

<file path=ppt/slides/_rels/slide3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9.jpeg"/><Relationship Id="rId5" Type="http://schemas.openxmlformats.org/officeDocument/2006/relationships/hyperlink" Target="https://www.google.com/url?sa=i&amp;url=https%3A%2F%2Fflo.health%2Fmenstrual-cycle%2Fsex%2Fbirth-control%2Fnon-hormonal-birth-control&amp;psig=AOvVaw0eDPKP67r6BBGj2r9QpShi&amp;ust=1709276093185000&amp;source=images&amp;cd=vfe&amp;opi=89978449&amp;ved=0CBMQjRxqFwoTCMjS0OT7z4QDFQAAAAAdAAAAABA9" TargetMode="External"/><Relationship Id="rId4" Type="http://schemas.openxmlformats.org/officeDocument/2006/relationships/image" Target="../media/image28.jpeg"/></Relationships>
</file>

<file path=ppt/slides/_rels/slide3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35.jpeg"/><Relationship Id="rId3" Type="http://schemas.openxmlformats.org/officeDocument/2006/relationships/image" Target="../media/image26.png"/><Relationship Id="rId7" Type="http://schemas.openxmlformats.org/officeDocument/2006/relationships/image" Target="../media/image34.png"/><Relationship Id="rId2" Type="http://schemas.openxmlformats.org/officeDocument/2006/relationships/customXml" Target="../ink/ink5.xml"/><Relationship Id="rId1" Type="http://schemas.openxmlformats.org/officeDocument/2006/relationships/slideLayout" Target="../slideLayouts/slideLayout2.xml"/><Relationship Id="rId6" Type="http://schemas.openxmlformats.org/officeDocument/2006/relationships/image" Target="../media/image33.jpeg"/><Relationship Id="rId5" Type="http://schemas.openxmlformats.org/officeDocument/2006/relationships/image" Target="../media/image32.jpeg"/><Relationship Id="rId4" Type="http://schemas.openxmlformats.org/officeDocument/2006/relationships/image" Target="../media/image31.jpeg"/><Relationship Id="rId9" Type="http://schemas.openxmlformats.org/officeDocument/2006/relationships/image" Target="../media/image36.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7.xml"/><Relationship Id="rId4" Type="http://schemas.openxmlformats.org/officeDocument/2006/relationships/image" Target="../media/image31.jpeg"/></Relationships>
</file>

<file path=ppt/slides/_rels/slide3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6.xml"/><Relationship Id="rId1" Type="http://schemas.openxmlformats.org/officeDocument/2006/relationships/slideLayout" Target="../slideLayouts/slideLayout2.xml"/><Relationship Id="rId4" Type="http://schemas.openxmlformats.org/officeDocument/2006/relationships/image" Target="../media/image42.jpeg"/></Relationships>
</file>

<file path=ppt/slides/_rels/slide45.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customXml" Target="../ink/ink7.xml"/><Relationship Id="rId7" Type="http://schemas.openxmlformats.org/officeDocument/2006/relationships/image" Target="../media/image50.jpe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9.jpeg"/><Relationship Id="rId5" Type="http://schemas.openxmlformats.org/officeDocument/2006/relationships/image" Target="../media/image48.jpeg"/><Relationship Id="rId4" Type="http://schemas.openxmlformats.org/officeDocument/2006/relationships/image" Target="../media/image26.png"/></Relationships>
</file>

<file path=ppt/slides/_rels/slide52.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9.jpeg"/></Relationships>
</file>

<file path=ppt/slides/_rels/slide53.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8.xml"/><Relationship Id="rId1" Type="http://schemas.openxmlformats.org/officeDocument/2006/relationships/slideLayout" Target="../slideLayouts/slideLayout2.xml"/><Relationship Id="rId5" Type="http://schemas.openxmlformats.org/officeDocument/2006/relationships/image" Target="../media/image52.jpeg"/><Relationship Id="rId4" Type="http://schemas.openxmlformats.org/officeDocument/2006/relationships/image" Target="../media/image51.jpeg"/></Relationships>
</file>

<file path=ppt/slides/_rels/slide55.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2.wdp"/></Relationships>
</file>

<file path=ppt/slides/_rels/slide6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2.wdp"/></Relationships>
</file>

<file path=ppt/slides/_rels/slide6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hyperlink" Target="https://create.kahoot.it/share/duplicate-of-sti-s/c27f6ea9-2b50-418b-812a-25b134679b46" TargetMode="External"/></Relationships>
</file>

<file path=ppt/slides/_rels/slide6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video" Target="https://www.youtube.com/embed/oRYnN33nIaI?feature=oembed" TargetMode="External"/><Relationship Id="rId4" Type="http://schemas.openxmlformats.org/officeDocument/2006/relationships/image" Target="../media/image70.jpeg"/></Relationships>
</file>

<file path=ppt/slides/_rels/slide71.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71.png"/></Relationships>
</file>

<file path=ppt/slides/_rels/slide7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4.svg"/><Relationship Id="rId2" Type="http://schemas.openxmlformats.org/officeDocument/2006/relationships/image" Target="../media/image73.png"/><Relationship Id="rId1" Type="http://schemas.openxmlformats.org/officeDocument/2006/relationships/slideLayout" Target="../slideLayouts/slideLayout4.xml"/><Relationship Id="rId5" Type="http://schemas.openxmlformats.org/officeDocument/2006/relationships/image" Target="../media/image76.svg"/><Relationship Id="rId4" Type="http://schemas.openxmlformats.org/officeDocument/2006/relationships/image" Target="../media/image7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82.png"/><Relationship Id="rId4" Type="http://schemas.openxmlformats.org/officeDocument/2006/relationships/image" Target="../media/image81.png"/></Relationships>
</file>

<file path=ppt/slides/_rels/slide8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5.jpeg"/><Relationship Id="rId7" Type="http://schemas.openxmlformats.org/officeDocument/2006/relationships/image" Target="../media/image89.png"/><Relationship Id="rId2" Type="http://schemas.openxmlformats.org/officeDocument/2006/relationships/notesSlide" Target="../notesSlides/notesSlide46.xml"/><Relationship Id="rId1" Type="http://schemas.openxmlformats.org/officeDocument/2006/relationships/slideLayout" Target="../slideLayouts/slideLayout7.xml"/><Relationship Id="rId6" Type="http://schemas.openxmlformats.org/officeDocument/2006/relationships/image" Target="../media/image88.png"/><Relationship Id="rId11" Type="http://schemas.openxmlformats.org/officeDocument/2006/relationships/image" Target="../media/image93.png"/><Relationship Id="rId5" Type="http://schemas.openxmlformats.org/officeDocument/2006/relationships/image" Target="../media/image87.png"/><Relationship Id="rId10" Type="http://schemas.openxmlformats.org/officeDocument/2006/relationships/image" Target="../media/image92.png"/><Relationship Id="rId4" Type="http://schemas.openxmlformats.org/officeDocument/2006/relationships/image" Target="../media/image86.jpeg"/><Relationship Id="rId9" Type="http://schemas.openxmlformats.org/officeDocument/2006/relationships/image" Target="../media/image91.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3" Type="http://schemas.openxmlformats.org/officeDocument/2006/relationships/image" Target="../media/image94.jpeg"/><Relationship Id="rId7" Type="http://schemas.openxmlformats.org/officeDocument/2006/relationships/image" Target="\D\Sandy%20Duncan\#00019.jpg" TargetMode="External"/><Relationship Id="rId2" Type="http://schemas.openxmlformats.org/officeDocument/2006/relationships/hyperlink" Target="https://www.google.com/url?sa=i&amp;url=https%3A%2F%2Fwww.verywellhealth.com%2Fmy-partners-cold-sores-gave-me-genital-herpes-3132954&amp;psig=AOvVaw0bzJt2clN2XsXp5OeaA6XQ&amp;ust=1709534524557000&amp;source=images&amp;cd=vfe&amp;opi=89978449&amp;ved=0CBMQjRxqFwoTCLChosK-14QDFQAAAAAdAAAAABAc" TargetMode="External"/><Relationship Id="rId1" Type="http://schemas.openxmlformats.org/officeDocument/2006/relationships/slideLayout" Target="../slideLayouts/slideLayout7.xml"/><Relationship Id="rId6" Type="http://schemas.openxmlformats.org/officeDocument/2006/relationships/image" Target="../media/image97.jpeg"/><Relationship Id="rId5" Type="http://schemas.openxmlformats.org/officeDocument/2006/relationships/image" Target="../media/image96.jpeg"/><Relationship Id="rId4" Type="http://schemas.openxmlformats.org/officeDocument/2006/relationships/image" Target="../media/image95.jpe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8" Type="http://schemas.openxmlformats.org/officeDocument/2006/relationships/image" Target="\D\Sandy%20Duncan\#00011.jpg" TargetMode="External"/><Relationship Id="rId3" Type="http://schemas.openxmlformats.org/officeDocument/2006/relationships/image" Target="../media/image98.jpeg"/><Relationship Id="rId7" Type="http://schemas.openxmlformats.org/officeDocument/2006/relationships/image" Target="../media/image100.jpe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D\Sandy%20Duncan\#00012.jpg" TargetMode="External"/><Relationship Id="rId5" Type="http://schemas.openxmlformats.org/officeDocument/2006/relationships/image" Target="../media/image99.jpeg"/><Relationship Id="rId4" Type="http://schemas.openxmlformats.org/officeDocument/2006/relationships/image" Target="\D\Sandy%20Duncan\#00014.jpg" TargetMode="External"/></Relationships>
</file>

<file path=ppt/slides/_rels/slide87.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104.png"/><Relationship Id="rId4" Type="http://schemas.openxmlformats.org/officeDocument/2006/relationships/image" Target="../media/image103.png"/></Relationships>
</file>

<file path=ppt/slides/_rels/slide90.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image" Target="../media/image105.png"/><Relationship Id="rId1" Type="http://schemas.openxmlformats.org/officeDocument/2006/relationships/slideLayout" Target="../slideLayouts/slideLayout2.xml"/><Relationship Id="rId4" Type="http://schemas.openxmlformats.org/officeDocument/2006/relationships/image" Target="../media/image107.jpeg"/></Relationships>
</file>

<file path=ppt/slides/_rels/slide91.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110.jpeg"/><Relationship Id="rId4" Type="http://schemas.openxmlformats.org/officeDocument/2006/relationships/image" Target="../media/image109.png"/></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video" Target="https://www.youtube.com/embed/e6MNzZn4W0w?feature=oembed" TargetMode="External"/><Relationship Id="rId6" Type="http://schemas.openxmlformats.org/officeDocument/2006/relationships/image" Target="../media/image111.jpeg"/><Relationship Id="rId5" Type="http://schemas.openxmlformats.org/officeDocument/2006/relationships/image" Target="../media/image71.png"/><Relationship Id="rId4" Type="http://schemas.openxmlformats.org/officeDocument/2006/relationships/customXml" Target="../ink/ink10.xml"/></Relationships>
</file>

<file path=ppt/slides/_rels/slide93.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2.wdp"/></Relationships>
</file>

<file path=ppt/slides/_rels/slide9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20.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21.gif"/><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hyperlink" Target="https://www.healthdirect.gov.au/sexually-transmitted-infections-sti" TargetMode="External"/><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hyperlink" Target="https://www.aihw.gov.au/reports/men-women/male-health/contents/how-healthy/sexual-health" TargetMode="External"/><Relationship Id="rId5" Type="http://schemas.openxmlformats.org/officeDocument/2006/relationships/hyperlink" Target="https://www.aihw.gov.au/reports/men-women/female-health/contents/how-healthy/sexual-health" TargetMode="External"/><Relationship Id="rId4" Type="http://schemas.openxmlformats.org/officeDocument/2006/relationships/hyperlink" Target="https://www.healthdirect.gov.au/hiv-infection-and-aids" TargetMode="External"/></Relationships>
</file>

<file path=ppt/slides/_rels/slide10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7.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2.wdp"/></Relationships>
</file>

<file path=ppt/slides/_rels/slide1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2.wdp"/></Relationships>
</file>

<file path=ppt/slides/_rels/slide1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notesSlide" Target="../notesSlides/notesSlide63.xml"/><Relationship Id="rId1" Type="http://schemas.openxmlformats.org/officeDocument/2006/relationships/slideLayout" Target="../slideLayouts/slideLayout2.xml"/><Relationship Id="rId5" Type="http://schemas.openxmlformats.org/officeDocument/2006/relationships/image" Target="../media/image125.png"/><Relationship Id="rId4" Type="http://schemas.openxmlformats.org/officeDocument/2006/relationships/image" Target="../media/image124.png"/></Relationships>
</file>

<file path=ppt/slides/_rels/slide1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2.wdp"/></Relationships>
</file>

<file path=ppt/slides/_rels/slide1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notesSlide" Target="../notesSlides/notesSlide64.xml"/><Relationship Id="rId1" Type="http://schemas.openxmlformats.org/officeDocument/2006/relationships/slideLayout" Target="../slideLayouts/slideLayout2.xml"/><Relationship Id="rId5" Type="http://schemas.openxmlformats.org/officeDocument/2006/relationships/image" Target="../media/image125.png"/><Relationship Id="rId4" Type="http://schemas.openxmlformats.org/officeDocument/2006/relationships/image" Target="../media/image71.png"/></Relationships>
</file>

<file path=ppt/slides/_rels/slide1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2.wdp"/></Relationships>
</file>

<file path=ppt/slides/_rels/slide1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notesSlide" Target="../notesSlides/notesSlide65.xml"/><Relationship Id="rId1" Type="http://schemas.openxmlformats.org/officeDocument/2006/relationships/slideLayout" Target="../slideLayouts/slideLayout2.xml"/><Relationship Id="rId5" Type="http://schemas.openxmlformats.org/officeDocument/2006/relationships/image" Target="../media/image126.png"/><Relationship Id="rId4" Type="http://schemas.openxmlformats.org/officeDocument/2006/relationships/image" Target="../media/image126.png"/></Relationships>
</file>

<file path=ppt/slides/_rels/slide121.xml.rels><?xml version="1.0" encoding="UTF-8" standalone="yes"?>
<Relationships xmlns="http://schemas.openxmlformats.org/package/2006/relationships"><Relationship Id="rId3" Type="http://schemas.openxmlformats.org/officeDocument/2006/relationships/image" Target="../media/image127.gif"/><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8" Type="http://schemas.openxmlformats.org/officeDocument/2006/relationships/hyperlink" Target="https://www.healthywa.wa.gov.au/Articles/A_E/About-sexually-transmissible-infections-STIs" TargetMode="External"/><Relationship Id="rId13" Type="http://schemas.openxmlformats.org/officeDocument/2006/relationships/image" Target="../media/image131.png"/><Relationship Id="rId3" Type="http://schemas.openxmlformats.org/officeDocument/2006/relationships/hyperlink" Target="https://healthysexual.com.au/" TargetMode="External"/><Relationship Id="rId7" Type="http://schemas.openxmlformats.org/officeDocument/2006/relationships/hyperlink" Target="https://www.kemh.health.wa.gov.au/Other-Services/SARC" TargetMode="External"/><Relationship Id="rId12" Type="http://schemas.openxmlformats.org/officeDocument/2006/relationships/image" Target="../media/image130.png"/><Relationship Id="rId2" Type="http://schemas.openxmlformats.org/officeDocument/2006/relationships/notesSlide" Target="../notesSlides/notesSlide67.xml"/><Relationship Id="rId16" Type="http://schemas.openxmlformats.org/officeDocument/2006/relationships/image" Target="../media/image134.png"/><Relationship Id="rId1" Type="http://schemas.openxmlformats.org/officeDocument/2006/relationships/slideLayout" Target="../slideLayouts/slideLayout2.xml"/><Relationship Id="rId6" Type="http://schemas.openxmlformats.org/officeDocument/2006/relationships/hyperlink" Target="https://www.couldihaveit.com.au/home" TargetMode="External"/><Relationship Id="rId11" Type="http://schemas.openxmlformats.org/officeDocument/2006/relationships/image" Target="../media/image129.png"/><Relationship Id="rId5" Type="http://schemas.openxmlformats.org/officeDocument/2006/relationships/hyperlink" Target="https://www.getthefacts.health.wa.gov.au/" TargetMode="External"/><Relationship Id="rId15" Type="http://schemas.openxmlformats.org/officeDocument/2006/relationships/image" Target="../media/image133.png"/><Relationship Id="rId10" Type="http://schemas.openxmlformats.org/officeDocument/2006/relationships/image" Target="../media/image128.png"/><Relationship Id="rId4" Type="http://schemas.openxmlformats.org/officeDocument/2006/relationships/hyperlink" Target="https://shq.org.au/helpline/" TargetMode="External"/><Relationship Id="rId9" Type="http://schemas.openxmlformats.org/officeDocument/2006/relationships/hyperlink" Target="https://www.waac.com.au/" TargetMode="External"/><Relationship Id="rId14" Type="http://schemas.openxmlformats.org/officeDocument/2006/relationships/image" Target="../media/image132.png"/></Relationships>
</file>

<file path=ppt/slides/_rels/slide123.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93245F62-CCC4-49E4-B95B-EA6C1E790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rainbow colored splatter&#10;&#10;Description automatically generated">
            <a:extLst>
              <a:ext uri="{FF2B5EF4-FFF2-40B4-BE49-F238E27FC236}">
                <a16:creationId xmlns:a16="http://schemas.microsoft.com/office/drawing/2014/main" id="{EEA83DFB-1DE6-B5DE-A972-635BA2248013}"/>
              </a:ext>
            </a:extLst>
          </p:cNvPr>
          <p:cNvPicPr>
            <a:picLocks noChangeAspect="1"/>
          </p:cNvPicPr>
          <p:nvPr/>
        </p:nvPicPr>
        <p:blipFill rotWithShape="1">
          <a:blip r:embed="rId2"/>
          <a:srcRect t="1747"/>
          <a:stretch/>
        </p:blipFill>
        <p:spPr>
          <a:xfrm>
            <a:off x="1298963" y="266542"/>
            <a:ext cx="9589477" cy="5394065"/>
          </a:xfrm>
          <a:prstGeom prst="rect">
            <a:avLst/>
          </a:prstGeom>
        </p:spPr>
      </p:pic>
      <p:pic>
        <p:nvPicPr>
          <p:cNvPr id="1028" name="Picture 4" descr="Sexually Transmitted Infections and HIV">
            <a:extLst>
              <a:ext uri="{FF2B5EF4-FFF2-40B4-BE49-F238E27FC236}">
                <a16:creationId xmlns:a16="http://schemas.microsoft.com/office/drawing/2014/main" id="{BDCE080E-9344-5EDA-E414-5ED90ABD48C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l="25312" t="22731" r="26524" b="12904"/>
          <a:stretch/>
        </p:blipFill>
        <p:spPr bwMode="auto">
          <a:xfrm>
            <a:off x="9472614" y="266542"/>
            <a:ext cx="2614612" cy="192992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657FBC4-0AFB-ADB7-F057-3A685854992A}"/>
              </a:ext>
            </a:extLst>
          </p:cNvPr>
          <p:cNvSpPr>
            <a:spLocks noGrp="1"/>
          </p:cNvSpPr>
          <p:nvPr>
            <p:ph type="ctrTitle"/>
          </p:nvPr>
        </p:nvSpPr>
        <p:spPr>
          <a:xfrm>
            <a:off x="638882" y="3577456"/>
            <a:ext cx="10909640" cy="1687814"/>
          </a:xfrm>
        </p:spPr>
        <p:txBody>
          <a:bodyPr anchor="b">
            <a:normAutofit/>
          </a:bodyPr>
          <a:lstStyle/>
          <a:p>
            <a:pPr algn="ctr"/>
            <a:r>
              <a:rPr lang="en-US" sz="10000" dirty="0"/>
              <a:t>CONTRACEPTION &amp; STI’s</a:t>
            </a:r>
          </a:p>
        </p:txBody>
      </p:sp>
      <p:sp>
        <p:nvSpPr>
          <p:cNvPr id="3" name="Subtitle 2">
            <a:extLst>
              <a:ext uri="{FF2B5EF4-FFF2-40B4-BE49-F238E27FC236}">
                <a16:creationId xmlns:a16="http://schemas.microsoft.com/office/drawing/2014/main" id="{E0D7FC79-1308-3C8D-6F49-05BF0614DDCD}"/>
              </a:ext>
            </a:extLst>
          </p:cNvPr>
          <p:cNvSpPr>
            <a:spLocks noGrp="1"/>
          </p:cNvSpPr>
          <p:nvPr>
            <p:ph type="subTitle" idx="1"/>
          </p:nvPr>
        </p:nvSpPr>
        <p:spPr>
          <a:xfrm>
            <a:off x="638881" y="5660607"/>
            <a:ext cx="10909643" cy="1060868"/>
          </a:xfrm>
        </p:spPr>
        <p:txBody>
          <a:bodyPr anchor="t">
            <a:normAutofit/>
          </a:bodyPr>
          <a:lstStyle/>
          <a:p>
            <a:pPr algn="ctr"/>
            <a:r>
              <a:rPr lang="en-US" sz="3200" b="1" dirty="0"/>
              <a:t>Year 10 Health 			Lesson 1			Term 2, 2024</a:t>
            </a:r>
          </a:p>
        </p:txBody>
      </p:sp>
      <p:sp>
        <p:nvSpPr>
          <p:cNvPr id="77" name="Rectangle 6">
            <a:extLst>
              <a:ext uri="{FF2B5EF4-FFF2-40B4-BE49-F238E27FC236}">
                <a16:creationId xmlns:a16="http://schemas.microsoft.com/office/drawing/2014/main" id="{E6C0DD6B-6AA3-448F-9B99-8386295BC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27432"/>
          </a:xfrm>
          <a:custGeom>
            <a:avLst/>
            <a:gdLst>
              <a:gd name="connsiteX0" fmla="*/ 0 w 4572000"/>
              <a:gd name="connsiteY0" fmla="*/ 0 h 27432"/>
              <a:gd name="connsiteX1" fmla="*/ 607423 w 4572000"/>
              <a:gd name="connsiteY1" fmla="*/ 0 h 27432"/>
              <a:gd name="connsiteX2" fmla="*/ 1123406 w 4572000"/>
              <a:gd name="connsiteY2" fmla="*/ 0 h 27432"/>
              <a:gd name="connsiteX3" fmla="*/ 1685109 w 4572000"/>
              <a:gd name="connsiteY3" fmla="*/ 0 h 27432"/>
              <a:gd name="connsiteX4" fmla="*/ 2383971 w 4572000"/>
              <a:gd name="connsiteY4" fmla="*/ 0 h 27432"/>
              <a:gd name="connsiteX5" fmla="*/ 2991394 w 4572000"/>
              <a:gd name="connsiteY5" fmla="*/ 0 h 27432"/>
              <a:gd name="connsiteX6" fmla="*/ 3553097 w 4572000"/>
              <a:gd name="connsiteY6" fmla="*/ 0 h 27432"/>
              <a:gd name="connsiteX7" fmla="*/ 4572000 w 4572000"/>
              <a:gd name="connsiteY7" fmla="*/ 0 h 27432"/>
              <a:gd name="connsiteX8" fmla="*/ 4572000 w 4572000"/>
              <a:gd name="connsiteY8" fmla="*/ 27432 h 27432"/>
              <a:gd name="connsiteX9" fmla="*/ 3918857 w 4572000"/>
              <a:gd name="connsiteY9" fmla="*/ 27432 h 27432"/>
              <a:gd name="connsiteX10" fmla="*/ 3357154 w 4572000"/>
              <a:gd name="connsiteY10" fmla="*/ 27432 h 27432"/>
              <a:gd name="connsiteX11" fmla="*/ 2612571 w 4572000"/>
              <a:gd name="connsiteY11" fmla="*/ 27432 h 27432"/>
              <a:gd name="connsiteX12" fmla="*/ 2005149 w 4572000"/>
              <a:gd name="connsiteY12" fmla="*/ 27432 h 27432"/>
              <a:gd name="connsiteX13" fmla="*/ 1489166 w 4572000"/>
              <a:gd name="connsiteY13" fmla="*/ 27432 h 27432"/>
              <a:gd name="connsiteX14" fmla="*/ 790303 w 4572000"/>
              <a:gd name="connsiteY14" fmla="*/ 27432 h 27432"/>
              <a:gd name="connsiteX15" fmla="*/ 0 w 4572000"/>
              <a:gd name="connsiteY15" fmla="*/ 27432 h 27432"/>
              <a:gd name="connsiteX16" fmla="*/ 0 w 457200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27432" fill="none" extrusionOk="0">
                <a:moveTo>
                  <a:pt x="0" y="0"/>
                </a:moveTo>
                <a:cubicBezTo>
                  <a:pt x="150397" y="-23421"/>
                  <a:pt x="474161" y="9174"/>
                  <a:pt x="607423" y="0"/>
                </a:cubicBezTo>
                <a:cubicBezTo>
                  <a:pt x="740685" y="-9174"/>
                  <a:pt x="868821" y="-4258"/>
                  <a:pt x="1123406" y="0"/>
                </a:cubicBezTo>
                <a:cubicBezTo>
                  <a:pt x="1377991" y="4258"/>
                  <a:pt x="1567664" y="-12410"/>
                  <a:pt x="1685109" y="0"/>
                </a:cubicBezTo>
                <a:cubicBezTo>
                  <a:pt x="1802554" y="12410"/>
                  <a:pt x="2193086" y="-14353"/>
                  <a:pt x="2383971" y="0"/>
                </a:cubicBezTo>
                <a:cubicBezTo>
                  <a:pt x="2574856" y="14353"/>
                  <a:pt x="2697477" y="-26142"/>
                  <a:pt x="2991394" y="0"/>
                </a:cubicBezTo>
                <a:cubicBezTo>
                  <a:pt x="3285311" y="26142"/>
                  <a:pt x="3423667" y="26544"/>
                  <a:pt x="3553097" y="0"/>
                </a:cubicBezTo>
                <a:cubicBezTo>
                  <a:pt x="3682527" y="-26544"/>
                  <a:pt x="4344147" y="50350"/>
                  <a:pt x="4572000" y="0"/>
                </a:cubicBezTo>
                <a:cubicBezTo>
                  <a:pt x="4571027" y="8304"/>
                  <a:pt x="4571522" y="21512"/>
                  <a:pt x="4572000" y="27432"/>
                </a:cubicBezTo>
                <a:cubicBezTo>
                  <a:pt x="4438349" y="5490"/>
                  <a:pt x="4090129" y="31231"/>
                  <a:pt x="3918857" y="27432"/>
                </a:cubicBezTo>
                <a:cubicBezTo>
                  <a:pt x="3747585" y="23633"/>
                  <a:pt x="3498826" y="6883"/>
                  <a:pt x="3357154" y="27432"/>
                </a:cubicBezTo>
                <a:cubicBezTo>
                  <a:pt x="3215482" y="47981"/>
                  <a:pt x="2784289" y="56849"/>
                  <a:pt x="2612571" y="27432"/>
                </a:cubicBezTo>
                <a:cubicBezTo>
                  <a:pt x="2440853" y="-1985"/>
                  <a:pt x="2261292" y="25951"/>
                  <a:pt x="2005149" y="27432"/>
                </a:cubicBezTo>
                <a:cubicBezTo>
                  <a:pt x="1749006" y="28913"/>
                  <a:pt x="1700078" y="34342"/>
                  <a:pt x="1489166" y="27432"/>
                </a:cubicBezTo>
                <a:cubicBezTo>
                  <a:pt x="1278254" y="20522"/>
                  <a:pt x="1077188" y="56916"/>
                  <a:pt x="790303" y="27432"/>
                </a:cubicBezTo>
                <a:cubicBezTo>
                  <a:pt x="503418" y="-2052"/>
                  <a:pt x="359168" y="57044"/>
                  <a:pt x="0" y="27432"/>
                </a:cubicBezTo>
                <a:cubicBezTo>
                  <a:pt x="-1048" y="14992"/>
                  <a:pt x="-1120" y="7447"/>
                  <a:pt x="0" y="0"/>
                </a:cubicBezTo>
                <a:close/>
              </a:path>
              <a:path w="4572000" h="27432" stroke="0" extrusionOk="0">
                <a:moveTo>
                  <a:pt x="0" y="0"/>
                </a:moveTo>
                <a:cubicBezTo>
                  <a:pt x="155698" y="6780"/>
                  <a:pt x="465972" y="13197"/>
                  <a:pt x="607423" y="0"/>
                </a:cubicBezTo>
                <a:cubicBezTo>
                  <a:pt x="748874" y="-13197"/>
                  <a:pt x="1014133" y="22994"/>
                  <a:pt x="1123406" y="0"/>
                </a:cubicBezTo>
                <a:cubicBezTo>
                  <a:pt x="1232679" y="-22994"/>
                  <a:pt x="1639431" y="-2997"/>
                  <a:pt x="1867989" y="0"/>
                </a:cubicBezTo>
                <a:cubicBezTo>
                  <a:pt x="2096547" y="2997"/>
                  <a:pt x="2265668" y="29557"/>
                  <a:pt x="2475411" y="0"/>
                </a:cubicBezTo>
                <a:cubicBezTo>
                  <a:pt x="2685154" y="-29557"/>
                  <a:pt x="2951491" y="73"/>
                  <a:pt x="3082834" y="0"/>
                </a:cubicBezTo>
                <a:cubicBezTo>
                  <a:pt x="3214177" y="-73"/>
                  <a:pt x="3641000" y="-33478"/>
                  <a:pt x="3827417" y="0"/>
                </a:cubicBezTo>
                <a:cubicBezTo>
                  <a:pt x="4013834" y="33478"/>
                  <a:pt x="4345917" y="14255"/>
                  <a:pt x="4572000" y="0"/>
                </a:cubicBezTo>
                <a:cubicBezTo>
                  <a:pt x="4572485" y="9333"/>
                  <a:pt x="4573278" y="19699"/>
                  <a:pt x="4572000" y="27432"/>
                </a:cubicBezTo>
                <a:cubicBezTo>
                  <a:pt x="4318030" y="43025"/>
                  <a:pt x="4161104" y="34314"/>
                  <a:pt x="4010297" y="27432"/>
                </a:cubicBezTo>
                <a:cubicBezTo>
                  <a:pt x="3859490" y="20550"/>
                  <a:pt x="3592529" y="6613"/>
                  <a:pt x="3357154" y="27432"/>
                </a:cubicBezTo>
                <a:cubicBezTo>
                  <a:pt x="3121779" y="48251"/>
                  <a:pt x="2884285" y="3780"/>
                  <a:pt x="2704011" y="27432"/>
                </a:cubicBezTo>
                <a:cubicBezTo>
                  <a:pt x="2523737" y="51084"/>
                  <a:pt x="2295944" y="32081"/>
                  <a:pt x="2096589" y="27432"/>
                </a:cubicBezTo>
                <a:cubicBezTo>
                  <a:pt x="1897234" y="22783"/>
                  <a:pt x="1623782" y="52518"/>
                  <a:pt x="1352006" y="27432"/>
                </a:cubicBezTo>
                <a:cubicBezTo>
                  <a:pt x="1080230" y="2346"/>
                  <a:pt x="869959" y="12864"/>
                  <a:pt x="607423" y="27432"/>
                </a:cubicBezTo>
                <a:cubicBezTo>
                  <a:pt x="344887" y="42000"/>
                  <a:pt x="188100" y="40051"/>
                  <a:pt x="0" y="27432"/>
                </a:cubicBezTo>
                <a:cubicBezTo>
                  <a:pt x="211" y="18145"/>
                  <a:pt x="120" y="6480"/>
                  <a:pt x="0" y="0"/>
                </a:cubicBezTo>
                <a:close/>
              </a:path>
            </a:pathLst>
          </a:custGeom>
          <a:solidFill>
            <a:srgbClr val="7EB8FB"/>
          </a:solidFill>
          <a:ln w="38100" cap="rnd">
            <a:solidFill>
              <a:srgbClr val="7EB8FB"/>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Date Placeholder 26">
            <a:extLst>
              <a:ext uri="{FF2B5EF4-FFF2-40B4-BE49-F238E27FC236}">
                <a16:creationId xmlns:a16="http://schemas.microsoft.com/office/drawing/2014/main" id="{F28B82B1-E269-4325-A665-6CFE5DEE5DE5}"/>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81" name="Footer Placeholder 27">
            <a:extLst>
              <a:ext uri="{FF2B5EF4-FFF2-40B4-BE49-F238E27FC236}">
                <a16:creationId xmlns:a16="http://schemas.microsoft.com/office/drawing/2014/main" id="{7C700527-76FD-4DF4-A597-6F5E089CA0C2}"/>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83" name="Slide Number Placeholder 28">
            <a:extLst>
              <a:ext uri="{FF2B5EF4-FFF2-40B4-BE49-F238E27FC236}">
                <a16:creationId xmlns:a16="http://schemas.microsoft.com/office/drawing/2014/main" id="{B5EA49A9-01EB-4D60-A392-7DC9B625D67D}"/>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27902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41" presetClass="path" presetSubtype="0" accel="50000" decel="50000" fill="hold" nodeType="withEffect">
                                  <p:stCondLst>
                                    <p:cond delay="0"/>
                                  </p:stCondLst>
                                  <p:childTnLst>
                                    <p:animMotion origin="layout" path="M -4.58333E-6 -1.11111E-6 C -0.01679 -0.02407 -0.07395 -0.04745 -0.09492 -0.04745 C -0.22226 -0.04745 -0.35377 0.32408 -0.35377 0.69583 C -0.35377 0.50857 -0.41966 0.32408 -0.48112 0.32408 C -0.547 0.32408 -0.60846 0.51134 -0.60846 0.69583 C -0.60846 0.60347 -0.64114 0.50857 -0.67421 0.50857 C -0.70703 0.50857 -0.74023 0.6007 -0.74023 0.69583 C -0.74023 0.64815 -0.75664 0.60347 -0.77278 0.60347 C -0.78945 0.60347 -0.80546 0.65093 -0.80546 0.69583 C -0.80546 0.67153 -0.81341 0.64815 -0.822 0.64815 C -0.8263 0.64815 -0.83867 0.67222 -0.83867 0.69583 C -0.83867 0.68403 -0.84296 0.67153 -0.84661 0.67153 C -0.84661 0.66898 -0.85468 0.68333 -0.85468 0.69583 C -0.85468 0.68958 -0.85468 0.68403 -0.85898 0.68403 C -0.85898 0.68681 -0.86328 0.69028 -0.86328 0.69583 C -0.86328 0.69306 -0.86328 0.68958 -0.86328 0.68681 C -0.86757 0.68681 -0.86757 0.68958 -0.86757 0.69306 C -0.87187 0.69306 -0.87187 0.69028 -0.87187 0.68681 C -0.87591 0.68681 -0.87591 0.68958 -0.87591 0.69306 " pathEditMode="relative" rAng="0" ptsTypes="AAAAAAAAAAAAAAAAAAA">
                                      <p:cBhvr>
                                        <p:cTn id="9" dur="5000" fill="hold"/>
                                        <p:tgtEl>
                                          <p:spTgt spid="1028"/>
                                        </p:tgtEl>
                                        <p:attrNameLst>
                                          <p:attrName>ppt_x</p:attrName>
                                          <p:attrName>ppt_y</p:attrName>
                                        </p:attrNameLst>
                                      </p:cBhvr>
                                      <p:rCtr x="-43802" y="3240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7">
            <a:extLst>
              <a:ext uri="{FF2B5EF4-FFF2-40B4-BE49-F238E27FC236}">
                <a16:creationId xmlns:a16="http://schemas.microsoft.com/office/drawing/2014/main" id="{EBDD1931-9E86-4402-9A68-33A2D9EFB1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6" name="Rectangle 15">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C8ADB5-162A-8C05-ED74-E3E4A1847E9C}"/>
              </a:ext>
            </a:extLst>
          </p:cNvPr>
          <p:cNvSpPr>
            <a:spLocks noGrp="1"/>
          </p:cNvSpPr>
          <p:nvPr>
            <p:ph type="title"/>
          </p:nvPr>
        </p:nvSpPr>
        <p:spPr>
          <a:xfrm>
            <a:off x="635000" y="640823"/>
            <a:ext cx="3418659" cy="5583148"/>
          </a:xfrm>
        </p:spPr>
        <p:txBody>
          <a:bodyPr vert="horz" lIns="91440" tIns="45720" rIns="91440" bIns="45720" rtlCol="0" anchor="ctr">
            <a:normAutofit/>
          </a:bodyPr>
          <a:lstStyle/>
          <a:p>
            <a:r>
              <a:rPr lang="en-US" sz="6000"/>
              <a:t>Term 2: Program &amp; Assessments</a:t>
            </a:r>
          </a:p>
        </p:txBody>
      </p:sp>
      <p:sp>
        <p:nvSpPr>
          <p:cNvPr id="18" name="Rectangle 22">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14992" y="1557877"/>
            <a:ext cx="18288" cy="3749040"/>
          </a:xfrm>
          <a:custGeom>
            <a:avLst/>
            <a:gdLst>
              <a:gd name="connsiteX0" fmla="*/ 0 w 18288"/>
              <a:gd name="connsiteY0" fmla="*/ 0 h 3749040"/>
              <a:gd name="connsiteX1" fmla="*/ 18288 w 18288"/>
              <a:gd name="connsiteY1" fmla="*/ 0 h 3749040"/>
              <a:gd name="connsiteX2" fmla="*/ 18288 w 18288"/>
              <a:gd name="connsiteY2" fmla="*/ 662330 h 3749040"/>
              <a:gd name="connsiteX3" fmla="*/ 18288 w 18288"/>
              <a:gd name="connsiteY3" fmla="*/ 1174699 h 3749040"/>
              <a:gd name="connsiteX4" fmla="*/ 18288 w 18288"/>
              <a:gd name="connsiteY4" fmla="*/ 1724558 h 3749040"/>
              <a:gd name="connsiteX5" fmla="*/ 18288 w 18288"/>
              <a:gd name="connsiteY5" fmla="*/ 2424379 h 3749040"/>
              <a:gd name="connsiteX6" fmla="*/ 18288 w 18288"/>
              <a:gd name="connsiteY6" fmla="*/ 3049219 h 3749040"/>
              <a:gd name="connsiteX7" fmla="*/ 18288 w 18288"/>
              <a:gd name="connsiteY7" fmla="*/ 3749040 h 3749040"/>
              <a:gd name="connsiteX8" fmla="*/ 0 w 18288"/>
              <a:gd name="connsiteY8" fmla="*/ 3749040 h 3749040"/>
              <a:gd name="connsiteX9" fmla="*/ 0 w 18288"/>
              <a:gd name="connsiteY9" fmla="*/ 3236671 h 3749040"/>
              <a:gd name="connsiteX10" fmla="*/ 0 w 18288"/>
              <a:gd name="connsiteY10" fmla="*/ 2536850 h 3749040"/>
              <a:gd name="connsiteX11" fmla="*/ 0 w 18288"/>
              <a:gd name="connsiteY11" fmla="*/ 1874520 h 3749040"/>
              <a:gd name="connsiteX12" fmla="*/ 0 w 18288"/>
              <a:gd name="connsiteY12" fmla="*/ 1362151 h 3749040"/>
              <a:gd name="connsiteX13" fmla="*/ 0 w 18288"/>
              <a:gd name="connsiteY13" fmla="*/ 774802 h 3749040"/>
              <a:gd name="connsiteX14" fmla="*/ 0 w 18288"/>
              <a:gd name="connsiteY14" fmla="*/ 0 h 374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288" h="3749040" fill="none" extrusionOk="0">
                <a:moveTo>
                  <a:pt x="0" y="0"/>
                </a:moveTo>
                <a:cubicBezTo>
                  <a:pt x="8690" y="407"/>
                  <a:pt x="14141" y="154"/>
                  <a:pt x="18288" y="0"/>
                </a:cubicBezTo>
                <a:cubicBezTo>
                  <a:pt x="34838" y="143586"/>
                  <a:pt x="-11860" y="333097"/>
                  <a:pt x="18288" y="662330"/>
                </a:cubicBezTo>
                <a:cubicBezTo>
                  <a:pt x="48436" y="991563"/>
                  <a:pt x="32813" y="1046681"/>
                  <a:pt x="18288" y="1174699"/>
                </a:cubicBezTo>
                <a:cubicBezTo>
                  <a:pt x="3763" y="1302717"/>
                  <a:pt x="40974" y="1467838"/>
                  <a:pt x="18288" y="1724558"/>
                </a:cubicBezTo>
                <a:cubicBezTo>
                  <a:pt x="-4398" y="1981278"/>
                  <a:pt x="36650" y="2215729"/>
                  <a:pt x="18288" y="2424379"/>
                </a:cubicBezTo>
                <a:cubicBezTo>
                  <a:pt x="-74" y="2633029"/>
                  <a:pt x="-9881" y="2874703"/>
                  <a:pt x="18288" y="3049219"/>
                </a:cubicBezTo>
                <a:cubicBezTo>
                  <a:pt x="46457" y="3223735"/>
                  <a:pt x="4078" y="3453850"/>
                  <a:pt x="18288" y="3749040"/>
                </a:cubicBezTo>
                <a:cubicBezTo>
                  <a:pt x="14465" y="3749751"/>
                  <a:pt x="7675" y="3748271"/>
                  <a:pt x="0" y="3749040"/>
                </a:cubicBezTo>
                <a:cubicBezTo>
                  <a:pt x="19669" y="3507959"/>
                  <a:pt x="-9883" y="3339386"/>
                  <a:pt x="0" y="3236671"/>
                </a:cubicBezTo>
                <a:cubicBezTo>
                  <a:pt x="9883" y="3133956"/>
                  <a:pt x="26871" y="2857214"/>
                  <a:pt x="0" y="2536850"/>
                </a:cubicBezTo>
                <a:cubicBezTo>
                  <a:pt x="-26871" y="2216486"/>
                  <a:pt x="4790" y="2156616"/>
                  <a:pt x="0" y="1874520"/>
                </a:cubicBezTo>
                <a:cubicBezTo>
                  <a:pt x="-4790" y="1592424"/>
                  <a:pt x="-3117" y="1558688"/>
                  <a:pt x="0" y="1362151"/>
                </a:cubicBezTo>
                <a:cubicBezTo>
                  <a:pt x="3117" y="1165614"/>
                  <a:pt x="16802" y="1045125"/>
                  <a:pt x="0" y="774802"/>
                </a:cubicBezTo>
                <a:cubicBezTo>
                  <a:pt x="-16802" y="504479"/>
                  <a:pt x="-29640" y="377701"/>
                  <a:pt x="0" y="0"/>
                </a:cubicBezTo>
                <a:close/>
              </a:path>
              <a:path w="18288" h="3749040" stroke="0" extrusionOk="0">
                <a:moveTo>
                  <a:pt x="0" y="0"/>
                </a:moveTo>
                <a:cubicBezTo>
                  <a:pt x="5341" y="9"/>
                  <a:pt x="11148" y="-611"/>
                  <a:pt x="18288" y="0"/>
                </a:cubicBezTo>
                <a:cubicBezTo>
                  <a:pt x="33352" y="227288"/>
                  <a:pt x="30894" y="278824"/>
                  <a:pt x="18288" y="512369"/>
                </a:cubicBezTo>
                <a:cubicBezTo>
                  <a:pt x="5682" y="745914"/>
                  <a:pt x="53060" y="998220"/>
                  <a:pt x="18288" y="1212190"/>
                </a:cubicBezTo>
                <a:cubicBezTo>
                  <a:pt x="-16484" y="1426160"/>
                  <a:pt x="35474" y="1585099"/>
                  <a:pt x="18288" y="1837030"/>
                </a:cubicBezTo>
                <a:cubicBezTo>
                  <a:pt x="1102" y="2088961"/>
                  <a:pt x="16704" y="2251948"/>
                  <a:pt x="18288" y="2386889"/>
                </a:cubicBezTo>
                <a:cubicBezTo>
                  <a:pt x="19872" y="2521830"/>
                  <a:pt x="5902" y="2679005"/>
                  <a:pt x="18288" y="2936748"/>
                </a:cubicBezTo>
                <a:cubicBezTo>
                  <a:pt x="30674" y="3194491"/>
                  <a:pt x="13809" y="3416052"/>
                  <a:pt x="18288" y="3749040"/>
                </a:cubicBezTo>
                <a:cubicBezTo>
                  <a:pt x="9729" y="3749861"/>
                  <a:pt x="3965" y="3749683"/>
                  <a:pt x="0" y="3749040"/>
                </a:cubicBezTo>
                <a:cubicBezTo>
                  <a:pt x="-10152" y="3632102"/>
                  <a:pt x="-5013" y="3340136"/>
                  <a:pt x="0" y="3236671"/>
                </a:cubicBezTo>
                <a:cubicBezTo>
                  <a:pt x="5013" y="3133206"/>
                  <a:pt x="-27249" y="2814766"/>
                  <a:pt x="0" y="2649322"/>
                </a:cubicBezTo>
                <a:cubicBezTo>
                  <a:pt x="27249" y="2483878"/>
                  <a:pt x="8506" y="2308131"/>
                  <a:pt x="0" y="2061972"/>
                </a:cubicBezTo>
                <a:cubicBezTo>
                  <a:pt x="-8506" y="1815813"/>
                  <a:pt x="-14267" y="1574470"/>
                  <a:pt x="0" y="1399642"/>
                </a:cubicBezTo>
                <a:cubicBezTo>
                  <a:pt x="14267" y="1224814"/>
                  <a:pt x="-24839" y="1011862"/>
                  <a:pt x="0" y="812292"/>
                </a:cubicBezTo>
                <a:cubicBezTo>
                  <a:pt x="24839" y="612722"/>
                  <a:pt x="20220" y="372179"/>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D954C91D-F554-AA2E-472D-20465E3B3919}"/>
              </a:ext>
            </a:extLst>
          </p:cNvPr>
          <p:cNvSpPr>
            <a:spLocks/>
          </p:cNvSpPr>
          <p:nvPr/>
        </p:nvSpPr>
        <p:spPr>
          <a:xfrm>
            <a:off x="4481661" y="276223"/>
            <a:ext cx="3895591" cy="813167"/>
          </a:xfrm>
          <a:prstGeom prst="rect">
            <a:avLst/>
          </a:prstGeom>
        </p:spPr>
        <p:txBody>
          <a:bodyPr/>
          <a:lstStyle/>
          <a:p>
            <a:pPr defTabSz="566928">
              <a:spcAft>
                <a:spcPts val="600"/>
              </a:spcAft>
            </a:pPr>
            <a:r>
              <a:rPr lang="en-US" sz="4000" b="1" i="1" kern="1200" dirty="0">
                <a:solidFill>
                  <a:schemeClr val="tx1"/>
                </a:solidFill>
                <a:latin typeface="+mn-lt"/>
                <a:ea typeface="+mn-ea"/>
                <a:cs typeface="+mn-cs"/>
              </a:rPr>
              <a:t>PROGRAM:</a:t>
            </a:r>
            <a:endParaRPr lang="en-US" b="1" i="1" dirty="0"/>
          </a:p>
        </p:txBody>
      </p:sp>
      <p:sp>
        <p:nvSpPr>
          <p:cNvPr id="3" name="Content Placeholder 2">
            <a:extLst>
              <a:ext uri="{FF2B5EF4-FFF2-40B4-BE49-F238E27FC236}">
                <a16:creationId xmlns:a16="http://schemas.microsoft.com/office/drawing/2014/main" id="{BE131936-2F40-DC1A-BDB6-E1590B9AE6DD}"/>
              </a:ext>
            </a:extLst>
          </p:cNvPr>
          <p:cNvSpPr>
            <a:spLocks/>
          </p:cNvSpPr>
          <p:nvPr/>
        </p:nvSpPr>
        <p:spPr>
          <a:xfrm>
            <a:off x="5030886" y="988308"/>
            <a:ext cx="5352808" cy="2041529"/>
          </a:xfrm>
          <a:prstGeom prst="rect">
            <a:avLst/>
          </a:prstGeom>
        </p:spPr>
        <p:txBody>
          <a:bodyPr>
            <a:normAutofit/>
          </a:bodyPr>
          <a:lstStyle/>
          <a:p>
            <a:pPr defTabSz="566928">
              <a:spcAft>
                <a:spcPts val="600"/>
              </a:spcAft>
            </a:pPr>
            <a:r>
              <a:rPr lang="en-US" sz="2800" kern="1200" dirty="0">
                <a:solidFill>
                  <a:schemeClr val="tx1"/>
                </a:solidFill>
                <a:latin typeface="+mn-lt"/>
                <a:ea typeface="+mn-ea"/>
                <a:cs typeface="+mn-cs"/>
              </a:rPr>
              <a:t>Weeks 1 – 4: Contraception.</a:t>
            </a:r>
          </a:p>
          <a:p>
            <a:pPr defTabSz="566928">
              <a:spcAft>
                <a:spcPts val="600"/>
              </a:spcAft>
            </a:pPr>
            <a:r>
              <a:rPr lang="en-US" sz="2800" kern="1200" dirty="0">
                <a:solidFill>
                  <a:schemeClr val="tx1"/>
                </a:solidFill>
                <a:latin typeface="+mn-lt"/>
                <a:ea typeface="+mn-ea"/>
                <a:cs typeface="+mn-cs"/>
              </a:rPr>
              <a:t>Weeks 5 – 11: Sexually Transmitted Infections</a:t>
            </a:r>
            <a:r>
              <a:rPr lang="en-US" sz="1116" kern="1200" dirty="0">
                <a:solidFill>
                  <a:schemeClr val="tx1"/>
                </a:solidFill>
                <a:latin typeface="+mn-lt"/>
                <a:ea typeface="+mn-ea"/>
                <a:cs typeface="+mn-cs"/>
              </a:rPr>
              <a:t>.</a:t>
            </a:r>
          </a:p>
          <a:p>
            <a:pPr defTabSz="566928">
              <a:spcAft>
                <a:spcPts val="600"/>
              </a:spcAft>
            </a:pPr>
            <a:endParaRPr lang="en-US" sz="1116" kern="1200" dirty="0">
              <a:solidFill>
                <a:schemeClr val="tx1"/>
              </a:solidFill>
              <a:latin typeface="+mn-lt"/>
              <a:ea typeface="+mn-ea"/>
              <a:cs typeface="+mn-cs"/>
            </a:endParaRPr>
          </a:p>
          <a:p>
            <a:pPr>
              <a:spcAft>
                <a:spcPts val="600"/>
              </a:spcAft>
            </a:pPr>
            <a:endParaRPr lang="en-US" dirty="0"/>
          </a:p>
        </p:txBody>
      </p:sp>
      <p:sp>
        <p:nvSpPr>
          <p:cNvPr id="6" name="Text Placeholder 5">
            <a:extLst>
              <a:ext uri="{FF2B5EF4-FFF2-40B4-BE49-F238E27FC236}">
                <a16:creationId xmlns:a16="http://schemas.microsoft.com/office/drawing/2014/main" id="{9022BDFD-0412-54C4-46B5-01E3B40E665D}"/>
              </a:ext>
            </a:extLst>
          </p:cNvPr>
          <p:cNvSpPr>
            <a:spLocks/>
          </p:cNvSpPr>
          <p:nvPr/>
        </p:nvSpPr>
        <p:spPr>
          <a:xfrm>
            <a:off x="4481661" y="2238577"/>
            <a:ext cx="3895591" cy="761316"/>
          </a:xfrm>
          <a:prstGeom prst="rect">
            <a:avLst/>
          </a:prstGeom>
        </p:spPr>
        <p:txBody>
          <a:bodyPr/>
          <a:lstStyle/>
          <a:p>
            <a:pPr defTabSz="566928">
              <a:spcAft>
                <a:spcPts val="600"/>
              </a:spcAft>
            </a:pPr>
            <a:r>
              <a:rPr lang="en-US" sz="4000" b="1" i="1" kern="1200" dirty="0">
                <a:solidFill>
                  <a:schemeClr val="tx1"/>
                </a:solidFill>
                <a:latin typeface="+mn-lt"/>
                <a:ea typeface="+mn-ea"/>
                <a:cs typeface="+mn-cs"/>
              </a:rPr>
              <a:t>ASSESSMENTS:</a:t>
            </a:r>
            <a:endParaRPr lang="en-US" sz="4000" b="1" i="1" dirty="0"/>
          </a:p>
        </p:txBody>
      </p:sp>
      <p:sp>
        <p:nvSpPr>
          <p:cNvPr id="7" name="Content Placeholder 6">
            <a:extLst>
              <a:ext uri="{FF2B5EF4-FFF2-40B4-BE49-F238E27FC236}">
                <a16:creationId xmlns:a16="http://schemas.microsoft.com/office/drawing/2014/main" id="{D9D8AB44-0E76-CF80-4DEE-72F1B463FC16}"/>
              </a:ext>
            </a:extLst>
          </p:cNvPr>
          <p:cNvSpPr>
            <a:spLocks/>
          </p:cNvSpPr>
          <p:nvPr/>
        </p:nvSpPr>
        <p:spPr>
          <a:xfrm>
            <a:off x="5030885" y="2943625"/>
            <a:ext cx="6797686" cy="3376133"/>
          </a:xfrm>
          <a:prstGeom prst="rect">
            <a:avLst/>
          </a:prstGeom>
        </p:spPr>
        <p:txBody>
          <a:bodyPr>
            <a:noAutofit/>
          </a:bodyPr>
          <a:lstStyle/>
          <a:p>
            <a:pPr marL="457200" indent="-457200" defTabSz="566928">
              <a:spcAft>
                <a:spcPts val="600"/>
              </a:spcAft>
              <a:buFont typeface="Arial" panose="020B0604020202020204" pitchFamily="34" charset="0"/>
              <a:buChar char="•"/>
            </a:pPr>
            <a:r>
              <a:rPr lang="en-US" sz="2800" kern="1200" dirty="0">
                <a:solidFill>
                  <a:schemeClr val="tx1"/>
                </a:solidFill>
                <a:latin typeface="+mn-lt"/>
                <a:ea typeface="+mn-ea"/>
                <a:cs typeface="+mn-cs"/>
              </a:rPr>
              <a:t>Assessment Task 2: Topic Test (week 4)</a:t>
            </a:r>
          </a:p>
          <a:p>
            <a:pPr marL="566928" lvl="2" defTabSz="566928">
              <a:spcAft>
                <a:spcPts val="600"/>
              </a:spcAft>
            </a:pPr>
            <a:r>
              <a:rPr lang="en-US" sz="2800" kern="1200" dirty="0">
                <a:solidFill>
                  <a:schemeClr val="tx1"/>
                </a:solidFill>
                <a:latin typeface="+mn-lt"/>
                <a:ea typeface="+mn-ea"/>
                <a:cs typeface="+mn-cs"/>
              </a:rPr>
              <a:t>	Contraception</a:t>
            </a:r>
          </a:p>
          <a:p>
            <a:pPr marL="566928" lvl="2" defTabSz="566928">
              <a:spcAft>
                <a:spcPts val="600"/>
              </a:spcAft>
            </a:pPr>
            <a:r>
              <a:rPr lang="en-US" sz="2800" kern="1200" dirty="0">
                <a:solidFill>
                  <a:schemeClr val="tx1"/>
                </a:solidFill>
                <a:latin typeface="+mn-lt"/>
                <a:ea typeface="+mn-ea"/>
                <a:cs typeface="+mn-cs"/>
              </a:rPr>
              <a:t>	Consent and the law</a:t>
            </a:r>
          </a:p>
          <a:p>
            <a:pPr marL="566928" lvl="2" defTabSz="566928">
              <a:spcAft>
                <a:spcPts val="600"/>
              </a:spcAft>
            </a:pPr>
            <a:r>
              <a:rPr lang="en-US" sz="2800" kern="1200" dirty="0">
                <a:solidFill>
                  <a:schemeClr val="tx1"/>
                </a:solidFill>
                <a:latin typeface="+mn-lt"/>
                <a:ea typeface="+mn-ea"/>
                <a:cs typeface="+mn-cs"/>
              </a:rPr>
              <a:t>	Options for and impact of unplanned pregnancy</a:t>
            </a:r>
          </a:p>
          <a:p>
            <a:pPr marL="457200" indent="-457200" defTabSz="566928">
              <a:spcAft>
                <a:spcPts val="600"/>
              </a:spcAft>
              <a:buFont typeface="Arial" panose="020B0604020202020204" pitchFamily="34" charset="0"/>
              <a:buChar char="•"/>
            </a:pPr>
            <a:r>
              <a:rPr lang="en-US" sz="2800" kern="1200" dirty="0">
                <a:solidFill>
                  <a:schemeClr val="tx1"/>
                </a:solidFill>
                <a:latin typeface="+mn-lt"/>
                <a:ea typeface="+mn-ea"/>
                <a:cs typeface="+mn-cs"/>
              </a:rPr>
              <a:t>Health Attributes.</a:t>
            </a:r>
          </a:p>
          <a:p>
            <a:pPr marL="457200" indent="-457200" defTabSz="566928">
              <a:spcAft>
                <a:spcPts val="600"/>
              </a:spcAft>
              <a:buFont typeface="Arial" panose="020B0604020202020204" pitchFamily="34" charset="0"/>
              <a:buChar char="•"/>
            </a:pPr>
            <a:r>
              <a:rPr lang="en-US" sz="2800" kern="1200" dirty="0">
                <a:solidFill>
                  <a:schemeClr val="tx1"/>
                </a:solidFill>
                <a:latin typeface="+mn-lt"/>
                <a:ea typeface="+mn-ea"/>
                <a:cs typeface="+mn-cs"/>
              </a:rPr>
              <a:t>Assessment Task 3: STI Presentation (weeks 9 – 11)</a:t>
            </a:r>
          </a:p>
          <a:p>
            <a:pPr marL="566928" lvl="2" defTabSz="566928">
              <a:spcAft>
                <a:spcPts val="600"/>
              </a:spcAft>
            </a:pPr>
            <a:r>
              <a:rPr lang="en-US" sz="2800" kern="1200" dirty="0">
                <a:solidFill>
                  <a:schemeClr val="tx1"/>
                </a:solidFill>
                <a:latin typeface="+mn-lt"/>
                <a:ea typeface="+mn-ea"/>
                <a:cs typeface="+mn-cs"/>
              </a:rPr>
              <a:t>	Contributes to semester 2 reports.</a:t>
            </a:r>
            <a:endParaRPr lang="en-US" sz="2800" dirty="0"/>
          </a:p>
        </p:txBody>
      </p:sp>
      <p:sp>
        <p:nvSpPr>
          <p:cNvPr id="4" name="Right Brace 3">
            <a:extLst>
              <a:ext uri="{FF2B5EF4-FFF2-40B4-BE49-F238E27FC236}">
                <a16:creationId xmlns:a16="http://schemas.microsoft.com/office/drawing/2014/main" id="{421BF145-3964-F1FC-7689-F3E88CF83C16}"/>
              </a:ext>
            </a:extLst>
          </p:cNvPr>
          <p:cNvSpPr/>
          <p:nvPr/>
        </p:nvSpPr>
        <p:spPr>
          <a:xfrm>
            <a:off x="10146448" y="4098941"/>
            <a:ext cx="893693" cy="942399"/>
          </a:xfrm>
          <a:prstGeom prst="rightBrace">
            <a:avLst>
              <a:gd name="adj1" fmla="val 8333"/>
              <a:gd name="adj2" fmla="val 51471"/>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D14F6908-4D8D-641B-B17C-32FCE5234C92}"/>
              </a:ext>
            </a:extLst>
          </p:cNvPr>
          <p:cNvSpPr txBox="1"/>
          <p:nvPr/>
        </p:nvSpPr>
        <p:spPr>
          <a:xfrm>
            <a:off x="10837214" y="4216197"/>
            <a:ext cx="991358" cy="707886"/>
          </a:xfrm>
          <a:prstGeom prst="rect">
            <a:avLst/>
          </a:prstGeom>
          <a:noFill/>
        </p:spPr>
        <p:txBody>
          <a:bodyPr wrap="square" rtlCol="0">
            <a:spAutoFit/>
          </a:bodyPr>
          <a:lstStyle/>
          <a:p>
            <a:pPr algn="ctr" defTabSz="566928">
              <a:spcAft>
                <a:spcPts val="600"/>
              </a:spcAft>
            </a:pPr>
            <a:r>
              <a:rPr lang="en-US" sz="2000" b="1" kern="1200" dirty="0">
                <a:solidFill>
                  <a:schemeClr val="tx1"/>
                </a:solidFill>
                <a:latin typeface="+mn-lt"/>
                <a:ea typeface="+mn-ea"/>
                <a:cs typeface="+mn-cs"/>
              </a:rPr>
              <a:t>TERM 1 content</a:t>
            </a:r>
            <a:endParaRPr lang="en-US" sz="3600" b="1" dirty="0"/>
          </a:p>
        </p:txBody>
      </p:sp>
    </p:spTree>
    <p:extLst>
      <p:ext uri="{BB962C8B-B14F-4D97-AF65-F5344CB8AC3E}">
        <p14:creationId xmlns:p14="http://schemas.microsoft.com/office/powerpoint/2010/main" val="2505119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04FFB5-DE23-4D74-BEF9-CC7D947D357C}"/>
              </a:ext>
            </a:extLst>
          </p:cNvPr>
          <p:cNvSpPr>
            <a:spLocks noGrp="1"/>
          </p:cNvSpPr>
          <p:nvPr>
            <p:ph type="title"/>
          </p:nvPr>
        </p:nvSpPr>
        <p:spPr>
          <a:xfrm>
            <a:off x="640080" y="325369"/>
            <a:ext cx="4368602" cy="1956841"/>
          </a:xfrm>
        </p:spPr>
        <p:txBody>
          <a:bodyPr anchor="b">
            <a:normAutofit/>
          </a:bodyPr>
          <a:lstStyle/>
          <a:p>
            <a:r>
              <a:rPr lang="en-US" sz="6600"/>
              <a:t>Today’s Focus</a:t>
            </a:r>
          </a:p>
        </p:txBody>
      </p:sp>
      <p:sp>
        <p:nvSpPr>
          <p:cNvPr id="27"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093" y="2563839"/>
            <a:ext cx="3931920" cy="27432"/>
          </a:xfrm>
          <a:custGeom>
            <a:avLst/>
            <a:gdLst>
              <a:gd name="connsiteX0" fmla="*/ 0 w 3931920"/>
              <a:gd name="connsiteY0" fmla="*/ 0 h 27432"/>
              <a:gd name="connsiteX1" fmla="*/ 733958 w 3931920"/>
              <a:gd name="connsiteY1" fmla="*/ 0 h 27432"/>
              <a:gd name="connsiteX2" fmla="*/ 1428598 w 3931920"/>
              <a:gd name="connsiteY2" fmla="*/ 0 h 27432"/>
              <a:gd name="connsiteX3" fmla="*/ 2123237 w 3931920"/>
              <a:gd name="connsiteY3" fmla="*/ 0 h 27432"/>
              <a:gd name="connsiteX4" fmla="*/ 2660599 w 3931920"/>
              <a:gd name="connsiteY4" fmla="*/ 0 h 27432"/>
              <a:gd name="connsiteX5" fmla="*/ 3237281 w 3931920"/>
              <a:gd name="connsiteY5" fmla="*/ 0 h 27432"/>
              <a:gd name="connsiteX6" fmla="*/ 3931920 w 3931920"/>
              <a:gd name="connsiteY6" fmla="*/ 0 h 27432"/>
              <a:gd name="connsiteX7" fmla="*/ 3931920 w 3931920"/>
              <a:gd name="connsiteY7" fmla="*/ 27432 h 27432"/>
              <a:gd name="connsiteX8" fmla="*/ 3276600 w 3931920"/>
              <a:gd name="connsiteY8" fmla="*/ 27432 h 27432"/>
              <a:gd name="connsiteX9" fmla="*/ 2739238 w 3931920"/>
              <a:gd name="connsiteY9" fmla="*/ 27432 h 27432"/>
              <a:gd name="connsiteX10" fmla="*/ 2201875 w 3931920"/>
              <a:gd name="connsiteY10" fmla="*/ 27432 h 27432"/>
              <a:gd name="connsiteX11" fmla="*/ 1507236 w 3931920"/>
              <a:gd name="connsiteY11" fmla="*/ 27432 h 27432"/>
              <a:gd name="connsiteX12" fmla="*/ 930554 w 3931920"/>
              <a:gd name="connsiteY12" fmla="*/ 27432 h 27432"/>
              <a:gd name="connsiteX13" fmla="*/ 0 w 3931920"/>
              <a:gd name="connsiteY13" fmla="*/ 27432 h 27432"/>
              <a:gd name="connsiteX14" fmla="*/ 0 w 3931920"/>
              <a:gd name="connsiteY14"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31920" h="27432" fill="none" extrusionOk="0">
                <a:moveTo>
                  <a:pt x="0" y="0"/>
                </a:moveTo>
                <a:cubicBezTo>
                  <a:pt x="245351" y="16874"/>
                  <a:pt x="509174" y="13736"/>
                  <a:pt x="733958" y="0"/>
                </a:cubicBezTo>
                <a:cubicBezTo>
                  <a:pt x="958742" y="-13736"/>
                  <a:pt x="1245406" y="-17215"/>
                  <a:pt x="1428598" y="0"/>
                </a:cubicBezTo>
                <a:cubicBezTo>
                  <a:pt x="1611790" y="17215"/>
                  <a:pt x="1930525" y="20562"/>
                  <a:pt x="2123237" y="0"/>
                </a:cubicBezTo>
                <a:cubicBezTo>
                  <a:pt x="2315949" y="-20562"/>
                  <a:pt x="2485508" y="11332"/>
                  <a:pt x="2660599" y="0"/>
                </a:cubicBezTo>
                <a:cubicBezTo>
                  <a:pt x="2835690" y="-11332"/>
                  <a:pt x="3075198" y="-14809"/>
                  <a:pt x="3237281" y="0"/>
                </a:cubicBezTo>
                <a:cubicBezTo>
                  <a:pt x="3399364" y="14809"/>
                  <a:pt x="3745084" y="-4992"/>
                  <a:pt x="3931920" y="0"/>
                </a:cubicBezTo>
                <a:cubicBezTo>
                  <a:pt x="3930963" y="8431"/>
                  <a:pt x="3931571" y="14612"/>
                  <a:pt x="3931920" y="27432"/>
                </a:cubicBezTo>
                <a:cubicBezTo>
                  <a:pt x="3765435" y="40792"/>
                  <a:pt x="3452398" y="38703"/>
                  <a:pt x="3276600" y="27432"/>
                </a:cubicBezTo>
                <a:cubicBezTo>
                  <a:pt x="3100802" y="16161"/>
                  <a:pt x="2914889" y="26998"/>
                  <a:pt x="2739238" y="27432"/>
                </a:cubicBezTo>
                <a:cubicBezTo>
                  <a:pt x="2563587" y="27866"/>
                  <a:pt x="2395484" y="39154"/>
                  <a:pt x="2201875" y="27432"/>
                </a:cubicBezTo>
                <a:cubicBezTo>
                  <a:pt x="2008266" y="15710"/>
                  <a:pt x="1781367" y="4899"/>
                  <a:pt x="1507236" y="27432"/>
                </a:cubicBezTo>
                <a:cubicBezTo>
                  <a:pt x="1233105" y="49965"/>
                  <a:pt x="1075495" y="47542"/>
                  <a:pt x="930554" y="27432"/>
                </a:cubicBezTo>
                <a:cubicBezTo>
                  <a:pt x="785613" y="7322"/>
                  <a:pt x="268930" y="30433"/>
                  <a:pt x="0" y="27432"/>
                </a:cubicBezTo>
                <a:cubicBezTo>
                  <a:pt x="226" y="18208"/>
                  <a:pt x="-648" y="12891"/>
                  <a:pt x="0" y="0"/>
                </a:cubicBezTo>
                <a:close/>
              </a:path>
              <a:path w="3931920" h="27432" stroke="0" extrusionOk="0">
                <a:moveTo>
                  <a:pt x="0" y="0"/>
                </a:moveTo>
                <a:cubicBezTo>
                  <a:pt x="278269" y="4786"/>
                  <a:pt x="349028" y="-10422"/>
                  <a:pt x="616001" y="0"/>
                </a:cubicBezTo>
                <a:cubicBezTo>
                  <a:pt x="882974" y="10422"/>
                  <a:pt x="931617" y="-15515"/>
                  <a:pt x="1153363" y="0"/>
                </a:cubicBezTo>
                <a:cubicBezTo>
                  <a:pt x="1375109" y="15515"/>
                  <a:pt x="1704089" y="-3631"/>
                  <a:pt x="1887322" y="0"/>
                </a:cubicBezTo>
                <a:cubicBezTo>
                  <a:pt x="2070555" y="3631"/>
                  <a:pt x="2344155" y="2213"/>
                  <a:pt x="2503322" y="0"/>
                </a:cubicBezTo>
                <a:cubicBezTo>
                  <a:pt x="2662489" y="-2213"/>
                  <a:pt x="2976859" y="26691"/>
                  <a:pt x="3119323" y="0"/>
                </a:cubicBezTo>
                <a:cubicBezTo>
                  <a:pt x="3261787" y="-26691"/>
                  <a:pt x="3588171" y="-28651"/>
                  <a:pt x="3931920" y="0"/>
                </a:cubicBezTo>
                <a:cubicBezTo>
                  <a:pt x="3930565" y="9524"/>
                  <a:pt x="3930718" y="13975"/>
                  <a:pt x="3931920" y="27432"/>
                </a:cubicBezTo>
                <a:cubicBezTo>
                  <a:pt x="3664329" y="4021"/>
                  <a:pt x="3437686" y="14511"/>
                  <a:pt x="3276600" y="27432"/>
                </a:cubicBezTo>
                <a:cubicBezTo>
                  <a:pt x="3115514" y="40353"/>
                  <a:pt x="2913592" y="48967"/>
                  <a:pt x="2739238" y="27432"/>
                </a:cubicBezTo>
                <a:cubicBezTo>
                  <a:pt x="2564884" y="5897"/>
                  <a:pt x="2294049" y="39820"/>
                  <a:pt x="2083918" y="27432"/>
                </a:cubicBezTo>
                <a:cubicBezTo>
                  <a:pt x="1873787" y="15044"/>
                  <a:pt x="1718903" y="21388"/>
                  <a:pt x="1428598" y="27432"/>
                </a:cubicBezTo>
                <a:cubicBezTo>
                  <a:pt x="1138293" y="33476"/>
                  <a:pt x="952209" y="50441"/>
                  <a:pt x="812597" y="27432"/>
                </a:cubicBezTo>
                <a:cubicBezTo>
                  <a:pt x="672985" y="4423"/>
                  <a:pt x="305800" y="28240"/>
                  <a:pt x="0" y="27432"/>
                </a:cubicBezTo>
                <a:cubicBezTo>
                  <a:pt x="-800" y="16780"/>
                  <a:pt x="-583" y="12910"/>
                  <a:pt x="0" y="0"/>
                </a:cubicBezTo>
                <a:close/>
              </a:path>
            </a:pathLst>
          </a:custGeom>
          <a:solidFill>
            <a:srgbClr val="E5B399"/>
          </a:solidFill>
          <a:ln w="38100" cap="rnd">
            <a:solidFill>
              <a:srgbClr val="E5B399"/>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A63D7FC-176D-B898-C622-E503B972CD01}"/>
              </a:ext>
            </a:extLst>
          </p:cNvPr>
          <p:cNvSpPr>
            <a:spLocks noGrp="1"/>
          </p:cNvSpPr>
          <p:nvPr>
            <p:ph idx="1"/>
          </p:nvPr>
        </p:nvSpPr>
        <p:spPr>
          <a:xfrm>
            <a:off x="640080" y="2872899"/>
            <a:ext cx="4243589" cy="3320668"/>
          </a:xfrm>
        </p:spPr>
        <p:txBody>
          <a:bodyPr>
            <a:normAutofit/>
          </a:bodyPr>
          <a:lstStyle/>
          <a:p>
            <a:r>
              <a:rPr lang="en-US"/>
              <a:t>Review consent.</a:t>
            </a:r>
          </a:p>
          <a:p>
            <a:r>
              <a:rPr lang="en-US"/>
              <a:t>Introduction to contraception.</a:t>
            </a:r>
            <a:endParaRPr lang="en-US" dirty="0"/>
          </a:p>
        </p:txBody>
      </p:sp>
      <p:pic>
        <p:nvPicPr>
          <p:cNvPr id="5" name="Picture 4" descr="Writing an appointment on a paper agenda">
            <a:extLst>
              <a:ext uri="{FF2B5EF4-FFF2-40B4-BE49-F238E27FC236}">
                <a16:creationId xmlns:a16="http://schemas.microsoft.com/office/drawing/2014/main" id="{EDE161DE-AC56-B92C-DAD0-35C65DB94381}"/>
              </a:ext>
            </a:extLst>
          </p:cNvPr>
          <p:cNvPicPr>
            <a:picLocks noChangeAspect="1"/>
          </p:cNvPicPr>
          <p:nvPr/>
        </p:nvPicPr>
        <p:blipFill rotWithShape="1">
          <a:blip r:embed="rId2"/>
          <a:srcRect r="33047"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465893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3A92E-C080-69D7-AA64-9B135DE80E85}"/>
              </a:ext>
            </a:extLst>
          </p:cNvPr>
          <p:cNvSpPr>
            <a:spLocks noGrp="1"/>
          </p:cNvSpPr>
          <p:nvPr>
            <p:ph type="title"/>
          </p:nvPr>
        </p:nvSpPr>
        <p:spPr/>
        <p:txBody>
          <a:bodyPr/>
          <a:lstStyle/>
          <a:p>
            <a:r>
              <a:rPr lang="en-US" dirty="0"/>
              <a:t>ACTIVITY 1: CONSENT REVIEW – BRAINSTORM (pg. 8)</a:t>
            </a:r>
          </a:p>
        </p:txBody>
      </p:sp>
      <p:sp>
        <p:nvSpPr>
          <p:cNvPr id="3" name="Content Placeholder 2">
            <a:extLst>
              <a:ext uri="{FF2B5EF4-FFF2-40B4-BE49-F238E27FC236}">
                <a16:creationId xmlns:a16="http://schemas.microsoft.com/office/drawing/2014/main" id="{71DA4EC3-13F7-33F6-9B6F-71AB5ABD9375}"/>
              </a:ext>
            </a:extLst>
          </p:cNvPr>
          <p:cNvSpPr>
            <a:spLocks noGrp="1"/>
          </p:cNvSpPr>
          <p:nvPr>
            <p:ph idx="1"/>
          </p:nvPr>
        </p:nvSpPr>
        <p:spPr/>
        <p:txBody>
          <a:bodyPr/>
          <a:lstStyle/>
          <a:p>
            <a:r>
              <a:rPr lang="en-US" dirty="0"/>
              <a:t>Brainstorm everything you can recall on CONSENT:</a:t>
            </a:r>
          </a:p>
          <a:p>
            <a:pPr lvl="1"/>
            <a:r>
              <a:rPr lang="en-US" dirty="0"/>
              <a:t>What is it?</a:t>
            </a:r>
          </a:p>
          <a:p>
            <a:pPr lvl="1"/>
            <a:r>
              <a:rPr lang="en-US" dirty="0"/>
              <a:t>Examples of how to ask for consent.</a:t>
            </a:r>
          </a:p>
          <a:p>
            <a:pPr lvl="1"/>
            <a:r>
              <a:rPr lang="en-US" dirty="0"/>
              <a:t>How can consent be given?</a:t>
            </a:r>
          </a:p>
          <a:p>
            <a:pPr lvl="1"/>
            <a:r>
              <a:rPr lang="en-US" dirty="0"/>
              <a:t>When can consent NOT be given?</a:t>
            </a:r>
          </a:p>
          <a:p>
            <a:pPr lvl="1"/>
            <a:r>
              <a:rPr lang="en-US" dirty="0"/>
              <a:t>Consent and the law.</a:t>
            </a:r>
          </a:p>
          <a:p>
            <a:pPr lvl="1"/>
            <a:endParaRPr lang="en-US" dirty="0"/>
          </a:p>
          <a:p>
            <a:r>
              <a:rPr lang="en-US" dirty="0"/>
              <a:t>You have 5 minutes. </a:t>
            </a:r>
          </a:p>
        </p:txBody>
      </p:sp>
      <p:sp>
        <p:nvSpPr>
          <p:cNvPr id="5" name="Cloud 4">
            <a:extLst>
              <a:ext uri="{FF2B5EF4-FFF2-40B4-BE49-F238E27FC236}">
                <a16:creationId xmlns:a16="http://schemas.microsoft.com/office/drawing/2014/main" id="{6251D871-533F-D40E-32B4-1F125A2787B3}"/>
              </a:ext>
            </a:extLst>
          </p:cNvPr>
          <p:cNvSpPr/>
          <p:nvPr/>
        </p:nvSpPr>
        <p:spPr>
          <a:xfrm>
            <a:off x="6832600" y="2575814"/>
            <a:ext cx="4686300" cy="2959100"/>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2CA66F1D-C717-75F9-BFC6-AB5E98E47F9C}"/>
              </a:ext>
            </a:extLst>
          </p:cNvPr>
          <p:cNvSpPr txBox="1"/>
          <p:nvPr/>
        </p:nvSpPr>
        <p:spPr>
          <a:xfrm>
            <a:off x="7658100" y="3200400"/>
            <a:ext cx="2819400" cy="1569660"/>
          </a:xfrm>
          <a:prstGeom prst="rect">
            <a:avLst/>
          </a:prstGeom>
          <a:noFill/>
        </p:spPr>
        <p:txBody>
          <a:bodyPr wrap="square" rtlCol="0">
            <a:spAutoFit/>
          </a:bodyPr>
          <a:lstStyle/>
          <a:p>
            <a:r>
              <a:rPr lang="en-US" sz="9600" b="1" u="sng" dirty="0"/>
              <a:t>CONSENT</a:t>
            </a:r>
          </a:p>
        </p:txBody>
      </p:sp>
      <p:cxnSp>
        <p:nvCxnSpPr>
          <p:cNvPr id="8" name="Straight Arrow Connector 7">
            <a:extLst>
              <a:ext uri="{FF2B5EF4-FFF2-40B4-BE49-F238E27FC236}">
                <a16:creationId xmlns:a16="http://schemas.microsoft.com/office/drawing/2014/main" id="{072CD852-55F3-9048-9F9D-16AC55AD1F27}"/>
              </a:ext>
            </a:extLst>
          </p:cNvPr>
          <p:cNvCxnSpPr/>
          <p:nvPr/>
        </p:nvCxnSpPr>
        <p:spPr>
          <a:xfrm flipH="1" flipV="1">
            <a:off x="7658100" y="1954784"/>
            <a:ext cx="698500" cy="966216"/>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 name="Straight Arrow Connector 8">
            <a:extLst>
              <a:ext uri="{FF2B5EF4-FFF2-40B4-BE49-F238E27FC236}">
                <a16:creationId xmlns:a16="http://schemas.microsoft.com/office/drawing/2014/main" id="{7280E977-4D44-2131-BA59-D96877BBCCB4}"/>
              </a:ext>
            </a:extLst>
          </p:cNvPr>
          <p:cNvCxnSpPr>
            <a:cxnSpLocks/>
          </p:cNvCxnSpPr>
          <p:nvPr/>
        </p:nvCxnSpPr>
        <p:spPr>
          <a:xfrm flipH="1">
            <a:off x="5842000" y="4343400"/>
            <a:ext cx="1193800" cy="426660"/>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 name="Straight Arrow Connector 11">
            <a:extLst>
              <a:ext uri="{FF2B5EF4-FFF2-40B4-BE49-F238E27FC236}">
                <a16:creationId xmlns:a16="http://schemas.microsoft.com/office/drawing/2014/main" id="{132EA967-58AA-EFD3-76F1-8D2B8636217F}"/>
              </a:ext>
            </a:extLst>
          </p:cNvPr>
          <p:cNvCxnSpPr>
            <a:cxnSpLocks/>
          </p:cNvCxnSpPr>
          <p:nvPr/>
        </p:nvCxnSpPr>
        <p:spPr>
          <a:xfrm flipH="1">
            <a:off x="8255000" y="5262372"/>
            <a:ext cx="342900" cy="1072231"/>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 name="Straight Arrow Connector 14">
            <a:extLst>
              <a:ext uri="{FF2B5EF4-FFF2-40B4-BE49-F238E27FC236}">
                <a16:creationId xmlns:a16="http://schemas.microsoft.com/office/drawing/2014/main" id="{C2E1EF6B-5EE4-1DD8-261F-C7B821B8DE58}"/>
              </a:ext>
            </a:extLst>
          </p:cNvPr>
          <p:cNvCxnSpPr>
            <a:cxnSpLocks/>
          </p:cNvCxnSpPr>
          <p:nvPr/>
        </p:nvCxnSpPr>
        <p:spPr>
          <a:xfrm>
            <a:off x="9931400" y="5074860"/>
            <a:ext cx="698500" cy="1106484"/>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a:extLst>
              <a:ext uri="{FF2B5EF4-FFF2-40B4-BE49-F238E27FC236}">
                <a16:creationId xmlns:a16="http://schemas.microsoft.com/office/drawing/2014/main" id="{A3A20B29-8153-B7DF-608B-3D1CD7D8D969}"/>
              </a:ext>
            </a:extLst>
          </p:cNvPr>
          <p:cNvCxnSpPr>
            <a:cxnSpLocks/>
          </p:cNvCxnSpPr>
          <p:nvPr/>
        </p:nvCxnSpPr>
        <p:spPr>
          <a:xfrm flipV="1">
            <a:off x="11328400" y="3429000"/>
            <a:ext cx="571500" cy="254000"/>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a:extLst>
              <a:ext uri="{FF2B5EF4-FFF2-40B4-BE49-F238E27FC236}">
                <a16:creationId xmlns:a16="http://schemas.microsoft.com/office/drawing/2014/main" id="{B4CBC028-92C5-F827-893B-36377700C2D9}"/>
              </a:ext>
            </a:extLst>
          </p:cNvPr>
          <p:cNvCxnSpPr>
            <a:cxnSpLocks/>
          </p:cNvCxnSpPr>
          <p:nvPr/>
        </p:nvCxnSpPr>
        <p:spPr>
          <a:xfrm flipV="1">
            <a:off x="10058400" y="1954784"/>
            <a:ext cx="419100" cy="778704"/>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974353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02DFD-7E3B-C32E-7E35-702B968F3FCD}"/>
              </a:ext>
            </a:extLst>
          </p:cNvPr>
          <p:cNvSpPr>
            <a:spLocks noGrp="1"/>
          </p:cNvSpPr>
          <p:nvPr>
            <p:ph type="title"/>
          </p:nvPr>
        </p:nvSpPr>
        <p:spPr/>
        <p:txBody>
          <a:bodyPr/>
          <a:lstStyle/>
          <a:p>
            <a:r>
              <a:rPr lang="en-US" dirty="0"/>
              <a:t>REVIEW: What is Consent? (pg. 8)</a:t>
            </a:r>
          </a:p>
        </p:txBody>
      </p:sp>
      <p:sp>
        <p:nvSpPr>
          <p:cNvPr id="3" name="Content Placeholder 2">
            <a:extLst>
              <a:ext uri="{FF2B5EF4-FFF2-40B4-BE49-F238E27FC236}">
                <a16:creationId xmlns:a16="http://schemas.microsoft.com/office/drawing/2014/main" id="{3C5F0FAD-B2BF-B83E-2B3E-F1FC129AC711}"/>
              </a:ext>
            </a:extLst>
          </p:cNvPr>
          <p:cNvSpPr>
            <a:spLocks noGrp="1"/>
          </p:cNvSpPr>
          <p:nvPr>
            <p:ph idx="1"/>
          </p:nvPr>
        </p:nvSpPr>
        <p:spPr>
          <a:xfrm>
            <a:off x="838200" y="1929383"/>
            <a:ext cx="10515600" cy="4563491"/>
          </a:xfrm>
        </p:spPr>
        <p:txBody>
          <a:bodyPr/>
          <a:lstStyle/>
          <a:p>
            <a:r>
              <a:rPr lang="en-US" dirty="0"/>
              <a:t>Consent is…</a:t>
            </a:r>
          </a:p>
          <a:p>
            <a:pPr lvl="1"/>
            <a:r>
              <a:rPr lang="en-US" dirty="0"/>
              <a:t>Active, not passive. </a:t>
            </a:r>
          </a:p>
          <a:p>
            <a:pPr lvl="1"/>
            <a:r>
              <a:rPr lang="en-US" dirty="0"/>
              <a:t>The presence of an enthusiastic yes (not the absence of a no). </a:t>
            </a:r>
          </a:p>
          <a:p>
            <a:pPr lvl="1"/>
            <a:r>
              <a:rPr lang="en-US" dirty="0"/>
              <a:t>An ongoing conversation.</a:t>
            </a:r>
          </a:p>
          <a:p>
            <a:pPr lvl="1"/>
            <a:r>
              <a:rPr lang="en-US" dirty="0"/>
              <a:t>Respect.</a:t>
            </a:r>
          </a:p>
          <a:p>
            <a:pPr lvl="1"/>
            <a:r>
              <a:rPr lang="en-US" dirty="0"/>
              <a:t>An agreement freely made, or permission given without coercion, force, threats, manipulation, or intimidation etc. </a:t>
            </a:r>
          </a:p>
          <a:p>
            <a:pPr lvl="1"/>
            <a:r>
              <a:rPr lang="en-US" dirty="0"/>
              <a:t>Only able to given by those 16 years and above.</a:t>
            </a:r>
          </a:p>
          <a:p>
            <a:r>
              <a:rPr lang="en-US" dirty="0"/>
              <a:t>Sexual consent is when both partners agree to engage in any kind of sexual behaviours. </a:t>
            </a:r>
          </a:p>
          <a:p>
            <a:r>
              <a:rPr lang="en-US" dirty="0"/>
              <a:t>It can be withdrawn at ANY time and is only applicable to the specific act at that specific time. </a:t>
            </a:r>
          </a:p>
        </p:txBody>
      </p:sp>
    </p:spTree>
    <p:extLst>
      <p:ext uri="{BB962C8B-B14F-4D97-AF65-F5344CB8AC3E}">
        <p14:creationId xmlns:p14="http://schemas.microsoft.com/office/powerpoint/2010/main" val="3052833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D26D2-3BD7-8B18-D6EC-208B4896A0B9}"/>
              </a:ext>
            </a:extLst>
          </p:cNvPr>
          <p:cNvSpPr>
            <a:spLocks noGrp="1"/>
          </p:cNvSpPr>
          <p:nvPr>
            <p:ph type="title"/>
          </p:nvPr>
        </p:nvSpPr>
        <p:spPr/>
        <p:txBody>
          <a:bodyPr/>
          <a:lstStyle/>
          <a:p>
            <a:r>
              <a:rPr lang="en-US" dirty="0"/>
              <a:t>REVIEW: Consent (pg. 8)</a:t>
            </a:r>
          </a:p>
        </p:txBody>
      </p:sp>
      <p:sp>
        <p:nvSpPr>
          <p:cNvPr id="3" name="Content Placeholder 2">
            <a:extLst>
              <a:ext uri="{FF2B5EF4-FFF2-40B4-BE49-F238E27FC236}">
                <a16:creationId xmlns:a16="http://schemas.microsoft.com/office/drawing/2014/main" id="{F3E11722-7830-77D7-FB3A-F6C7C18B5E1F}"/>
              </a:ext>
            </a:extLst>
          </p:cNvPr>
          <p:cNvSpPr>
            <a:spLocks noGrp="1"/>
          </p:cNvSpPr>
          <p:nvPr>
            <p:ph idx="1"/>
          </p:nvPr>
        </p:nvSpPr>
        <p:spPr/>
        <p:txBody>
          <a:bodyPr>
            <a:normAutofit lnSpcReduction="10000"/>
          </a:bodyPr>
          <a:lstStyle/>
          <a:p>
            <a:r>
              <a:rPr lang="en-AU" sz="2800" dirty="0"/>
              <a:t>Giving consent is active, not passive. </a:t>
            </a:r>
            <a:r>
              <a:rPr lang="en-AU" dirty="0"/>
              <a:t>This</a:t>
            </a:r>
            <a:r>
              <a:rPr lang="en-AU" sz="2800" dirty="0"/>
              <a:t> means freely choosing to say 'yes' and also being free to change your mind at any time. </a:t>
            </a:r>
          </a:p>
          <a:p>
            <a:r>
              <a:rPr lang="en-AU" sz="2800" dirty="0"/>
              <a:t>In Western Australia, the </a:t>
            </a:r>
            <a:r>
              <a:rPr lang="en-AU" sz="2800" b="1" dirty="0"/>
              <a:t>legal age for males and females to consent to sexual activity is 16 years of age</a:t>
            </a:r>
            <a:r>
              <a:rPr lang="en-AU" sz="2800" dirty="0"/>
              <a:t>. If you have sex with someone who is under 16 years of age it is a crime.</a:t>
            </a:r>
          </a:p>
          <a:p>
            <a:endParaRPr lang="en-AU" dirty="0"/>
          </a:p>
          <a:p>
            <a:r>
              <a:rPr lang="en-AU" sz="2800" dirty="0"/>
              <a:t>Consent can be:</a:t>
            </a:r>
          </a:p>
          <a:p>
            <a:pPr lvl="1"/>
            <a:r>
              <a:rPr lang="en-AU" sz="2800" b="1" dirty="0">
                <a:solidFill>
                  <a:srgbClr val="FF0000"/>
                </a:solidFill>
              </a:rPr>
              <a:t>VERBAL</a:t>
            </a:r>
            <a:r>
              <a:rPr lang="en-AU" sz="2800" dirty="0"/>
              <a:t> – a clearly, spoken agreement.</a:t>
            </a:r>
          </a:p>
          <a:p>
            <a:pPr lvl="1"/>
            <a:r>
              <a:rPr lang="en-AU" sz="2800" b="1" dirty="0">
                <a:solidFill>
                  <a:srgbClr val="00B0F0"/>
                </a:solidFill>
              </a:rPr>
              <a:t>NON-VERBAL</a:t>
            </a:r>
            <a:r>
              <a:rPr lang="en-AU" sz="2800" dirty="0"/>
              <a:t> – free and active participation.</a:t>
            </a:r>
          </a:p>
          <a:p>
            <a:endParaRPr lang="en-US" sz="2800" dirty="0"/>
          </a:p>
          <a:p>
            <a:endParaRPr lang="en-US" dirty="0"/>
          </a:p>
        </p:txBody>
      </p:sp>
      <p:pic>
        <p:nvPicPr>
          <p:cNvPr id="4" name="Picture 2" descr="No' Means 'No': It Really Is That Simple When It Comes To Consent |  HuffPost Impact">
            <a:extLst>
              <a:ext uri="{FF2B5EF4-FFF2-40B4-BE49-F238E27FC236}">
                <a16:creationId xmlns:a16="http://schemas.microsoft.com/office/drawing/2014/main" id="{9AC93C7B-46B0-934E-0E18-7E625FA5C10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69" t="10636" r="2019" b="25743"/>
          <a:stretch/>
        </p:blipFill>
        <p:spPr bwMode="auto">
          <a:xfrm>
            <a:off x="6806454" y="3525981"/>
            <a:ext cx="3668806" cy="3184334"/>
          </a:xfrm>
          <a:prstGeom prst="rect">
            <a:avLst/>
          </a:prstGeom>
          <a:noFill/>
          <a:ln w="57150">
            <a:solidFill>
              <a:schemeClr val="accent6">
                <a:lumMod val="60000"/>
                <a:lumOff val="40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1143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87D78-DBA8-7B61-6344-037B2803E5D6}"/>
              </a:ext>
            </a:extLst>
          </p:cNvPr>
          <p:cNvSpPr>
            <a:spLocks noGrp="1"/>
          </p:cNvSpPr>
          <p:nvPr>
            <p:ph type="title"/>
          </p:nvPr>
        </p:nvSpPr>
        <p:spPr/>
        <p:txBody>
          <a:bodyPr/>
          <a:lstStyle/>
          <a:p>
            <a:r>
              <a:rPr lang="en-US" dirty="0"/>
              <a:t>REVIEW: Consent – freedom and capacity (pg. 8)</a:t>
            </a:r>
          </a:p>
        </p:txBody>
      </p:sp>
      <p:sp>
        <p:nvSpPr>
          <p:cNvPr id="3" name="Content Placeholder 2">
            <a:extLst>
              <a:ext uri="{FF2B5EF4-FFF2-40B4-BE49-F238E27FC236}">
                <a16:creationId xmlns:a16="http://schemas.microsoft.com/office/drawing/2014/main" id="{EA7555A9-1BD1-5158-FD6E-6F7B293389F2}"/>
              </a:ext>
            </a:extLst>
          </p:cNvPr>
          <p:cNvSpPr>
            <a:spLocks noGrp="1"/>
          </p:cNvSpPr>
          <p:nvPr>
            <p:ph idx="1"/>
          </p:nvPr>
        </p:nvSpPr>
        <p:spPr>
          <a:xfrm>
            <a:off x="838200" y="1929383"/>
            <a:ext cx="10883900" cy="4563491"/>
          </a:xfrm>
        </p:spPr>
        <p:txBody>
          <a:bodyPr>
            <a:normAutofit fontScale="85000" lnSpcReduction="20000"/>
          </a:bodyPr>
          <a:lstStyle/>
          <a:p>
            <a:r>
              <a:rPr lang="en-US" b="1" dirty="0">
                <a:solidFill>
                  <a:srgbClr val="00B050"/>
                </a:solidFill>
              </a:rPr>
              <a:t>FREEDOM</a:t>
            </a:r>
            <a:r>
              <a:rPr lang="en-US" dirty="0"/>
              <a:t> to GIVE consent:</a:t>
            </a:r>
          </a:p>
          <a:p>
            <a:pPr lvl="1"/>
            <a:r>
              <a:rPr lang="en-AU" sz="2800" dirty="0"/>
              <a:t>When a person can make the choice to engage in sexual activity freely, free from threats, intimidation or coercion etc</a:t>
            </a:r>
            <a:r>
              <a:rPr lang="en-AU" sz="2400" dirty="0"/>
              <a:t>. </a:t>
            </a:r>
            <a:endParaRPr lang="en-US" dirty="0"/>
          </a:p>
          <a:p>
            <a:endParaRPr lang="en-US" dirty="0"/>
          </a:p>
          <a:p>
            <a:r>
              <a:rPr lang="en-US" b="1" dirty="0">
                <a:solidFill>
                  <a:srgbClr val="7030A0"/>
                </a:solidFill>
              </a:rPr>
              <a:t>CAPACITY</a:t>
            </a:r>
            <a:r>
              <a:rPr lang="en-US" dirty="0"/>
              <a:t> to GIVE consent:</a:t>
            </a:r>
          </a:p>
          <a:p>
            <a:pPr lvl="1"/>
            <a:r>
              <a:rPr lang="en-US" sz="2800" dirty="0"/>
              <a:t>Even if consent has been given, they still need to have the CAPACITY to do so. </a:t>
            </a:r>
          </a:p>
          <a:p>
            <a:pPr lvl="1"/>
            <a:r>
              <a:rPr lang="en-US" sz="2800" dirty="0"/>
              <a:t>People who </a:t>
            </a:r>
            <a:r>
              <a:rPr lang="en-US" sz="2800" u="sng" dirty="0"/>
              <a:t>DO NOT </a:t>
            </a:r>
            <a:r>
              <a:rPr lang="en-US" sz="2800" dirty="0"/>
              <a:t>have the CAPACITY to GIVE consent include:</a:t>
            </a:r>
          </a:p>
          <a:p>
            <a:pPr lvl="2"/>
            <a:r>
              <a:rPr lang="en-US" sz="2800" dirty="0"/>
              <a:t>Anyone under 16 years of age. </a:t>
            </a:r>
          </a:p>
          <a:p>
            <a:pPr lvl="2"/>
            <a:r>
              <a:rPr lang="en-US" sz="2800" dirty="0"/>
              <a:t>Anyone who is unconscious, asleep, intoxicated, drugged, or otherwise </a:t>
            </a:r>
            <a:br>
              <a:rPr lang="en-US" sz="2800" dirty="0"/>
            </a:br>
            <a:r>
              <a:rPr lang="en-US" sz="2800" dirty="0"/>
              <a:t>unable to say yes. </a:t>
            </a:r>
          </a:p>
          <a:p>
            <a:pPr lvl="2"/>
            <a:r>
              <a:rPr lang="en-US" sz="2800" dirty="0"/>
              <a:t>Anyone who has a psychological or decision-making disability that impacts on </a:t>
            </a:r>
            <a:br>
              <a:rPr lang="en-US" sz="2800" dirty="0"/>
            </a:br>
            <a:r>
              <a:rPr lang="en-US" sz="2800" dirty="0"/>
              <a:t>their ability to understand what they are consenting to.</a:t>
            </a:r>
          </a:p>
        </p:txBody>
      </p:sp>
      <p:sp>
        <p:nvSpPr>
          <p:cNvPr id="4" name="Hexagon 3">
            <a:extLst>
              <a:ext uri="{FF2B5EF4-FFF2-40B4-BE49-F238E27FC236}">
                <a16:creationId xmlns:a16="http://schemas.microsoft.com/office/drawing/2014/main" id="{A9C731BE-7C35-6973-7FBB-819899116614}"/>
              </a:ext>
            </a:extLst>
          </p:cNvPr>
          <p:cNvSpPr/>
          <p:nvPr/>
        </p:nvSpPr>
        <p:spPr>
          <a:xfrm>
            <a:off x="7823200" y="3089465"/>
            <a:ext cx="3898900" cy="3330575"/>
          </a:xfrm>
          <a:prstGeom prst="hexagon">
            <a:avLst/>
          </a:prstGeom>
          <a:solidFill>
            <a:srgbClr val="FF00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C3F4FCD-A9E3-41EA-3BF9-45853BDA0D00}"/>
              </a:ext>
            </a:extLst>
          </p:cNvPr>
          <p:cNvSpPr txBox="1"/>
          <p:nvPr/>
        </p:nvSpPr>
        <p:spPr>
          <a:xfrm>
            <a:off x="8416925" y="3415924"/>
            <a:ext cx="2711450" cy="2677656"/>
          </a:xfrm>
          <a:prstGeom prst="rect">
            <a:avLst/>
          </a:prstGeom>
          <a:noFill/>
        </p:spPr>
        <p:txBody>
          <a:bodyPr wrap="square" rtlCol="0">
            <a:spAutoFit/>
          </a:bodyPr>
          <a:lstStyle/>
          <a:p>
            <a:pPr algn="ctr"/>
            <a:r>
              <a:rPr lang="en-US" sz="2800" b="1" dirty="0">
                <a:solidFill>
                  <a:schemeClr val="bg1"/>
                </a:solidFill>
              </a:rPr>
              <a:t>If these criteria are not met, and a person is not able to give consent, regardless of age, it is a crime to engage in a sexual relationship or sexual behaviours with that person. </a:t>
            </a:r>
          </a:p>
        </p:txBody>
      </p:sp>
    </p:spTree>
    <p:extLst>
      <p:ext uri="{BB962C8B-B14F-4D97-AF65-F5344CB8AC3E}">
        <p14:creationId xmlns:p14="http://schemas.microsoft.com/office/powerpoint/2010/main" val="1692450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938F2-8271-CAAE-D60C-EAFE870B6E36}"/>
              </a:ext>
            </a:extLst>
          </p:cNvPr>
          <p:cNvSpPr>
            <a:spLocks noGrp="1"/>
          </p:cNvSpPr>
          <p:nvPr>
            <p:ph type="title"/>
          </p:nvPr>
        </p:nvSpPr>
        <p:spPr/>
        <p:txBody>
          <a:bodyPr/>
          <a:lstStyle/>
          <a:p>
            <a:r>
              <a:rPr lang="en-US" dirty="0"/>
              <a:t>Activity 2: Consent Scenario’s – IS this Consent?</a:t>
            </a:r>
          </a:p>
        </p:txBody>
      </p:sp>
      <p:sp>
        <p:nvSpPr>
          <p:cNvPr id="3" name="Content Placeholder 2">
            <a:extLst>
              <a:ext uri="{FF2B5EF4-FFF2-40B4-BE49-F238E27FC236}">
                <a16:creationId xmlns:a16="http://schemas.microsoft.com/office/drawing/2014/main" id="{E18DDC1B-20B4-F444-5EFB-28C61FDEDB81}"/>
              </a:ext>
            </a:extLst>
          </p:cNvPr>
          <p:cNvSpPr>
            <a:spLocks noGrp="1"/>
          </p:cNvSpPr>
          <p:nvPr>
            <p:ph idx="1"/>
          </p:nvPr>
        </p:nvSpPr>
        <p:spPr>
          <a:xfrm>
            <a:off x="838200" y="1929383"/>
            <a:ext cx="10515600" cy="4780931"/>
          </a:xfrm>
        </p:spPr>
        <p:txBody>
          <a:bodyPr>
            <a:normAutofit fontScale="92500" lnSpcReduction="10000"/>
          </a:bodyPr>
          <a:lstStyle/>
          <a:p>
            <a:r>
              <a:rPr lang="en-US" dirty="0"/>
              <a:t>Working in small groups (max. 4 people).</a:t>
            </a:r>
          </a:p>
          <a:p>
            <a:endParaRPr lang="en-US" dirty="0"/>
          </a:p>
          <a:p>
            <a:r>
              <a:rPr lang="en-US" dirty="0"/>
              <a:t>Each group will be given a scenario. </a:t>
            </a:r>
          </a:p>
          <a:p>
            <a:endParaRPr lang="en-US" dirty="0"/>
          </a:p>
          <a:p>
            <a:r>
              <a:rPr lang="en-US" dirty="0"/>
              <a:t>As a group, answer the 4 questions on the card. </a:t>
            </a:r>
          </a:p>
          <a:p>
            <a:endParaRPr lang="en-US" dirty="0"/>
          </a:p>
          <a:p>
            <a:r>
              <a:rPr lang="en-US" dirty="0"/>
              <a:t>Be prepared to share your responses. </a:t>
            </a:r>
          </a:p>
          <a:p>
            <a:endParaRPr lang="en-US" dirty="0"/>
          </a:p>
          <a:p>
            <a:r>
              <a:rPr lang="en-US" dirty="0"/>
              <a:t>You have 5 minutes.</a:t>
            </a:r>
          </a:p>
        </p:txBody>
      </p:sp>
      <p:pic>
        <p:nvPicPr>
          <p:cNvPr id="5" name="Picture 4" descr="A paper with text and images&#10;&#10;Description automatically generated with medium confidence">
            <a:extLst>
              <a:ext uri="{FF2B5EF4-FFF2-40B4-BE49-F238E27FC236}">
                <a16:creationId xmlns:a16="http://schemas.microsoft.com/office/drawing/2014/main" id="{B120A046-F524-9452-98D3-5B6AB772A5DD}"/>
              </a:ext>
            </a:extLst>
          </p:cNvPr>
          <p:cNvPicPr>
            <a:picLocks noChangeAspect="1"/>
          </p:cNvPicPr>
          <p:nvPr/>
        </p:nvPicPr>
        <p:blipFill>
          <a:blip r:embed="rId3"/>
          <a:stretch>
            <a:fillRect/>
          </a:stretch>
        </p:blipFill>
        <p:spPr>
          <a:xfrm>
            <a:off x="6670226" y="1998119"/>
            <a:ext cx="3109804" cy="3609306"/>
          </a:xfrm>
          <a:prstGeom prst="rect">
            <a:avLst/>
          </a:prstGeom>
          <a:ln w="38100">
            <a:solidFill>
              <a:schemeClr val="accent6">
                <a:lumMod val="60000"/>
                <a:lumOff val="40000"/>
              </a:schemeClr>
            </a:solidFill>
          </a:ln>
        </p:spPr>
      </p:pic>
      <p:pic>
        <p:nvPicPr>
          <p:cNvPr id="7" name="Picture 6" descr="A screenshot of a web page&#10;&#10;Description automatically generated">
            <a:extLst>
              <a:ext uri="{FF2B5EF4-FFF2-40B4-BE49-F238E27FC236}">
                <a16:creationId xmlns:a16="http://schemas.microsoft.com/office/drawing/2014/main" id="{180BA02E-BC6C-963A-B14E-5512622F55CE}"/>
              </a:ext>
            </a:extLst>
          </p:cNvPr>
          <p:cNvPicPr>
            <a:picLocks noChangeAspect="1"/>
          </p:cNvPicPr>
          <p:nvPr/>
        </p:nvPicPr>
        <p:blipFill>
          <a:blip r:embed="rId4"/>
          <a:stretch>
            <a:fillRect/>
          </a:stretch>
        </p:blipFill>
        <p:spPr>
          <a:xfrm>
            <a:off x="7990850" y="4575824"/>
            <a:ext cx="3262942" cy="1917051"/>
          </a:xfrm>
          <a:prstGeom prst="rect">
            <a:avLst/>
          </a:prstGeom>
          <a:ln w="38100">
            <a:solidFill>
              <a:schemeClr val="accent6">
                <a:lumMod val="60000"/>
                <a:lumOff val="40000"/>
              </a:schemeClr>
            </a:solidFill>
          </a:ln>
        </p:spPr>
      </p:pic>
    </p:spTree>
    <p:extLst>
      <p:ext uri="{BB962C8B-B14F-4D97-AF65-F5344CB8AC3E}">
        <p14:creationId xmlns:p14="http://schemas.microsoft.com/office/powerpoint/2010/main" val="245539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5DAA40F-4F28-4316-934E-C55D7C3AA0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F6D467C8-A8E0-468B-B88D-9CEEE37BFC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33452" cy="6858000"/>
          </a:xfrm>
          <a:custGeom>
            <a:avLst/>
            <a:gdLst>
              <a:gd name="connsiteX0" fmla="*/ 0 w 7433452"/>
              <a:gd name="connsiteY0" fmla="*/ 0 h 6858000"/>
              <a:gd name="connsiteX1" fmla="*/ 1592736 w 7433452"/>
              <a:gd name="connsiteY1" fmla="*/ 0 h 6858000"/>
              <a:gd name="connsiteX2" fmla="*/ 2171700 w 7433452"/>
              <a:gd name="connsiteY2" fmla="*/ 0 h 6858000"/>
              <a:gd name="connsiteX3" fmla="*/ 2762696 w 7433452"/>
              <a:gd name="connsiteY3" fmla="*/ 0 h 6858000"/>
              <a:gd name="connsiteX4" fmla="*/ 2829254 w 7433452"/>
              <a:gd name="connsiteY4" fmla="*/ 0 h 6858000"/>
              <a:gd name="connsiteX5" fmla="*/ 7415310 w 7433452"/>
              <a:gd name="connsiteY5" fmla="*/ 0 h 6858000"/>
              <a:gd name="connsiteX6" fmla="*/ 7405703 w 7433452"/>
              <a:gd name="connsiteY6" fmla="*/ 94814 h 6858000"/>
              <a:gd name="connsiteX7" fmla="*/ 7410754 w 7433452"/>
              <a:gd name="connsiteY7" fmla="*/ 421796 h 6858000"/>
              <a:gd name="connsiteX8" fmla="*/ 7414688 w 7433452"/>
              <a:gd name="connsiteY8" fmla="*/ 812192 h 6858000"/>
              <a:gd name="connsiteX9" fmla="*/ 7395017 w 7433452"/>
              <a:gd name="connsiteY9" fmla="*/ 1113642 h 6858000"/>
              <a:gd name="connsiteX10" fmla="*/ 7422810 w 7433452"/>
              <a:gd name="connsiteY10" fmla="*/ 1796708 h 6858000"/>
              <a:gd name="connsiteX11" fmla="*/ 7421161 w 7433452"/>
              <a:gd name="connsiteY11" fmla="*/ 2327333 h 6858000"/>
              <a:gd name="connsiteX12" fmla="*/ 7412023 w 7433452"/>
              <a:gd name="connsiteY12" fmla="*/ 2784280 h 6858000"/>
              <a:gd name="connsiteX13" fmla="*/ 7417480 w 7433452"/>
              <a:gd name="connsiteY13" fmla="*/ 2985458 h 6858000"/>
              <a:gd name="connsiteX14" fmla="*/ 7403774 w 7433452"/>
              <a:gd name="connsiteY14" fmla="*/ 3531096 h 6858000"/>
              <a:gd name="connsiteX15" fmla="*/ 7414307 w 7433452"/>
              <a:gd name="connsiteY15" fmla="*/ 4336830 h 6858000"/>
              <a:gd name="connsiteX16" fmla="*/ 7413419 w 7433452"/>
              <a:gd name="connsiteY16" fmla="*/ 5026893 h 6858000"/>
              <a:gd name="connsiteX17" fmla="*/ 7417734 w 7433452"/>
              <a:gd name="connsiteY17" fmla="*/ 5252632 h 6858000"/>
              <a:gd name="connsiteX18" fmla="*/ 7417734 w 7433452"/>
              <a:gd name="connsiteY18" fmla="*/ 5466282 h 6858000"/>
              <a:gd name="connsiteX19" fmla="*/ 7379659 w 7433452"/>
              <a:gd name="connsiteY19" fmla="*/ 6121225 h 6858000"/>
              <a:gd name="connsiteX20" fmla="*/ 7395115 w 7433452"/>
              <a:gd name="connsiteY20" fmla="*/ 6708907 h 6858000"/>
              <a:gd name="connsiteX21" fmla="*/ 7412408 w 7433452"/>
              <a:gd name="connsiteY21" fmla="*/ 6858000 h 6858000"/>
              <a:gd name="connsiteX22" fmla="*/ 2829254 w 7433452"/>
              <a:gd name="connsiteY22" fmla="*/ 6858000 h 6858000"/>
              <a:gd name="connsiteX23" fmla="*/ 2762696 w 7433452"/>
              <a:gd name="connsiteY23" fmla="*/ 6858000 h 6858000"/>
              <a:gd name="connsiteX24" fmla="*/ 2171700 w 7433452"/>
              <a:gd name="connsiteY24" fmla="*/ 6858000 h 6858000"/>
              <a:gd name="connsiteX25" fmla="*/ 1592736 w 7433452"/>
              <a:gd name="connsiteY25" fmla="*/ 6858000 h 6858000"/>
              <a:gd name="connsiteX26" fmla="*/ 0 w 7433452"/>
              <a:gd name="connsiteY2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433452" h="6858000">
                <a:moveTo>
                  <a:pt x="0" y="0"/>
                </a:moveTo>
                <a:lnTo>
                  <a:pt x="1592736" y="0"/>
                </a:lnTo>
                <a:lnTo>
                  <a:pt x="2171700" y="0"/>
                </a:lnTo>
                <a:lnTo>
                  <a:pt x="2762696" y="0"/>
                </a:lnTo>
                <a:lnTo>
                  <a:pt x="2829254" y="0"/>
                </a:lnTo>
                <a:lnTo>
                  <a:pt x="7415310" y="0"/>
                </a:lnTo>
                <a:lnTo>
                  <a:pt x="7405703" y="94814"/>
                </a:lnTo>
                <a:cubicBezTo>
                  <a:pt x="7398856" y="203629"/>
                  <a:pt x="7403520" y="312712"/>
                  <a:pt x="7410754" y="421796"/>
                </a:cubicBezTo>
                <a:cubicBezTo>
                  <a:pt x="7421580" y="551656"/>
                  <a:pt x="7422900" y="682144"/>
                  <a:pt x="7414688" y="812192"/>
                </a:cubicBezTo>
                <a:cubicBezTo>
                  <a:pt x="7406693" y="912591"/>
                  <a:pt x="7397682" y="1012988"/>
                  <a:pt x="7395017" y="1113642"/>
                </a:cubicBezTo>
                <a:cubicBezTo>
                  <a:pt x="7388670" y="1342689"/>
                  <a:pt x="7407708" y="1569316"/>
                  <a:pt x="7422810" y="1796708"/>
                </a:cubicBezTo>
                <a:cubicBezTo>
                  <a:pt x="7434487" y="1973710"/>
                  <a:pt x="7439944" y="2150457"/>
                  <a:pt x="7421161" y="2327333"/>
                </a:cubicBezTo>
                <a:cubicBezTo>
                  <a:pt x="7405170" y="2479266"/>
                  <a:pt x="7396793" y="2631453"/>
                  <a:pt x="7412023" y="2784280"/>
                </a:cubicBezTo>
                <a:cubicBezTo>
                  <a:pt x="7418749" y="2851085"/>
                  <a:pt x="7425984" y="2918653"/>
                  <a:pt x="7417480" y="2985458"/>
                </a:cubicBezTo>
                <a:cubicBezTo>
                  <a:pt x="7394508" y="3167039"/>
                  <a:pt x="7398063" y="3349132"/>
                  <a:pt x="7403774" y="3531096"/>
                </a:cubicBezTo>
                <a:cubicBezTo>
                  <a:pt x="7412277" y="3799715"/>
                  <a:pt x="7426364" y="4067954"/>
                  <a:pt x="7414307" y="4336830"/>
                </a:cubicBezTo>
                <a:cubicBezTo>
                  <a:pt x="7404027" y="4566639"/>
                  <a:pt x="7420653" y="4796831"/>
                  <a:pt x="7413419" y="5026893"/>
                </a:cubicBezTo>
                <a:cubicBezTo>
                  <a:pt x="7410982" y="5102162"/>
                  <a:pt x="7412429" y="5177504"/>
                  <a:pt x="7417734" y="5252632"/>
                </a:cubicBezTo>
                <a:cubicBezTo>
                  <a:pt x="7424271" y="5323700"/>
                  <a:pt x="7424271" y="5395213"/>
                  <a:pt x="7417734" y="5466282"/>
                </a:cubicBezTo>
                <a:cubicBezTo>
                  <a:pt x="7393239" y="5683875"/>
                  <a:pt x="7383214" y="5902486"/>
                  <a:pt x="7379659" y="6121225"/>
                </a:cubicBezTo>
                <a:cubicBezTo>
                  <a:pt x="7376423" y="6317442"/>
                  <a:pt x="7378041" y="6513586"/>
                  <a:pt x="7395115" y="6708907"/>
                </a:cubicBezTo>
                <a:lnTo>
                  <a:pt x="7412408" y="6858000"/>
                </a:lnTo>
                <a:lnTo>
                  <a:pt x="2829254" y="6858000"/>
                </a:lnTo>
                <a:lnTo>
                  <a:pt x="2762696" y="6858000"/>
                </a:lnTo>
                <a:lnTo>
                  <a:pt x="2171700" y="6858000"/>
                </a:lnTo>
                <a:lnTo>
                  <a:pt x="1592736" y="6858000"/>
                </a:lnTo>
                <a:lnTo>
                  <a:pt x="0" y="6858000"/>
                </a:lnTo>
                <a:close/>
              </a:path>
            </a:pathLst>
          </a:custGeom>
          <a:solidFill>
            <a:srgbClr val="1EA1F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DB8E051-94DF-8AD3-1D52-D65ED8DBE9B2}"/>
              </a:ext>
            </a:extLst>
          </p:cNvPr>
          <p:cNvSpPr>
            <a:spLocks noGrp="1"/>
          </p:cNvSpPr>
          <p:nvPr>
            <p:ph type="title"/>
          </p:nvPr>
        </p:nvSpPr>
        <p:spPr>
          <a:xfrm>
            <a:off x="640081" y="329184"/>
            <a:ext cx="6241568" cy="1783080"/>
          </a:xfrm>
        </p:spPr>
        <p:txBody>
          <a:bodyPr anchor="b">
            <a:normAutofit/>
          </a:bodyPr>
          <a:lstStyle/>
          <a:p>
            <a:r>
              <a:rPr lang="en-US" sz="7200">
                <a:solidFill>
                  <a:schemeClr val="bg1"/>
                </a:solidFill>
              </a:rPr>
              <a:t>Question Box</a:t>
            </a:r>
          </a:p>
        </p:txBody>
      </p:sp>
      <p:sp>
        <p:nvSpPr>
          <p:cNvPr id="14" name="sketchy rul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bg1"/>
          </a:solidFill>
          <a:ln w="38100" cap="rnd">
            <a:solidFill>
              <a:schemeClr val="bg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3F176F2-C427-2240-7625-230648E30031}"/>
              </a:ext>
            </a:extLst>
          </p:cNvPr>
          <p:cNvSpPr>
            <a:spLocks noGrp="1"/>
          </p:cNvSpPr>
          <p:nvPr>
            <p:ph idx="1"/>
          </p:nvPr>
        </p:nvSpPr>
        <p:spPr>
          <a:xfrm>
            <a:off x="265451" y="2706624"/>
            <a:ext cx="6793371" cy="3867912"/>
          </a:xfrm>
        </p:spPr>
        <p:txBody>
          <a:bodyPr>
            <a:normAutofit fontScale="92500"/>
          </a:bodyPr>
          <a:lstStyle/>
          <a:p>
            <a:pPr marL="342900" indent="-342900">
              <a:lnSpc>
                <a:spcPct val="100000"/>
              </a:lnSpc>
              <a:buFont typeface="Arial" panose="020B0604020202020204" pitchFamily="34" charset="0"/>
              <a:buChar char="•"/>
            </a:pPr>
            <a:r>
              <a:rPr lang="en-US" dirty="0">
                <a:solidFill>
                  <a:schemeClr val="bg1"/>
                </a:solidFill>
              </a:rPr>
              <a:t>If you have a question that you want to ask but you don’t want to ask it out loud… write it on a piece of paper and place it in the question box. </a:t>
            </a:r>
          </a:p>
          <a:p>
            <a:pPr marL="342900" indent="-342900">
              <a:lnSpc>
                <a:spcPct val="100000"/>
              </a:lnSpc>
              <a:buFont typeface="Arial" panose="020B0604020202020204" pitchFamily="34" charset="0"/>
              <a:buChar char="•"/>
            </a:pPr>
            <a:r>
              <a:rPr lang="en-US" dirty="0">
                <a:solidFill>
                  <a:schemeClr val="bg1"/>
                </a:solidFill>
              </a:rPr>
              <a:t>In some lessons we will read out questions that are in the box and your teacher will answer them. </a:t>
            </a:r>
          </a:p>
          <a:p>
            <a:pPr marL="342900" indent="-342900">
              <a:lnSpc>
                <a:spcPct val="100000"/>
              </a:lnSpc>
              <a:buFont typeface="Arial" panose="020B0604020202020204" pitchFamily="34" charset="0"/>
              <a:buChar char="•"/>
            </a:pPr>
            <a:r>
              <a:rPr lang="en-US" dirty="0">
                <a:solidFill>
                  <a:schemeClr val="bg1"/>
                </a:solidFill>
              </a:rPr>
              <a:t>You do not need to write your name – you can remain anonymous if you like!</a:t>
            </a:r>
          </a:p>
          <a:p>
            <a:pPr marL="342900" indent="-342900">
              <a:lnSpc>
                <a:spcPct val="100000"/>
              </a:lnSpc>
              <a:buFont typeface="Arial" panose="020B0604020202020204" pitchFamily="34" charset="0"/>
              <a:buChar char="•"/>
            </a:pPr>
            <a:r>
              <a:rPr lang="en-US" dirty="0">
                <a:solidFill>
                  <a:schemeClr val="bg1"/>
                </a:solidFill>
              </a:rPr>
              <a:t>If you would like to have a chat with your teacher, write your name on your question paper and they can speak with you personally, or just ask to have a chat!</a:t>
            </a:r>
          </a:p>
        </p:txBody>
      </p:sp>
      <p:pic>
        <p:nvPicPr>
          <p:cNvPr id="4" name="Picture 2" descr="Best Question Box GIFs | Gfycat">
            <a:extLst>
              <a:ext uri="{FF2B5EF4-FFF2-40B4-BE49-F238E27FC236}">
                <a16:creationId xmlns:a16="http://schemas.microsoft.com/office/drawing/2014/main" id="{F4E5BEA3-F7F5-547C-9C31-59610E76457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489" r="14247"/>
          <a:stretch/>
        </p:blipFill>
        <p:spPr bwMode="auto">
          <a:xfrm>
            <a:off x="8813422" y="329183"/>
            <a:ext cx="2055980" cy="292608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person's face on a poster&#10;&#10;Description automatically generated with low confidence">
            <a:extLst>
              <a:ext uri="{FF2B5EF4-FFF2-40B4-BE49-F238E27FC236}">
                <a16:creationId xmlns:a16="http://schemas.microsoft.com/office/drawing/2014/main" id="{5B3B672F-0226-DAF2-128D-8111A7245119}"/>
              </a:ext>
            </a:extLst>
          </p:cNvPr>
          <p:cNvPicPr>
            <a:picLocks noChangeAspect="1"/>
          </p:cNvPicPr>
          <p:nvPr/>
        </p:nvPicPr>
        <p:blipFill>
          <a:blip r:embed="rId3"/>
          <a:stretch>
            <a:fillRect/>
          </a:stretch>
        </p:blipFill>
        <p:spPr>
          <a:xfrm>
            <a:off x="8378372" y="3494809"/>
            <a:ext cx="2926080" cy="2926080"/>
          </a:xfrm>
          <a:prstGeom prst="rect">
            <a:avLst/>
          </a:prstGeom>
        </p:spPr>
      </p:pic>
    </p:spTree>
    <p:extLst>
      <p:ext uri="{BB962C8B-B14F-4D97-AF65-F5344CB8AC3E}">
        <p14:creationId xmlns:p14="http://schemas.microsoft.com/office/powerpoint/2010/main" val="616899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9B934-A462-B631-D67C-89C82643BE40}"/>
              </a:ext>
            </a:extLst>
          </p:cNvPr>
          <p:cNvSpPr>
            <a:spLocks noGrp="1"/>
          </p:cNvSpPr>
          <p:nvPr>
            <p:ph type="title"/>
          </p:nvPr>
        </p:nvSpPr>
        <p:spPr/>
        <p:txBody>
          <a:bodyPr/>
          <a:lstStyle/>
          <a:p>
            <a:r>
              <a:rPr lang="en-US" dirty="0"/>
              <a:t>Contraception &amp; STI’s BRAIN DUMP + KWL: (pg. 9)</a:t>
            </a:r>
          </a:p>
        </p:txBody>
      </p:sp>
      <p:sp>
        <p:nvSpPr>
          <p:cNvPr id="3" name="Content Placeholder 2">
            <a:extLst>
              <a:ext uri="{FF2B5EF4-FFF2-40B4-BE49-F238E27FC236}">
                <a16:creationId xmlns:a16="http://schemas.microsoft.com/office/drawing/2014/main" id="{4482C02E-BA78-1CAF-15ED-54A47782BF32}"/>
              </a:ext>
            </a:extLst>
          </p:cNvPr>
          <p:cNvSpPr>
            <a:spLocks noGrp="1"/>
          </p:cNvSpPr>
          <p:nvPr>
            <p:ph idx="1"/>
          </p:nvPr>
        </p:nvSpPr>
        <p:spPr>
          <a:xfrm>
            <a:off x="405114" y="1929383"/>
            <a:ext cx="11512066" cy="4563491"/>
          </a:xfrm>
        </p:spPr>
        <p:txBody>
          <a:bodyPr>
            <a:normAutofit/>
          </a:bodyPr>
          <a:lstStyle/>
          <a:p>
            <a:r>
              <a:rPr lang="en-US" dirty="0"/>
              <a:t>This term our focus is on contraception and Sexually Transmitted Infections (STI’s).</a:t>
            </a:r>
          </a:p>
          <a:p>
            <a:r>
              <a:rPr lang="en-US" dirty="0"/>
              <a:t>Dump everything you think you know about CONTRACEPTION and STI’s into the brain dump space on your page. </a:t>
            </a:r>
          </a:p>
          <a:p>
            <a:pPr marL="0" indent="0">
              <a:buNone/>
            </a:pPr>
            <a:endParaRPr lang="en-US" dirty="0"/>
          </a:p>
          <a:p>
            <a:pPr marL="0" indent="0">
              <a:buNone/>
            </a:pPr>
            <a:endParaRPr lang="en-US" dirty="0"/>
          </a:p>
          <a:p>
            <a:r>
              <a:rPr lang="en-US" dirty="0"/>
              <a:t>Complete the first two columns of the KWL: </a:t>
            </a:r>
          </a:p>
          <a:p>
            <a:pPr lvl="1"/>
            <a:r>
              <a:rPr lang="en-US" sz="2600" dirty="0"/>
              <a:t>What do you already </a:t>
            </a:r>
            <a:r>
              <a:rPr lang="en-US" sz="2600" b="1" dirty="0">
                <a:solidFill>
                  <a:srgbClr val="FF0000"/>
                </a:solidFill>
              </a:rPr>
              <a:t>KNOW</a:t>
            </a:r>
            <a:r>
              <a:rPr lang="en-US" sz="2600" dirty="0"/>
              <a:t> about contraception and STI’s?</a:t>
            </a:r>
          </a:p>
          <a:p>
            <a:pPr lvl="1"/>
            <a:r>
              <a:rPr lang="en-US" sz="2600" dirty="0"/>
              <a:t>What do you </a:t>
            </a:r>
            <a:r>
              <a:rPr lang="en-US" sz="2600" b="1" dirty="0">
                <a:solidFill>
                  <a:srgbClr val="FFC000"/>
                </a:solidFill>
              </a:rPr>
              <a:t>WANT</a:t>
            </a:r>
            <a:r>
              <a:rPr lang="en-US" sz="2600" dirty="0"/>
              <a:t> to know about contraception and STI’s?</a:t>
            </a:r>
          </a:p>
          <a:p>
            <a:pPr lvl="1"/>
            <a:r>
              <a:rPr lang="en-US" sz="2600" dirty="0"/>
              <a:t>We will revisit what you have </a:t>
            </a:r>
            <a:r>
              <a:rPr lang="en-US" sz="2600" b="1" dirty="0">
                <a:solidFill>
                  <a:srgbClr val="00B0F0"/>
                </a:solidFill>
              </a:rPr>
              <a:t>LEARNED</a:t>
            </a:r>
            <a:r>
              <a:rPr lang="en-US" sz="2600" dirty="0"/>
              <a:t> at the end of the term. Leave this column blank for now. </a:t>
            </a:r>
          </a:p>
        </p:txBody>
      </p:sp>
      <p:pic>
        <p:nvPicPr>
          <p:cNvPr id="4" name="Picture 3" descr="Brain Dumps and Other Test Day Hacks - Pocket Prep">
            <a:extLst>
              <a:ext uri="{FF2B5EF4-FFF2-40B4-BE49-F238E27FC236}">
                <a16:creationId xmlns:a16="http://schemas.microsoft.com/office/drawing/2014/main" id="{A44744E9-532B-14A7-8441-29484703E97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711" t="6880" r="8002" b="12815"/>
          <a:stretch/>
        </p:blipFill>
        <p:spPr bwMode="auto">
          <a:xfrm>
            <a:off x="6065638" y="3316811"/>
            <a:ext cx="5851542" cy="2305262"/>
          </a:xfrm>
          <a:prstGeom prst="rect">
            <a:avLst/>
          </a:prstGeom>
          <a:noFill/>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78273306-B8BB-0B5E-6541-747BA235A28B}"/>
              </a:ext>
            </a:extLst>
          </p:cNvPr>
          <p:cNvSpPr txBox="1"/>
          <p:nvPr/>
        </p:nvSpPr>
        <p:spPr>
          <a:xfrm>
            <a:off x="1724824" y="3429000"/>
            <a:ext cx="2363082" cy="584775"/>
          </a:xfrm>
          <a:prstGeom prst="rect">
            <a:avLst/>
          </a:prstGeom>
          <a:noFill/>
          <a:ln w="38100">
            <a:solidFill>
              <a:schemeClr val="accent6">
                <a:lumMod val="60000"/>
                <a:lumOff val="40000"/>
              </a:schemeClr>
            </a:solidFill>
          </a:ln>
        </p:spPr>
        <p:txBody>
          <a:bodyPr wrap="square" rtlCol="0">
            <a:spAutoFit/>
          </a:bodyPr>
          <a:lstStyle/>
          <a:p>
            <a:r>
              <a:rPr lang="en-US" sz="3200" b="1" dirty="0"/>
              <a:t>4 minutes to complete</a:t>
            </a:r>
          </a:p>
        </p:txBody>
      </p:sp>
    </p:spTree>
    <p:extLst>
      <p:ext uri="{BB962C8B-B14F-4D97-AF65-F5344CB8AC3E}">
        <p14:creationId xmlns:p14="http://schemas.microsoft.com/office/powerpoint/2010/main" val="782845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2D59E-D0FA-5FCA-E2A1-C1F6CA74D7A1}"/>
              </a:ext>
            </a:extLst>
          </p:cNvPr>
          <p:cNvSpPr>
            <a:spLocks noGrp="1"/>
          </p:cNvSpPr>
          <p:nvPr>
            <p:ph type="title"/>
          </p:nvPr>
        </p:nvSpPr>
        <p:spPr/>
        <p:txBody>
          <a:bodyPr/>
          <a:lstStyle/>
          <a:p>
            <a:r>
              <a:rPr lang="en-US" dirty="0"/>
              <a:t>POST IT SLAM – what is contraception?</a:t>
            </a:r>
          </a:p>
        </p:txBody>
      </p:sp>
      <p:sp>
        <p:nvSpPr>
          <p:cNvPr id="3" name="Content Placeholder 2">
            <a:extLst>
              <a:ext uri="{FF2B5EF4-FFF2-40B4-BE49-F238E27FC236}">
                <a16:creationId xmlns:a16="http://schemas.microsoft.com/office/drawing/2014/main" id="{93CD6FC6-9446-F519-14C2-B718B62B3206}"/>
              </a:ext>
            </a:extLst>
          </p:cNvPr>
          <p:cNvSpPr>
            <a:spLocks noGrp="1"/>
          </p:cNvSpPr>
          <p:nvPr>
            <p:ph idx="1"/>
          </p:nvPr>
        </p:nvSpPr>
        <p:spPr/>
        <p:txBody>
          <a:bodyPr>
            <a:normAutofit lnSpcReduction="10000"/>
          </a:bodyPr>
          <a:lstStyle/>
          <a:p>
            <a:r>
              <a:rPr lang="en-US" dirty="0"/>
              <a:t>Everyone will receive a sticky note. </a:t>
            </a:r>
          </a:p>
          <a:p>
            <a:endParaRPr lang="en-US" dirty="0"/>
          </a:p>
          <a:p>
            <a:r>
              <a:rPr lang="en-US" dirty="0"/>
              <a:t>Answer the question </a:t>
            </a:r>
          </a:p>
          <a:p>
            <a:endParaRPr lang="en-US" sz="4000" b="1" dirty="0"/>
          </a:p>
          <a:p>
            <a:r>
              <a:rPr lang="en-US" dirty="0"/>
              <a:t>Once you have answered, place your sticky note on the whiteboard.</a:t>
            </a:r>
          </a:p>
          <a:p>
            <a:endParaRPr lang="en-US" dirty="0"/>
          </a:p>
          <a:p>
            <a:r>
              <a:rPr lang="en-US" dirty="0"/>
              <a:t>You have 30 seconds.  </a:t>
            </a:r>
          </a:p>
        </p:txBody>
      </p:sp>
      <p:pic>
        <p:nvPicPr>
          <p:cNvPr id="3076" name="Picture 4" descr="Sticky Note PNG Clip Art Image​ | Gallery Yopriceville - High-Quality  Images and Transparent PNG Free Clipar… | Sticky notes, Clip art,  Powerpoint background design">
            <a:extLst>
              <a:ext uri="{FF2B5EF4-FFF2-40B4-BE49-F238E27FC236}">
                <a16:creationId xmlns:a16="http://schemas.microsoft.com/office/drawing/2014/main" id="{EA27B844-E708-CFDA-A52D-CEC9D5FDAE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3210" y="1578863"/>
            <a:ext cx="4103489" cy="435768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D47C71C-9B2D-6ADF-7161-F33699FBD872}"/>
              </a:ext>
            </a:extLst>
          </p:cNvPr>
          <p:cNvSpPr txBox="1"/>
          <p:nvPr/>
        </p:nvSpPr>
        <p:spPr>
          <a:xfrm>
            <a:off x="7764659" y="2485703"/>
            <a:ext cx="3760590" cy="3139321"/>
          </a:xfrm>
          <a:prstGeom prst="rect">
            <a:avLst/>
          </a:prstGeom>
          <a:noFill/>
        </p:spPr>
        <p:txBody>
          <a:bodyPr wrap="square" rtlCol="0">
            <a:spAutoFit/>
          </a:bodyPr>
          <a:lstStyle/>
          <a:p>
            <a:pPr algn="ctr"/>
            <a:r>
              <a:rPr lang="en-US" sz="6600" b="1" dirty="0"/>
              <a:t>WHAT </a:t>
            </a:r>
            <a:br>
              <a:rPr lang="en-US" sz="6600" b="1" dirty="0"/>
            </a:br>
            <a:r>
              <a:rPr lang="en-US" sz="6600" b="1" dirty="0"/>
              <a:t>IS CONTRACEPTION?</a:t>
            </a:r>
          </a:p>
        </p:txBody>
      </p:sp>
      <p:cxnSp>
        <p:nvCxnSpPr>
          <p:cNvPr id="6" name="Straight Arrow Connector 5">
            <a:extLst>
              <a:ext uri="{FF2B5EF4-FFF2-40B4-BE49-F238E27FC236}">
                <a16:creationId xmlns:a16="http://schemas.microsoft.com/office/drawing/2014/main" id="{C6B07304-8B22-D528-3CC6-B6A0B241A6D9}"/>
              </a:ext>
            </a:extLst>
          </p:cNvPr>
          <p:cNvCxnSpPr/>
          <p:nvPr/>
        </p:nvCxnSpPr>
        <p:spPr>
          <a:xfrm>
            <a:off x="3016332" y="3323493"/>
            <a:ext cx="4393871"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5308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8233C-28A0-5238-0693-4729D347899E}"/>
              </a:ext>
            </a:extLst>
          </p:cNvPr>
          <p:cNvSpPr>
            <a:spLocks noGrp="1"/>
          </p:cNvSpPr>
          <p:nvPr>
            <p:ph type="title"/>
          </p:nvPr>
        </p:nvSpPr>
        <p:spPr/>
        <p:txBody>
          <a:bodyPr/>
          <a:lstStyle/>
          <a:p>
            <a:r>
              <a:rPr lang="en-US" dirty="0"/>
              <a:t>What is Contraception? (pg. 10)</a:t>
            </a:r>
          </a:p>
        </p:txBody>
      </p:sp>
      <p:sp>
        <p:nvSpPr>
          <p:cNvPr id="3" name="Content Placeholder 2">
            <a:extLst>
              <a:ext uri="{FF2B5EF4-FFF2-40B4-BE49-F238E27FC236}">
                <a16:creationId xmlns:a16="http://schemas.microsoft.com/office/drawing/2014/main" id="{BFDFC187-0497-D9D2-7322-3926C6C34466}"/>
              </a:ext>
            </a:extLst>
          </p:cNvPr>
          <p:cNvSpPr>
            <a:spLocks noGrp="1"/>
          </p:cNvSpPr>
          <p:nvPr>
            <p:ph idx="1"/>
          </p:nvPr>
        </p:nvSpPr>
        <p:spPr/>
        <p:txBody>
          <a:bodyPr/>
          <a:lstStyle/>
          <a:p>
            <a:r>
              <a:rPr lang="en-AU" sz="2800" b="1" dirty="0"/>
              <a:t>Contraception</a:t>
            </a:r>
            <a:r>
              <a:rPr lang="en-AU" sz="2800" dirty="0"/>
              <a:t> </a:t>
            </a:r>
            <a:r>
              <a:rPr lang="en-AU" sz="2800" b="1" dirty="0"/>
              <a:t>means</a:t>
            </a:r>
            <a:r>
              <a:rPr lang="en-AU" sz="2800" dirty="0"/>
              <a:t> using an </a:t>
            </a:r>
            <a:r>
              <a:rPr lang="en-AU" sz="2800" u="sng" dirty="0"/>
              <a:t>intervention</a:t>
            </a:r>
            <a:r>
              <a:rPr lang="en-AU" sz="2800" dirty="0"/>
              <a:t> when having sexual intercourse to </a:t>
            </a:r>
            <a:r>
              <a:rPr lang="en-AU" sz="2800" u="sng" dirty="0"/>
              <a:t>avoid getting pregnant</a:t>
            </a:r>
            <a:r>
              <a:rPr lang="en-AU" sz="2800" dirty="0"/>
              <a:t>.</a:t>
            </a:r>
          </a:p>
          <a:p>
            <a:r>
              <a:rPr lang="en-AU" sz="2800" dirty="0"/>
              <a:t>This is different from practising safe sex, which also includes protecting yourself and others from sexually transmitted infections (STIs).</a:t>
            </a:r>
          </a:p>
          <a:p>
            <a:r>
              <a:rPr lang="en-AU" sz="2800" dirty="0"/>
              <a:t>Another common term for contraception is ‘birth control’.</a:t>
            </a:r>
          </a:p>
          <a:p>
            <a:r>
              <a:rPr lang="en-AU" sz="2800" dirty="0"/>
              <a:t>There are a variety of contraceptive methods available depending on a person’s lifestyle and needs.</a:t>
            </a:r>
          </a:p>
          <a:p>
            <a:endParaRPr lang="en-US" dirty="0"/>
          </a:p>
        </p:txBody>
      </p:sp>
      <p:sp>
        <p:nvSpPr>
          <p:cNvPr id="4" name="TextBox 3">
            <a:extLst>
              <a:ext uri="{FF2B5EF4-FFF2-40B4-BE49-F238E27FC236}">
                <a16:creationId xmlns:a16="http://schemas.microsoft.com/office/drawing/2014/main" id="{FA92E34C-9946-B528-6C7B-D74C49202585}"/>
              </a:ext>
            </a:extLst>
          </p:cNvPr>
          <p:cNvSpPr txBox="1"/>
          <p:nvPr/>
        </p:nvSpPr>
        <p:spPr>
          <a:xfrm>
            <a:off x="362857" y="5042571"/>
            <a:ext cx="6923314" cy="1138773"/>
          </a:xfrm>
          <a:custGeom>
            <a:avLst/>
            <a:gdLst>
              <a:gd name="connsiteX0" fmla="*/ 0 w 6923314"/>
              <a:gd name="connsiteY0" fmla="*/ 0 h 1138773"/>
              <a:gd name="connsiteX1" fmla="*/ 507710 w 6923314"/>
              <a:gd name="connsiteY1" fmla="*/ 0 h 1138773"/>
              <a:gd name="connsiteX2" fmla="*/ 876953 w 6923314"/>
              <a:gd name="connsiteY2" fmla="*/ 0 h 1138773"/>
              <a:gd name="connsiteX3" fmla="*/ 1592362 w 6923314"/>
              <a:gd name="connsiteY3" fmla="*/ 0 h 1138773"/>
              <a:gd name="connsiteX4" fmla="*/ 2100072 w 6923314"/>
              <a:gd name="connsiteY4" fmla="*/ 0 h 1138773"/>
              <a:gd name="connsiteX5" fmla="*/ 2607782 w 6923314"/>
              <a:gd name="connsiteY5" fmla="*/ 0 h 1138773"/>
              <a:gd name="connsiteX6" fmla="*/ 3323191 w 6923314"/>
              <a:gd name="connsiteY6" fmla="*/ 0 h 1138773"/>
              <a:gd name="connsiteX7" fmla="*/ 3761667 w 6923314"/>
              <a:gd name="connsiteY7" fmla="*/ 0 h 1138773"/>
              <a:gd name="connsiteX8" fmla="*/ 4477076 w 6923314"/>
              <a:gd name="connsiteY8" fmla="*/ 0 h 1138773"/>
              <a:gd name="connsiteX9" fmla="*/ 5192486 w 6923314"/>
              <a:gd name="connsiteY9" fmla="*/ 0 h 1138773"/>
              <a:gd name="connsiteX10" fmla="*/ 5769428 w 6923314"/>
              <a:gd name="connsiteY10" fmla="*/ 0 h 1138773"/>
              <a:gd name="connsiteX11" fmla="*/ 6923314 w 6923314"/>
              <a:gd name="connsiteY11" fmla="*/ 0 h 1138773"/>
              <a:gd name="connsiteX12" fmla="*/ 6923314 w 6923314"/>
              <a:gd name="connsiteY12" fmla="*/ 557999 h 1138773"/>
              <a:gd name="connsiteX13" fmla="*/ 6923314 w 6923314"/>
              <a:gd name="connsiteY13" fmla="*/ 1138773 h 1138773"/>
              <a:gd name="connsiteX14" fmla="*/ 6346371 w 6923314"/>
              <a:gd name="connsiteY14" fmla="*/ 1138773 h 1138773"/>
              <a:gd name="connsiteX15" fmla="*/ 5907895 w 6923314"/>
              <a:gd name="connsiteY15" fmla="*/ 1138773 h 1138773"/>
              <a:gd name="connsiteX16" fmla="*/ 5330952 w 6923314"/>
              <a:gd name="connsiteY16" fmla="*/ 1138773 h 1138773"/>
              <a:gd name="connsiteX17" fmla="*/ 4615543 w 6923314"/>
              <a:gd name="connsiteY17" fmla="*/ 1138773 h 1138773"/>
              <a:gd name="connsiteX18" fmla="*/ 4038600 w 6923314"/>
              <a:gd name="connsiteY18" fmla="*/ 1138773 h 1138773"/>
              <a:gd name="connsiteX19" fmla="*/ 3669356 w 6923314"/>
              <a:gd name="connsiteY19" fmla="*/ 1138773 h 1138773"/>
              <a:gd name="connsiteX20" fmla="*/ 3230880 w 6923314"/>
              <a:gd name="connsiteY20" fmla="*/ 1138773 h 1138773"/>
              <a:gd name="connsiteX21" fmla="*/ 2515471 w 6923314"/>
              <a:gd name="connsiteY21" fmla="*/ 1138773 h 1138773"/>
              <a:gd name="connsiteX22" fmla="*/ 1938528 w 6923314"/>
              <a:gd name="connsiteY22" fmla="*/ 1138773 h 1138773"/>
              <a:gd name="connsiteX23" fmla="*/ 1500051 w 6923314"/>
              <a:gd name="connsiteY23" fmla="*/ 1138773 h 1138773"/>
              <a:gd name="connsiteX24" fmla="*/ 923109 w 6923314"/>
              <a:gd name="connsiteY24" fmla="*/ 1138773 h 1138773"/>
              <a:gd name="connsiteX25" fmla="*/ 553865 w 6923314"/>
              <a:gd name="connsiteY25" fmla="*/ 1138773 h 1138773"/>
              <a:gd name="connsiteX26" fmla="*/ 0 w 6923314"/>
              <a:gd name="connsiteY26" fmla="*/ 1138773 h 1138773"/>
              <a:gd name="connsiteX27" fmla="*/ 0 w 6923314"/>
              <a:gd name="connsiteY27" fmla="*/ 569387 h 1138773"/>
              <a:gd name="connsiteX28" fmla="*/ 0 w 6923314"/>
              <a:gd name="connsiteY28" fmla="*/ 0 h 1138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923314" h="1138773" extrusionOk="0">
                <a:moveTo>
                  <a:pt x="0" y="0"/>
                </a:moveTo>
                <a:cubicBezTo>
                  <a:pt x="246213" y="-29118"/>
                  <a:pt x="263617" y="55653"/>
                  <a:pt x="507710" y="0"/>
                </a:cubicBezTo>
                <a:cubicBezTo>
                  <a:pt x="751803" y="-55653"/>
                  <a:pt x="744034" y="4481"/>
                  <a:pt x="876953" y="0"/>
                </a:cubicBezTo>
                <a:cubicBezTo>
                  <a:pt x="1009872" y="-4481"/>
                  <a:pt x="1253829" y="58552"/>
                  <a:pt x="1592362" y="0"/>
                </a:cubicBezTo>
                <a:cubicBezTo>
                  <a:pt x="1930895" y="-58552"/>
                  <a:pt x="1969768" y="27903"/>
                  <a:pt x="2100072" y="0"/>
                </a:cubicBezTo>
                <a:cubicBezTo>
                  <a:pt x="2230376" y="-27903"/>
                  <a:pt x="2466077" y="31718"/>
                  <a:pt x="2607782" y="0"/>
                </a:cubicBezTo>
                <a:cubicBezTo>
                  <a:pt x="2749487" y="-31718"/>
                  <a:pt x="3020378" y="15714"/>
                  <a:pt x="3323191" y="0"/>
                </a:cubicBezTo>
                <a:cubicBezTo>
                  <a:pt x="3626004" y="-15714"/>
                  <a:pt x="3604142" y="7595"/>
                  <a:pt x="3761667" y="0"/>
                </a:cubicBezTo>
                <a:cubicBezTo>
                  <a:pt x="3919192" y="-7595"/>
                  <a:pt x="4174358" y="19730"/>
                  <a:pt x="4477076" y="0"/>
                </a:cubicBezTo>
                <a:cubicBezTo>
                  <a:pt x="4779794" y="-19730"/>
                  <a:pt x="4949830" y="24385"/>
                  <a:pt x="5192486" y="0"/>
                </a:cubicBezTo>
                <a:cubicBezTo>
                  <a:pt x="5435142" y="-24385"/>
                  <a:pt x="5552562" y="1962"/>
                  <a:pt x="5769428" y="0"/>
                </a:cubicBezTo>
                <a:cubicBezTo>
                  <a:pt x="5986294" y="-1962"/>
                  <a:pt x="6502685" y="32944"/>
                  <a:pt x="6923314" y="0"/>
                </a:cubicBezTo>
                <a:cubicBezTo>
                  <a:pt x="6977590" y="154688"/>
                  <a:pt x="6892699" y="353070"/>
                  <a:pt x="6923314" y="557999"/>
                </a:cubicBezTo>
                <a:cubicBezTo>
                  <a:pt x="6953929" y="762928"/>
                  <a:pt x="6855222" y="979358"/>
                  <a:pt x="6923314" y="1138773"/>
                </a:cubicBezTo>
                <a:cubicBezTo>
                  <a:pt x="6697733" y="1179452"/>
                  <a:pt x="6565885" y="1113134"/>
                  <a:pt x="6346371" y="1138773"/>
                </a:cubicBezTo>
                <a:cubicBezTo>
                  <a:pt x="6126857" y="1164412"/>
                  <a:pt x="6106901" y="1100080"/>
                  <a:pt x="5907895" y="1138773"/>
                </a:cubicBezTo>
                <a:cubicBezTo>
                  <a:pt x="5708889" y="1177466"/>
                  <a:pt x="5480143" y="1072318"/>
                  <a:pt x="5330952" y="1138773"/>
                </a:cubicBezTo>
                <a:cubicBezTo>
                  <a:pt x="5181761" y="1205228"/>
                  <a:pt x="4846509" y="1135187"/>
                  <a:pt x="4615543" y="1138773"/>
                </a:cubicBezTo>
                <a:cubicBezTo>
                  <a:pt x="4384577" y="1142359"/>
                  <a:pt x="4181875" y="1091670"/>
                  <a:pt x="4038600" y="1138773"/>
                </a:cubicBezTo>
                <a:cubicBezTo>
                  <a:pt x="3895325" y="1185876"/>
                  <a:pt x="3847518" y="1138578"/>
                  <a:pt x="3669356" y="1138773"/>
                </a:cubicBezTo>
                <a:cubicBezTo>
                  <a:pt x="3491194" y="1138968"/>
                  <a:pt x="3393884" y="1120940"/>
                  <a:pt x="3230880" y="1138773"/>
                </a:cubicBezTo>
                <a:cubicBezTo>
                  <a:pt x="3067876" y="1156606"/>
                  <a:pt x="2700181" y="1076112"/>
                  <a:pt x="2515471" y="1138773"/>
                </a:cubicBezTo>
                <a:cubicBezTo>
                  <a:pt x="2330761" y="1201434"/>
                  <a:pt x="2215315" y="1128668"/>
                  <a:pt x="1938528" y="1138773"/>
                </a:cubicBezTo>
                <a:cubicBezTo>
                  <a:pt x="1661741" y="1148878"/>
                  <a:pt x="1690991" y="1094403"/>
                  <a:pt x="1500051" y="1138773"/>
                </a:cubicBezTo>
                <a:cubicBezTo>
                  <a:pt x="1309111" y="1183143"/>
                  <a:pt x="1081484" y="1098842"/>
                  <a:pt x="923109" y="1138773"/>
                </a:cubicBezTo>
                <a:cubicBezTo>
                  <a:pt x="764734" y="1178704"/>
                  <a:pt x="677306" y="1118810"/>
                  <a:pt x="553865" y="1138773"/>
                </a:cubicBezTo>
                <a:cubicBezTo>
                  <a:pt x="430424" y="1158736"/>
                  <a:pt x="229055" y="1101796"/>
                  <a:pt x="0" y="1138773"/>
                </a:cubicBezTo>
                <a:cubicBezTo>
                  <a:pt x="-41749" y="1024710"/>
                  <a:pt x="53987" y="795666"/>
                  <a:pt x="0" y="569387"/>
                </a:cubicBezTo>
                <a:cubicBezTo>
                  <a:pt x="-53987" y="343108"/>
                  <a:pt x="8831" y="125321"/>
                  <a:pt x="0" y="0"/>
                </a:cubicBezTo>
                <a:close/>
              </a:path>
            </a:pathLst>
          </a:custGeom>
          <a:noFill/>
          <a:ln w="28575">
            <a:solidFill>
              <a:schemeClr val="accent2">
                <a:lumMod val="60000"/>
                <a:lumOff val="40000"/>
              </a:schemeClr>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rtlCol="0">
            <a:spAutoFit/>
          </a:bodyPr>
          <a:lstStyle/>
          <a:p>
            <a:pPr algn="ctr"/>
            <a:r>
              <a:rPr lang="en-US" sz="3600" b="1" dirty="0">
                <a:latin typeface="Jumble" panose="02000503000000020004" pitchFamily="2" charset="0"/>
              </a:rPr>
              <a:t>QUICK QUESTION: </a:t>
            </a:r>
          </a:p>
          <a:p>
            <a:pPr algn="ctr"/>
            <a:r>
              <a:rPr lang="en-US" sz="3200" b="1" dirty="0"/>
              <a:t>Whose responsibility is it to think about contraception? Why?</a:t>
            </a:r>
          </a:p>
        </p:txBody>
      </p:sp>
      <p:sp>
        <p:nvSpPr>
          <p:cNvPr id="5" name="TextBox 4">
            <a:extLst>
              <a:ext uri="{FF2B5EF4-FFF2-40B4-BE49-F238E27FC236}">
                <a16:creationId xmlns:a16="http://schemas.microsoft.com/office/drawing/2014/main" id="{AD3B5B13-0B72-BD4C-C893-DDD527C3BAD3}"/>
              </a:ext>
            </a:extLst>
          </p:cNvPr>
          <p:cNvSpPr txBox="1"/>
          <p:nvPr/>
        </p:nvSpPr>
        <p:spPr>
          <a:xfrm>
            <a:off x="7286170" y="5042571"/>
            <a:ext cx="4288971" cy="1154162"/>
          </a:xfrm>
          <a:custGeom>
            <a:avLst/>
            <a:gdLst>
              <a:gd name="connsiteX0" fmla="*/ 0 w 4288971"/>
              <a:gd name="connsiteY0" fmla="*/ 0 h 1154162"/>
              <a:gd name="connsiteX1" fmla="*/ 493232 w 4288971"/>
              <a:gd name="connsiteY1" fmla="*/ 0 h 1154162"/>
              <a:gd name="connsiteX2" fmla="*/ 900684 w 4288971"/>
              <a:gd name="connsiteY2" fmla="*/ 0 h 1154162"/>
              <a:gd name="connsiteX3" fmla="*/ 1522585 w 4288971"/>
              <a:gd name="connsiteY3" fmla="*/ 0 h 1154162"/>
              <a:gd name="connsiteX4" fmla="*/ 2015816 w 4288971"/>
              <a:gd name="connsiteY4" fmla="*/ 0 h 1154162"/>
              <a:gd name="connsiteX5" fmla="*/ 2509048 w 4288971"/>
              <a:gd name="connsiteY5" fmla="*/ 0 h 1154162"/>
              <a:gd name="connsiteX6" fmla="*/ 3130949 w 4288971"/>
              <a:gd name="connsiteY6" fmla="*/ 0 h 1154162"/>
              <a:gd name="connsiteX7" fmla="*/ 3581291 w 4288971"/>
              <a:gd name="connsiteY7" fmla="*/ 0 h 1154162"/>
              <a:gd name="connsiteX8" fmla="*/ 4288971 w 4288971"/>
              <a:gd name="connsiteY8" fmla="*/ 0 h 1154162"/>
              <a:gd name="connsiteX9" fmla="*/ 4288971 w 4288971"/>
              <a:gd name="connsiteY9" fmla="*/ 600164 h 1154162"/>
              <a:gd name="connsiteX10" fmla="*/ 4288971 w 4288971"/>
              <a:gd name="connsiteY10" fmla="*/ 1154162 h 1154162"/>
              <a:gd name="connsiteX11" fmla="*/ 3752850 w 4288971"/>
              <a:gd name="connsiteY11" fmla="*/ 1154162 h 1154162"/>
              <a:gd name="connsiteX12" fmla="*/ 3259618 w 4288971"/>
              <a:gd name="connsiteY12" fmla="*/ 1154162 h 1154162"/>
              <a:gd name="connsiteX13" fmla="*/ 2637717 w 4288971"/>
              <a:gd name="connsiteY13" fmla="*/ 1154162 h 1154162"/>
              <a:gd name="connsiteX14" fmla="*/ 2015816 w 4288971"/>
              <a:gd name="connsiteY14" fmla="*/ 1154162 h 1154162"/>
              <a:gd name="connsiteX15" fmla="*/ 1565474 w 4288971"/>
              <a:gd name="connsiteY15" fmla="*/ 1154162 h 1154162"/>
              <a:gd name="connsiteX16" fmla="*/ 1029353 w 4288971"/>
              <a:gd name="connsiteY16" fmla="*/ 1154162 h 1154162"/>
              <a:gd name="connsiteX17" fmla="*/ 0 w 4288971"/>
              <a:gd name="connsiteY17" fmla="*/ 1154162 h 1154162"/>
              <a:gd name="connsiteX18" fmla="*/ 0 w 4288971"/>
              <a:gd name="connsiteY18" fmla="*/ 577081 h 1154162"/>
              <a:gd name="connsiteX19" fmla="*/ 0 w 4288971"/>
              <a:gd name="connsiteY19" fmla="*/ 0 h 1154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288971" h="1154162" extrusionOk="0">
                <a:moveTo>
                  <a:pt x="0" y="0"/>
                </a:moveTo>
                <a:cubicBezTo>
                  <a:pt x="159192" y="-57371"/>
                  <a:pt x="386146" y="47000"/>
                  <a:pt x="493232" y="0"/>
                </a:cubicBezTo>
                <a:cubicBezTo>
                  <a:pt x="600318" y="-47000"/>
                  <a:pt x="795130" y="35895"/>
                  <a:pt x="900684" y="0"/>
                </a:cubicBezTo>
                <a:cubicBezTo>
                  <a:pt x="1006238" y="-35895"/>
                  <a:pt x="1296089" y="52614"/>
                  <a:pt x="1522585" y="0"/>
                </a:cubicBezTo>
                <a:cubicBezTo>
                  <a:pt x="1749081" y="-52614"/>
                  <a:pt x="1844351" y="36023"/>
                  <a:pt x="2015816" y="0"/>
                </a:cubicBezTo>
                <a:cubicBezTo>
                  <a:pt x="2187281" y="-36023"/>
                  <a:pt x="2346871" y="22269"/>
                  <a:pt x="2509048" y="0"/>
                </a:cubicBezTo>
                <a:cubicBezTo>
                  <a:pt x="2671225" y="-22269"/>
                  <a:pt x="2952368" y="43300"/>
                  <a:pt x="3130949" y="0"/>
                </a:cubicBezTo>
                <a:cubicBezTo>
                  <a:pt x="3309530" y="-43300"/>
                  <a:pt x="3374834" y="25496"/>
                  <a:pt x="3581291" y="0"/>
                </a:cubicBezTo>
                <a:cubicBezTo>
                  <a:pt x="3787748" y="-25496"/>
                  <a:pt x="4038950" y="82570"/>
                  <a:pt x="4288971" y="0"/>
                </a:cubicBezTo>
                <a:cubicBezTo>
                  <a:pt x="4299740" y="218817"/>
                  <a:pt x="4265633" y="374488"/>
                  <a:pt x="4288971" y="600164"/>
                </a:cubicBezTo>
                <a:cubicBezTo>
                  <a:pt x="4312309" y="825840"/>
                  <a:pt x="4233736" y="897107"/>
                  <a:pt x="4288971" y="1154162"/>
                </a:cubicBezTo>
                <a:cubicBezTo>
                  <a:pt x="4148554" y="1186640"/>
                  <a:pt x="3913856" y="1153030"/>
                  <a:pt x="3752850" y="1154162"/>
                </a:cubicBezTo>
                <a:cubicBezTo>
                  <a:pt x="3591844" y="1155294"/>
                  <a:pt x="3395829" y="1123248"/>
                  <a:pt x="3259618" y="1154162"/>
                </a:cubicBezTo>
                <a:cubicBezTo>
                  <a:pt x="3123407" y="1185076"/>
                  <a:pt x="2864693" y="1085085"/>
                  <a:pt x="2637717" y="1154162"/>
                </a:cubicBezTo>
                <a:cubicBezTo>
                  <a:pt x="2410741" y="1223239"/>
                  <a:pt x="2260802" y="1081277"/>
                  <a:pt x="2015816" y="1154162"/>
                </a:cubicBezTo>
                <a:cubicBezTo>
                  <a:pt x="1770830" y="1227047"/>
                  <a:pt x="1683526" y="1126205"/>
                  <a:pt x="1565474" y="1154162"/>
                </a:cubicBezTo>
                <a:cubicBezTo>
                  <a:pt x="1447422" y="1182119"/>
                  <a:pt x="1184459" y="1104203"/>
                  <a:pt x="1029353" y="1154162"/>
                </a:cubicBezTo>
                <a:cubicBezTo>
                  <a:pt x="874247" y="1204121"/>
                  <a:pt x="228406" y="1076619"/>
                  <a:pt x="0" y="1154162"/>
                </a:cubicBezTo>
                <a:cubicBezTo>
                  <a:pt x="-6266" y="1003826"/>
                  <a:pt x="8027" y="860857"/>
                  <a:pt x="0" y="577081"/>
                </a:cubicBezTo>
                <a:cubicBezTo>
                  <a:pt x="-8027" y="293305"/>
                  <a:pt x="44387" y="179276"/>
                  <a:pt x="0" y="0"/>
                </a:cubicBezTo>
                <a:close/>
              </a:path>
            </a:pathLst>
          </a:custGeom>
          <a:noFill/>
          <a:ln w="28575">
            <a:solidFill>
              <a:schemeClr val="accent2">
                <a:lumMod val="60000"/>
                <a:lumOff val="40000"/>
              </a:schemeClr>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rtlCol="0">
            <a:spAutoFit/>
          </a:bodyPr>
          <a:lstStyle/>
          <a:p>
            <a:pPr algn="ctr"/>
            <a:r>
              <a:rPr lang="en-US" sz="6900" b="1" dirty="0">
                <a:latin typeface="Jumble" panose="02000503000000020004" pitchFamily="2" charset="0"/>
              </a:rPr>
              <a:t>BOTH!</a:t>
            </a:r>
            <a:endParaRPr lang="en-US" sz="6900" b="1" dirty="0"/>
          </a:p>
        </p:txBody>
      </p:sp>
    </p:spTree>
    <p:extLst>
      <p:ext uri="{BB962C8B-B14F-4D97-AF65-F5344CB8AC3E}">
        <p14:creationId xmlns:p14="http://schemas.microsoft.com/office/powerpoint/2010/main" val="3721685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93ACFD-C220-F705-6FFB-9B30EA801839}"/>
              </a:ext>
            </a:extLst>
          </p:cNvPr>
          <p:cNvSpPr>
            <a:spLocks noGrp="1"/>
          </p:cNvSpPr>
          <p:nvPr>
            <p:ph type="title"/>
          </p:nvPr>
        </p:nvSpPr>
        <p:spPr>
          <a:xfrm>
            <a:off x="630936" y="640823"/>
            <a:ext cx="3419856" cy="5583148"/>
          </a:xfrm>
        </p:spPr>
        <p:txBody>
          <a:bodyPr anchor="ctr">
            <a:normAutofit/>
          </a:bodyPr>
          <a:lstStyle/>
          <a:p>
            <a:r>
              <a:rPr lang="en-US" sz="6000"/>
              <a:t>SPIT FIRE ROUND: What are examples of contraception?</a:t>
            </a:r>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5755403" y="4884261"/>
              <a:ext cx="360" cy="2160"/>
            </p14:xfrm>
          </p:contentPart>
        </mc:Choice>
        <mc:Fallback xmlns="">
          <p:pic>
            <p:nvPicPr>
              <p:cNvPr id="12" name="Ink 11">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5737403" y="4868832"/>
                <a:ext cx="36000" cy="32709"/>
              </a:xfrm>
              <a:prstGeom prst="rect">
                <a:avLst/>
              </a:prstGeom>
            </p:spPr>
          </p:pic>
        </mc:Fallback>
      </mc:AlternateContent>
      <p:sp>
        <p:nvSpPr>
          <p:cNvPr id="14" name="Rectangle 22">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1092" y="1557877"/>
            <a:ext cx="18288" cy="3749040"/>
          </a:xfrm>
          <a:custGeom>
            <a:avLst/>
            <a:gdLst>
              <a:gd name="connsiteX0" fmla="*/ 0 w 18288"/>
              <a:gd name="connsiteY0" fmla="*/ 0 h 3749040"/>
              <a:gd name="connsiteX1" fmla="*/ 18288 w 18288"/>
              <a:gd name="connsiteY1" fmla="*/ 0 h 3749040"/>
              <a:gd name="connsiteX2" fmla="*/ 18288 w 18288"/>
              <a:gd name="connsiteY2" fmla="*/ 662330 h 3749040"/>
              <a:gd name="connsiteX3" fmla="*/ 18288 w 18288"/>
              <a:gd name="connsiteY3" fmla="*/ 1174699 h 3749040"/>
              <a:gd name="connsiteX4" fmla="*/ 18288 w 18288"/>
              <a:gd name="connsiteY4" fmla="*/ 1724558 h 3749040"/>
              <a:gd name="connsiteX5" fmla="*/ 18288 w 18288"/>
              <a:gd name="connsiteY5" fmla="*/ 2424379 h 3749040"/>
              <a:gd name="connsiteX6" fmla="*/ 18288 w 18288"/>
              <a:gd name="connsiteY6" fmla="*/ 3049219 h 3749040"/>
              <a:gd name="connsiteX7" fmla="*/ 18288 w 18288"/>
              <a:gd name="connsiteY7" fmla="*/ 3749040 h 3749040"/>
              <a:gd name="connsiteX8" fmla="*/ 0 w 18288"/>
              <a:gd name="connsiteY8" fmla="*/ 3749040 h 3749040"/>
              <a:gd name="connsiteX9" fmla="*/ 0 w 18288"/>
              <a:gd name="connsiteY9" fmla="*/ 3236671 h 3749040"/>
              <a:gd name="connsiteX10" fmla="*/ 0 w 18288"/>
              <a:gd name="connsiteY10" fmla="*/ 2536850 h 3749040"/>
              <a:gd name="connsiteX11" fmla="*/ 0 w 18288"/>
              <a:gd name="connsiteY11" fmla="*/ 1874520 h 3749040"/>
              <a:gd name="connsiteX12" fmla="*/ 0 w 18288"/>
              <a:gd name="connsiteY12" fmla="*/ 1362151 h 3749040"/>
              <a:gd name="connsiteX13" fmla="*/ 0 w 18288"/>
              <a:gd name="connsiteY13" fmla="*/ 774802 h 3749040"/>
              <a:gd name="connsiteX14" fmla="*/ 0 w 18288"/>
              <a:gd name="connsiteY14" fmla="*/ 0 h 374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288" h="3749040" fill="none" extrusionOk="0">
                <a:moveTo>
                  <a:pt x="0" y="0"/>
                </a:moveTo>
                <a:cubicBezTo>
                  <a:pt x="8690" y="407"/>
                  <a:pt x="14141" y="154"/>
                  <a:pt x="18288" y="0"/>
                </a:cubicBezTo>
                <a:cubicBezTo>
                  <a:pt x="34838" y="143586"/>
                  <a:pt x="-11860" y="333097"/>
                  <a:pt x="18288" y="662330"/>
                </a:cubicBezTo>
                <a:cubicBezTo>
                  <a:pt x="48436" y="991563"/>
                  <a:pt x="32813" y="1046681"/>
                  <a:pt x="18288" y="1174699"/>
                </a:cubicBezTo>
                <a:cubicBezTo>
                  <a:pt x="3763" y="1302717"/>
                  <a:pt x="40974" y="1467838"/>
                  <a:pt x="18288" y="1724558"/>
                </a:cubicBezTo>
                <a:cubicBezTo>
                  <a:pt x="-4398" y="1981278"/>
                  <a:pt x="36650" y="2215729"/>
                  <a:pt x="18288" y="2424379"/>
                </a:cubicBezTo>
                <a:cubicBezTo>
                  <a:pt x="-74" y="2633029"/>
                  <a:pt x="-9881" y="2874703"/>
                  <a:pt x="18288" y="3049219"/>
                </a:cubicBezTo>
                <a:cubicBezTo>
                  <a:pt x="46457" y="3223735"/>
                  <a:pt x="4078" y="3453850"/>
                  <a:pt x="18288" y="3749040"/>
                </a:cubicBezTo>
                <a:cubicBezTo>
                  <a:pt x="14465" y="3749751"/>
                  <a:pt x="7675" y="3748271"/>
                  <a:pt x="0" y="3749040"/>
                </a:cubicBezTo>
                <a:cubicBezTo>
                  <a:pt x="19669" y="3507959"/>
                  <a:pt x="-9883" y="3339386"/>
                  <a:pt x="0" y="3236671"/>
                </a:cubicBezTo>
                <a:cubicBezTo>
                  <a:pt x="9883" y="3133956"/>
                  <a:pt x="26871" y="2857214"/>
                  <a:pt x="0" y="2536850"/>
                </a:cubicBezTo>
                <a:cubicBezTo>
                  <a:pt x="-26871" y="2216486"/>
                  <a:pt x="4790" y="2156616"/>
                  <a:pt x="0" y="1874520"/>
                </a:cubicBezTo>
                <a:cubicBezTo>
                  <a:pt x="-4790" y="1592424"/>
                  <a:pt x="-3117" y="1558688"/>
                  <a:pt x="0" y="1362151"/>
                </a:cubicBezTo>
                <a:cubicBezTo>
                  <a:pt x="3117" y="1165614"/>
                  <a:pt x="16802" y="1045125"/>
                  <a:pt x="0" y="774802"/>
                </a:cubicBezTo>
                <a:cubicBezTo>
                  <a:pt x="-16802" y="504479"/>
                  <a:pt x="-29640" y="377701"/>
                  <a:pt x="0" y="0"/>
                </a:cubicBezTo>
                <a:close/>
              </a:path>
              <a:path w="18288" h="3749040" stroke="0" extrusionOk="0">
                <a:moveTo>
                  <a:pt x="0" y="0"/>
                </a:moveTo>
                <a:cubicBezTo>
                  <a:pt x="5341" y="9"/>
                  <a:pt x="11148" y="-611"/>
                  <a:pt x="18288" y="0"/>
                </a:cubicBezTo>
                <a:cubicBezTo>
                  <a:pt x="33352" y="227288"/>
                  <a:pt x="30894" y="278824"/>
                  <a:pt x="18288" y="512369"/>
                </a:cubicBezTo>
                <a:cubicBezTo>
                  <a:pt x="5682" y="745914"/>
                  <a:pt x="53060" y="998220"/>
                  <a:pt x="18288" y="1212190"/>
                </a:cubicBezTo>
                <a:cubicBezTo>
                  <a:pt x="-16484" y="1426160"/>
                  <a:pt x="35474" y="1585099"/>
                  <a:pt x="18288" y="1837030"/>
                </a:cubicBezTo>
                <a:cubicBezTo>
                  <a:pt x="1102" y="2088961"/>
                  <a:pt x="16704" y="2251948"/>
                  <a:pt x="18288" y="2386889"/>
                </a:cubicBezTo>
                <a:cubicBezTo>
                  <a:pt x="19872" y="2521830"/>
                  <a:pt x="5902" y="2679005"/>
                  <a:pt x="18288" y="2936748"/>
                </a:cubicBezTo>
                <a:cubicBezTo>
                  <a:pt x="30674" y="3194491"/>
                  <a:pt x="13809" y="3416052"/>
                  <a:pt x="18288" y="3749040"/>
                </a:cubicBezTo>
                <a:cubicBezTo>
                  <a:pt x="9729" y="3749861"/>
                  <a:pt x="3965" y="3749683"/>
                  <a:pt x="0" y="3749040"/>
                </a:cubicBezTo>
                <a:cubicBezTo>
                  <a:pt x="-10152" y="3632102"/>
                  <a:pt x="-5013" y="3340136"/>
                  <a:pt x="0" y="3236671"/>
                </a:cubicBezTo>
                <a:cubicBezTo>
                  <a:pt x="5013" y="3133206"/>
                  <a:pt x="-27249" y="2814766"/>
                  <a:pt x="0" y="2649322"/>
                </a:cubicBezTo>
                <a:cubicBezTo>
                  <a:pt x="27249" y="2483878"/>
                  <a:pt x="8506" y="2308131"/>
                  <a:pt x="0" y="2061972"/>
                </a:cubicBezTo>
                <a:cubicBezTo>
                  <a:pt x="-8506" y="1815813"/>
                  <a:pt x="-14267" y="1574470"/>
                  <a:pt x="0" y="1399642"/>
                </a:cubicBezTo>
                <a:cubicBezTo>
                  <a:pt x="14267" y="1224814"/>
                  <a:pt x="-24839" y="1011862"/>
                  <a:pt x="0" y="812292"/>
                </a:cubicBezTo>
                <a:cubicBezTo>
                  <a:pt x="24839" y="612722"/>
                  <a:pt x="20220" y="372179"/>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descr="Megaphone1 with solid fill">
            <a:extLst>
              <a:ext uri="{FF2B5EF4-FFF2-40B4-BE49-F238E27FC236}">
                <a16:creationId xmlns:a16="http://schemas.microsoft.com/office/drawing/2014/main" id="{E8E48F32-D870-B3D4-D2E9-A7180F84F2C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27992" y="1514025"/>
            <a:ext cx="5119817" cy="5343975"/>
          </a:xfrm>
          <a:prstGeom prst="rect">
            <a:avLst/>
          </a:prstGeom>
        </p:spPr>
      </p:pic>
      <p:sp>
        <p:nvSpPr>
          <p:cNvPr id="6" name="Oval Callout 5">
            <a:extLst>
              <a:ext uri="{FF2B5EF4-FFF2-40B4-BE49-F238E27FC236}">
                <a16:creationId xmlns:a16="http://schemas.microsoft.com/office/drawing/2014/main" id="{0060A124-DAEB-4ADC-20BB-100B6939B970}"/>
              </a:ext>
            </a:extLst>
          </p:cNvPr>
          <p:cNvSpPr/>
          <p:nvPr/>
        </p:nvSpPr>
        <p:spPr>
          <a:xfrm rot="1127370">
            <a:off x="8442788" y="626191"/>
            <a:ext cx="3412096" cy="2657831"/>
          </a:xfrm>
          <a:prstGeom prst="wedgeEllipseCallout">
            <a:avLst/>
          </a:prstGeom>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7081B67-9709-2659-04E8-464D30C53004}"/>
              </a:ext>
            </a:extLst>
          </p:cNvPr>
          <p:cNvSpPr>
            <a:spLocks noGrp="1"/>
          </p:cNvSpPr>
          <p:nvPr>
            <p:ph idx="1"/>
          </p:nvPr>
        </p:nvSpPr>
        <p:spPr>
          <a:xfrm rot="1449598">
            <a:off x="8768271" y="887305"/>
            <a:ext cx="2762579" cy="2007174"/>
          </a:xfrm>
        </p:spPr>
        <p:txBody>
          <a:bodyPr anchor="t">
            <a:normAutofit fontScale="85000" lnSpcReduction="20000"/>
          </a:bodyPr>
          <a:lstStyle/>
          <a:p>
            <a:pPr marL="0" indent="0" algn="ctr">
              <a:buNone/>
            </a:pPr>
            <a:r>
              <a:rPr lang="en-US" b="1" dirty="0">
                <a:latin typeface="Univers" panose="020B0503020202020204" pitchFamily="34" charset="0"/>
              </a:rPr>
              <a:t>What contraceptive methods do you know?</a:t>
            </a:r>
          </a:p>
          <a:p>
            <a:pPr marL="0" indent="0" algn="ctr">
              <a:buNone/>
            </a:pPr>
            <a:r>
              <a:rPr lang="en-US" b="1" dirty="0">
                <a:latin typeface="Univers" panose="020B0503020202020204" pitchFamily="34" charset="0"/>
              </a:rPr>
              <a:t>Call them out! </a:t>
            </a:r>
          </a:p>
        </p:txBody>
      </p:sp>
    </p:spTree>
    <p:extLst>
      <p:ext uri="{BB962C8B-B14F-4D97-AF65-F5344CB8AC3E}">
        <p14:creationId xmlns:p14="http://schemas.microsoft.com/office/powerpoint/2010/main" val="3767510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mph" presetSubtype="0" repeatCount="indefinite" fill="remove" grpId="0" nodeType="withEffect">
                                  <p:stCondLst>
                                    <p:cond delay="0"/>
                                  </p:stCondLst>
                                  <p:childTnLst>
                                    <p:animClr clrSpc="rgb" dir="cw">
                                      <p:cBhvr override="childStyle">
                                        <p:cTn id="6" dur="1000" autoRev="1" fill="remove"/>
                                        <p:tgtEl>
                                          <p:spTgt spid="6"/>
                                        </p:tgtEl>
                                        <p:attrNameLst>
                                          <p:attrName>style.color</p:attrName>
                                        </p:attrNameLst>
                                      </p:cBhvr>
                                      <p:to>
                                        <a:srgbClr val="FFFF00"/>
                                      </p:to>
                                    </p:animClr>
                                    <p:animClr clrSpc="rgb" dir="cw">
                                      <p:cBhvr>
                                        <p:cTn id="7" dur="1000" autoRev="1" fill="remove"/>
                                        <p:tgtEl>
                                          <p:spTgt spid="6"/>
                                        </p:tgtEl>
                                        <p:attrNameLst>
                                          <p:attrName>fillcolor</p:attrName>
                                        </p:attrNameLst>
                                      </p:cBhvr>
                                      <p:to>
                                        <a:srgbClr val="FFFF00"/>
                                      </p:to>
                                    </p:animClr>
                                    <p:set>
                                      <p:cBhvr>
                                        <p:cTn id="8" dur="1000" autoRev="1" fill="remove"/>
                                        <p:tgtEl>
                                          <p:spTgt spid="6"/>
                                        </p:tgtEl>
                                        <p:attrNameLst>
                                          <p:attrName>fill.type</p:attrName>
                                        </p:attrNameLst>
                                      </p:cBhvr>
                                      <p:to>
                                        <p:strVal val="solid"/>
                                      </p:to>
                                    </p:set>
                                    <p:set>
                                      <p:cBhvr>
                                        <p:cTn id="9" dur="1000" autoRev="1" fill="remove"/>
                                        <p:tgtEl>
                                          <p:spTgt spid="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68F34-0F31-A088-18CD-8C367097C380}"/>
              </a:ext>
            </a:extLst>
          </p:cNvPr>
          <p:cNvSpPr>
            <a:spLocks noGrp="1"/>
          </p:cNvSpPr>
          <p:nvPr>
            <p:ph type="title"/>
          </p:nvPr>
        </p:nvSpPr>
        <p:spPr/>
        <p:txBody>
          <a:bodyPr/>
          <a:lstStyle/>
          <a:p>
            <a:r>
              <a:rPr lang="en-US" dirty="0"/>
              <a:t>ACTIVITY 3: Contraception Types (pg. 10)</a:t>
            </a:r>
          </a:p>
        </p:txBody>
      </p:sp>
      <p:sp>
        <p:nvSpPr>
          <p:cNvPr id="3" name="Content Placeholder 2">
            <a:extLst>
              <a:ext uri="{FF2B5EF4-FFF2-40B4-BE49-F238E27FC236}">
                <a16:creationId xmlns:a16="http://schemas.microsoft.com/office/drawing/2014/main" id="{6A640E2C-18CD-2433-CF26-E311D30B2ED1}"/>
              </a:ext>
            </a:extLst>
          </p:cNvPr>
          <p:cNvSpPr>
            <a:spLocks noGrp="1"/>
          </p:cNvSpPr>
          <p:nvPr>
            <p:ph idx="1"/>
          </p:nvPr>
        </p:nvSpPr>
        <p:spPr>
          <a:xfrm>
            <a:off x="596900" y="2831084"/>
            <a:ext cx="2230315" cy="2591816"/>
          </a:xfrm>
        </p:spPr>
        <p:txBody>
          <a:bodyPr/>
          <a:lstStyle/>
          <a:p>
            <a:pPr marL="0" indent="0" algn="ctr">
              <a:buNone/>
            </a:pPr>
            <a:r>
              <a:rPr lang="en-US" dirty="0"/>
              <a:t>While watching the video, write a list of contraception methods that are mentioned into your books. </a:t>
            </a:r>
          </a:p>
        </p:txBody>
      </p:sp>
      <p:pic>
        <p:nvPicPr>
          <p:cNvPr id="4" name="Online Media 3" descr="GCSE Biology - Contraception  #61">
            <a:hlinkClick r:id="" action="ppaction://media"/>
            <a:extLst>
              <a:ext uri="{FF2B5EF4-FFF2-40B4-BE49-F238E27FC236}">
                <a16:creationId xmlns:a16="http://schemas.microsoft.com/office/drawing/2014/main" id="{826D574C-CE3F-778A-9247-819F49F01F94}"/>
              </a:ext>
            </a:extLst>
          </p:cNvPr>
          <p:cNvPicPr>
            <a:picLocks noRot="1" noChangeAspect="1"/>
          </p:cNvPicPr>
          <p:nvPr>
            <a:videoFile r:link="rId1"/>
          </p:nvPr>
        </p:nvPicPr>
        <p:blipFill>
          <a:blip r:embed="rId4"/>
          <a:stretch>
            <a:fillRect/>
          </a:stretch>
        </p:blipFill>
        <p:spPr>
          <a:xfrm>
            <a:off x="3286042" y="1826133"/>
            <a:ext cx="8905958" cy="5031867"/>
          </a:xfrm>
          <a:prstGeom prst="rect">
            <a:avLst/>
          </a:prstGeom>
        </p:spPr>
      </p:pic>
    </p:spTree>
    <p:extLst>
      <p:ext uri="{BB962C8B-B14F-4D97-AF65-F5344CB8AC3E}">
        <p14:creationId xmlns:p14="http://schemas.microsoft.com/office/powerpoint/2010/main" val="3050813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9419B-B04A-08AC-16CC-7A8762FDA7DA}"/>
              </a:ext>
            </a:extLst>
          </p:cNvPr>
          <p:cNvSpPr>
            <a:spLocks noGrp="1"/>
          </p:cNvSpPr>
          <p:nvPr>
            <p:ph type="title"/>
          </p:nvPr>
        </p:nvSpPr>
        <p:spPr/>
        <p:txBody>
          <a:bodyPr>
            <a:normAutofit fontScale="90000"/>
          </a:bodyPr>
          <a:lstStyle/>
          <a:p>
            <a:r>
              <a:rPr lang="en-US" dirty="0"/>
              <a:t>Activity 4: </a:t>
            </a:r>
            <a:r>
              <a:rPr lang="en-US" sz="5400" dirty="0"/>
              <a:t>(pg. 11)</a:t>
            </a:r>
            <a:br>
              <a:rPr lang="en-US" dirty="0"/>
            </a:br>
            <a:r>
              <a:rPr lang="en-US" dirty="0"/>
              <a:t>Why do people choose to use/not use contraception?</a:t>
            </a:r>
          </a:p>
        </p:txBody>
      </p:sp>
      <p:sp>
        <p:nvSpPr>
          <p:cNvPr id="3" name="Content Placeholder 2">
            <a:extLst>
              <a:ext uri="{FF2B5EF4-FFF2-40B4-BE49-F238E27FC236}">
                <a16:creationId xmlns:a16="http://schemas.microsoft.com/office/drawing/2014/main" id="{D306DF9A-54EE-680E-72F9-78ECADEC246B}"/>
              </a:ext>
            </a:extLst>
          </p:cNvPr>
          <p:cNvSpPr>
            <a:spLocks noGrp="1"/>
          </p:cNvSpPr>
          <p:nvPr>
            <p:ph idx="1"/>
          </p:nvPr>
        </p:nvSpPr>
        <p:spPr/>
        <p:txBody>
          <a:bodyPr/>
          <a:lstStyle/>
          <a:p>
            <a:r>
              <a:rPr lang="en-US" dirty="0"/>
              <a:t>There are a wide range of contraceptive methods available to use.</a:t>
            </a:r>
          </a:p>
          <a:p>
            <a:r>
              <a:rPr lang="en-US" dirty="0"/>
              <a:t>Consider reasons why someone would choose to use contraception vs. not use contraception.</a:t>
            </a:r>
          </a:p>
          <a:p>
            <a:endParaRPr lang="en-US" dirty="0"/>
          </a:p>
          <a:p>
            <a:r>
              <a:rPr lang="en-US" dirty="0"/>
              <a:t>Complete the T-chart in your books. </a:t>
            </a:r>
          </a:p>
          <a:p>
            <a:endParaRPr lang="en-US" dirty="0"/>
          </a:p>
          <a:p>
            <a:r>
              <a:rPr lang="en-US" dirty="0"/>
              <a:t>You have 5 minutes. Be prepared to share your responses. </a:t>
            </a:r>
          </a:p>
        </p:txBody>
      </p:sp>
      <p:graphicFrame>
        <p:nvGraphicFramePr>
          <p:cNvPr id="4" name="Table 3">
            <a:extLst>
              <a:ext uri="{FF2B5EF4-FFF2-40B4-BE49-F238E27FC236}">
                <a16:creationId xmlns:a16="http://schemas.microsoft.com/office/drawing/2014/main" id="{2ED70AAC-59E5-02E3-226F-4E2F6E894076}"/>
              </a:ext>
            </a:extLst>
          </p:cNvPr>
          <p:cNvGraphicFramePr>
            <a:graphicFrameLocks noGrp="1"/>
          </p:cNvGraphicFramePr>
          <p:nvPr>
            <p:extLst>
              <p:ext uri="{D42A27DB-BD31-4B8C-83A1-F6EECF244321}">
                <p14:modId xmlns:p14="http://schemas.microsoft.com/office/powerpoint/2010/main" val="2110280761"/>
              </p:ext>
            </p:extLst>
          </p:nvPr>
        </p:nvGraphicFramePr>
        <p:xfrm>
          <a:off x="6289590" y="3320567"/>
          <a:ext cx="5427362" cy="3099473"/>
        </p:xfrm>
        <a:graphic>
          <a:graphicData uri="http://schemas.openxmlformats.org/drawingml/2006/table">
            <a:tbl>
              <a:tblPr firstRow="1" bandRow="1">
                <a:tableStyleId>{5C22544A-7EE6-4342-B048-85BDC9FD1C3A}</a:tableStyleId>
              </a:tblPr>
              <a:tblGrid>
                <a:gridCol w="2713681">
                  <a:extLst>
                    <a:ext uri="{9D8B030D-6E8A-4147-A177-3AD203B41FA5}">
                      <a16:colId xmlns:a16="http://schemas.microsoft.com/office/drawing/2014/main" val="329215136"/>
                    </a:ext>
                  </a:extLst>
                </a:gridCol>
                <a:gridCol w="2713681">
                  <a:extLst>
                    <a:ext uri="{9D8B030D-6E8A-4147-A177-3AD203B41FA5}">
                      <a16:colId xmlns:a16="http://schemas.microsoft.com/office/drawing/2014/main" val="2843699523"/>
                    </a:ext>
                  </a:extLst>
                </a:gridCol>
              </a:tblGrid>
              <a:tr h="615765">
                <a:tc>
                  <a:txBody>
                    <a:bodyPr/>
                    <a:lstStyle/>
                    <a:p>
                      <a:pPr algn="ctr"/>
                      <a:r>
                        <a:rPr lang="en-US" sz="2400" b="1" dirty="0"/>
                        <a:t>Reasons </a:t>
                      </a:r>
                      <a:r>
                        <a:rPr lang="en-US" sz="2400" b="1" u="sng" dirty="0"/>
                        <a:t>TO USE</a:t>
                      </a:r>
                      <a:r>
                        <a:rPr lang="en-US" sz="2400" b="1" u="none" dirty="0"/>
                        <a:t> </a:t>
                      </a:r>
                      <a:r>
                        <a:rPr lang="en-US" sz="2400" b="1" dirty="0"/>
                        <a:t>contraception:</a:t>
                      </a:r>
                    </a:p>
                  </a:txBody>
                  <a:tcPr anchor="ctr"/>
                </a:tc>
                <a:tc>
                  <a:txBody>
                    <a:bodyPr/>
                    <a:lstStyle/>
                    <a:p>
                      <a:pPr algn="ctr"/>
                      <a:r>
                        <a:rPr lang="en-US" sz="2400" b="1" dirty="0"/>
                        <a:t>Reasons </a:t>
                      </a:r>
                      <a:r>
                        <a:rPr lang="en-US" sz="2400" b="1" u="sng" dirty="0"/>
                        <a:t>NOT TO USE</a:t>
                      </a:r>
                      <a:r>
                        <a:rPr lang="en-US" sz="2400" b="1" dirty="0"/>
                        <a:t> contraception:</a:t>
                      </a:r>
                    </a:p>
                  </a:txBody>
                  <a:tcPr anchor="ctr"/>
                </a:tc>
                <a:extLst>
                  <a:ext uri="{0D108BD9-81ED-4DB2-BD59-A6C34878D82A}">
                    <a16:rowId xmlns:a16="http://schemas.microsoft.com/office/drawing/2014/main" val="1334855573"/>
                  </a:ext>
                </a:extLst>
              </a:tr>
              <a:tr h="2483708">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274040331"/>
                  </a:ext>
                </a:extLst>
              </a:tr>
            </a:tbl>
          </a:graphicData>
        </a:graphic>
      </p:graphicFrame>
    </p:spTree>
    <p:extLst>
      <p:ext uri="{BB962C8B-B14F-4D97-AF65-F5344CB8AC3E}">
        <p14:creationId xmlns:p14="http://schemas.microsoft.com/office/powerpoint/2010/main" val="26719587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3B26F-2475-F58E-E5B2-23CF8A635B0E}"/>
              </a:ext>
            </a:extLst>
          </p:cNvPr>
          <p:cNvSpPr>
            <a:spLocks noGrp="1"/>
          </p:cNvSpPr>
          <p:nvPr>
            <p:ph type="title"/>
          </p:nvPr>
        </p:nvSpPr>
        <p:spPr/>
        <p:txBody>
          <a:bodyPr/>
          <a:lstStyle/>
          <a:p>
            <a:r>
              <a:rPr lang="en-US" dirty="0"/>
              <a:t>Activity 4: Answers</a:t>
            </a:r>
          </a:p>
        </p:txBody>
      </p:sp>
      <p:sp>
        <p:nvSpPr>
          <p:cNvPr id="3" name="Content Placeholder 2">
            <a:extLst>
              <a:ext uri="{FF2B5EF4-FFF2-40B4-BE49-F238E27FC236}">
                <a16:creationId xmlns:a16="http://schemas.microsoft.com/office/drawing/2014/main" id="{667DE077-89C4-E240-9996-CDF9DCF900B0}"/>
              </a:ext>
            </a:extLst>
          </p:cNvPr>
          <p:cNvSpPr>
            <a:spLocks noGrp="1"/>
          </p:cNvSpPr>
          <p:nvPr>
            <p:ph idx="1"/>
          </p:nvPr>
        </p:nvSpPr>
        <p:spPr>
          <a:xfrm>
            <a:off x="1325367" y="2060869"/>
            <a:ext cx="1713162" cy="2246769"/>
          </a:xfrm>
        </p:spPr>
        <p:txBody>
          <a:bodyPr/>
          <a:lstStyle/>
          <a:p>
            <a:pPr marL="0" indent="0" algn="ctr">
              <a:buNone/>
            </a:pPr>
            <a:r>
              <a:rPr lang="en-US" dirty="0"/>
              <a:t>Add anything you don’t have to your books.</a:t>
            </a:r>
          </a:p>
        </p:txBody>
      </p:sp>
      <p:graphicFrame>
        <p:nvGraphicFramePr>
          <p:cNvPr id="5" name="Table 4">
            <a:extLst>
              <a:ext uri="{FF2B5EF4-FFF2-40B4-BE49-F238E27FC236}">
                <a16:creationId xmlns:a16="http://schemas.microsoft.com/office/drawing/2014/main" id="{46CDAF13-F001-38DB-4526-66B9CF2CB610}"/>
              </a:ext>
            </a:extLst>
          </p:cNvPr>
          <p:cNvGraphicFramePr>
            <a:graphicFrameLocks/>
          </p:cNvGraphicFramePr>
          <p:nvPr>
            <p:extLst>
              <p:ext uri="{D42A27DB-BD31-4B8C-83A1-F6EECF244321}">
                <p14:modId xmlns:p14="http://schemas.microsoft.com/office/powerpoint/2010/main" val="2611699054"/>
              </p:ext>
            </p:extLst>
          </p:nvPr>
        </p:nvGraphicFramePr>
        <p:xfrm>
          <a:off x="5047456" y="2082716"/>
          <a:ext cx="6485238" cy="3840480"/>
        </p:xfrm>
        <a:graphic>
          <a:graphicData uri="http://schemas.openxmlformats.org/drawingml/2006/table">
            <a:tbl>
              <a:tblPr firstRow="1" bandRow="1">
                <a:tableStyleId>{5C22544A-7EE6-4342-B048-85BDC9FD1C3A}</a:tableStyleId>
              </a:tblPr>
              <a:tblGrid>
                <a:gridCol w="3242619">
                  <a:extLst>
                    <a:ext uri="{9D8B030D-6E8A-4147-A177-3AD203B41FA5}">
                      <a16:colId xmlns:a16="http://schemas.microsoft.com/office/drawing/2014/main" val="921961787"/>
                    </a:ext>
                  </a:extLst>
                </a:gridCol>
                <a:gridCol w="3242619">
                  <a:extLst>
                    <a:ext uri="{9D8B030D-6E8A-4147-A177-3AD203B41FA5}">
                      <a16:colId xmlns:a16="http://schemas.microsoft.com/office/drawing/2014/main" val="32711320"/>
                    </a:ext>
                  </a:extLst>
                </a:gridCol>
              </a:tblGrid>
              <a:tr h="428942">
                <a:tc>
                  <a:txBody>
                    <a:bodyPr/>
                    <a:lstStyle/>
                    <a:p>
                      <a:pPr algn="ctr"/>
                      <a:r>
                        <a:rPr lang="en-US" sz="2400" b="1" i="0" dirty="0"/>
                        <a:t>Reasons </a:t>
                      </a:r>
                      <a:r>
                        <a:rPr lang="en-US" sz="2400" b="1" i="0" u="sng" dirty="0"/>
                        <a:t>TO USE</a:t>
                      </a:r>
                      <a:r>
                        <a:rPr lang="en-US" sz="2400" b="1" i="0" u="none" dirty="0"/>
                        <a:t> </a:t>
                      </a:r>
                      <a:r>
                        <a:rPr lang="en-US" sz="2400" b="1" i="0" dirty="0"/>
                        <a:t>contraception:</a:t>
                      </a:r>
                    </a:p>
                  </a:txBody>
                  <a:tcPr/>
                </a:tc>
                <a:tc>
                  <a:txBody>
                    <a:bodyPr/>
                    <a:lstStyle/>
                    <a:p>
                      <a:pPr algn="ctr"/>
                      <a:r>
                        <a:rPr lang="en-US" sz="2400" b="1" i="0" dirty="0"/>
                        <a:t> Reasons </a:t>
                      </a:r>
                      <a:r>
                        <a:rPr lang="en-US" sz="2400" b="1" i="0" u="sng" dirty="0"/>
                        <a:t>NOT TO USE</a:t>
                      </a:r>
                      <a:r>
                        <a:rPr lang="en-US" sz="2400" b="1" i="0" u="none" dirty="0"/>
                        <a:t> </a:t>
                      </a:r>
                      <a:r>
                        <a:rPr lang="en-US" sz="2400" b="1" i="0" dirty="0"/>
                        <a:t>contraception:</a:t>
                      </a:r>
                    </a:p>
                  </a:txBody>
                  <a:tcPr/>
                </a:tc>
                <a:extLst>
                  <a:ext uri="{0D108BD9-81ED-4DB2-BD59-A6C34878D82A}">
                    <a16:rowId xmlns:a16="http://schemas.microsoft.com/office/drawing/2014/main" val="3606410352"/>
                  </a:ext>
                </a:extLst>
              </a:tr>
              <a:tr h="3305507">
                <a:tc>
                  <a:txBody>
                    <a:bodyPr/>
                    <a:lstStyle/>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  </a:t>
                      </a:r>
                    </a:p>
                    <a:p>
                      <a:pPr marL="285750" indent="-285750">
                        <a:buFont typeface="Arial" panose="020B0604020202020204" pitchFamily="34" charset="0"/>
                        <a:buChar char="•"/>
                      </a:pPr>
                      <a:r>
                        <a:rPr lang="en-US" sz="2400" dirty="0"/>
                        <a:t>  </a:t>
                      </a:r>
                    </a:p>
                    <a:p>
                      <a:pPr marL="285750" indent="-285750">
                        <a:buFont typeface="Arial" panose="020B0604020202020204" pitchFamily="34" charset="0"/>
                        <a:buChar char="•"/>
                      </a:pPr>
                      <a:r>
                        <a:rPr lang="en-US" sz="2400" dirty="0"/>
                        <a:t>  </a:t>
                      </a:r>
                    </a:p>
                    <a:p>
                      <a:pPr marL="285750" indent="-285750">
                        <a:buFont typeface="Arial" panose="020B0604020202020204" pitchFamily="34" charset="0"/>
                        <a:buChar char="•"/>
                      </a:pPr>
                      <a:r>
                        <a:rPr lang="en-US" sz="2400" dirty="0"/>
                        <a:t>  </a:t>
                      </a:r>
                    </a:p>
                    <a:p>
                      <a:pPr marL="285750" indent="-285750">
                        <a:buFont typeface="Arial" panose="020B0604020202020204" pitchFamily="34" charset="0"/>
                        <a:buChar char="•"/>
                      </a:pPr>
                      <a:r>
                        <a:rPr lang="en-US" sz="2400" dirty="0"/>
                        <a:t>  </a:t>
                      </a:r>
                    </a:p>
                    <a:p>
                      <a:pPr marL="285750" indent="-285750">
                        <a:buFont typeface="Arial" panose="020B0604020202020204" pitchFamily="34" charset="0"/>
                        <a:buChar char="•"/>
                      </a:pPr>
                      <a:r>
                        <a:rPr lang="en-US" sz="2400" dirty="0"/>
                        <a:t> </a:t>
                      </a:r>
                    </a:p>
                    <a:p>
                      <a:pPr marL="285750" indent="-285750">
                        <a:buFont typeface="Arial" panose="020B0604020202020204" pitchFamily="34" charset="0"/>
                        <a:buChar char="•"/>
                      </a:pPr>
                      <a:r>
                        <a:rPr lang="en-US" sz="2400" dirty="0"/>
                        <a:t>  </a:t>
                      </a:r>
                    </a:p>
                  </a:txBody>
                  <a:tcPr/>
                </a:tc>
                <a:tc>
                  <a:txBody>
                    <a:bodyPr/>
                    <a:lstStyle/>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 </a:t>
                      </a:r>
                    </a:p>
                    <a:p>
                      <a:pPr marL="285750" indent="-285750">
                        <a:buFont typeface="Arial" panose="020B0604020202020204" pitchFamily="34" charset="0"/>
                        <a:buChar char="•"/>
                      </a:pPr>
                      <a:r>
                        <a:rPr lang="en-US" sz="2400" dirty="0"/>
                        <a:t> </a:t>
                      </a:r>
                    </a:p>
                    <a:p>
                      <a:pPr marL="285750" indent="-285750">
                        <a:buFont typeface="Arial" panose="020B0604020202020204" pitchFamily="34" charset="0"/>
                        <a:buChar char="•"/>
                      </a:pPr>
                      <a:r>
                        <a:rPr lang="en-US" sz="2400" dirty="0"/>
                        <a:t> </a:t>
                      </a:r>
                    </a:p>
                    <a:p>
                      <a:pPr marL="285750" indent="-285750">
                        <a:buFont typeface="Arial" panose="020B0604020202020204" pitchFamily="34" charset="0"/>
                        <a:buChar char="•"/>
                      </a:pPr>
                      <a:r>
                        <a:rPr lang="en-US" sz="2400" dirty="0"/>
                        <a:t> </a:t>
                      </a:r>
                    </a:p>
                    <a:p>
                      <a:pPr marL="285750" indent="-285750">
                        <a:buFont typeface="Arial" panose="020B0604020202020204" pitchFamily="34" charset="0"/>
                        <a:buChar char="•"/>
                      </a:pPr>
                      <a:r>
                        <a:rPr lang="en-US" sz="2400" dirty="0"/>
                        <a:t> </a:t>
                      </a:r>
                    </a:p>
                    <a:p>
                      <a:pPr marL="285750" indent="-285750">
                        <a:buFont typeface="Arial" panose="020B0604020202020204" pitchFamily="34" charset="0"/>
                        <a:buChar char="•"/>
                      </a:pPr>
                      <a:r>
                        <a:rPr lang="en-US" sz="2400" dirty="0"/>
                        <a:t>  </a:t>
                      </a:r>
                    </a:p>
                    <a:p>
                      <a:pPr marL="285750" indent="-285750">
                        <a:buFont typeface="Arial" panose="020B0604020202020204" pitchFamily="34" charset="0"/>
                        <a:buChar char="•"/>
                      </a:pPr>
                      <a:r>
                        <a:rPr lang="en-US" sz="2400" dirty="0"/>
                        <a:t> </a:t>
                      </a:r>
                    </a:p>
                    <a:p>
                      <a:pPr marL="285750" indent="-285750">
                        <a:buFont typeface="Arial" panose="020B0604020202020204" pitchFamily="34" charset="0"/>
                        <a:buChar char="•"/>
                      </a:pPr>
                      <a:endParaRPr lang="en-US" sz="2400" dirty="0"/>
                    </a:p>
                  </a:txBody>
                  <a:tcPr/>
                </a:tc>
                <a:extLst>
                  <a:ext uri="{0D108BD9-81ED-4DB2-BD59-A6C34878D82A}">
                    <a16:rowId xmlns:a16="http://schemas.microsoft.com/office/drawing/2014/main" val="2183373827"/>
                  </a:ext>
                </a:extLst>
              </a:tr>
            </a:tbl>
          </a:graphicData>
        </a:graphic>
      </p:graphicFrame>
      <p:sp>
        <p:nvSpPr>
          <p:cNvPr id="6" name="TextBox 5">
            <a:extLst>
              <a:ext uri="{FF2B5EF4-FFF2-40B4-BE49-F238E27FC236}">
                <a16:creationId xmlns:a16="http://schemas.microsoft.com/office/drawing/2014/main" id="{CAB5AC29-68BF-0D2C-E2D5-F8C7F2818F80}"/>
              </a:ext>
            </a:extLst>
          </p:cNvPr>
          <p:cNvSpPr txBox="1"/>
          <p:nvPr/>
        </p:nvSpPr>
        <p:spPr>
          <a:xfrm>
            <a:off x="5337202" y="2901575"/>
            <a:ext cx="3134401" cy="2677656"/>
          </a:xfrm>
          <a:prstGeom prst="rect">
            <a:avLst/>
          </a:prstGeom>
          <a:noFill/>
        </p:spPr>
        <p:txBody>
          <a:bodyPr wrap="square" rtlCol="0">
            <a:spAutoFit/>
          </a:bodyPr>
          <a:lstStyle/>
          <a:p>
            <a:r>
              <a:rPr lang="en-US" sz="2400" dirty="0"/>
              <a:t>Don’t want children</a:t>
            </a:r>
          </a:p>
          <a:p>
            <a:r>
              <a:rPr lang="en-US" sz="2400" dirty="0"/>
              <a:t>Some protect from STI’s</a:t>
            </a:r>
          </a:p>
          <a:p>
            <a:r>
              <a:rPr lang="en-US" sz="2400" dirty="0"/>
              <a:t>Can regulate periods</a:t>
            </a:r>
          </a:p>
          <a:p>
            <a:r>
              <a:rPr lang="en-US" sz="2400" dirty="0"/>
              <a:t>Clear up acne</a:t>
            </a:r>
          </a:p>
          <a:p>
            <a:r>
              <a:rPr lang="en-US" sz="2400" dirty="0"/>
              <a:t>Make periods lighter</a:t>
            </a:r>
          </a:p>
          <a:p>
            <a:r>
              <a:rPr lang="en-US" sz="2400" dirty="0"/>
              <a:t>Reduce migraines</a:t>
            </a:r>
          </a:p>
          <a:p>
            <a:r>
              <a:rPr lang="en-US" sz="2400" dirty="0"/>
              <a:t>Reduce PMS</a:t>
            </a:r>
          </a:p>
        </p:txBody>
      </p:sp>
      <p:sp>
        <p:nvSpPr>
          <p:cNvPr id="7" name="TextBox 6">
            <a:extLst>
              <a:ext uri="{FF2B5EF4-FFF2-40B4-BE49-F238E27FC236}">
                <a16:creationId xmlns:a16="http://schemas.microsoft.com/office/drawing/2014/main" id="{D5B3E8BD-0C00-403E-D2DC-D77AA1B1079A}"/>
              </a:ext>
            </a:extLst>
          </p:cNvPr>
          <p:cNvSpPr txBox="1"/>
          <p:nvPr/>
        </p:nvSpPr>
        <p:spPr>
          <a:xfrm>
            <a:off x="8607104" y="2871325"/>
            <a:ext cx="2461235" cy="2677656"/>
          </a:xfrm>
          <a:prstGeom prst="rect">
            <a:avLst/>
          </a:prstGeom>
          <a:noFill/>
        </p:spPr>
        <p:txBody>
          <a:bodyPr wrap="square" rtlCol="0">
            <a:spAutoFit/>
          </a:bodyPr>
          <a:lstStyle/>
          <a:p>
            <a:r>
              <a:rPr lang="en-US" sz="2400" dirty="0"/>
              <a:t>Cost</a:t>
            </a:r>
          </a:p>
          <a:p>
            <a:r>
              <a:rPr lang="en-US" sz="2400" dirty="0"/>
              <a:t>Want children</a:t>
            </a:r>
          </a:p>
          <a:p>
            <a:r>
              <a:rPr lang="en-US" sz="2400" dirty="0"/>
              <a:t>Allergy</a:t>
            </a:r>
          </a:p>
          <a:p>
            <a:r>
              <a:rPr lang="en-US" sz="2400" dirty="0"/>
              <a:t>Religion</a:t>
            </a:r>
          </a:p>
          <a:p>
            <a:r>
              <a:rPr lang="en-US" sz="2400" dirty="0"/>
              <a:t>Convenience</a:t>
            </a:r>
          </a:p>
          <a:p>
            <a:r>
              <a:rPr lang="en-US" sz="2400" dirty="0"/>
              <a:t>Intoxicated</a:t>
            </a:r>
          </a:p>
          <a:p>
            <a:r>
              <a:rPr lang="en-US" sz="2400" dirty="0"/>
              <a:t>Lack of knowledge</a:t>
            </a:r>
          </a:p>
        </p:txBody>
      </p:sp>
      <p:pic>
        <p:nvPicPr>
          <p:cNvPr id="1026" name="Picture 2" descr="Contraceptive Implant :: Highland Sexual Health">
            <a:extLst>
              <a:ext uri="{FF2B5EF4-FFF2-40B4-BE49-F238E27FC236}">
                <a16:creationId xmlns:a16="http://schemas.microsoft.com/office/drawing/2014/main" id="{800444EF-B61F-FAFE-5452-23DBB6CA40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68" y="3963066"/>
            <a:ext cx="4047694" cy="25298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2861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ED1D94F-BC8C-4ABD-9133-E5FE8FD01D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lose-up of stacked books">
            <a:extLst>
              <a:ext uri="{FF2B5EF4-FFF2-40B4-BE49-F238E27FC236}">
                <a16:creationId xmlns:a16="http://schemas.microsoft.com/office/drawing/2014/main" id="{1233A9E2-CD78-7B1E-EF6D-8FC4ABA8F96F}"/>
              </a:ext>
            </a:extLst>
          </p:cNvPr>
          <p:cNvPicPr>
            <a:picLocks noChangeAspect="1"/>
          </p:cNvPicPr>
          <p:nvPr/>
        </p:nvPicPr>
        <p:blipFill rotWithShape="1">
          <a:blip r:embed="rId2">
            <a:alphaModFix amt="40000"/>
          </a:blip>
          <a:srcRect/>
          <a:stretch/>
        </p:blipFill>
        <p:spPr>
          <a:xfrm>
            <a:off x="20" y="0"/>
            <a:ext cx="12191980" cy="6858000"/>
          </a:xfrm>
          <a:prstGeom prst="rect">
            <a:avLst/>
          </a:prstGeom>
        </p:spPr>
      </p:pic>
      <p:sp>
        <p:nvSpPr>
          <p:cNvPr id="2" name="Title 1">
            <a:extLst>
              <a:ext uri="{FF2B5EF4-FFF2-40B4-BE49-F238E27FC236}">
                <a16:creationId xmlns:a16="http://schemas.microsoft.com/office/drawing/2014/main" id="{D5298AA8-A15B-DFA3-A2A3-E27B380AC424}"/>
              </a:ext>
            </a:extLst>
          </p:cNvPr>
          <p:cNvSpPr>
            <a:spLocks noGrp="1"/>
          </p:cNvSpPr>
          <p:nvPr>
            <p:ph type="title"/>
          </p:nvPr>
        </p:nvSpPr>
        <p:spPr>
          <a:xfrm>
            <a:off x="7525512" y="494951"/>
            <a:ext cx="4023360" cy="5722227"/>
          </a:xfrm>
        </p:spPr>
        <p:txBody>
          <a:bodyPr>
            <a:normAutofit/>
          </a:bodyPr>
          <a:lstStyle/>
          <a:p>
            <a:r>
              <a:rPr lang="en-US" sz="7200" dirty="0"/>
              <a:t>GLOSSARY: (pg. 7)</a:t>
            </a:r>
          </a:p>
        </p:txBody>
      </p:sp>
      <p:sp>
        <p:nvSpPr>
          <p:cNvPr id="3" name="Content Placeholder 2">
            <a:extLst>
              <a:ext uri="{FF2B5EF4-FFF2-40B4-BE49-F238E27FC236}">
                <a16:creationId xmlns:a16="http://schemas.microsoft.com/office/drawing/2014/main" id="{DA1F88F0-F259-08F8-24F9-BD80B00CB17B}"/>
              </a:ext>
            </a:extLst>
          </p:cNvPr>
          <p:cNvSpPr>
            <a:spLocks noGrp="1"/>
          </p:cNvSpPr>
          <p:nvPr>
            <p:ph idx="1"/>
          </p:nvPr>
        </p:nvSpPr>
        <p:spPr>
          <a:xfrm>
            <a:off x="841248" y="850392"/>
            <a:ext cx="5824728" cy="5001768"/>
          </a:xfrm>
        </p:spPr>
        <p:txBody>
          <a:bodyPr anchor="ctr">
            <a:normAutofit/>
          </a:bodyPr>
          <a:lstStyle/>
          <a:p>
            <a:pPr marL="0" indent="0">
              <a:buNone/>
            </a:pPr>
            <a:endParaRPr lang="en-US" dirty="0"/>
          </a:p>
          <a:p>
            <a:r>
              <a:rPr lang="en-US" b="1" i="1" dirty="0"/>
              <a:t>Contraception:</a:t>
            </a:r>
          </a:p>
          <a:p>
            <a:pPr lvl="1"/>
            <a:r>
              <a:rPr lang="en-US" dirty="0"/>
              <a:t>An intervention method used to prevent pregnancy from occurring. </a:t>
            </a:r>
          </a:p>
          <a:p>
            <a:endParaRPr lang="en-US" dirty="0"/>
          </a:p>
        </p:txBody>
      </p:sp>
      <p:sp>
        <p:nvSpPr>
          <p:cNvPr id="14" name="sketchy content container">
            <a:extLst>
              <a:ext uri="{FF2B5EF4-FFF2-40B4-BE49-F238E27FC236}">
                <a16:creationId xmlns:a16="http://schemas.microsoft.com/office/drawing/2014/main" id="{65C49067-A40C-4881-A0C6-21B6125510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75" y="494951"/>
            <a:ext cx="6229604" cy="5722227"/>
          </a:xfrm>
          <a:custGeom>
            <a:avLst/>
            <a:gdLst>
              <a:gd name="connsiteX0" fmla="*/ 0 w 6229604"/>
              <a:gd name="connsiteY0" fmla="*/ 0 h 5722227"/>
              <a:gd name="connsiteX1" fmla="*/ 629882 w 6229604"/>
              <a:gd name="connsiteY1" fmla="*/ 0 h 5722227"/>
              <a:gd name="connsiteX2" fmla="*/ 1135172 w 6229604"/>
              <a:gd name="connsiteY2" fmla="*/ 0 h 5722227"/>
              <a:gd name="connsiteX3" fmla="*/ 1951943 w 6229604"/>
              <a:gd name="connsiteY3" fmla="*/ 0 h 5722227"/>
              <a:gd name="connsiteX4" fmla="*/ 2581825 w 6229604"/>
              <a:gd name="connsiteY4" fmla="*/ 0 h 5722227"/>
              <a:gd name="connsiteX5" fmla="*/ 3211707 w 6229604"/>
              <a:gd name="connsiteY5" fmla="*/ 0 h 5722227"/>
              <a:gd name="connsiteX6" fmla="*/ 4028477 w 6229604"/>
              <a:gd name="connsiteY6" fmla="*/ 0 h 5722227"/>
              <a:gd name="connsiteX7" fmla="*/ 4596063 w 6229604"/>
              <a:gd name="connsiteY7" fmla="*/ 0 h 5722227"/>
              <a:gd name="connsiteX8" fmla="*/ 5412834 w 6229604"/>
              <a:gd name="connsiteY8" fmla="*/ 0 h 5722227"/>
              <a:gd name="connsiteX9" fmla="*/ 6229604 w 6229604"/>
              <a:gd name="connsiteY9" fmla="*/ 0 h 5722227"/>
              <a:gd name="connsiteX10" fmla="*/ 6229604 w 6229604"/>
              <a:gd name="connsiteY10" fmla="*/ 635803 h 5722227"/>
              <a:gd name="connsiteX11" fmla="*/ 6229604 w 6229604"/>
              <a:gd name="connsiteY11" fmla="*/ 1271606 h 5722227"/>
              <a:gd name="connsiteX12" fmla="*/ 6229604 w 6229604"/>
              <a:gd name="connsiteY12" fmla="*/ 1964631 h 5722227"/>
              <a:gd name="connsiteX13" fmla="*/ 6229604 w 6229604"/>
              <a:gd name="connsiteY13" fmla="*/ 2428767 h 5722227"/>
              <a:gd name="connsiteX14" fmla="*/ 6229604 w 6229604"/>
              <a:gd name="connsiteY14" fmla="*/ 3064570 h 5722227"/>
              <a:gd name="connsiteX15" fmla="*/ 6229604 w 6229604"/>
              <a:gd name="connsiteY15" fmla="*/ 3700373 h 5722227"/>
              <a:gd name="connsiteX16" fmla="*/ 6229604 w 6229604"/>
              <a:gd name="connsiteY16" fmla="*/ 4336176 h 5722227"/>
              <a:gd name="connsiteX17" fmla="*/ 6229604 w 6229604"/>
              <a:gd name="connsiteY17" fmla="*/ 5029202 h 5722227"/>
              <a:gd name="connsiteX18" fmla="*/ 6229604 w 6229604"/>
              <a:gd name="connsiteY18" fmla="*/ 5722227 h 5722227"/>
              <a:gd name="connsiteX19" fmla="*/ 5475130 w 6229604"/>
              <a:gd name="connsiteY19" fmla="*/ 5722227 h 5722227"/>
              <a:gd name="connsiteX20" fmla="*/ 4907544 w 6229604"/>
              <a:gd name="connsiteY20" fmla="*/ 5722227 h 5722227"/>
              <a:gd name="connsiteX21" fmla="*/ 4090773 w 6229604"/>
              <a:gd name="connsiteY21" fmla="*/ 5722227 h 5722227"/>
              <a:gd name="connsiteX22" fmla="*/ 3398595 w 6229604"/>
              <a:gd name="connsiteY22" fmla="*/ 5722227 h 5722227"/>
              <a:gd name="connsiteX23" fmla="*/ 2831009 w 6229604"/>
              <a:gd name="connsiteY23" fmla="*/ 5722227 h 5722227"/>
              <a:gd name="connsiteX24" fmla="*/ 2138831 w 6229604"/>
              <a:gd name="connsiteY24" fmla="*/ 5722227 h 5722227"/>
              <a:gd name="connsiteX25" fmla="*/ 1633541 w 6229604"/>
              <a:gd name="connsiteY25" fmla="*/ 5722227 h 5722227"/>
              <a:gd name="connsiteX26" fmla="*/ 1128251 w 6229604"/>
              <a:gd name="connsiteY26" fmla="*/ 5722227 h 5722227"/>
              <a:gd name="connsiteX27" fmla="*/ 0 w 6229604"/>
              <a:gd name="connsiteY27" fmla="*/ 5722227 h 5722227"/>
              <a:gd name="connsiteX28" fmla="*/ 0 w 6229604"/>
              <a:gd name="connsiteY28" fmla="*/ 5200869 h 5722227"/>
              <a:gd name="connsiteX29" fmla="*/ 0 w 6229604"/>
              <a:gd name="connsiteY29" fmla="*/ 4450621 h 5722227"/>
              <a:gd name="connsiteX30" fmla="*/ 0 w 6229604"/>
              <a:gd name="connsiteY30" fmla="*/ 3872040 h 5722227"/>
              <a:gd name="connsiteX31" fmla="*/ 0 w 6229604"/>
              <a:gd name="connsiteY31" fmla="*/ 3407904 h 5722227"/>
              <a:gd name="connsiteX32" fmla="*/ 0 w 6229604"/>
              <a:gd name="connsiteY32" fmla="*/ 2714879 h 5722227"/>
              <a:gd name="connsiteX33" fmla="*/ 0 w 6229604"/>
              <a:gd name="connsiteY33" fmla="*/ 2193520 h 5722227"/>
              <a:gd name="connsiteX34" fmla="*/ 0 w 6229604"/>
              <a:gd name="connsiteY34" fmla="*/ 1500495 h 5722227"/>
              <a:gd name="connsiteX35" fmla="*/ 0 w 6229604"/>
              <a:gd name="connsiteY35" fmla="*/ 750248 h 5722227"/>
              <a:gd name="connsiteX36" fmla="*/ 0 w 6229604"/>
              <a:gd name="connsiteY36" fmla="*/ 0 h 5722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229604" h="5722227" extrusionOk="0">
                <a:moveTo>
                  <a:pt x="0" y="0"/>
                </a:moveTo>
                <a:cubicBezTo>
                  <a:pt x="134765" y="733"/>
                  <a:pt x="359555" y="-15387"/>
                  <a:pt x="629882" y="0"/>
                </a:cubicBezTo>
                <a:cubicBezTo>
                  <a:pt x="900209" y="15387"/>
                  <a:pt x="965450" y="15937"/>
                  <a:pt x="1135172" y="0"/>
                </a:cubicBezTo>
                <a:cubicBezTo>
                  <a:pt x="1304894" y="-15937"/>
                  <a:pt x="1787212" y="10921"/>
                  <a:pt x="1951943" y="0"/>
                </a:cubicBezTo>
                <a:cubicBezTo>
                  <a:pt x="2116674" y="-10921"/>
                  <a:pt x="2378222" y="13313"/>
                  <a:pt x="2581825" y="0"/>
                </a:cubicBezTo>
                <a:cubicBezTo>
                  <a:pt x="2785428" y="-13313"/>
                  <a:pt x="2915218" y="19972"/>
                  <a:pt x="3211707" y="0"/>
                </a:cubicBezTo>
                <a:cubicBezTo>
                  <a:pt x="3508196" y="-19972"/>
                  <a:pt x="3832828" y="-34359"/>
                  <a:pt x="4028477" y="0"/>
                </a:cubicBezTo>
                <a:cubicBezTo>
                  <a:pt x="4224126" y="34359"/>
                  <a:pt x="4361257" y="4467"/>
                  <a:pt x="4596063" y="0"/>
                </a:cubicBezTo>
                <a:cubicBezTo>
                  <a:pt x="4830869" y="-4467"/>
                  <a:pt x="5091403" y="-7365"/>
                  <a:pt x="5412834" y="0"/>
                </a:cubicBezTo>
                <a:cubicBezTo>
                  <a:pt x="5734265" y="7365"/>
                  <a:pt x="6034988" y="-26786"/>
                  <a:pt x="6229604" y="0"/>
                </a:cubicBezTo>
                <a:cubicBezTo>
                  <a:pt x="6208296" y="256153"/>
                  <a:pt x="6219810" y="335049"/>
                  <a:pt x="6229604" y="635803"/>
                </a:cubicBezTo>
                <a:cubicBezTo>
                  <a:pt x="6239398" y="936557"/>
                  <a:pt x="6230184" y="1092448"/>
                  <a:pt x="6229604" y="1271606"/>
                </a:cubicBezTo>
                <a:cubicBezTo>
                  <a:pt x="6229024" y="1450764"/>
                  <a:pt x="6217841" y="1797531"/>
                  <a:pt x="6229604" y="1964631"/>
                </a:cubicBezTo>
                <a:cubicBezTo>
                  <a:pt x="6241367" y="2131731"/>
                  <a:pt x="6220367" y="2235822"/>
                  <a:pt x="6229604" y="2428767"/>
                </a:cubicBezTo>
                <a:cubicBezTo>
                  <a:pt x="6238841" y="2621712"/>
                  <a:pt x="6220929" y="2925917"/>
                  <a:pt x="6229604" y="3064570"/>
                </a:cubicBezTo>
                <a:cubicBezTo>
                  <a:pt x="6238279" y="3203223"/>
                  <a:pt x="6256755" y="3501958"/>
                  <a:pt x="6229604" y="3700373"/>
                </a:cubicBezTo>
                <a:cubicBezTo>
                  <a:pt x="6202453" y="3898788"/>
                  <a:pt x="6201714" y="4046823"/>
                  <a:pt x="6229604" y="4336176"/>
                </a:cubicBezTo>
                <a:cubicBezTo>
                  <a:pt x="6257494" y="4625529"/>
                  <a:pt x="6258821" y="4774033"/>
                  <a:pt x="6229604" y="5029202"/>
                </a:cubicBezTo>
                <a:cubicBezTo>
                  <a:pt x="6200387" y="5284371"/>
                  <a:pt x="6233334" y="5383875"/>
                  <a:pt x="6229604" y="5722227"/>
                </a:cubicBezTo>
                <a:cubicBezTo>
                  <a:pt x="6016393" y="5707881"/>
                  <a:pt x="5684528" y="5751176"/>
                  <a:pt x="5475130" y="5722227"/>
                </a:cubicBezTo>
                <a:cubicBezTo>
                  <a:pt x="5265732" y="5693278"/>
                  <a:pt x="5082862" y="5732690"/>
                  <a:pt x="4907544" y="5722227"/>
                </a:cubicBezTo>
                <a:cubicBezTo>
                  <a:pt x="4732226" y="5711764"/>
                  <a:pt x="4474837" y="5716289"/>
                  <a:pt x="4090773" y="5722227"/>
                </a:cubicBezTo>
                <a:cubicBezTo>
                  <a:pt x="3706709" y="5728165"/>
                  <a:pt x="3645902" y="5723973"/>
                  <a:pt x="3398595" y="5722227"/>
                </a:cubicBezTo>
                <a:cubicBezTo>
                  <a:pt x="3151288" y="5720481"/>
                  <a:pt x="3001606" y="5732695"/>
                  <a:pt x="2831009" y="5722227"/>
                </a:cubicBezTo>
                <a:cubicBezTo>
                  <a:pt x="2660412" y="5711759"/>
                  <a:pt x="2424161" y="5689878"/>
                  <a:pt x="2138831" y="5722227"/>
                </a:cubicBezTo>
                <a:cubicBezTo>
                  <a:pt x="1853501" y="5754576"/>
                  <a:pt x="1788223" y="5720540"/>
                  <a:pt x="1633541" y="5722227"/>
                </a:cubicBezTo>
                <a:cubicBezTo>
                  <a:pt x="1478859" y="5723915"/>
                  <a:pt x="1324151" y="5739059"/>
                  <a:pt x="1128251" y="5722227"/>
                </a:cubicBezTo>
                <a:cubicBezTo>
                  <a:pt x="932351" y="5705396"/>
                  <a:pt x="522340" y="5691488"/>
                  <a:pt x="0" y="5722227"/>
                </a:cubicBezTo>
                <a:cubicBezTo>
                  <a:pt x="-8445" y="5596771"/>
                  <a:pt x="-11215" y="5344833"/>
                  <a:pt x="0" y="5200869"/>
                </a:cubicBezTo>
                <a:cubicBezTo>
                  <a:pt x="11215" y="5056905"/>
                  <a:pt x="20310" y="4693766"/>
                  <a:pt x="0" y="4450621"/>
                </a:cubicBezTo>
                <a:cubicBezTo>
                  <a:pt x="-20310" y="4207476"/>
                  <a:pt x="817" y="4075053"/>
                  <a:pt x="0" y="3872040"/>
                </a:cubicBezTo>
                <a:cubicBezTo>
                  <a:pt x="-817" y="3669027"/>
                  <a:pt x="-21729" y="3595882"/>
                  <a:pt x="0" y="3407904"/>
                </a:cubicBezTo>
                <a:cubicBezTo>
                  <a:pt x="21729" y="3219926"/>
                  <a:pt x="-30605" y="3052469"/>
                  <a:pt x="0" y="2714879"/>
                </a:cubicBezTo>
                <a:cubicBezTo>
                  <a:pt x="30605" y="2377289"/>
                  <a:pt x="-16081" y="2430808"/>
                  <a:pt x="0" y="2193520"/>
                </a:cubicBezTo>
                <a:cubicBezTo>
                  <a:pt x="16081" y="1956232"/>
                  <a:pt x="18120" y="1817979"/>
                  <a:pt x="0" y="1500495"/>
                </a:cubicBezTo>
                <a:cubicBezTo>
                  <a:pt x="-18120" y="1183011"/>
                  <a:pt x="23969" y="972269"/>
                  <a:pt x="0" y="750248"/>
                </a:cubicBezTo>
                <a:cubicBezTo>
                  <a:pt x="-23969" y="528227"/>
                  <a:pt x="-3769" y="358360"/>
                  <a:pt x="0" y="0"/>
                </a:cubicBezTo>
                <a:close/>
              </a:path>
            </a:pathLst>
          </a:custGeom>
          <a:noFill/>
          <a:ln w="25400">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2174DFB-8830-EBE1-20F8-A5003F1A9046}"/>
              </a:ext>
            </a:extLst>
          </p:cNvPr>
          <p:cNvSpPr txBox="1"/>
          <p:nvPr/>
        </p:nvSpPr>
        <p:spPr>
          <a:xfrm>
            <a:off x="7188999" y="4147981"/>
            <a:ext cx="4696385" cy="1200329"/>
          </a:xfrm>
          <a:prstGeom prst="rect">
            <a:avLst/>
          </a:prstGeom>
          <a:noFill/>
        </p:spPr>
        <p:txBody>
          <a:bodyPr wrap="square">
            <a:spAutoFit/>
          </a:bodyPr>
          <a:lstStyle/>
          <a:p>
            <a:pPr algn="ctr"/>
            <a:r>
              <a:rPr lang="en-US" sz="2400" dirty="0"/>
              <a:t>At the front of your books is your glossary. </a:t>
            </a:r>
          </a:p>
          <a:p>
            <a:pPr algn="ctr"/>
            <a:r>
              <a:rPr lang="en-US" sz="2400" dirty="0"/>
              <a:t>Turn to your glossary and add the following words and their definitions:</a:t>
            </a:r>
          </a:p>
        </p:txBody>
      </p:sp>
    </p:spTree>
    <p:extLst>
      <p:ext uri="{BB962C8B-B14F-4D97-AF65-F5344CB8AC3E}">
        <p14:creationId xmlns:p14="http://schemas.microsoft.com/office/powerpoint/2010/main" val="3291533176"/>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9AB42-7715-8CB4-06E2-5C48B8DBDFE0}"/>
              </a:ext>
            </a:extLst>
          </p:cNvPr>
          <p:cNvSpPr>
            <a:spLocks noGrp="1"/>
          </p:cNvSpPr>
          <p:nvPr>
            <p:ph type="title"/>
          </p:nvPr>
        </p:nvSpPr>
        <p:spPr/>
        <p:txBody>
          <a:bodyPr/>
          <a:lstStyle/>
          <a:p>
            <a:r>
              <a:rPr lang="en-US" dirty="0"/>
              <a:t>REFLECTION: How to say no… (pg. 11)</a:t>
            </a:r>
          </a:p>
        </p:txBody>
      </p:sp>
      <p:sp>
        <p:nvSpPr>
          <p:cNvPr id="3" name="Content Placeholder 2">
            <a:extLst>
              <a:ext uri="{FF2B5EF4-FFF2-40B4-BE49-F238E27FC236}">
                <a16:creationId xmlns:a16="http://schemas.microsoft.com/office/drawing/2014/main" id="{A03AF754-DDDD-6EC2-47D6-E97068DDCF2D}"/>
              </a:ext>
            </a:extLst>
          </p:cNvPr>
          <p:cNvSpPr>
            <a:spLocks noGrp="1"/>
          </p:cNvSpPr>
          <p:nvPr>
            <p:ph idx="1"/>
          </p:nvPr>
        </p:nvSpPr>
        <p:spPr>
          <a:xfrm>
            <a:off x="838200" y="1929384"/>
            <a:ext cx="10515600" cy="1795451"/>
          </a:xfrm>
        </p:spPr>
        <p:txBody>
          <a:bodyPr>
            <a:normAutofit/>
          </a:bodyPr>
          <a:lstStyle/>
          <a:p>
            <a:r>
              <a:rPr lang="en-US" dirty="0"/>
              <a:t>There may be a time in your life where you are in a situation where you may not feel comfortable and want to say no. </a:t>
            </a:r>
          </a:p>
          <a:p>
            <a:r>
              <a:rPr lang="en-US" dirty="0"/>
              <a:t>This could be any kind of situation, not just in a sexual scenario. </a:t>
            </a:r>
          </a:p>
          <a:p>
            <a:r>
              <a:rPr lang="en-US" dirty="0"/>
              <a:t>It is important that you can say no when you need to.</a:t>
            </a:r>
          </a:p>
        </p:txBody>
      </p:sp>
      <p:sp>
        <p:nvSpPr>
          <p:cNvPr id="4" name="TextBox 3">
            <a:extLst>
              <a:ext uri="{FF2B5EF4-FFF2-40B4-BE49-F238E27FC236}">
                <a16:creationId xmlns:a16="http://schemas.microsoft.com/office/drawing/2014/main" id="{5743073E-5E89-A9CE-3E12-6C71899090D1}"/>
              </a:ext>
            </a:extLst>
          </p:cNvPr>
          <p:cNvSpPr txBox="1"/>
          <p:nvPr/>
        </p:nvSpPr>
        <p:spPr>
          <a:xfrm>
            <a:off x="838200" y="4323231"/>
            <a:ext cx="10838330" cy="2523768"/>
          </a:xfrm>
          <a:prstGeom prst="rect">
            <a:avLst/>
          </a:prstGeom>
          <a:noFill/>
        </p:spPr>
        <p:txBody>
          <a:bodyPr wrap="square" rtlCol="0">
            <a:spAutoFit/>
          </a:bodyPr>
          <a:lstStyle/>
          <a:p>
            <a:r>
              <a:rPr lang="en-US" sz="2800" dirty="0"/>
              <a:t>Being ASSERTIVE means…</a:t>
            </a:r>
          </a:p>
          <a:p>
            <a:pPr marL="285750" indent="-285750">
              <a:buFont typeface="Arial" panose="020B0604020202020204" pitchFamily="34" charset="0"/>
              <a:buChar char="•"/>
            </a:pPr>
            <a:r>
              <a:rPr lang="en-US" sz="2800" dirty="0"/>
              <a:t>State your answer/response </a:t>
            </a:r>
            <a:r>
              <a:rPr lang="en-US" sz="2800" dirty="0">
                <a:sym typeface="Wingdings" pitchFamily="2" charset="2"/>
              </a:rPr>
              <a:t> “No, I don’t want to have sex.”</a:t>
            </a:r>
            <a:endParaRPr lang="en-US" sz="2800" dirty="0"/>
          </a:p>
          <a:p>
            <a:pPr marL="285750" indent="-285750">
              <a:buFont typeface="Arial" panose="020B0604020202020204" pitchFamily="34" charset="0"/>
              <a:buChar char="•"/>
            </a:pPr>
            <a:r>
              <a:rPr lang="en-US" sz="2800" dirty="0"/>
              <a:t>Use ’I’ statements as this avoids placing the blame on someone else while still expressing how you feel </a:t>
            </a:r>
            <a:r>
              <a:rPr lang="en-US" sz="2800" dirty="0">
                <a:sym typeface="Wingdings" pitchFamily="2" charset="2"/>
              </a:rPr>
              <a:t> “I don’t feel comfortable”, “I don’t feel like this is the right time”, “I don’t want to.”</a:t>
            </a:r>
          </a:p>
          <a:p>
            <a:pPr marL="285750" indent="-285750">
              <a:buFont typeface="Arial" panose="020B0604020202020204" pitchFamily="34" charset="0"/>
              <a:buChar char="•"/>
            </a:pPr>
            <a:r>
              <a:rPr lang="en-US" sz="2800" dirty="0">
                <a:sym typeface="Wingdings" pitchFamily="2" charset="2"/>
              </a:rPr>
              <a:t>Be understanding.</a:t>
            </a:r>
          </a:p>
          <a:p>
            <a:endParaRPr lang="en-US" dirty="0"/>
          </a:p>
        </p:txBody>
      </p:sp>
      <p:sp>
        <p:nvSpPr>
          <p:cNvPr id="7" name="Oval 6">
            <a:extLst>
              <a:ext uri="{FF2B5EF4-FFF2-40B4-BE49-F238E27FC236}">
                <a16:creationId xmlns:a16="http://schemas.microsoft.com/office/drawing/2014/main" id="{B1BA3478-B1D0-2312-4163-05892A8B7387}"/>
              </a:ext>
            </a:extLst>
          </p:cNvPr>
          <p:cNvSpPr/>
          <p:nvPr/>
        </p:nvSpPr>
        <p:spPr>
          <a:xfrm>
            <a:off x="5709398" y="3199792"/>
            <a:ext cx="6098239" cy="110326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691908B-4F7C-D3EB-7106-49B2E95B027F}"/>
              </a:ext>
            </a:extLst>
          </p:cNvPr>
          <p:cNvSpPr txBox="1"/>
          <p:nvPr/>
        </p:nvSpPr>
        <p:spPr>
          <a:xfrm>
            <a:off x="5709398" y="3429172"/>
            <a:ext cx="6098240" cy="584775"/>
          </a:xfrm>
          <a:prstGeom prst="rect">
            <a:avLst/>
          </a:prstGeom>
          <a:noFill/>
        </p:spPr>
        <p:txBody>
          <a:bodyPr wrap="square">
            <a:spAutoFit/>
          </a:bodyPr>
          <a:lstStyle/>
          <a:p>
            <a:pPr marL="0" indent="0" algn="ctr">
              <a:buNone/>
            </a:pPr>
            <a:r>
              <a:rPr lang="en-US" sz="3200" b="1" dirty="0">
                <a:solidFill>
                  <a:schemeClr val="bg1"/>
                </a:solidFill>
              </a:rPr>
              <a:t>Q: What could you do or say when you want to say NO?</a:t>
            </a:r>
          </a:p>
        </p:txBody>
      </p:sp>
      <p:sp>
        <p:nvSpPr>
          <p:cNvPr id="9" name="TextBox 8">
            <a:extLst>
              <a:ext uri="{FF2B5EF4-FFF2-40B4-BE49-F238E27FC236}">
                <a16:creationId xmlns:a16="http://schemas.microsoft.com/office/drawing/2014/main" id="{C1D3F7CF-7BAB-AF38-687D-81CD5339D0F8}"/>
              </a:ext>
            </a:extLst>
          </p:cNvPr>
          <p:cNvSpPr txBox="1"/>
          <p:nvPr/>
        </p:nvSpPr>
        <p:spPr>
          <a:xfrm>
            <a:off x="5709398" y="4350124"/>
            <a:ext cx="6098240" cy="830997"/>
          </a:xfrm>
          <a:prstGeom prst="rect">
            <a:avLst/>
          </a:prstGeom>
          <a:noFill/>
        </p:spPr>
        <p:txBody>
          <a:bodyPr wrap="square">
            <a:spAutoFit/>
          </a:bodyPr>
          <a:lstStyle/>
          <a:p>
            <a:pPr algn="ctr"/>
            <a:r>
              <a:rPr lang="en-US" sz="4800" b="1" dirty="0">
                <a:solidFill>
                  <a:srgbClr val="00B050"/>
                </a:solidFill>
              </a:rPr>
              <a:t>A: BE ASSERTIVE</a:t>
            </a:r>
          </a:p>
        </p:txBody>
      </p:sp>
    </p:spTree>
    <p:extLst>
      <p:ext uri="{BB962C8B-B14F-4D97-AF65-F5344CB8AC3E}">
        <p14:creationId xmlns:p14="http://schemas.microsoft.com/office/powerpoint/2010/main" val="3036998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93245F62-CCC4-49E4-B95B-EA6C1E790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rainbow colored splatter&#10;&#10;Description automatically generated">
            <a:extLst>
              <a:ext uri="{FF2B5EF4-FFF2-40B4-BE49-F238E27FC236}">
                <a16:creationId xmlns:a16="http://schemas.microsoft.com/office/drawing/2014/main" id="{EEA83DFB-1DE6-B5DE-A972-635BA2248013}"/>
              </a:ext>
            </a:extLst>
          </p:cNvPr>
          <p:cNvPicPr>
            <a:picLocks noChangeAspect="1"/>
          </p:cNvPicPr>
          <p:nvPr/>
        </p:nvPicPr>
        <p:blipFill rotWithShape="1">
          <a:blip r:embed="rId2"/>
          <a:srcRect t="1747"/>
          <a:stretch/>
        </p:blipFill>
        <p:spPr>
          <a:xfrm>
            <a:off x="1298963" y="266542"/>
            <a:ext cx="9589477" cy="5394065"/>
          </a:xfrm>
          <a:prstGeom prst="rect">
            <a:avLst/>
          </a:prstGeom>
        </p:spPr>
      </p:pic>
      <p:pic>
        <p:nvPicPr>
          <p:cNvPr id="1028" name="Picture 4" descr="Sexually Transmitted Infections and HIV">
            <a:extLst>
              <a:ext uri="{FF2B5EF4-FFF2-40B4-BE49-F238E27FC236}">
                <a16:creationId xmlns:a16="http://schemas.microsoft.com/office/drawing/2014/main" id="{BDCE080E-9344-5EDA-E414-5ED90ABD48C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l="25312" t="22731" r="26524" b="12904"/>
          <a:stretch/>
        </p:blipFill>
        <p:spPr bwMode="auto">
          <a:xfrm>
            <a:off x="9472614" y="266542"/>
            <a:ext cx="2614612" cy="192992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657FBC4-0AFB-ADB7-F057-3A685854992A}"/>
              </a:ext>
            </a:extLst>
          </p:cNvPr>
          <p:cNvSpPr>
            <a:spLocks noGrp="1"/>
          </p:cNvSpPr>
          <p:nvPr>
            <p:ph type="ctrTitle"/>
          </p:nvPr>
        </p:nvSpPr>
        <p:spPr>
          <a:xfrm>
            <a:off x="638882" y="3577456"/>
            <a:ext cx="10909640" cy="1687814"/>
          </a:xfrm>
        </p:spPr>
        <p:txBody>
          <a:bodyPr anchor="b">
            <a:normAutofit/>
          </a:bodyPr>
          <a:lstStyle/>
          <a:p>
            <a:pPr algn="ctr"/>
            <a:r>
              <a:rPr lang="en-US" sz="10000" dirty="0"/>
              <a:t>CONTRACEPTION &amp; STI’s</a:t>
            </a:r>
          </a:p>
        </p:txBody>
      </p:sp>
      <p:sp>
        <p:nvSpPr>
          <p:cNvPr id="3" name="Subtitle 2">
            <a:extLst>
              <a:ext uri="{FF2B5EF4-FFF2-40B4-BE49-F238E27FC236}">
                <a16:creationId xmlns:a16="http://schemas.microsoft.com/office/drawing/2014/main" id="{E0D7FC79-1308-3C8D-6F49-05BF0614DDCD}"/>
              </a:ext>
            </a:extLst>
          </p:cNvPr>
          <p:cNvSpPr>
            <a:spLocks noGrp="1"/>
          </p:cNvSpPr>
          <p:nvPr>
            <p:ph type="subTitle" idx="1"/>
          </p:nvPr>
        </p:nvSpPr>
        <p:spPr>
          <a:xfrm>
            <a:off x="638881" y="5660607"/>
            <a:ext cx="10909643" cy="1060868"/>
          </a:xfrm>
        </p:spPr>
        <p:txBody>
          <a:bodyPr anchor="t">
            <a:normAutofit/>
          </a:bodyPr>
          <a:lstStyle/>
          <a:p>
            <a:pPr algn="ctr"/>
            <a:r>
              <a:rPr lang="en-US" sz="3200" b="1" dirty="0"/>
              <a:t>Year 10 Health 			Lesson 2	+ Lesson 3		Term 2, 2024</a:t>
            </a:r>
          </a:p>
        </p:txBody>
      </p:sp>
      <p:sp>
        <p:nvSpPr>
          <p:cNvPr id="77" name="Rectangle 6">
            <a:extLst>
              <a:ext uri="{FF2B5EF4-FFF2-40B4-BE49-F238E27FC236}">
                <a16:creationId xmlns:a16="http://schemas.microsoft.com/office/drawing/2014/main" id="{E6C0DD6B-6AA3-448F-9B99-8386295BC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27432"/>
          </a:xfrm>
          <a:custGeom>
            <a:avLst/>
            <a:gdLst>
              <a:gd name="connsiteX0" fmla="*/ 0 w 4572000"/>
              <a:gd name="connsiteY0" fmla="*/ 0 h 27432"/>
              <a:gd name="connsiteX1" fmla="*/ 607423 w 4572000"/>
              <a:gd name="connsiteY1" fmla="*/ 0 h 27432"/>
              <a:gd name="connsiteX2" fmla="*/ 1123406 w 4572000"/>
              <a:gd name="connsiteY2" fmla="*/ 0 h 27432"/>
              <a:gd name="connsiteX3" fmla="*/ 1685109 w 4572000"/>
              <a:gd name="connsiteY3" fmla="*/ 0 h 27432"/>
              <a:gd name="connsiteX4" fmla="*/ 2383971 w 4572000"/>
              <a:gd name="connsiteY4" fmla="*/ 0 h 27432"/>
              <a:gd name="connsiteX5" fmla="*/ 2991394 w 4572000"/>
              <a:gd name="connsiteY5" fmla="*/ 0 h 27432"/>
              <a:gd name="connsiteX6" fmla="*/ 3553097 w 4572000"/>
              <a:gd name="connsiteY6" fmla="*/ 0 h 27432"/>
              <a:gd name="connsiteX7" fmla="*/ 4572000 w 4572000"/>
              <a:gd name="connsiteY7" fmla="*/ 0 h 27432"/>
              <a:gd name="connsiteX8" fmla="*/ 4572000 w 4572000"/>
              <a:gd name="connsiteY8" fmla="*/ 27432 h 27432"/>
              <a:gd name="connsiteX9" fmla="*/ 3918857 w 4572000"/>
              <a:gd name="connsiteY9" fmla="*/ 27432 h 27432"/>
              <a:gd name="connsiteX10" fmla="*/ 3357154 w 4572000"/>
              <a:gd name="connsiteY10" fmla="*/ 27432 h 27432"/>
              <a:gd name="connsiteX11" fmla="*/ 2612571 w 4572000"/>
              <a:gd name="connsiteY11" fmla="*/ 27432 h 27432"/>
              <a:gd name="connsiteX12" fmla="*/ 2005149 w 4572000"/>
              <a:gd name="connsiteY12" fmla="*/ 27432 h 27432"/>
              <a:gd name="connsiteX13" fmla="*/ 1489166 w 4572000"/>
              <a:gd name="connsiteY13" fmla="*/ 27432 h 27432"/>
              <a:gd name="connsiteX14" fmla="*/ 790303 w 4572000"/>
              <a:gd name="connsiteY14" fmla="*/ 27432 h 27432"/>
              <a:gd name="connsiteX15" fmla="*/ 0 w 4572000"/>
              <a:gd name="connsiteY15" fmla="*/ 27432 h 27432"/>
              <a:gd name="connsiteX16" fmla="*/ 0 w 457200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27432" fill="none" extrusionOk="0">
                <a:moveTo>
                  <a:pt x="0" y="0"/>
                </a:moveTo>
                <a:cubicBezTo>
                  <a:pt x="150397" y="-23421"/>
                  <a:pt x="474161" y="9174"/>
                  <a:pt x="607423" y="0"/>
                </a:cubicBezTo>
                <a:cubicBezTo>
                  <a:pt x="740685" y="-9174"/>
                  <a:pt x="868821" y="-4258"/>
                  <a:pt x="1123406" y="0"/>
                </a:cubicBezTo>
                <a:cubicBezTo>
                  <a:pt x="1377991" y="4258"/>
                  <a:pt x="1567664" y="-12410"/>
                  <a:pt x="1685109" y="0"/>
                </a:cubicBezTo>
                <a:cubicBezTo>
                  <a:pt x="1802554" y="12410"/>
                  <a:pt x="2193086" y="-14353"/>
                  <a:pt x="2383971" y="0"/>
                </a:cubicBezTo>
                <a:cubicBezTo>
                  <a:pt x="2574856" y="14353"/>
                  <a:pt x="2697477" y="-26142"/>
                  <a:pt x="2991394" y="0"/>
                </a:cubicBezTo>
                <a:cubicBezTo>
                  <a:pt x="3285311" y="26142"/>
                  <a:pt x="3423667" y="26544"/>
                  <a:pt x="3553097" y="0"/>
                </a:cubicBezTo>
                <a:cubicBezTo>
                  <a:pt x="3682527" y="-26544"/>
                  <a:pt x="4344147" y="50350"/>
                  <a:pt x="4572000" y="0"/>
                </a:cubicBezTo>
                <a:cubicBezTo>
                  <a:pt x="4571027" y="8304"/>
                  <a:pt x="4571522" y="21512"/>
                  <a:pt x="4572000" y="27432"/>
                </a:cubicBezTo>
                <a:cubicBezTo>
                  <a:pt x="4438349" y="5490"/>
                  <a:pt x="4090129" y="31231"/>
                  <a:pt x="3918857" y="27432"/>
                </a:cubicBezTo>
                <a:cubicBezTo>
                  <a:pt x="3747585" y="23633"/>
                  <a:pt x="3498826" y="6883"/>
                  <a:pt x="3357154" y="27432"/>
                </a:cubicBezTo>
                <a:cubicBezTo>
                  <a:pt x="3215482" y="47981"/>
                  <a:pt x="2784289" y="56849"/>
                  <a:pt x="2612571" y="27432"/>
                </a:cubicBezTo>
                <a:cubicBezTo>
                  <a:pt x="2440853" y="-1985"/>
                  <a:pt x="2261292" y="25951"/>
                  <a:pt x="2005149" y="27432"/>
                </a:cubicBezTo>
                <a:cubicBezTo>
                  <a:pt x="1749006" y="28913"/>
                  <a:pt x="1700078" y="34342"/>
                  <a:pt x="1489166" y="27432"/>
                </a:cubicBezTo>
                <a:cubicBezTo>
                  <a:pt x="1278254" y="20522"/>
                  <a:pt x="1077188" y="56916"/>
                  <a:pt x="790303" y="27432"/>
                </a:cubicBezTo>
                <a:cubicBezTo>
                  <a:pt x="503418" y="-2052"/>
                  <a:pt x="359168" y="57044"/>
                  <a:pt x="0" y="27432"/>
                </a:cubicBezTo>
                <a:cubicBezTo>
                  <a:pt x="-1048" y="14992"/>
                  <a:pt x="-1120" y="7447"/>
                  <a:pt x="0" y="0"/>
                </a:cubicBezTo>
                <a:close/>
              </a:path>
              <a:path w="4572000" h="27432" stroke="0" extrusionOk="0">
                <a:moveTo>
                  <a:pt x="0" y="0"/>
                </a:moveTo>
                <a:cubicBezTo>
                  <a:pt x="155698" y="6780"/>
                  <a:pt x="465972" y="13197"/>
                  <a:pt x="607423" y="0"/>
                </a:cubicBezTo>
                <a:cubicBezTo>
                  <a:pt x="748874" y="-13197"/>
                  <a:pt x="1014133" y="22994"/>
                  <a:pt x="1123406" y="0"/>
                </a:cubicBezTo>
                <a:cubicBezTo>
                  <a:pt x="1232679" y="-22994"/>
                  <a:pt x="1639431" y="-2997"/>
                  <a:pt x="1867989" y="0"/>
                </a:cubicBezTo>
                <a:cubicBezTo>
                  <a:pt x="2096547" y="2997"/>
                  <a:pt x="2265668" y="29557"/>
                  <a:pt x="2475411" y="0"/>
                </a:cubicBezTo>
                <a:cubicBezTo>
                  <a:pt x="2685154" y="-29557"/>
                  <a:pt x="2951491" y="73"/>
                  <a:pt x="3082834" y="0"/>
                </a:cubicBezTo>
                <a:cubicBezTo>
                  <a:pt x="3214177" y="-73"/>
                  <a:pt x="3641000" y="-33478"/>
                  <a:pt x="3827417" y="0"/>
                </a:cubicBezTo>
                <a:cubicBezTo>
                  <a:pt x="4013834" y="33478"/>
                  <a:pt x="4345917" y="14255"/>
                  <a:pt x="4572000" y="0"/>
                </a:cubicBezTo>
                <a:cubicBezTo>
                  <a:pt x="4572485" y="9333"/>
                  <a:pt x="4573278" y="19699"/>
                  <a:pt x="4572000" y="27432"/>
                </a:cubicBezTo>
                <a:cubicBezTo>
                  <a:pt x="4318030" y="43025"/>
                  <a:pt x="4161104" y="34314"/>
                  <a:pt x="4010297" y="27432"/>
                </a:cubicBezTo>
                <a:cubicBezTo>
                  <a:pt x="3859490" y="20550"/>
                  <a:pt x="3592529" y="6613"/>
                  <a:pt x="3357154" y="27432"/>
                </a:cubicBezTo>
                <a:cubicBezTo>
                  <a:pt x="3121779" y="48251"/>
                  <a:pt x="2884285" y="3780"/>
                  <a:pt x="2704011" y="27432"/>
                </a:cubicBezTo>
                <a:cubicBezTo>
                  <a:pt x="2523737" y="51084"/>
                  <a:pt x="2295944" y="32081"/>
                  <a:pt x="2096589" y="27432"/>
                </a:cubicBezTo>
                <a:cubicBezTo>
                  <a:pt x="1897234" y="22783"/>
                  <a:pt x="1623782" y="52518"/>
                  <a:pt x="1352006" y="27432"/>
                </a:cubicBezTo>
                <a:cubicBezTo>
                  <a:pt x="1080230" y="2346"/>
                  <a:pt x="869959" y="12864"/>
                  <a:pt x="607423" y="27432"/>
                </a:cubicBezTo>
                <a:cubicBezTo>
                  <a:pt x="344887" y="42000"/>
                  <a:pt x="188100" y="40051"/>
                  <a:pt x="0" y="27432"/>
                </a:cubicBezTo>
                <a:cubicBezTo>
                  <a:pt x="211" y="18145"/>
                  <a:pt x="120" y="6480"/>
                  <a:pt x="0" y="0"/>
                </a:cubicBezTo>
                <a:close/>
              </a:path>
            </a:pathLst>
          </a:custGeom>
          <a:solidFill>
            <a:srgbClr val="7EB8FB"/>
          </a:solidFill>
          <a:ln w="38100" cap="rnd">
            <a:solidFill>
              <a:srgbClr val="7EB8FB"/>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Date Placeholder 26">
            <a:extLst>
              <a:ext uri="{FF2B5EF4-FFF2-40B4-BE49-F238E27FC236}">
                <a16:creationId xmlns:a16="http://schemas.microsoft.com/office/drawing/2014/main" id="{F28B82B1-E269-4325-A665-6CFE5DEE5DE5}"/>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81" name="Footer Placeholder 27">
            <a:extLst>
              <a:ext uri="{FF2B5EF4-FFF2-40B4-BE49-F238E27FC236}">
                <a16:creationId xmlns:a16="http://schemas.microsoft.com/office/drawing/2014/main" id="{7C700527-76FD-4DF4-A597-6F5E089CA0C2}"/>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83" name="Slide Number Placeholder 28">
            <a:extLst>
              <a:ext uri="{FF2B5EF4-FFF2-40B4-BE49-F238E27FC236}">
                <a16:creationId xmlns:a16="http://schemas.microsoft.com/office/drawing/2014/main" id="{B5EA49A9-01EB-4D60-A392-7DC9B625D67D}"/>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2998576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41" presetClass="path" presetSubtype="0" accel="50000" decel="50000" fill="hold" nodeType="withEffect">
                                  <p:stCondLst>
                                    <p:cond delay="0"/>
                                  </p:stCondLst>
                                  <p:childTnLst>
                                    <p:animMotion origin="layout" path="M -4.58333E-6 -1.11111E-6 C -0.01679 -0.02407 -0.07395 -0.04745 -0.09492 -0.04745 C -0.22226 -0.04745 -0.35377 0.32408 -0.35377 0.69583 C -0.35377 0.50857 -0.41966 0.32408 -0.48112 0.32408 C -0.547 0.32408 -0.60846 0.51134 -0.60846 0.69583 C -0.60846 0.60347 -0.64114 0.50857 -0.67421 0.50857 C -0.70703 0.50857 -0.74023 0.6007 -0.74023 0.69583 C -0.74023 0.64815 -0.75664 0.60347 -0.77278 0.60347 C -0.78945 0.60347 -0.80546 0.65093 -0.80546 0.69583 C -0.80546 0.67153 -0.81341 0.64815 -0.822 0.64815 C -0.8263 0.64815 -0.83867 0.67222 -0.83867 0.69583 C -0.83867 0.68403 -0.84296 0.67153 -0.84661 0.67153 C -0.84661 0.66898 -0.85468 0.68333 -0.85468 0.69583 C -0.85468 0.68958 -0.85468 0.68403 -0.85898 0.68403 C -0.85898 0.68681 -0.86328 0.69028 -0.86328 0.69583 C -0.86328 0.69306 -0.86328 0.68958 -0.86328 0.68681 C -0.86757 0.68681 -0.86757 0.68958 -0.86757 0.69306 C -0.87187 0.69306 -0.87187 0.69028 -0.87187 0.68681 C -0.87591 0.68681 -0.87591 0.68958 -0.87591 0.69306 " pathEditMode="relative" rAng="0" ptsTypes="AAAAAAAAAAAAAAAAAAA">
                                      <p:cBhvr>
                                        <p:cTn id="9" dur="5000" fill="hold"/>
                                        <p:tgtEl>
                                          <p:spTgt spid="1028"/>
                                        </p:tgtEl>
                                        <p:attrNameLst>
                                          <p:attrName>ppt_x</p:attrName>
                                          <p:attrName>ppt_y</p:attrName>
                                        </p:attrNameLst>
                                      </p:cBhvr>
                                      <p:rCtr x="-43802" y="3240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04FFB5-DE23-4D74-BEF9-CC7D947D357C}"/>
              </a:ext>
            </a:extLst>
          </p:cNvPr>
          <p:cNvSpPr>
            <a:spLocks noGrp="1"/>
          </p:cNvSpPr>
          <p:nvPr>
            <p:ph type="title"/>
          </p:nvPr>
        </p:nvSpPr>
        <p:spPr>
          <a:xfrm>
            <a:off x="640080" y="325369"/>
            <a:ext cx="4368602" cy="1956841"/>
          </a:xfrm>
        </p:spPr>
        <p:txBody>
          <a:bodyPr anchor="b">
            <a:normAutofit/>
          </a:bodyPr>
          <a:lstStyle/>
          <a:p>
            <a:r>
              <a:rPr lang="en-US" sz="6600"/>
              <a:t>Today’s Focus</a:t>
            </a:r>
          </a:p>
        </p:txBody>
      </p:sp>
      <p:sp>
        <p:nvSpPr>
          <p:cNvPr id="28"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093" y="2563839"/>
            <a:ext cx="3931920" cy="27432"/>
          </a:xfrm>
          <a:custGeom>
            <a:avLst/>
            <a:gdLst>
              <a:gd name="connsiteX0" fmla="*/ 0 w 3931920"/>
              <a:gd name="connsiteY0" fmla="*/ 0 h 27432"/>
              <a:gd name="connsiteX1" fmla="*/ 733958 w 3931920"/>
              <a:gd name="connsiteY1" fmla="*/ 0 h 27432"/>
              <a:gd name="connsiteX2" fmla="*/ 1428598 w 3931920"/>
              <a:gd name="connsiteY2" fmla="*/ 0 h 27432"/>
              <a:gd name="connsiteX3" fmla="*/ 2123237 w 3931920"/>
              <a:gd name="connsiteY3" fmla="*/ 0 h 27432"/>
              <a:gd name="connsiteX4" fmla="*/ 2660599 w 3931920"/>
              <a:gd name="connsiteY4" fmla="*/ 0 h 27432"/>
              <a:gd name="connsiteX5" fmla="*/ 3237281 w 3931920"/>
              <a:gd name="connsiteY5" fmla="*/ 0 h 27432"/>
              <a:gd name="connsiteX6" fmla="*/ 3931920 w 3931920"/>
              <a:gd name="connsiteY6" fmla="*/ 0 h 27432"/>
              <a:gd name="connsiteX7" fmla="*/ 3931920 w 3931920"/>
              <a:gd name="connsiteY7" fmla="*/ 27432 h 27432"/>
              <a:gd name="connsiteX8" fmla="*/ 3276600 w 3931920"/>
              <a:gd name="connsiteY8" fmla="*/ 27432 h 27432"/>
              <a:gd name="connsiteX9" fmla="*/ 2739238 w 3931920"/>
              <a:gd name="connsiteY9" fmla="*/ 27432 h 27432"/>
              <a:gd name="connsiteX10" fmla="*/ 2201875 w 3931920"/>
              <a:gd name="connsiteY10" fmla="*/ 27432 h 27432"/>
              <a:gd name="connsiteX11" fmla="*/ 1507236 w 3931920"/>
              <a:gd name="connsiteY11" fmla="*/ 27432 h 27432"/>
              <a:gd name="connsiteX12" fmla="*/ 930554 w 3931920"/>
              <a:gd name="connsiteY12" fmla="*/ 27432 h 27432"/>
              <a:gd name="connsiteX13" fmla="*/ 0 w 3931920"/>
              <a:gd name="connsiteY13" fmla="*/ 27432 h 27432"/>
              <a:gd name="connsiteX14" fmla="*/ 0 w 3931920"/>
              <a:gd name="connsiteY14"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31920" h="27432" fill="none" extrusionOk="0">
                <a:moveTo>
                  <a:pt x="0" y="0"/>
                </a:moveTo>
                <a:cubicBezTo>
                  <a:pt x="245351" y="16874"/>
                  <a:pt x="509174" y="13736"/>
                  <a:pt x="733958" y="0"/>
                </a:cubicBezTo>
                <a:cubicBezTo>
                  <a:pt x="958742" y="-13736"/>
                  <a:pt x="1245406" y="-17215"/>
                  <a:pt x="1428598" y="0"/>
                </a:cubicBezTo>
                <a:cubicBezTo>
                  <a:pt x="1611790" y="17215"/>
                  <a:pt x="1930525" y="20562"/>
                  <a:pt x="2123237" y="0"/>
                </a:cubicBezTo>
                <a:cubicBezTo>
                  <a:pt x="2315949" y="-20562"/>
                  <a:pt x="2485508" y="11332"/>
                  <a:pt x="2660599" y="0"/>
                </a:cubicBezTo>
                <a:cubicBezTo>
                  <a:pt x="2835690" y="-11332"/>
                  <a:pt x="3075198" y="-14809"/>
                  <a:pt x="3237281" y="0"/>
                </a:cubicBezTo>
                <a:cubicBezTo>
                  <a:pt x="3399364" y="14809"/>
                  <a:pt x="3745084" y="-4992"/>
                  <a:pt x="3931920" y="0"/>
                </a:cubicBezTo>
                <a:cubicBezTo>
                  <a:pt x="3930963" y="8431"/>
                  <a:pt x="3931571" y="14612"/>
                  <a:pt x="3931920" y="27432"/>
                </a:cubicBezTo>
                <a:cubicBezTo>
                  <a:pt x="3765435" y="40792"/>
                  <a:pt x="3452398" y="38703"/>
                  <a:pt x="3276600" y="27432"/>
                </a:cubicBezTo>
                <a:cubicBezTo>
                  <a:pt x="3100802" y="16161"/>
                  <a:pt x="2914889" y="26998"/>
                  <a:pt x="2739238" y="27432"/>
                </a:cubicBezTo>
                <a:cubicBezTo>
                  <a:pt x="2563587" y="27866"/>
                  <a:pt x="2395484" y="39154"/>
                  <a:pt x="2201875" y="27432"/>
                </a:cubicBezTo>
                <a:cubicBezTo>
                  <a:pt x="2008266" y="15710"/>
                  <a:pt x="1781367" y="4899"/>
                  <a:pt x="1507236" y="27432"/>
                </a:cubicBezTo>
                <a:cubicBezTo>
                  <a:pt x="1233105" y="49965"/>
                  <a:pt x="1075495" y="47542"/>
                  <a:pt x="930554" y="27432"/>
                </a:cubicBezTo>
                <a:cubicBezTo>
                  <a:pt x="785613" y="7322"/>
                  <a:pt x="268930" y="30433"/>
                  <a:pt x="0" y="27432"/>
                </a:cubicBezTo>
                <a:cubicBezTo>
                  <a:pt x="226" y="18208"/>
                  <a:pt x="-648" y="12891"/>
                  <a:pt x="0" y="0"/>
                </a:cubicBezTo>
                <a:close/>
              </a:path>
              <a:path w="3931920" h="27432" stroke="0" extrusionOk="0">
                <a:moveTo>
                  <a:pt x="0" y="0"/>
                </a:moveTo>
                <a:cubicBezTo>
                  <a:pt x="278269" y="4786"/>
                  <a:pt x="349028" y="-10422"/>
                  <a:pt x="616001" y="0"/>
                </a:cubicBezTo>
                <a:cubicBezTo>
                  <a:pt x="882974" y="10422"/>
                  <a:pt x="931617" y="-15515"/>
                  <a:pt x="1153363" y="0"/>
                </a:cubicBezTo>
                <a:cubicBezTo>
                  <a:pt x="1375109" y="15515"/>
                  <a:pt x="1704089" y="-3631"/>
                  <a:pt x="1887322" y="0"/>
                </a:cubicBezTo>
                <a:cubicBezTo>
                  <a:pt x="2070555" y="3631"/>
                  <a:pt x="2344155" y="2213"/>
                  <a:pt x="2503322" y="0"/>
                </a:cubicBezTo>
                <a:cubicBezTo>
                  <a:pt x="2662489" y="-2213"/>
                  <a:pt x="2976859" y="26691"/>
                  <a:pt x="3119323" y="0"/>
                </a:cubicBezTo>
                <a:cubicBezTo>
                  <a:pt x="3261787" y="-26691"/>
                  <a:pt x="3588171" y="-28651"/>
                  <a:pt x="3931920" y="0"/>
                </a:cubicBezTo>
                <a:cubicBezTo>
                  <a:pt x="3930565" y="9524"/>
                  <a:pt x="3930718" y="13975"/>
                  <a:pt x="3931920" y="27432"/>
                </a:cubicBezTo>
                <a:cubicBezTo>
                  <a:pt x="3664329" y="4021"/>
                  <a:pt x="3437686" y="14511"/>
                  <a:pt x="3276600" y="27432"/>
                </a:cubicBezTo>
                <a:cubicBezTo>
                  <a:pt x="3115514" y="40353"/>
                  <a:pt x="2913592" y="48967"/>
                  <a:pt x="2739238" y="27432"/>
                </a:cubicBezTo>
                <a:cubicBezTo>
                  <a:pt x="2564884" y="5897"/>
                  <a:pt x="2294049" y="39820"/>
                  <a:pt x="2083918" y="27432"/>
                </a:cubicBezTo>
                <a:cubicBezTo>
                  <a:pt x="1873787" y="15044"/>
                  <a:pt x="1718903" y="21388"/>
                  <a:pt x="1428598" y="27432"/>
                </a:cubicBezTo>
                <a:cubicBezTo>
                  <a:pt x="1138293" y="33476"/>
                  <a:pt x="952209" y="50441"/>
                  <a:pt x="812597" y="27432"/>
                </a:cubicBezTo>
                <a:cubicBezTo>
                  <a:pt x="672985" y="4423"/>
                  <a:pt x="305800" y="28240"/>
                  <a:pt x="0" y="27432"/>
                </a:cubicBezTo>
                <a:cubicBezTo>
                  <a:pt x="-800" y="16780"/>
                  <a:pt x="-583" y="12910"/>
                  <a:pt x="0" y="0"/>
                </a:cubicBezTo>
                <a:close/>
              </a:path>
            </a:pathLst>
          </a:custGeom>
          <a:solidFill>
            <a:srgbClr val="E5B399"/>
          </a:solidFill>
          <a:ln w="38100" cap="rnd">
            <a:solidFill>
              <a:srgbClr val="E5B399"/>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A63D7FC-176D-B898-C622-E503B972CD01}"/>
              </a:ext>
            </a:extLst>
          </p:cNvPr>
          <p:cNvSpPr>
            <a:spLocks noGrp="1"/>
          </p:cNvSpPr>
          <p:nvPr>
            <p:ph idx="1"/>
          </p:nvPr>
        </p:nvSpPr>
        <p:spPr>
          <a:xfrm>
            <a:off x="640080" y="2872899"/>
            <a:ext cx="4243589" cy="3320668"/>
          </a:xfrm>
        </p:spPr>
        <p:txBody>
          <a:bodyPr>
            <a:normAutofit fontScale="92500" lnSpcReduction="20000"/>
          </a:bodyPr>
          <a:lstStyle/>
          <a:p>
            <a:r>
              <a:rPr lang="en-US" dirty="0"/>
              <a:t>List reasons why people choose to use/not use contraception.</a:t>
            </a:r>
          </a:p>
          <a:p>
            <a:r>
              <a:rPr lang="en-US" dirty="0"/>
              <a:t>Consider reasons to postpone sexual intercourse.</a:t>
            </a:r>
          </a:p>
          <a:p>
            <a:r>
              <a:rPr lang="en-US" dirty="0"/>
              <a:t>Define the different types of contraception.</a:t>
            </a:r>
          </a:p>
          <a:p>
            <a:r>
              <a:rPr lang="en-US" dirty="0"/>
              <a:t>Be introduced to the different methods of contraception. </a:t>
            </a:r>
          </a:p>
          <a:p>
            <a:r>
              <a:rPr lang="en-US" dirty="0"/>
              <a:t>Revision.</a:t>
            </a:r>
          </a:p>
        </p:txBody>
      </p:sp>
      <p:pic>
        <p:nvPicPr>
          <p:cNvPr id="5" name="Picture 4" descr="Writing an appointment on a paper agenda">
            <a:extLst>
              <a:ext uri="{FF2B5EF4-FFF2-40B4-BE49-F238E27FC236}">
                <a16:creationId xmlns:a16="http://schemas.microsoft.com/office/drawing/2014/main" id="{EDE161DE-AC56-B92C-DAD0-35C65DB94381}"/>
              </a:ext>
            </a:extLst>
          </p:cNvPr>
          <p:cNvPicPr>
            <a:picLocks noChangeAspect="1"/>
          </p:cNvPicPr>
          <p:nvPr/>
        </p:nvPicPr>
        <p:blipFill rotWithShape="1">
          <a:blip r:embed="rId2"/>
          <a:srcRect r="33047"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7392639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7" name="Rectangle 1036">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2EF611-9297-0925-A19E-48CEC67D3436}"/>
              </a:ext>
            </a:extLst>
          </p:cNvPr>
          <p:cNvSpPr>
            <a:spLocks noGrp="1"/>
          </p:cNvSpPr>
          <p:nvPr>
            <p:ph type="title"/>
          </p:nvPr>
        </p:nvSpPr>
        <p:spPr>
          <a:xfrm>
            <a:off x="5884515" y="663582"/>
            <a:ext cx="6029981" cy="1476801"/>
          </a:xfrm>
        </p:spPr>
        <p:txBody>
          <a:bodyPr anchor="b">
            <a:normAutofit fontScale="90000"/>
          </a:bodyPr>
          <a:lstStyle/>
          <a:p>
            <a:r>
              <a:rPr lang="en-US" sz="5200" dirty="0"/>
              <a:t>OPTIONAL HOOK: TRUE OR FALSE (pg. 12)</a:t>
            </a:r>
          </a:p>
        </p:txBody>
      </p:sp>
      <p:sp>
        <p:nvSpPr>
          <p:cNvPr id="1038"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81825"/>
            <a:ext cx="4114800" cy="18288"/>
          </a:xfrm>
          <a:custGeom>
            <a:avLst/>
            <a:gdLst>
              <a:gd name="connsiteX0" fmla="*/ 0 w 4114800"/>
              <a:gd name="connsiteY0" fmla="*/ 0 h 18288"/>
              <a:gd name="connsiteX1" fmla="*/ 768096 w 4114800"/>
              <a:gd name="connsiteY1" fmla="*/ 0 h 18288"/>
              <a:gd name="connsiteX2" fmla="*/ 1495044 w 4114800"/>
              <a:gd name="connsiteY2" fmla="*/ 0 h 18288"/>
              <a:gd name="connsiteX3" fmla="*/ 2221992 w 4114800"/>
              <a:gd name="connsiteY3" fmla="*/ 0 h 18288"/>
              <a:gd name="connsiteX4" fmla="*/ 2784348 w 4114800"/>
              <a:gd name="connsiteY4" fmla="*/ 0 h 18288"/>
              <a:gd name="connsiteX5" fmla="*/ 3387852 w 4114800"/>
              <a:gd name="connsiteY5" fmla="*/ 0 h 18288"/>
              <a:gd name="connsiteX6" fmla="*/ 4114800 w 4114800"/>
              <a:gd name="connsiteY6" fmla="*/ 0 h 18288"/>
              <a:gd name="connsiteX7" fmla="*/ 4114800 w 4114800"/>
              <a:gd name="connsiteY7" fmla="*/ 18288 h 18288"/>
              <a:gd name="connsiteX8" fmla="*/ 3429000 w 4114800"/>
              <a:gd name="connsiteY8" fmla="*/ 18288 h 18288"/>
              <a:gd name="connsiteX9" fmla="*/ 2866644 w 4114800"/>
              <a:gd name="connsiteY9" fmla="*/ 18288 h 18288"/>
              <a:gd name="connsiteX10" fmla="*/ 2304288 w 4114800"/>
              <a:gd name="connsiteY10" fmla="*/ 18288 h 18288"/>
              <a:gd name="connsiteX11" fmla="*/ 1577340 w 4114800"/>
              <a:gd name="connsiteY11" fmla="*/ 18288 h 18288"/>
              <a:gd name="connsiteX12" fmla="*/ 973836 w 4114800"/>
              <a:gd name="connsiteY12" fmla="*/ 18288 h 18288"/>
              <a:gd name="connsiteX13" fmla="*/ 0 w 4114800"/>
              <a:gd name="connsiteY13" fmla="*/ 18288 h 18288"/>
              <a:gd name="connsiteX14" fmla="*/ 0 w 411480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4800" h="18288" fill="none" extrusionOk="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w="4114800" h="18288" stroke="0" extrusionOk="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rgbClr val="FF4F39"/>
          </a:solidFill>
          <a:ln w="38100" cap="rnd">
            <a:solidFill>
              <a:srgbClr val="FF4F39"/>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75F01F5-E427-5498-5F21-A77420065815}"/>
              </a:ext>
            </a:extLst>
          </p:cNvPr>
          <p:cNvSpPr>
            <a:spLocks noGrp="1"/>
          </p:cNvSpPr>
          <p:nvPr>
            <p:ph idx="1"/>
          </p:nvPr>
        </p:nvSpPr>
        <p:spPr>
          <a:xfrm>
            <a:off x="4563544" y="2664886"/>
            <a:ext cx="7458127" cy="4031749"/>
          </a:xfrm>
        </p:spPr>
        <p:txBody>
          <a:bodyPr anchor="t">
            <a:normAutofit fontScale="92500"/>
          </a:bodyPr>
          <a:lstStyle/>
          <a:p>
            <a:pPr>
              <a:lnSpc>
                <a:spcPct val="100000"/>
              </a:lnSpc>
            </a:pPr>
            <a:r>
              <a:rPr lang="en-US" dirty="0"/>
              <a:t>OPTION 1: </a:t>
            </a:r>
          </a:p>
          <a:p>
            <a:pPr lvl="1">
              <a:lnSpc>
                <a:spcPct val="100000"/>
              </a:lnSpc>
            </a:pPr>
            <a:r>
              <a:rPr lang="en-US" sz="2800" dirty="0"/>
              <a:t>Students complete the questions in their books (3 minutes).</a:t>
            </a:r>
          </a:p>
          <a:p>
            <a:pPr lvl="1">
              <a:lnSpc>
                <a:spcPct val="100000"/>
              </a:lnSpc>
            </a:pPr>
            <a:r>
              <a:rPr lang="en-US" sz="2800" dirty="0"/>
              <a:t>Go through answers as a class.</a:t>
            </a:r>
          </a:p>
          <a:p>
            <a:pPr lvl="1">
              <a:lnSpc>
                <a:spcPct val="100000"/>
              </a:lnSpc>
            </a:pPr>
            <a:endParaRPr lang="en-US" sz="2800" dirty="0"/>
          </a:p>
          <a:p>
            <a:pPr>
              <a:lnSpc>
                <a:spcPct val="100000"/>
              </a:lnSpc>
            </a:pPr>
            <a:r>
              <a:rPr lang="en-US" dirty="0"/>
              <a:t>OPTION 2: </a:t>
            </a:r>
          </a:p>
          <a:p>
            <a:pPr lvl="1">
              <a:lnSpc>
                <a:spcPct val="100000"/>
              </a:lnSpc>
            </a:pPr>
            <a:r>
              <a:rPr lang="en-US" sz="2800" dirty="0"/>
              <a:t>Teacher to read out the statement. </a:t>
            </a:r>
          </a:p>
          <a:p>
            <a:pPr lvl="1">
              <a:lnSpc>
                <a:spcPct val="100000"/>
              </a:lnSpc>
            </a:pPr>
            <a:r>
              <a:rPr lang="en-US" sz="2800" dirty="0"/>
              <a:t>Students stand with </a:t>
            </a:r>
            <a:r>
              <a:rPr lang="en-US" sz="2800" b="1" dirty="0">
                <a:solidFill>
                  <a:srgbClr val="00B050"/>
                </a:solidFill>
              </a:rPr>
              <a:t>TWO HANDS </a:t>
            </a:r>
            <a:r>
              <a:rPr lang="en-US" sz="2800" dirty="0"/>
              <a:t>on their </a:t>
            </a:r>
            <a:r>
              <a:rPr lang="en-US" sz="2800" b="1" dirty="0">
                <a:solidFill>
                  <a:srgbClr val="00B050"/>
                </a:solidFill>
              </a:rPr>
              <a:t>HEADS</a:t>
            </a:r>
            <a:r>
              <a:rPr lang="en-US" sz="2800" b="1" dirty="0"/>
              <a:t> </a:t>
            </a:r>
            <a:r>
              <a:rPr lang="en-US" sz="2800" dirty="0"/>
              <a:t>if they think the statement is </a:t>
            </a:r>
            <a:r>
              <a:rPr lang="en-US" sz="2800" b="1" dirty="0">
                <a:solidFill>
                  <a:srgbClr val="00B050"/>
                </a:solidFill>
              </a:rPr>
              <a:t>TRUE.</a:t>
            </a:r>
          </a:p>
          <a:p>
            <a:pPr lvl="1">
              <a:lnSpc>
                <a:spcPct val="100000"/>
              </a:lnSpc>
            </a:pPr>
            <a:r>
              <a:rPr lang="en-US" sz="2800" dirty="0"/>
              <a:t>Students stand with </a:t>
            </a:r>
            <a:r>
              <a:rPr lang="en-US" sz="2800" b="1" dirty="0">
                <a:solidFill>
                  <a:srgbClr val="FF0000"/>
                </a:solidFill>
              </a:rPr>
              <a:t>TWO HANDS</a:t>
            </a:r>
            <a:r>
              <a:rPr lang="en-US" sz="2800" dirty="0">
                <a:solidFill>
                  <a:srgbClr val="FF0000"/>
                </a:solidFill>
              </a:rPr>
              <a:t> </a:t>
            </a:r>
            <a:r>
              <a:rPr lang="en-US" sz="2800" dirty="0"/>
              <a:t>on their </a:t>
            </a:r>
            <a:r>
              <a:rPr lang="en-US" sz="2800" b="1" dirty="0">
                <a:solidFill>
                  <a:srgbClr val="FF0000"/>
                </a:solidFill>
              </a:rPr>
              <a:t>TAILS</a:t>
            </a:r>
            <a:r>
              <a:rPr lang="en-US" sz="2800" dirty="0"/>
              <a:t> if they think the statement is </a:t>
            </a:r>
            <a:r>
              <a:rPr lang="en-US" sz="2800" b="1" dirty="0">
                <a:solidFill>
                  <a:srgbClr val="FF0000"/>
                </a:solidFill>
              </a:rPr>
              <a:t>FALSE.</a:t>
            </a:r>
          </a:p>
        </p:txBody>
      </p:sp>
      <mc:AlternateContent xmlns:mc="http://schemas.openxmlformats.org/markup-compatibility/2006" xmlns:p14="http://schemas.microsoft.com/office/powerpoint/2010/main">
        <mc:Choice Requires="p14">
          <p:contentPart p14:bwMode="auto" r:id="rId3">
            <p14:nvContentPartPr>
              <p14:cNvPr id="1039" name="Ink 1038">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6436237" y="1971579"/>
              <a:ext cx="360" cy="2160"/>
            </p14:xfrm>
          </p:contentPart>
        </mc:Choice>
        <mc:Fallback xmlns="">
          <p:pic>
            <p:nvPicPr>
              <p:cNvPr id="1039" name="Ink 1038">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6418237" y="1956150"/>
                <a:ext cx="36000" cy="32709"/>
              </a:xfrm>
              <a:prstGeom prst="rect">
                <a:avLst/>
              </a:prstGeom>
            </p:spPr>
          </p:pic>
        </mc:Fallback>
      </mc:AlternateContent>
      <p:pic>
        <p:nvPicPr>
          <p:cNvPr id="1026" name="Picture 2" descr="True and false symbols accept rejected for evaluation. Vector Simple and  modern style. 600598 Vector Art at Vecteezy">
            <a:extLst>
              <a:ext uri="{FF2B5EF4-FFF2-40B4-BE49-F238E27FC236}">
                <a16:creationId xmlns:a16="http://schemas.microsoft.com/office/drawing/2014/main" id="{6D9E45EB-935B-2EF0-CC99-735D0A698E7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130" r="10513"/>
          <a:stretch/>
        </p:blipFill>
        <p:spPr bwMode="auto">
          <a:xfrm>
            <a:off x="170329" y="1572951"/>
            <a:ext cx="4222886" cy="37120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18830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34C474-3C62-120F-8747-228EFDACD9D3}"/>
              </a:ext>
            </a:extLst>
          </p:cNvPr>
          <p:cNvSpPr>
            <a:spLocks noGrp="1"/>
          </p:cNvSpPr>
          <p:nvPr>
            <p:ph type="title"/>
          </p:nvPr>
        </p:nvSpPr>
        <p:spPr>
          <a:xfrm>
            <a:off x="6739128" y="638089"/>
            <a:ext cx="4818888" cy="1476801"/>
          </a:xfrm>
        </p:spPr>
        <p:txBody>
          <a:bodyPr anchor="b">
            <a:normAutofit/>
          </a:bodyPr>
          <a:lstStyle/>
          <a:p>
            <a:pPr>
              <a:lnSpc>
                <a:spcPct val="90000"/>
              </a:lnSpc>
            </a:pPr>
            <a:r>
              <a:rPr lang="en-US" sz="4800" dirty="0"/>
              <a:t>OPTIONAL Hook: (pg. 13)</a:t>
            </a:r>
            <a:br>
              <a:rPr lang="en-US" sz="4800" dirty="0"/>
            </a:br>
            <a:r>
              <a:rPr lang="en-US" sz="4800" dirty="0"/>
              <a:t>Reasons to Postpone Sex</a:t>
            </a:r>
          </a:p>
        </p:txBody>
      </p:sp>
      <p:sp>
        <p:nvSpPr>
          <p:cNvPr id="11"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81825"/>
            <a:ext cx="4114800" cy="18288"/>
          </a:xfrm>
          <a:custGeom>
            <a:avLst/>
            <a:gdLst>
              <a:gd name="connsiteX0" fmla="*/ 0 w 4114800"/>
              <a:gd name="connsiteY0" fmla="*/ 0 h 18288"/>
              <a:gd name="connsiteX1" fmla="*/ 768096 w 4114800"/>
              <a:gd name="connsiteY1" fmla="*/ 0 h 18288"/>
              <a:gd name="connsiteX2" fmla="*/ 1495044 w 4114800"/>
              <a:gd name="connsiteY2" fmla="*/ 0 h 18288"/>
              <a:gd name="connsiteX3" fmla="*/ 2221992 w 4114800"/>
              <a:gd name="connsiteY3" fmla="*/ 0 h 18288"/>
              <a:gd name="connsiteX4" fmla="*/ 2784348 w 4114800"/>
              <a:gd name="connsiteY4" fmla="*/ 0 h 18288"/>
              <a:gd name="connsiteX5" fmla="*/ 3387852 w 4114800"/>
              <a:gd name="connsiteY5" fmla="*/ 0 h 18288"/>
              <a:gd name="connsiteX6" fmla="*/ 4114800 w 4114800"/>
              <a:gd name="connsiteY6" fmla="*/ 0 h 18288"/>
              <a:gd name="connsiteX7" fmla="*/ 4114800 w 4114800"/>
              <a:gd name="connsiteY7" fmla="*/ 18288 h 18288"/>
              <a:gd name="connsiteX8" fmla="*/ 3429000 w 4114800"/>
              <a:gd name="connsiteY8" fmla="*/ 18288 h 18288"/>
              <a:gd name="connsiteX9" fmla="*/ 2866644 w 4114800"/>
              <a:gd name="connsiteY9" fmla="*/ 18288 h 18288"/>
              <a:gd name="connsiteX10" fmla="*/ 2304288 w 4114800"/>
              <a:gd name="connsiteY10" fmla="*/ 18288 h 18288"/>
              <a:gd name="connsiteX11" fmla="*/ 1577340 w 4114800"/>
              <a:gd name="connsiteY11" fmla="*/ 18288 h 18288"/>
              <a:gd name="connsiteX12" fmla="*/ 973836 w 4114800"/>
              <a:gd name="connsiteY12" fmla="*/ 18288 h 18288"/>
              <a:gd name="connsiteX13" fmla="*/ 0 w 4114800"/>
              <a:gd name="connsiteY13" fmla="*/ 18288 h 18288"/>
              <a:gd name="connsiteX14" fmla="*/ 0 w 411480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4800" h="18288" fill="none" extrusionOk="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w="4114800" h="18288" stroke="0" extrusionOk="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BA68EB3-24E7-3A71-B539-B0F2AF53A5E4}"/>
              </a:ext>
            </a:extLst>
          </p:cNvPr>
          <p:cNvSpPr>
            <a:spLocks noGrp="1"/>
          </p:cNvSpPr>
          <p:nvPr>
            <p:ph idx="1"/>
          </p:nvPr>
        </p:nvSpPr>
        <p:spPr>
          <a:xfrm>
            <a:off x="6739128" y="2664886"/>
            <a:ext cx="4818888" cy="3550789"/>
          </a:xfrm>
        </p:spPr>
        <p:txBody>
          <a:bodyPr anchor="t">
            <a:normAutofit/>
          </a:bodyPr>
          <a:lstStyle/>
          <a:p>
            <a:pPr>
              <a:lnSpc>
                <a:spcPct val="100000"/>
              </a:lnSpc>
            </a:pPr>
            <a:r>
              <a:rPr lang="en-US" dirty="0"/>
              <a:t>There are a wide range of reasons why a person would choose to engage in sex, choose to not have sex or wait. </a:t>
            </a:r>
          </a:p>
          <a:p>
            <a:pPr>
              <a:lnSpc>
                <a:spcPct val="100000"/>
              </a:lnSpc>
            </a:pPr>
            <a:r>
              <a:rPr lang="en-US" dirty="0"/>
              <a:t>Consider these reasons by completing the T-chart in your workbooks. </a:t>
            </a:r>
          </a:p>
          <a:p>
            <a:pPr>
              <a:lnSpc>
                <a:spcPct val="100000"/>
              </a:lnSpc>
            </a:pPr>
            <a:r>
              <a:rPr lang="en-US" dirty="0"/>
              <a:t>Be prepared to share. </a:t>
            </a:r>
          </a:p>
          <a:p>
            <a:pPr>
              <a:lnSpc>
                <a:spcPct val="100000"/>
              </a:lnSpc>
            </a:pPr>
            <a:r>
              <a:rPr lang="en-US" dirty="0"/>
              <a:t>You have 5 minutes.</a:t>
            </a:r>
          </a:p>
        </p:txBody>
      </p:sp>
      <mc:AlternateContent xmlns:mc="http://schemas.openxmlformats.org/markup-compatibility/2006" xmlns:p14="http://schemas.microsoft.com/office/powerpoint/2010/main">
        <mc:Choice Requires="p14">
          <p:contentPart p14:bwMode="auto" r:id="rId3">
            <p14:nvContentPartPr>
              <p14:cNvPr id="13" name="Ink 12">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6436237" y="1971579"/>
              <a:ext cx="360" cy="2160"/>
            </p14:xfrm>
          </p:contentPart>
        </mc:Choice>
        <mc:Fallback xmlns="">
          <p:pic>
            <p:nvPicPr>
              <p:cNvPr id="13" name="Ink 12">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6418237" y="1956150"/>
                <a:ext cx="36000" cy="32709"/>
              </a:xfrm>
              <a:prstGeom prst="rect">
                <a:avLst/>
              </a:prstGeom>
            </p:spPr>
          </p:pic>
        </mc:Fallback>
      </mc:AlternateContent>
      <p:graphicFrame>
        <p:nvGraphicFramePr>
          <p:cNvPr id="4" name="Table 3">
            <a:extLst>
              <a:ext uri="{FF2B5EF4-FFF2-40B4-BE49-F238E27FC236}">
                <a16:creationId xmlns:a16="http://schemas.microsoft.com/office/drawing/2014/main" id="{8D6D04BF-31E8-9F59-22BB-944F7154EAB2}"/>
              </a:ext>
            </a:extLst>
          </p:cNvPr>
          <p:cNvGraphicFramePr>
            <a:graphicFrameLocks noGrp="1"/>
          </p:cNvGraphicFramePr>
          <p:nvPr>
            <p:extLst>
              <p:ext uri="{D42A27DB-BD31-4B8C-83A1-F6EECF244321}">
                <p14:modId xmlns:p14="http://schemas.microsoft.com/office/powerpoint/2010/main" val="1857229343"/>
              </p:ext>
            </p:extLst>
          </p:nvPr>
        </p:nvGraphicFramePr>
        <p:xfrm>
          <a:off x="234227" y="1971579"/>
          <a:ext cx="5870917" cy="3687562"/>
        </p:xfrm>
        <a:graphic>
          <a:graphicData uri="http://schemas.openxmlformats.org/drawingml/2006/table">
            <a:tbl>
              <a:tblPr firstRow="1" bandRow="1">
                <a:tableStyleId>{5C22544A-7EE6-4342-B048-85BDC9FD1C3A}</a:tableStyleId>
              </a:tblPr>
              <a:tblGrid>
                <a:gridCol w="2911333">
                  <a:extLst>
                    <a:ext uri="{9D8B030D-6E8A-4147-A177-3AD203B41FA5}">
                      <a16:colId xmlns:a16="http://schemas.microsoft.com/office/drawing/2014/main" val="329215136"/>
                    </a:ext>
                  </a:extLst>
                </a:gridCol>
                <a:gridCol w="2959584">
                  <a:extLst>
                    <a:ext uri="{9D8B030D-6E8A-4147-A177-3AD203B41FA5}">
                      <a16:colId xmlns:a16="http://schemas.microsoft.com/office/drawing/2014/main" val="2843699523"/>
                    </a:ext>
                  </a:extLst>
                </a:gridCol>
              </a:tblGrid>
              <a:tr h="484984">
                <a:tc>
                  <a:txBody>
                    <a:bodyPr/>
                    <a:lstStyle/>
                    <a:p>
                      <a:pPr algn="ctr"/>
                      <a:r>
                        <a:rPr lang="en-US" sz="3300" b="1"/>
                        <a:t>Reasons </a:t>
                      </a:r>
                      <a:r>
                        <a:rPr lang="en-US" sz="3300" b="1" u="sng"/>
                        <a:t>TO HAVE</a:t>
                      </a:r>
                      <a:r>
                        <a:rPr lang="en-US" sz="3300" b="1" u="none"/>
                        <a:t> sex:</a:t>
                      </a:r>
                    </a:p>
                  </a:txBody>
                  <a:tcPr marL="125730" marR="125730" marT="62865" marB="62865" anchor="ctr"/>
                </a:tc>
                <a:tc>
                  <a:txBody>
                    <a:bodyPr/>
                    <a:lstStyle/>
                    <a:p>
                      <a:pPr algn="ctr"/>
                      <a:r>
                        <a:rPr lang="en-US" sz="3300" b="1" dirty="0"/>
                        <a:t>Reasons </a:t>
                      </a:r>
                      <a:r>
                        <a:rPr lang="en-US" sz="3300" b="1" u="sng" dirty="0"/>
                        <a:t>NOT TO HAVE</a:t>
                      </a:r>
                      <a:r>
                        <a:rPr lang="en-US" sz="3300" b="1" u="none" dirty="0"/>
                        <a:t> sex:</a:t>
                      </a:r>
                      <a:endParaRPr lang="en-US" sz="3300" b="1" dirty="0"/>
                    </a:p>
                  </a:txBody>
                  <a:tcPr marL="125730" marR="125730" marT="62865" marB="62865" anchor="ctr"/>
                </a:tc>
                <a:extLst>
                  <a:ext uri="{0D108BD9-81ED-4DB2-BD59-A6C34878D82A}">
                    <a16:rowId xmlns:a16="http://schemas.microsoft.com/office/drawing/2014/main" val="1334855573"/>
                  </a:ext>
                </a:extLst>
              </a:tr>
              <a:tr h="3058912">
                <a:tc>
                  <a:txBody>
                    <a:bodyPr/>
                    <a:lstStyle/>
                    <a:p>
                      <a:endParaRPr lang="en-US" sz="2500" dirty="0"/>
                    </a:p>
                  </a:txBody>
                  <a:tcPr marL="125730" marR="125730" marT="62865" marB="62865"/>
                </a:tc>
                <a:tc>
                  <a:txBody>
                    <a:bodyPr/>
                    <a:lstStyle/>
                    <a:p>
                      <a:endParaRPr lang="en-US" sz="2500" dirty="0"/>
                    </a:p>
                  </a:txBody>
                  <a:tcPr marL="125730" marR="125730" marT="62865" marB="62865"/>
                </a:tc>
                <a:extLst>
                  <a:ext uri="{0D108BD9-81ED-4DB2-BD59-A6C34878D82A}">
                    <a16:rowId xmlns:a16="http://schemas.microsoft.com/office/drawing/2014/main" val="4274040331"/>
                  </a:ext>
                </a:extLst>
              </a:tr>
            </a:tbl>
          </a:graphicData>
        </a:graphic>
      </p:graphicFrame>
      <p:sp>
        <p:nvSpPr>
          <p:cNvPr id="5" name="TextBox 4">
            <a:extLst>
              <a:ext uri="{FF2B5EF4-FFF2-40B4-BE49-F238E27FC236}">
                <a16:creationId xmlns:a16="http://schemas.microsoft.com/office/drawing/2014/main" id="{63113B37-D435-F722-02AA-86BFC3D95564}"/>
              </a:ext>
            </a:extLst>
          </p:cNvPr>
          <p:cNvSpPr txBox="1"/>
          <p:nvPr/>
        </p:nvSpPr>
        <p:spPr>
          <a:xfrm>
            <a:off x="422031" y="2805563"/>
            <a:ext cx="2588455" cy="2554545"/>
          </a:xfrm>
          <a:prstGeom prst="rect">
            <a:avLst/>
          </a:prstGeom>
          <a:noFill/>
        </p:spPr>
        <p:txBody>
          <a:bodyPr wrap="square" rtlCol="0">
            <a:spAutoFit/>
          </a:bodyPr>
          <a:lstStyle/>
          <a:p>
            <a:pPr marL="285750" indent="-285750">
              <a:buFont typeface="Arial" panose="020B0604020202020204" pitchFamily="34" charset="0"/>
              <a:buChar char="•"/>
            </a:pPr>
            <a:r>
              <a:rPr lang="en-US" sz="3200" dirty="0"/>
              <a:t>Curious</a:t>
            </a:r>
          </a:p>
          <a:p>
            <a:pPr marL="285750" indent="-285750">
              <a:buFont typeface="Arial" panose="020B0604020202020204" pitchFamily="34" charset="0"/>
              <a:buChar char="•"/>
            </a:pPr>
            <a:r>
              <a:rPr lang="en-US" sz="3200" dirty="0"/>
              <a:t>To fit in</a:t>
            </a:r>
          </a:p>
          <a:p>
            <a:pPr marL="285750" indent="-285750">
              <a:buFont typeface="Arial" panose="020B0604020202020204" pitchFamily="34" charset="0"/>
              <a:buChar char="•"/>
            </a:pPr>
            <a:r>
              <a:rPr lang="en-US" sz="3200" dirty="0"/>
              <a:t>Peer Pressure</a:t>
            </a:r>
          </a:p>
          <a:p>
            <a:pPr marL="285750" indent="-285750">
              <a:buFont typeface="Arial" panose="020B0604020202020204" pitchFamily="34" charset="0"/>
              <a:buChar char="•"/>
            </a:pPr>
            <a:r>
              <a:rPr lang="en-US" sz="3200" dirty="0"/>
              <a:t>In love</a:t>
            </a:r>
          </a:p>
          <a:p>
            <a:pPr marL="285750" indent="-285750">
              <a:buFont typeface="Arial" panose="020B0604020202020204" pitchFamily="34" charset="0"/>
              <a:buChar char="•"/>
            </a:pPr>
            <a:r>
              <a:rPr lang="en-US" sz="3200" dirty="0"/>
              <a:t>Want children</a:t>
            </a:r>
            <a:endParaRPr lang="en-US" dirty="0"/>
          </a:p>
        </p:txBody>
      </p:sp>
      <p:sp>
        <p:nvSpPr>
          <p:cNvPr id="6" name="TextBox 5">
            <a:extLst>
              <a:ext uri="{FF2B5EF4-FFF2-40B4-BE49-F238E27FC236}">
                <a16:creationId xmlns:a16="http://schemas.microsoft.com/office/drawing/2014/main" id="{9051C037-8295-9476-65D8-F3B31F1178FC}"/>
              </a:ext>
            </a:extLst>
          </p:cNvPr>
          <p:cNvSpPr txBox="1"/>
          <p:nvPr/>
        </p:nvSpPr>
        <p:spPr>
          <a:xfrm>
            <a:off x="3390314" y="2805563"/>
            <a:ext cx="2705686" cy="2492990"/>
          </a:xfrm>
          <a:prstGeom prst="rect">
            <a:avLst/>
          </a:prstGeom>
          <a:noFill/>
        </p:spPr>
        <p:txBody>
          <a:bodyPr wrap="square" rtlCol="0">
            <a:spAutoFit/>
          </a:bodyPr>
          <a:lstStyle/>
          <a:p>
            <a:pPr marL="285750" indent="-285750">
              <a:buFont typeface="Arial" panose="020B0604020202020204" pitchFamily="34" charset="0"/>
              <a:buChar char="•"/>
            </a:pPr>
            <a:r>
              <a:rPr lang="en-US" sz="2600" dirty="0"/>
              <a:t>Don’t want kids</a:t>
            </a:r>
          </a:p>
          <a:p>
            <a:pPr marL="285750" indent="-285750">
              <a:buFont typeface="Arial" panose="020B0604020202020204" pitchFamily="34" charset="0"/>
              <a:buChar char="•"/>
            </a:pPr>
            <a:r>
              <a:rPr lang="en-US" sz="2600" dirty="0"/>
              <a:t>Don’t want an STI</a:t>
            </a:r>
          </a:p>
          <a:p>
            <a:pPr marL="285750" indent="-285750">
              <a:buFont typeface="Arial" panose="020B0604020202020204" pitchFamily="34" charset="0"/>
              <a:buChar char="•"/>
            </a:pPr>
            <a:r>
              <a:rPr lang="en-US" sz="2600" dirty="0"/>
              <a:t>Religious reasons</a:t>
            </a:r>
          </a:p>
          <a:p>
            <a:pPr marL="285750" indent="-285750">
              <a:buFont typeface="Arial" panose="020B0604020202020204" pitchFamily="34" charset="0"/>
              <a:buChar char="•"/>
            </a:pPr>
            <a:r>
              <a:rPr lang="en-US" sz="2600" dirty="0"/>
              <a:t>No one to have sex with</a:t>
            </a:r>
          </a:p>
          <a:p>
            <a:pPr marL="285750" indent="-285750">
              <a:buFont typeface="Arial" panose="020B0604020202020204" pitchFamily="34" charset="0"/>
              <a:buChar char="•"/>
            </a:pPr>
            <a:r>
              <a:rPr lang="en-US" sz="2600" dirty="0"/>
              <a:t>Don’t want to get in trouble</a:t>
            </a:r>
          </a:p>
          <a:p>
            <a:pPr marL="285750" indent="-285750">
              <a:buFont typeface="Arial" panose="020B0604020202020204" pitchFamily="34" charset="0"/>
              <a:buChar char="•"/>
            </a:pPr>
            <a:r>
              <a:rPr lang="en-US" sz="2600" dirty="0"/>
              <a:t>Illegal (underage)</a:t>
            </a:r>
          </a:p>
        </p:txBody>
      </p:sp>
    </p:spTree>
    <p:extLst>
      <p:ext uri="{BB962C8B-B14F-4D97-AF65-F5344CB8AC3E}">
        <p14:creationId xmlns:p14="http://schemas.microsoft.com/office/powerpoint/2010/main" val="1078128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1780A-C9A6-F3EB-CC5C-E1D90C74A1D6}"/>
              </a:ext>
            </a:extLst>
          </p:cNvPr>
          <p:cNvSpPr>
            <a:spLocks noGrp="1"/>
          </p:cNvSpPr>
          <p:nvPr>
            <p:ph type="title"/>
          </p:nvPr>
        </p:nvSpPr>
        <p:spPr/>
        <p:txBody>
          <a:bodyPr/>
          <a:lstStyle/>
          <a:p>
            <a:r>
              <a:rPr lang="en-US" dirty="0"/>
              <a:t>Types of Contraception </a:t>
            </a:r>
            <a:r>
              <a:rPr lang="en-US" sz="5400" dirty="0"/>
              <a:t>(pg. 14)</a:t>
            </a:r>
            <a:endParaRPr lang="en-US" dirty="0"/>
          </a:p>
        </p:txBody>
      </p:sp>
      <p:sp>
        <p:nvSpPr>
          <p:cNvPr id="3" name="Content Placeholder 2">
            <a:extLst>
              <a:ext uri="{FF2B5EF4-FFF2-40B4-BE49-F238E27FC236}">
                <a16:creationId xmlns:a16="http://schemas.microsoft.com/office/drawing/2014/main" id="{FCFF2003-85D2-F210-989A-A1A47EE9612B}"/>
              </a:ext>
            </a:extLst>
          </p:cNvPr>
          <p:cNvSpPr>
            <a:spLocks noGrp="1"/>
          </p:cNvSpPr>
          <p:nvPr>
            <p:ph idx="1"/>
          </p:nvPr>
        </p:nvSpPr>
        <p:spPr>
          <a:xfrm>
            <a:off x="838200" y="1929383"/>
            <a:ext cx="10941424" cy="4563491"/>
          </a:xfrm>
        </p:spPr>
        <p:txBody>
          <a:bodyPr>
            <a:normAutofit fontScale="92500"/>
          </a:bodyPr>
          <a:lstStyle/>
          <a:p>
            <a:r>
              <a:rPr lang="en-US" sz="3500" dirty="0"/>
              <a:t>There are 5 types of contraception for us to consider:</a:t>
            </a:r>
          </a:p>
          <a:p>
            <a:endParaRPr lang="en-US" sz="3500" dirty="0"/>
          </a:p>
          <a:p>
            <a:pPr marL="971550" lvl="1" indent="-514350">
              <a:buFont typeface="+mj-lt"/>
              <a:buAutoNum type="arabicPeriod"/>
            </a:pPr>
            <a:r>
              <a:rPr lang="en-US" sz="3500" b="1" dirty="0">
                <a:solidFill>
                  <a:srgbClr val="FF0000"/>
                </a:solidFill>
              </a:rPr>
              <a:t>Barrier</a:t>
            </a:r>
            <a:r>
              <a:rPr lang="en-US" sz="3500" dirty="0"/>
              <a:t> – </a:t>
            </a:r>
            <a:r>
              <a:rPr lang="en-US" sz="3500" b="1" dirty="0"/>
              <a:t>puts a barrier between the penis and the vagina and stops the sperm from meeting the egg. </a:t>
            </a:r>
          </a:p>
          <a:p>
            <a:pPr marL="971550" lvl="1" indent="-514350">
              <a:buFont typeface="+mj-lt"/>
              <a:buAutoNum type="arabicPeriod"/>
            </a:pPr>
            <a:r>
              <a:rPr lang="en-US" sz="3500" b="1" dirty="0">
                <a:solidFill>
                  <a:srgbClr val="00B050"/>
                </a:solidFill>
              </a:rPr>
              <a:t>Hormonal</a:t>
            </a:r>
            <a:r>
              <a:rPr lang="en-US" sz="3500" dirty="0"/>
              <a:t> –</a:t>
            </a:r>
            <a:r>
              <a:rPr lang="en-US" sz="3500" b="1" dirty="0"/>
              <a:t> regulates or stops ovulation and so preventing pregnancy. </a:t>
            </a:r>
          </a:p>
          <a:p>
            <a:pPr marL="971550" lvl="1" indent="-514350">
              <a:buFont typeface="+mj-lt"/>
              <a:buAutoNum type="arabicPeriod"/>
            </a:pPr>
            <a:r>
              <a:rPr lang="en-US" sz="3500" b="1" dirty="0">
                <a:solidFill>
                  <a:srgbClr val="FFC000"/>
                </a:solidFill>
              </a:rPr>
              <a:t>Natural</a:t>
            </a:r>
            <a:r>
              <a:rPr lang="en-US" sz="3500" dirty="0"/>
              <a:t> – </a:t>
            </a:r>
            <a:r>
              <a:rPr lang="en-US" sz="3500" b="1" dirty="0"/>
              <a:t>doesn’t involve any kind of barrier or chemical etc. Natural methods of birth control. </a:t>
            </a:r>
          </a:p>
          <a:p>
            <a:pPr marL="971550" lvl="1" indent="-514350">
              <a:buFont typeface="+mj-lt"/>
              <a:buAutoNum type="arabicPeriod"/>
            </a:pPr>
            <a:r>
              <a:rPr lang="en-US" sz="3500" b="1" dirty="0">
                <a:solidFill>
                  <a:srgbClr val="00B0F0"/>
                </a:solidFill>
              </a:rPr>
              <a:t>Emergency</a:t>
            </a:r>
            <a:r>
              <a:rPr lang="en-US" sz="3500" dirty="0"/>
              <a:t> – </a:t>
            </a:r>
            <a:r>
              <a:rPr lang="en-US" sz="3500" b="1" dirty="0"/>
              <a:t>used immediately after sex to prevent fertilisation. </a:t>
            </a:r>
          </a:p>
          <a:p>
            <a:pPr marL="971550" lvl="1" indent="-514350">
              <a:buFont typeface="+mj-lt"/>
              <a:buAutoNum type="arabicPeriod"/>
            </a:pPr>
            <a:r>
              <a:rPr lang="en-US" sz="3500" b="1" dirty="0">
                <a:solidFill>
                  <a:srgbClr val="7030A0"/>
                </a:solidFill>
              </a:rPr>
              <a:t>Surgical </a:t>
            </a:r>
            <a:r>
              <a:rPr lang="en-US" sz="3500" dirty="0"/>
              <a:t>– </a:t>
            </a:r>
            <a:r>
              <a:rPr lang="en-US" sz="3500" b="1" dirty="0"/>
              <a:t>sterilization; surgical procedure to control pregnancy/birth control. </a:t>
            </a:r>
          </a:p>
        </p:txBody>
      </p:sp>
    </p:spTree>
    <p:extLst>
      <p:ext uri="{BB962C8B-B14F-4D97-AF65-F5344CB8AC3E}">
        <p14:creationId xmlns:p14="http://schemas.microsoft.com/office/powerpoint/2010/main" val="1870932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p:cTn id="7"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8" dur="500" fill="hold"/>
                                        <p:tgtEl>
                                          <p:spTgt spid="3">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p:cTn id="13"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3" end="3"/>
                                            </p:txEl>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p:cTn id="19"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4" end="4"/>
                                            </p:txEl>
                                          </p:spTgt>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7" presetClass="entr" presetSubtype="1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p:cTn id="25"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26" dur="500" fill="hold"/>
                                        <p:tgtEl>
                                          <p:spTgt spid="3">
                                            <p:txEl>
                                              <p:pRg st="5" end="5"/>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1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p:cTn id="31"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32" dur="500" fill="hold"/>
                                        <p:tgtEl>
                                          <p:spTgt spid="3">
                                            <p:txEl>
                                              <p:pRg st="6" end="6"/>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207E4-6BF2-EFE4-F077-A7E02FDAA08E}"/>
              </a:ext>
            </a:extLst>
          </p:cNvPr>
          <p:cNvSpPr>
            <a:spLocks noGrp="1"/>
          </p:cNvSpPr>
          <p:nvPr>
            <p:ph type="title"/>
          </p:nvPr>
        </p:nvSpPr>
        <p:spPr/>
        <p:txBody>
          <a:bodyPr/>
          <a:lstStyle/>
          <a:p>
            <a:endParaRPr lang="en-US" dirty="0"/>
          </a:p>
        </p:txBody>
      </p:sp>
      <p:pic>
        <p:nvPicPr>
          <p:cNvPr id="4" name="Online Media 3" descr="when ross gets pissed off at the condom company">
            <a:hlinkClick r:id="" action="ppaction://media"/>
            <a:extLst>
              <a:ext uri="{FF2B5EF4-FFF2-40B4-BE49-F238E27FC236}">
                <a16:creationId xmlns:a16="http://schemas.microsoft.com/office/drawing/2014/main" id="{C9249552-8AB4-6FB7-D44F-761645408F6C}"/>
              </a:ext>
            </a:extLst>
          </p:cNvPr>
          <p:cNvPicPr>
            <a:picLocks noGrp="1" noRot="1" noChangeAspect="1"/>
          </p:cNvPicPr>
          <p:nvPr>
            <p:ph idx="1"/>
            <a:videoFile r:link="rId1"/>
          </p:nvPr>
        </p:nvPicPr>
        <p:blipFill>
          <a:blip r:embed="rId4"/>
          <a:stretch>
            <a:fillRect/>
          </a:stretch>
        </p:blipFill>
        <p:spPr>
          <a:xfrm>
            <a:off x="104931" y="119921"/>
            <a:ext cx="11962151" cy="6625653"/>
          </a:xfrm>
          <a:prstGeom prst="rect">
            <a:avLst/>
          </a:prstGeom>
        </p:spPr>
      </p:pic>
    </p:spTree>
    <p:extLst>
      <p:ext uri="{BB962C8B-B14F-4D97-AF65-F5344CB8AC3E}">
        <p14:creationId xmlns:p14="http://schemas.microsoft.com/office/powerpoint/2010/main" val="3549920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61AC2-7C34-75C6-A2A1-7C617794AF37}"/>
              </a:ext>
            </a:extLst>
          </p:cNvPr>
          <p:cNvSpPr>
            <a:spLocks noGrp="1"/>
          </p:cNvSpPr>
          <p:nvPr>
            <p:ph type="title"/>
          </p:nvPr>
        </p:nvSpPr>
        <p:spPr/>
        <p:txBody>
          <a:bodyPr/>
          <a:lstStyle/>
          <a:p>
            <a:r>
              <a:rPr lang="en-US" dirty="0"/>
              <a:t>Activity 2: Methods of Contraception </a:t>
            </a:r>
            <a:r>
              <a:rPr lang="en-US" sz="5400" dirty="0"/>
              <a:t>(pg. 14-16)</a:t>
            </a:r>
            <a:endParaRPr lang="en-US" dirty="0"/>
          </a:p>
        </p:txBody>
      </p:sp>
      <p:sp>
        <p:nvSpPr>
          <p:cNvPr id="3" name="Content Placeholder 2">
            <a:extLst>
              <a:ext uri="{FF2B5EF4-FFF2-40B4-BE49-F238E27FC236}">
                <a16:creationId xmlns:a16="http://schemas.microsoft.com/office/drawing/2014/main" id="{CBA23C2E-AECF-0B03-DEA8-6022193914D5}"/>
              </a:ext>
            </a:extLst>
          </p:cNvPr>
          <p:cNvSpPr>
            <a:spLocks noGrp="1"/>
          </p:cNvSpPr>
          <p:nvPr>
            <p:ph idx="1"/>
          </p:nvPr>
        </p:nvSpPr>
        <p:spPr/>
        <p:txBody>
          <a:bodyPr>
            <a:normAutofit lnSpcReduction="10000"/>
          </a:bodyPr>
          <a:lstStyle/>
          <a:p>
            <a:r>
              <a:rPr lang="en-US" dirty="0"/>
              <a:t>The IDEAL contraception would be:</a:t>
            </a:r>
          </a:p>
          <a:p>
            <a:pPr lvl="1"/>
            <a:r>
              <a:rPr lang="en-US" dirty="0"/>
              <a:t>Safe</a:t>
            </a:r>
          </a:p>
          <a:p>
            <a:pPr lvl="1"/>
            <a:r>
              <a:rPr lang="en-US" dirty="0"/>
              <a:t>100% effective</a:t>
            </a:r>
          </a:p>
          <a:p>
            <a:pPr lvl="1"/>
            <a:r>
              <a:rPr lang="en-US" dirty="0"/>
              <a:t>Free of side effects</a:t>
            </a:r>
          </a:p>
          <a:p>
            <a:pPr lvl="1"/>
            <a:r>
              <a:rPr lang="en-US" dirty="0"/>
              <a:t>Easily obtainable </a:t>
            </a:r>
          </a:p>
          <a:p>
            <a:pPr lvl="1"/>
            <a:endParaRPr lang="en-US" dirty="0"/>
          </a:p>
          <a:p>
            <a:pPr lvl="1"/>
            <a:endParaRPr lang="en-US" dirty="0"/>
          </a:p>
          <a:p>
            <a:r>
              <a:rPr lang="en-US" dirty="0"/>
              <a:t>Follow along with the information in the upcoming slides to complete </a:t>
            </a:r>
            <a:br>
              <a:rPr lang="en-US" dirty="0"/>
            </a:br>
            <a:r>
              <a:rPr lang="en-US" dirty="0"/>
              <a:t>your table in your books on the METHODS of contraception. </a:t>
            </a:r>
          </a:p>
        </p:txBody>
      </p:sp>
      <p:sp>
        <p:nvSpPr>
          <p:cNvPr id="4" name="TextBox 3">
            <a:extLst>
              <a:ext uri="{FF2B5EF4-FFF2-40B4-BE49-F238E27FC236}">
                <a16:creationId xmlns:a16="http://schemas.microsoft.com/office/drawing/2014/main" id="{1C6284AE-53A0-D2AA-CD91-431EBB405612}"/>
              </a:ext>
            </a:extLst>
          </p:cNvPr>
          <p:cNvSpPr txBox="1"/>
          <p:nvPr/>
        </p:nvSpPr>
        <p:spPr>
          <a:xfrm>
            <a:off x="3240689" y="2828835"/>
            <a:ext cx="3534031" cy="1200329"/>
          </a:xfrm>
          <a:prstGeom prst="rect">
            <a:avLst/>
          </a:prstGeom>
          <a:noFill/>
        </p:spPr>
        <p:txBody>
          <a:bodyPr wrap="square" rtlCol="0">
            <a:spAutoFit/>
          </a:bodyPr>
          <a:lstStyle/>
          <a:p>
            <a:pPr marL="285750" indent="-285750">
              <a:buFont typeface="Arial" panose="020B0604020202020204" pitchFamily="34" charset="0"/>
              <a:buChar char="•"/>
            </a:pPr>
            <a:r>
              <a:rPr lang="en-US" sz="2400" dirty="0"/>
              <a:t>Affordable</a:t>
            </a:r>
          </a:p>
          <a:p>
            <a:pPr marL="285750" indent="-285750">
              <a:buFont typeface="Arial" panose="020B0604020202020204" pitchFamily="34" charset="0"/>
              <a:buChar char="•"/>
            </a:pPr>
            <a:r>
              <a:rPr lang="en-US" sz="2400" dirty="0"/>
              <a:t>Acceptable to the user and sexual partner</a:t>
            </a:r>
          </a:p>
          <a:p>
            <a:pPr marL="285750" indent="-285750">
              <a:buFont typeface="Arial" panose="020B0604020202020204" pitchFamily="34" charset="0"/>
              <a:buChar char="•"/>
            </a:pPr>
            <a:r>
              <a:rPr lang="en-US" sz="2400" dirty="0"/>
              <a:t>Free of effects on future pregnancies</a:t>
            </a:r>
            <a:endParaRPr lang="en-US" dirty="0"/>
          </a:p>
        </p:txBody>
      </p:sp>
      <p:cxnSp>
        <p:nvCxnSpPr>
          <p:cNvPr id="6" name="Straight Arrow Connector 5">
            <a:extLst>
              <a:ext uri="{FF2B5EF4-FFF2-40B4-BE49-F238E27FC236}">
                <a16:creationId xmlns:a16="http://schemas.microsoft.com/office/drawing/2014/main" id="{92C54572-23F7-C4B4-CDC0-A7F6FB972EEB}"/>
              </a:ext>
            </a:extLst>
          </p:cNvPr>
          <p:cNvCxnSpPr>
            <a:cxnSpLocks/>
            <a:stCxn id="4" idx="3"/>
          </p:cNvCxnSpPr>
          <p:nvPr/>
        </p:nvCxnSpPr>
        <p:spPr>
          <a:xfrm>
            <a:off x="6774720" y="3429000"/>
            <a:ext cx="1470455" cy="0"/>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 name="TextBox 6">
            <a:extLst>
              <a:ext uri="{FF2B5EF4-FFF2-40B4-BE49-F238E27FC236}">
                <a16:creationId xmlns:a16="http://schemas.microsoft.com/office/drawing/2014/main" id="{71EAB518-DC9F-EDE1-BDC1-C8179067F9C6}"/>
              </a:ext>
            </a:extLst>
          </p:cNvPr>
          <p:cNvSpPr txBox="1"/>
          <p:nvPr/>
        </p:nvSpPr>
        <p:spPr>
          <a:xfrm>
            <a:off x="8474032" y="2688232"/>
            <a:ext cx="3199886" cy="2462213"/>
          </a:xfrm>
          <a:prstGeom prst="rect">
            <a:avLst/>
          </a:prstGeom>
          <a:noFill/>
        </p:spPr>
        <p:txBody>
          <a:bodyPr wrap="square" rtlCol="0">
            <a:spAutoFit/>
          </a:bodyPr>
          <a:lstStyle/>
          <a:p>
            <a:pPr algn="ctr"/>
            <a:r>
              <a:rPr lang="en-US" sz="2200" dirty="0"/>
              <a:t>But unfortunately, this is not always possible to achieve. Just as every person is different, everyone may react differently to different forms of contraception, and have different reasons for use. There are a wide range of contraceptives available to try and accommodate for all. </a:t>
            </a:r>
          </a:p>
        </p:txBody>
      </p:sp>
      <p:sp>
        <p:nvSpPr>
          <p:cNvPr id="8" name="Oval 7">
            <a:extLst>
              <a:ext uri="{FF2B5EF4-FFF2-40B4-BE49-F238E27FC236}">
                <a16:creationId xmlns:a16="http://schemas.microsoft.com/office/drawing/2014/main" id="{2E180CA9-D393-8B0D-184F-41ED3F92A88F}"/>
              </a:ext>
            </a:extLst>
          </p:cNvPr>
          <p:cNvSpPr/>
          <p:nvPr/>
        </p:nvSpPr>
        <p:spPr>
          <a:xfrm>
            <a:off x="8245175" y="1929384"/>
            <a:ext cx="3657600" cy="3558743"/>
          </a:xfrm>
          <a:prstGeom prst="ellipse">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Tree>
    <p:extLst>
      <p:ext uri="{BB962C8B-B14F-4D97-AF65-F5344CB8AC3E}">
        <p14:creationId xmlns:p14="http://schemas.microsoft.com/office/powerpoint/2010/main" val="4279712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900" decel="100000" fill="hold"/>
                                        <p:tgtEl>
                                          <p:spTgt spid="6"/>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6"/>
                                        </p:tgtEl>
                                        <p:attrNameLst>
                                          <p:attrName>ppt_y</p:attrName>
                                        </p:attrNameLst>
                                      </p:cBhvr>
                                      <p:tavLst>
                                        <p:tav tm="0">
                                          <p:val>
                                            <p:strVal val="#ppt_y-.03"/>
                                          </p:val>
                                        </p:tav>
                                        <p:tav tm="100000">
                                          <p:val>
                                            <p:strVal val="#ppt_y"/>
                                          </p:val>
                                        </p:tav>
                                      </p:tavLst>
                                    </p:anim>
                                  </p:childTnLst>
                                </p:cTn>
                              </p:par>
                              <p:par>
                                <p:cTn id="11" presetID="37"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900" decel="100000" fill="hold"/>
                                        <p:tgtEl>
                                          <p:spTgt spid="8"/>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8"/>
                                        </p:tgtEl>
                                        <p:attrNameLst>
                                          <p:attrName>ppt_y</p:attrName>
                                        </p:attrNameLst>
                                      </p:cBhvr>
                                      <p:tavLst>
                                        <p:tav tm="0">
                                          <p:val>
                                            <p:strVal val="#ppt_y-.03"/>
                                          </p:val>
                                        </p:tav>
                                        <p:tav tm="100000">
                                          <p:val>
                                            <p:strVal val="#ppt_y"/>
                                          </p:val>
                                        </p:tav>
                                      </p:tavLst>
                                    </p:anim>
                                  </p:childTnLst>
                                </p:cTn>
                              </p:par>
                              <p:par>
                                <p:cTn id="17" presetID="37"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900" decel="100000" fill="hold"/>
                                        <p:tgtEl>
                                          <p:spTgt spid="7"/>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7"/>
                                        </p:tgtEl>
                                        <p:attrNameLst>
                                          <p:attrName>ppt_y</p:attrName>
                                        </p:attrNameLst>
                                      </p:cBhvr>
                                      <p:tavLst>
                                        <p:tav tm="0">
                                          <p:val>
                                            <p:strVal val="#ppt_y-.03"/>
                                          </p:val>
                                        </p:tav>
                                        <p:tav tm="100000">
                                          <p:val>
                                            <p:strVal val="#ppt_y"/>
                                          </p:val>
                                        </p:tav>
                                      </p:tavLst>
                                    </p:anim>
                                  </p:childTnLst>
                                </p:cTn>
                              </p:par>
                              <p:par>
                                <p:cTn id="23" presetID="37"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fade">
                                      <p:cBhvr>
                                        <p:cTn id="25" dur="1000"/>
                                        <p:tgtEl>
                                          <p:spTgt spid="3">
                                            <p:txEl>
                                              <p:pRg st="7" end="7"/>
                                            </p:txEl>
                                          </p:spTgt>
                                        </p:tgtEl>
                                      </p:cBhvr>
                                    </p:animEffect>
                                    <p:anim calcmode="lin" valueType="num">
                                      <p:cBhvr>
                                        <p:cTn id="26"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7" dur="900" decel="100000" fill="hold"/>
                                        <p:tgtEl>
                                          <p:spTgt spid="3">
                                            <p:txEl>
                                              <p:pRg st="7" end="7"/>
                                            </p:txEl>
                                          </p:spTgt>
                                        </p:tgtEl>
                                        <p:attrNameLst>
                                          <p:attrName>ppt_y</p:attrName>
                                        </p:attrNameLst>
                                      </p:cBhvr>
                                      <p:tavLst>
                                        <p:tav tm="0">
                                          <p:val>
                                            <p:strVal val="#ppt_y+1"/>
                                          </p:val>
                                        </p:tav>
                                        <p:tav tm="100000">
                                          <p:val>
                                            <p:strVal val="#ppt_y-.03"/>
                                          </p:val>
                                        </p:tav>
                                      </p:tavLst>
                                    </p:anim>
                                    <p:anim calcmode="lin" valueType="num">
                                      <p:cBhvr>
                                        <p:cTn id="28" dur="100" accel="100000" fill="hold">
                                          <p:stCondLst>
                                            <p:cond delay="900"/>
                                          </p:stCondLst>
                                        </p:cTn>
                                        <p:tgtEl>
                                          <p:spTgt spid="3">
                                            <p:txEl>
                                              <p:pRg st="7" end="7"/>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D75AB-839C-AB39-960C-C622E166406C}"/>
              </a:ext>
            </a:extLst>
          </p:cNvPr>
          <p:cNvSpPr>
            <a:spLocks noGrp="1"/>
          </p:cNvSpPr>
          <p:nvPr>
            <p:ph type="title"/>
          </p:nvPr>
        </p:nvSpPr>
        <p:spPr/>
        <p:txBody>
          <a:bodyPr/>
          <a:lstStyle/>
          <a:p>
            <a:r>
              <a:rPr lang="en-US" dirty="0"/>
              <a:t>Activity 2: METHODS OF CONTRACEPTION </a:t>
            </a:r>
            <a:r>
              <a:rPr lang="en-US" sz="5400" dirty="0"/>
              <a:t>(pg. 14-16)</a:t>
            </a:r>
            <a:endParaRPr lang="en-US" dirty="0"/>
          </a:p>
        </p:txBody>
      </p:sp>
      <p:sp>
        <p:nvSpPr>
          <p:cNvPr id="3" name="Content Placeholder 2">
            <a:extLst>
              <a:ext uri="{FF2B5EF4-FFF2-40B4-BE49-F238E27FC236}">
                <a16:creationId xmlns:a16="http://schemas.microsoft.com/office/drawing/2014/main" id="{68ADFD56-72F1-F561-72F3-F38F24138C49}"/>
              </a:ext>
            </a:extLst>
          </p:cNvPr>
          <p:cNvSpPr>
            <a:spLocks noGrp="1"/>
          </p:cNvSpPr>
          <p:nvPr>
            <p:ph idx="1"/>
          </p:nvPr>
        </p:nvSpPr>
        <p:spPr>
          <a:xfrm>
            <a:off x="838200" y="2941828"/>
            <a:ext cx="4355155" cy="3341116"/>
          </a:xfrm>
        </p:spPr>
        <p:txBody>
          <a:bodyPr>
            <a:normAutofit/>
          </a:bodyPr>
          <a:lstStyle/>
          <a:p>
            <a:pPr marL="0" indent="0" algn="ctr">
              <a:buNone/>
            </a:pPr>
            <a:r>
              <a:rPr lang="en-US" sz="3200" dirty="0"/>
              <a:t>As you move through to complete the tables and as each method of contraception is discussed, don’t forget to consider the advantages (pros) and disadvantages (cons) of each method. </a:t>
            </a:r>
          </a:p>
        </p:txBody>
      </p:sp>
      <p:pic>
        <p:nvPicPr>
          <p:cNvPr id="9" name="Picture 8" descr="A white rectangular grid with black text&#10;&#10;Description automatically generated">
            <a:extLst>
              <a:ext uri="{FF2B5EF4-FFF2-40B4-BE49-F238E27FC236}">
                <a16:creationId xmlns:a16="http://schemas.microsoft.com/office/drawing/2014/main" id="{1CE24F90-293A-B27B-F0DE-1EADAB164D59}"/>
              </a:ext>
            </a:extLst>
          </p:cNvPr>
          <p:cNvPicPr>
            <a:picLocks noChangeAspect="1"/>
          </p:cNvPicPr>
          <p:nvPr/>
        </p:nvPicPr>
        <p:blipFill>
          <a:blip r:embed="rId3"/>
          <a:stretch>
            <a:fillRect/>
          </a:stretch>
        </p:blipFill>
        <p:spPr>
          <a:xfrm>
            <a:off x="5521797" y="2075265"/>
            <a:ext cx="4248150" cy="2407642"/>
          </a:xfrm>
          <a:prstGeom prst="rect">
            <a:avLst/>
          </a:prstGeom>
          <a:ln w="28575">
            <a:solidFill>
              <a:srgbClr val="7030A0"/>
            </a:solidFill>
          </a:ln>
        </p:spPr>
      </p:pic>
      <p:pic>
        <p:nvPicPr>
          <p:cNvPr id="7" name="Picture 6" descr="A chart with text on it&#10;&#10;Description automatically generated">
            <a:extLst>
              <a:ext uri="{FF2B5EF4-FFF2-40B4-BE49-F238E27FC236}">
                <a16:creationId xmlns:a16="http://schemas.microsoft.com/office/drawing/2014/main" id="{6F1BAEA2-F54F-9455-9390-930828FC1CCB}"/>
              </a:ext>
            </a:extLst>
          </p:cNvPr>
          <p:cNvPicPr>
            <a:picLocks noChangeAspect="1"/>
          </p:cNvPicPr>
          <p:nvPr/>
        </p:nvPicPr>
        <p:blipFill>
          <a:blip r:embed="rId4"/>
          <a:stretch>
            <a:fillRect/>
          </a:stretch>
        </p:blipFill>
        <p:spPr>
          <a:xfrm>
            <a:off x="6593090" y="2777322"/>
            <a:ext cx="4269551" cy="2803565"/>
          </a:xfrm>
          <a:prstGeom prst="rect">
            <a:avLst/>
          </a:prstGeom>
          <a:ln w="28575">
            <a:solidFill>
              <a:srgbClr val="7030A0"/>
            </a:solidFill>
          </a:ln>
        </p:spPr>
      </p:pic>
      <p:pic>
        <p:nvPicPr>
          <p:cNvPr id="5" name="Picture 4" descr="A chart with text on it&#10;&#10;Description automatically generated">
            <a:extLst>
              <a:ext uri="{FF2B5EF4-FFF2-40B4-BE49-F238E27FC236}">
                <a16:creationId xmlns:a16="http://schemas.microsoft.com/office/drawing/2014/main" id="{7F410362-54D3-055D-7E20-05F954EB9900}"/>
              </a:ext>
            </a:extLst>
          </p:cNvPr>
          <p:cNvPicPr>
            <a:picLocks noChangeAspect="1"/>
          </p:cNvPicPr>
          <p:nvPr/>
        </p:nvPicPr>
        <p:blipFill>
          <a:blip r:embed="rId5"/>
          <a:stretch>
            <a:fillRect/>
          </a:stretch>
        </p:blipFill>
        <p:spPr>
          <a:xfrm>
            <a:off x="7592369" y="3457978"/>
            <a:ext cx="4355156" cy="2824966"/>
          </a:xfrm>
          <a:prstGeom prst="rect">
            <a:avLst/>
          </a:prstGeom>
          <a:ln w="28575">
            <a:solidFill>
              <a:srgbClr val="7030A0"/>
            </a:solidFill>
          </a:ln>
        </p:spPr>
      </p:pic>
    </p:spTree>
    <p:extLst>
      <p:ext uri="{BB962C8B-B14F-4D97-AF65-F5344CB8AC3E}">
        <p14:creationId xmlns:p14="http://schemas.microsoft.com/office/powerpoint/2010/main" val="2176914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FA2E39B7-17D8-4009-A8BA-9E8D8EC1B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Graphic 33">
            <a:extLst>
              <a:ext uri="{FF2B5EF4-FFF2-40B4-BE49-F238E27FC236}">
                <a16:creationId xmlns:a16="http://schemas.microsoft.com/office/drawing/2014/main" id="{967EEEC4-6120-428D-8FB5-916920AEC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18417" y="0"/>
            <a:ext cx="9570431" cy="6858000"/>
          </a:xfrm>
          <a:custGeom>
            <a:avLst/>
            <a:gdLst>
              <a:gd name="connsiteX0" fmla="*/ 7178288 w 7187261"/>
              <a:gd name="connsiteY0" fmla="*/ 2604802 h 5150263"/>
              <a:gd name="connsiteX1" fmla="*/ 7169335 w 7187261"/>
              <a:gd name="connsiteY1" fmla="*/ 2328577 h 5150263"/>
              <a:gd name="connsiteX2" fmla="*/ 7060845 w 7187261"/>
              <a:gd name="connsiteY2" fmla="*/ 1661160 h 5150263"/>
              <a:gd name="connsiteX3" fmla="*/ 6212263 w 7187261"/>
              <a:gd name="connsiteY3" fmla="*/ 243840 h 5150263"/>
              <a:gd name="connsiteX4" fmla="*/ 5953564 w 7187261"/>
              <a:gd name="connsiteY4" fmla="*/ 0 h 5150263"/>
              <a:gd name="connsiteX5" fmla="*/ 1408615 w 7187261"/>
              <a:gd name="connsiteY5" fmla="*/ 0 h 5150263"/>
              <a:gd name="connsiteX6" fmla="*/ 805111 w 7187261"/>
              <a:gd name="connsiteY6" fmla="*/ 676275 h 5150263"/>
              <a:gd name="connsiteX7" fmla="*/ 104928 w 7187261"/>
              <a:gd name="connsiteY7" fmla="*/ 2183035 h 5150263"/>
              <a:gd name="connsiteX8" fmla="*/ 51588 w 7187261"/>
              <a:gd name="connsiteY8" fmla="*/ 2400014 h 5150263"/>
              <a:gd name="connsiteX9" fmla="*/ 41301 w 7187261"/>
              <a:gd name="connsiteY9" fmla="*/ 2424208 h 5150263"/>
              <a:gd name="connsiteX10" fmla="*/ 119692 w 7187261"/>
              <a:gd name="connsiteY10" fmla="*/ 1834801 h 5150263"/>
              <a:gd name="connsiteX11" fmla="*/ 870071 w 7187261"/>
              <a:gd name="connsiteY11" fmla="*/ 462248 h 5150263"/>
              <a:gd name="connsiteX12" fmla="*/ 1389279 w 7187261"/>
              <a:gd name="connsiteY12" fmla="*/ 476 h 5150263"/>
              <a:gd name="connsiteX13" fmla="*/ 1320223 w 7187261"/>
              <a:gd name="connsiteY13" fmla="*/ 476 h 5150263"/>
              <a:gd name="connsiteX14" fmla="*/ 423158 w 7187261"/>
              <a:gd name="connsiteY14" fmla="*/ 989743 h 5150263"/>
              <a:gd name="connsiteX15" fmla="*/ 25585 w 7187261"/>
              <a:gd name="connsiteY15" fmla="*/ 2113693 h 5150263"/>
              <a:gd name="connsiteX16" fmla="*/ 2344 w 7187261"/>
              <a:gd name="connsiteY16" fmla="*/ 2725865 h 5150263"/>
              <a:gd name="connsiteX17" fmla="*/ 447256 w 7187261"/>
              <a:gd name="connsiteY17" fmla="*/ 4210717 h 5150263"/>
              <a:gd name="connsiteX18" fmla="*/ 1138962 w 7187261"/>
              <a:gd name="connsiteY18" fmla="*/ 4988910 h 5150263"/>
              <a:gd name="connsiteX19" fmla="*/ 1348512 w 7187261"/>
              <a:gd name="connsiteY19" fmla="*/ 5146834 h 5150263"/>
              <a:gd name="connsiteX20" fmla="*/ 1422712 w 7187261"/>
              <a:gd name="connsiteY20" fmla="*/ 5146834 h 5150263"/>
              <a:gd name="connsiteX21" fmla="*/ 480594 w 7187261"/>
              <a:gd name="connsiteY21" fmla="*/ 4187952 h 5150263"/>
              <a:gd name="connsiteX22" fmla="*/ 398679 w 7187261"/>
              <a:gd name="connsiteY22" fmla="*/ 4046125 h 5150263"/>
              <a:gd name="connsiteX23" fmla="*/ 411823 w 7187261"/>
              <a:gd name="connsiteY23" fmla="*/ 4053078 h 5150263"/>
              <a:gd name="connsiteX24" fmla="*/ 1439380 w 7187261"/>
              <a:gd name="connsiteY24" fmla="*/ 5147405 h 5150263"/>
              <a:gd name="connsiteX25" fmla="*/ 5710010 w 7187261"/>
              <a:gd name="connsiteY25" fmla="*/ 5150263 h 5150263"/>
              <a:gd name="connsiteX26" fmla="*/ 5999665 w 7187261"/>
              <a:gd name="connsiteY26" fmla="*/ 4910900 h 5150263"/>
              <a:gd name="connsiteX27" fmla="*/ 6954165 w 7187261"/>
              <a:gd name="connsiteY27" fmla="*/ 3545777 h 5150263"/>
              <a:gd name="connsiteX28" fmla="*/ 7137712 w 7187261"/>
              <a:gd name="connsiteY28" fmla="*/ 2799207 h 5150263"/>
              <a:gd name="connsiteX29" fmla="*/ 7142951 w 7187261"/>
              <a:gd name="connsiteY29" fmla="*/ 2754535 h 5150263"/>
              <a:gd name="connsiteX30" fmla="*/ 7149428 w 7187261"/>
              <a:gd name="connsiteY30" fmla="*/ 2774823 h 5150263"/>
              <a:gd name="connsiteX31" fmla="*/ 7066465 w 7187261"/>
              <a:gd name="connsiteY31" fmla="*/ 3465672 h 5150263"/>
              <a:gd name="connsiteX32" fmla="*/ 6452578 w 7187261"/>
              <a:gd name="connsiteY32" fmla="*/ 4552760 h 5150263"/>
              <a:gd name="connsiteX33" fmla="*/ 5752110 w 7187261"/>
              <a:gd name="connsiteY33" fmla="*/ 5150263 h 5150263"/>
              <a:gd name="connsiteX34" fmla="*/ 5827643 w 7187261"/>
              <a:gd name="connsiteY34" fmla="*/ 5150263 h 5150263"/>
              <a:gd name="connsiteX35" fmla="*/ 6642793 w 7187261"/>
              <a:gd name="connsiteY35" fmla="*/ 4389406 h 5150263"/>
              <a:gd name="connsiteX36" fmla="*/ 7102469 w 7187261"/>
              <a:gd name="connsiteY36" fmla="*/ 3490817 h 5150263"/>
              <a:gd name="connsiteX37" fmla="*/ 7187242 w 7187261"/>
              <a:gd name="connsiteY37" fmla="*/ 2990183 h 5150263"/>
              <a:gd name="connsiteX38" fmla="*/ 7178288 w 7187261"/>
              <a:gd name="connsiteY38" fmla="*/ 2604802 h 5150263"/>
              <a:gd name="connsiteX39" fmla="*/ 6342565 w 7187261"/>
              <a:gd name="connsiteY39" fmla="*/ 441389 h 5150263"/>
              <a:gd name="connsiteX40" fmla="*/ 7126567 w 7187261"/>
              <a:gd name="connsiteY40" fmla="*/ 2355056 h 5150263"/>
              <a:gd name="connsiteX41" fmla="*/ 6342565 w 7187261"/>
              <a:gd name="connsiteY41" fmla="*/ 441389 h 5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187261" h="5150263">
                <a:moveTo>
                  <a:pt x="7178288" y="2604802"/>
                </a:moveTo>
                <a:cubicBezTo>
                  <a:pt x="7168763" y="2513076"/>
                  <a:pt x="7174478" y="2420684"/>
                  <a:pt x="7169335" y="2328577"/>
                </a:cubicBezTo>
                <a:cubicBezTo>
                  <a:pt x="7156952" y="2102882"/>
                  <a:pt x="7120586" y="1879149"/>
                  <a:pt x="7060845" y="1661160"/>
                </a:cubicBezTo>
                <a:cubicBezTo>
                  <a:pt x="6910588" y="1121007"/>
                  <a:pt x="6617428" y="631374"/>
                  <a:pt x="6212263" y="243840"/>
                </a:cubicBezTo>
                <a:cubicBezTo>
                  <a:pt x="6126538" y="162496"/>
                  <a:pt x="6040813" y="80201"/>
                  <a:pt x="5953564" y="0"/>
                </a:cubicBezTo>
                <a:lnTo>
                  <a:pt x="1408615" y="0"/>
                </a:lnTo>
                <a:cubicBezTo>
                  <a:pt x="1180967" y="200316"/>
                  <a:pt x="978332" y="427387"/>
                  <a:pt x="805111" y="676275"/>
                </a:cubicBezTo>
                <a:cubicBezTo>
                  <a:pt x="481261" y="1136523"/>
                  <a:pt x="252089" y="1640872"/>
                  <a:pt x="104928" y="2183035"/>
                </a:cubicBezTo>
                <a:cubicBezTo>
                  <a:pt x="85878" y="2254853"/>
                  <a:pt x="69495" y="2327720"/>
                  <a:pt x="51588" y="2400014"/>
                </a:cubicBezTo>
                <a:cubicBezTo>
                  <a:pt x="49683" y="2407634"/>
                  <a:pt x="51588" y="2416969"/>
                  <a:pt x="41301" y="2424208"/>
                </a:cubicBezTo>
                <a:cubicBezTo>
                  <a:pt x="45900" y="2225469"/>
                  <a:pt x="72186" y="2027834"/>
                  <a:pt x="119692" y="1834801"/>
                </a:cubicBezTo>
                <a:cubicBezTo>
                  <a:pt x="247993" y="1310926"/>
                  <a:pt x="506121" y="857726"/>
                  <a:pt x="870071" y="462248"/>
                </a:cubicBezTo>
                <a:cubicBezTo>
                  <a:pt x="1027729" y="291823"/>
                  <a:pt x="1201617" y="137169"/>
                  <a:pt x="1389279" y="476"/>
                </a:cubicBezTo>
                <a:lnTo>
                  <a:pt x="1320223" y="476"/>
                </a:lnTo>
                <a:cubicBezTo>
                  <a:pt x="960844" y="274320"/>
                  <a:pt x="656330" y="599123"/>
                  <a:pt x="423158" y="989743"/>
                </a:cubicBezTo>
                <a:cubicBezTo>
                  <a:pt x="215608" y="1337596"/>
                  <a:pt x="80258" y="1711357"/>
                  <a:pt x="25585" y="2113693"/>
                </a:cubicBezTo>
                <a:cubicBezTo>
                  <a:pt x="-2705" y="2316480"/>
                  <a:pt x="-2228" y="2521077"/>
                  <a:pt x="2344" y="2725865"/>
                </a:cubicBezTo>
                <a:cubicBezTo>
                  <a:pt x="14155" y="3261932"/>
                  <a:pt x="170650" y="3754565"/>
                  <a:pt x="447256" y="4210717"/>
                </a:cubicBezTo>
                <a:cubicBezTo>
                  <a:pt x="629851" y="4511612"/>
                  <a:pt x="866356" y="4767167"/>
                  <a:pt x="1138962" y="4988910"/>
                </a:cubicBezTo>
                <a:cubicBezTo>
                  <a:pt x="1207161" y="5044345"/>
                  <a:pt x="1277008" y="5096990"/>
                  <a:pt x="1348512" y="5146834"/>
                </a:cubicBezTo>
                <a:lnTo>
                  <a:pt x="1422712" y="5146834"/>
                </a:lnTo>
                <a:cubicBezTo>
                  <a:pt x="1043426" y="4892802"/>
                  <a:pt x="724720" y="4577334"/>
                  <a:pt x="480594" y="4187952"/>
                </a:cubicBezTo>
                <a:cubicBezTo>
                  <a:pt x="452019" y="4141851"/>
                  <a:pt x="423444" y="4095179"/>
                  <a:pt x="398679" y="4046125"/>
                </a:cubicBezTo>
                <a:cubicBezTo>
                  <a:pt x="407442" y="4043267"/>
                  <a:pt x="409156" y="4048982"/>
                  <a:pt x="411823" y="4053078"/>
                </a:cubicBezTo>
                <a:cubicBezTo>
                  <a:pt x="683572" y="4484656"/>
                  <a:pt x="1033139" y="4842701"/>
                  <a:pt x="1439380" y="5147405"/>
                </a:cubicBezTo>
                <a:lnTo>
                  <a:pt x="5710010" y="5150263"/>
                </a:lnTo>
                <a:cubicBezTo>
                  <a:pt x="5810594" y="5075482"/>
                  <a:pt x="5907272" y="4995587"/>
                  <a:pt x="5999665" y="4910900"/>
                </a:cubicBezTo>
                <a:cubicBezTo>
                  <a:pt x="6418765" y="4526661"/>
                  <a:pt x="6746901" y="4078129"/>
                  <a:pt x="6954165" y="3545777"/>
                </a:cubicBezTo>
                <a:cubicBezTo>
                  <a:pt x="7048234" y="3306175"/>
                  <a:pt x="7109956" y="3055115"/>
                  <a:pt x="7137712" y="2799207"/>
                </a:cubicBezTo>
                <a:cubicBezTo>
                  <a:pt x="7139236" y="2784920"/>
                  <a:pt x="7141046" y="2770632"/>
                  <a:pt x="7142951" y="2754535"/>
                </a:cubicBezTo>
                <a:cubicBezTo>
                  <a:pt x="7151714" y="2760440"/>
                  <a:pt x="7149237" y="2768441"/>
                  <a:pt x="7149428" y="2774823"/>
                </a:cubicBezTo>
                <a:cubicBezTo>
                  <a:pt x="7156743" y="3007967"/>
                  <a:pt x="7128777" y="3240881"/>
                  <a:pt x="7066465" y="3465672"/>
                </a:cubicBezTo>
                <a:cubicBezTo>
                  <a:pt x="6952165" y="3878580"/>
                  <a:pt x="6737948" y="4235863"/>
                  <a:pt x="6452578" y="4552760"/>
                </a:cubicBezTo>
                <a:cubicBezTo>
                  <a:pt x="6244553" y="4783836"/>
                  <a:pt x="6008809" y="4980242"/>
                  <a:pt x="5752110" y="5150263"/>
                </a:cubicBezTo>
                <a:lnTo>
                  <a:pt x="5827643" y="5150263"/>
                </a:lnTo>
                <a:cubicBezTo>
                  <a:pt x="6136539" y="4938904"/>
                  <a:pt x="6412192" y="4689348"/>
                  <a:pt x="6642793" y="4389406"/>
                </a:cubicBezTo>
                <a:cubicBezTo>
                  <a:pt x="6851295" y="4118324"/>
                  <a:pt x="7009125" y="3820859"/>
                  <a:pt x="7102469" y="3490817"/>
                </a:cubicBezTo>
                <a:cubicBezTo>
                  <a:pt x="7148646" y="3327473"/>
                  <a:pt x="7177069" y="3159624"/>
                  <a:pt x="7187242" y="2990183"/>
                </a:cubicBezTo>
                <a:cubicBezTo>
                  <a:pt x="7187623" y="2984087"/>
                  <a:pt x="7182384" y="2642330"/>
                  <a:pt x="7178288" y="2604802"/>
                </a:cubicBezTo>
                <a:close/>
                <a:moveTo>
                  <a:pt x="6342565" y="441389"/>
                </a:moveTo>
                <a:cubicBezTo>
                  <a:pt x="6829797" y="986533"/>
                  <a:pt x="7091135" y="1624422"/>
                  <a:pt x="7126567" y="2355056"/>
                </a:cubicBezTo>
                <a:cubicBezTo>
                  <a:pt x="7001123" y="1661827"/>
                  <a:pt x="6756426" y="1017365"/>
                  <a:pt x="6342565" y="441389"/>
                </a:cubicBezTo>
                <a:close/>
              </a:path>
            </a:pathLst>
          </a:custGeom>
          <a:solidFill>
            <a:schemeClr val="accent1"/>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B71BA2E5-8E6F-8D9E-8FBE-E6717C18664C}"/>
              </a:ext>
            </a:extLst>
          </p:cNvPr>
          <p:cNvSpPr>
            <a:spLocks noGrp="1"/>
          </p:cNvSpPr>
          <p:nvPr>
            <p:ph type="title"/>
          </p:nvPr>
        </p:nvSpPr>
        <p:spPr>
          <a:xfrm>
            <a:off x="4326188" y="0"/>
            <a:ext cx="3536576" cy="1739467"/>
          </a:xfrm>
        </p:spPr>
        <p:txBody>
          <a:bodyPr anchor="b">
            <a:normAutofit/>
          </a:bodyPr>
          <a:lstStyle/>
          <a:p>
            <a:pPr algn="ctr"/>
            <a:r>
              <a:rPr lang="en-US" sz="8800" b="1" dirty="0">
                <a:solidFill>
                  <a:srgbClr val="FFFFFF"/>
                </a:solidFill>
              </a:rPr>
              <a:t>IMPORTANT!</a:t>
            </a:r>
          </a:p>
        </p:txBody>
      </p:sp>
      <p:sp>
        <p:nvSpPr>
          <p:cNvPr id="3" name="Content Placeholder 2">
            <a:extLst>
              <a:ext uri="{FF2B5EF4-FFF2-40B4-BE49-F238E27FC236}">
                <a16:creationId xmlns:a16="http://schemas.microsoft.com/office/drawing/2014/main" id="{055D5E07-DC2C-C281-7C64-FE4E21E1B7B3}"/>
              </a:ext>
            </a:extLst>
          </p:cNvPr>
          <p:cNvSpPr>
            <a:spLocks noGrp="1"/>
          </p:cNvSpPr>
          <p:nvPr>
            <p:ph idx="1"/>
          </p:nvPr>
        </p:nvSpPr>
        <p:spPr>
          <a:xfrm>
            <a:off x="2220204" y="1739468"/>
            <a:ext cx="7811302" cy="4490362"/>
          </a:xfrm>
        </p:spPr>
        <p:txBody>
          <a:bodyPr>
            <a:normAutofit fontScale="92500" lnSpcReduction="10000"/>
          </a:bodyPr>
          <a:lstStyle/>
          <a:p>
            <a:pPr>
              <a:lnSpc>
                <a:spcPct val="100000"/>
              </a:lnSpc>
            </a:pPr>
            <a:r>
              <a:rPr lang="en-US" sz="2000" dirty="0">
                <a:latin typeface="Aptos" panose="020B0004020202020204" pitchFamily="34" charset="0"/>
              </a:rPr>
              <a:t>As we talk through this unit on sexual health, it is important to acknowledge that no two people are the same. </a:t>
            </a:r>
          </a:p>
          <a:p>
            <a:pPr>
              <a:lnSpc>
                <a:spcPct val="100000"/>
              </a:lnSpc>
            </a:pPr>
            <a:endParaRPr lang="en-US" sz="2000" dirty="0">
              <a:latin typeface="Aptos" panose="020B0004020202020204" pitchFamily="34" charset="0"/>
            </a:endParaRPr>
          </a:p>
          <a:p>
            <a:pPr>
              <a:lnSpc>
                <a:spcPct val="100000"/>
              </a:lnSpc>
            </a:pPr>
            <a:r>
              <a:rPr lang="en-US" sz="2000" dirty="0">
                <a:latin typeface="Aptos" panose="020B0004020202020204" pitchFamily="34" charset="0"/>
              </a:rPr>
              <a:t>Just as we all have different hair colour, skin colour, facial features etc., penis and vagina also vary greatly in shape, size and colour. </a:t>
            </a:r>
          </a:p>
          <a:p>
            <a:pPr>
              <a:lnSpc>
                <a:spcPct val="100000"/>
              </a:lnSpc>
            </a:pPr>
            <a:endParaRPr lang="en-US" sz="2000" dirty="0">
              <a:latin typeface="Aptos" panose="020B0004020202020204" pitchFamily="34" charset="0"/>
            </a:endParaRPr>
          </a:p>
          <a:p>
            <a:pPr>
              <a:lnSpc>
                <a:spcPct val="100000"/>
              </a:lnSpc>
            </a:pPr>
            <a:r>
              <a:rPr lang="en-US" sz="2000" dirty="0">
                <a:latin typeface="Aptos" panose="020B0004020202020204" pitchFamily="34" charset="0"/>
              </a:rPr>
              <a:t>As with contraceptive methods – everyone has their own preferences for various reasons (i.e., cost, ease of use, length of effectiveness, fit and comfort level etc.) and everyone will react differently or have different side-effects (particularly for hormonal methods). This is also why there are so many options available. </a:t>
            </a:r>
          </a:p>
          <a:p>
            <a:pPr>
              <a:lnSpc>
                <a:spcPct val="100000"/>
              </a:lnSpc>
            </a:pPr>
            <a:endParaRPr lang="en-US" sz="2000" dirty="0">
              <a:latin typeface="Aptos" panose="020B0004020202020204" pitchFamily="34" charset="0"/>
            </a:endParaRPr>
          </a:p>
          <a:p>
            <a:pPr>
              <a:lnSpc>
                <a:spcPct val="100000"/>
              </a:lnSpc>
            </a:pPr>
            <a:r>
              <a:rPr lang="en-US" sz="2000" dirty="0">
                <a:latin typeface="Aptos" panose="020B0004020202020204" pitchFamily="34" charset="0"/>
              </a:rPr>
              <a:t>There is no one perfect penis, vulva or method of contraception. </a:t>
            </a:r>
          </a:p>
        </p:txBody>
      </p:sp>
    </p:spTree>
    <p:extLst>
      <p:ext uri="{BB962C8B-B14F-4D97-AF65-F5344CB8AC3E}">
        <p14:creationId xmlns:p14="http://schemas.microsoft.com/office/powerpoint/2010/main" val="15378858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9D5F66-176A-D284-9E37-13377101B488}"/>
              </a:ext>
            </a:extLst>
          </p:cNvPr>
          <p:cNvSpPr>
            <a:spLocks noGrp="1"/>
          </p:cNvSpPr>
          <p:nvPr>
            <p:ph type="title"/>
          </p:nvPr>
        </p:nvSpPr>
        <p:spPr>
          <a:xfrm>
            <a:off x="630936" y="649224"/>
            <a:ext cx="4818888" cy="1481328"/>
          </a:xfrm>
        </p:spPr>
        <p:txBody>
          <a:bodyPr anchor="b">
            <a:normAutofit/>
          </a:bodyPr>
          <a:lstStyle/>
          <a:p>
            <a:r>
              <a:rPr lang="en-US" sz="5600" dirty="0">
                <a:solidFill>
                  <a:srgbClr val="FF0000"/>
                </a:solidFill>
              </a:rPr>
              <a:t>BARRIER METHODS:</a:t>
            </a:r>
          </a:p>
        </p:txBody>
      </p:sp>
      <p:sp>
        <p:nvSpPr>
          <p:cNvPr id="1033"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2386584"/>
            <a:ext cx="4114800" cy="18288"/>
          </a:xfrm>
          <a:custGeom>
            <a:avLst/>
            <a:gdLst>
              <a:gd name="connsiteX0" fmla="*/ 0 w 4114800"/>
              <a:gd name="connsiteY0" fmla="*/ 0 h 18288"/>
              <a:gd name="connsiteX1" fmla="*/ 768096 w 4114800"/>
              <a:gd name="connsiteY1" fmla="*/ 0 h 18288"/>
              <a:gd name="connsiteX2" fmla="*/ 1495044 w 4114800"/>
              <a:gd name="connsiteY2" fmla="*/ 0 h 18288"/>
              <a:gd name="connsiteX3" fmla="*/ 2221992 w 4114800"/>
              <a:gd name="connsiteY3" fmla="*/ 0 h 18288"/>
              <a:gd name="connsiteX4" fmla="*/ 2784348 w 4114800"/>
              <a:gd name="connsiteY4" fmla="*/ 0 h 18288"/>
              <a:gd name="connsiteX5" fmla="*/ 3387852 w 4114800"/>
              <a:gd name="connsiteY5" fmla="*/ 0 h 18288"/>
              <a:gd name="connsiteX6" fmla="*/ 4114800 w 4114800"/>
              <a:gd name="connsiteY6" fmla="*/ 0 h 18288"/>
              <a:gd name="connsiteX7" fmla="*/ 4114800 w 4114800"/>
              <a:gd name="connsiteY7" fmla="*/ 18288 h 18288"/>
              <a:gd name="connsiteX8" fmla="*/ 3429000 w 4114800"/>
              <a:gd name="connsiteY8" fmla="*/ 18288 h 18288"/>
              <a:gd name="connsiteX9" fmla="*/ 2866644 w 4114800"/>
              <a:gd name="connsiteY9" fmla="*/ 18288 h 18288"/>
              <a:gd name="connsiteX10" fmla="*/ 2304288 w 4114800"/>
              <a:gd name="connsiteY10" fmla="*/ 18288 h 18288"/>
              <a:gd name="connsiteX11" fmla="*/ 1577340 w 4114800"/>
              <a:gd name="connsiteY11" fmla="*/ 18288 h 18288"/>
              <a:gd name="connsiteX12" fmla="*/ 973836 w 4114800"/>
              <a:gd name="connsiteY12" fmla="*/ 18288 h 18288"/>
              <a:gd name="connsiteX13" fmla="*/ 0 w 4114800"/>
              <a:gd name="connsiteY13" fmla="*/ 18288 h 18288"/>
              <a:gd name="connsiteX14" fmla="*/ 0 w 411480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4800" h="18288" fill="none" extrusionOk="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w="4114800" h="18288" stroke="0" extrusionOk="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rgbClr val="FACA7B"/>
          </a:solidFill>
          <a:ln w="38100" cap="rnd">
            <a:solidFill>
              <a:srgbClr val="FACA7B"/>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48779AD-8338-FFA8-7169-02716D657F68}"/>
              </a:ext>
            </a:extLst>
          </p:cNvPr>
          <p:cNvSpPr>
            <a:spLocks noGrp="1"/>
          </p:cNvSpPr>
          <p:nvPr>
            <p:ph idx="1"/>
          </p:nvPr>
        </p:nvSpPr>
        <p:spPr>
          <a:xfrm>
            <a:off x="630936" y="2660904"/>
            <a:ext cx="4818888" cy="3547872"/>
          </a:xfrm>
        </p:spPr>
        <p:txBody>
          <a:bodyPr anchor="t">
            <a:normAutofit/>
          </a:bodyPr>
          <a:lstStyle/>
          <a:p>
            <a:r>
              <a:rPr lang="en-US" dirty="0"/>
              <a:t>Male condom (external)</a:t>
            </a:r>
          </a:p>
          <a:p>
            <a:r>
              <a:rPr lang="en-US" dirty="0"/>
              <a:t>Female condom (internal)</a:t>
            </a:r>
          </a:p>
          <a:p>
            <a:r>
              <a:rPr lang="en-US" dirty="0"/>
              <a:t>Diaphragm &amp; Cervical cap</a:t>
            </a:r>
          </a:p>
          <a:p>
            <a:r>
              <a:rPr lang="en-US" dirty="0"/>
              <a:t>Spermicide</a:t>
            </a:r>
          </a:p>
        </p:txBody>
      </p:sp>
      <mc:AlternateContent xmlns:mc="http://schemas.openxmlformats.org/markup-compatibility/2006" xmlns:p14="http://schemas.microsoft.com/office/powerpoint/2010/main">
        <mc:Choice Requires="p14">
          <p:contentPart p14:bwMode="auto" r:id="rId2">
            <p14:nvContentPartPr>
              <p14:cNvPr id="1035" name="Ink 103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5755403" y="1971579"/>
              <a:ext cx="360" cy="2160"/>
            </p14:xfrm>
          </p:contentPart>
        </mc:Choice>
        <mc:Fallback xmlns="">
          <p:pic>
            <p:nvPicPr>
              <p:cNvPr id="1035" name="Ink 103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3"/>
              <a:stretch>
                <a:fillRect/>
              </a:stretch>
            </p:blipFill>
            <p:spPr>
              <a:xfrm>
                <a:off x="5737403" y="1956150"/>
                <a:ext cx="36000" cy="32709"/>
              </a:xfrm>
              <a:prstGeom prst="rect">
                <a:avLst/>
              </a:prstGeom>
            </p:spPr>
          </p:pic>
        </mc:Fallback>
      </mc:AlternateContent>
      <p:pic>
        <p:nvPicPr>
          <p:cNvPr id="1026" name="Picture 2" descr="Finding the Best Birth Control for Your Lifestyle">
            <a:extLst>
              <a:ext uri="{FF2B5EF4-FFF2-40B4-BE49-F238E27FC236}">
                <a16:creationId xmlns:a16="http://schemas.microsoft.com/office/drawing/2014/main" id="{C8CB6DC5-0B16-499F-7B6A-BE3E728DB599}"/>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099048" y="938346"/>
            <a:ext cx="5458968" cy="4981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27150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49FBD-943D-B8BC-A7C6-1BF47CA3651C}"/>
              </a:ext>
            </a:extLst>
          </p:cNvPr>
          <p:cNvSpPr>
            <a:spLocks noGrp="1"/>
          </p:cNvSpPr>
          <p:nvPr>
            <p:ph type="title"/>
          </p:nvPr>
        </p:nvSpPr>
        <p:spPr/>
        <p:txBody>
          <a:bodyPr/>
          <a:lstStyle/>
          <a:p>
            <a:r>
              <a:rPr lang="en-US" dirty="0"/>
              <a:t>Male Condom</a:t>
            </a:r>
          </a:p>
        </p:txBody>
      </p:sp>
      <p:sp>
        <p:nvSpPr>
          <p:cNvPr id="3" name="Content Placeholder 2">
            <a:extLst>
              <a:ext uri="{FF2B5EF4-FFF2-40B4-BE49-F238E27FC236}">
                <a16:creationId xmlns:a16="http://schemas.microsoft.com/office/drawing/2014/main" id="{F7ECF7F0-A2AD-A7AC-80BE-63484A0B6769}"/>
              </a:ext>
            </a:extLst>
          </p:cNvPr>
          <p:cNvSpPr>
            <a:spLocks noGrp="1"/>
          </p:cNvSpPr>
          <p:nvPr>
            <p:ph idx="1"/>
          </p:nvPr>
        </p:nvSpPr>
        <p:spPr>
          <a:xfrm>
            <a:off x="838200" y="1929383"/>
            <a:ext cx="7754471" cy="4563491"/>
          </a:xfrm>
        </p:spPr>
        <p:txBody>
          <a:bodyPr>
            <a:normAutofit/>
          </a:bodyPr>
          <a:lstStyle/>
          <a:p>
            <a:pPr>
              <a:spcBef>
                <a:spcPct val="0"/>
              </a:spcBef>
            </a:pPr>
            <a:r>
              <a:rPr lang="en-GB" altLang="en-US" dirty="0">
                <a:cs typeface="Arial" panose="020B0604020202020204" pitchFamily="34" charset="0"/>
              </a:rPr>
              <a:t>O</a:t>
            </a:r>
            <a:r>
              <a:rPr kumimoji="0" lang="en-GB" altLang="en-US" sz="2800" dirty="0">
                <a:solidFill>
                  <a:schemeClr val="tx1"/>
                </a:solidFill>
                <a:cs typeface="Arial" panose="020B0604020202020204" pitchFamily="34" charset="0"/>
              </a:rPr>
              <a:t>nly method of contraception boys can use. </a:t>
            </a:r>
          </a:p>
          <a:p>
            <a:pPr>
              <a:spcBef>
                <a:spcPct val="0"/>
              </a:spcBef>
            </a:pPr>
            <a:r>
              <a:rPr kumimoji="0" lang="en-GB" altLang="en-US" sz="2800" dirty="0">
                <a:solidFill>
                  <a:schemeClr val="tx1"/>
                </a:solidFill>
                <a:cs typeface="Arial" panose="020B0604020202020204" pitchFamily="34" charset="0"/>
              </a:rPr>
              <a:t>It's really just a rubber, latex tube. </a:t>
            </a:r>
          </a:p>
          <a:p>
            <a:pPr>
              <a:spcBef>
                <a:spcPct val="0"/>
              </a:spcBef>
            </a:pPr>
            <a:r>
              <a:rPr kumimoji="0" lang="en-GB" altLang="en-US" sz="2800" dirty="0">
                <a:solidFill>
                  <a:schemeClr val="tx1"/>
                </a:solidFill>
                <a:cs typeface="Arial" panose="020B0604020202020204" pitchFamily="34" charset="0"/>
              </a:rPr>
              <a:t>It's closed at one end like the finger of a glove so that when a boy puts it over his penis it stops the sperm going inside a girl's body. </a:t>
            </a:r>
          </a:p>
          <a:p>
            <a:pPr>
              <a:spcBef>
                <a:spcPct val="0"/>
              </a:spcBef>
            </a:pPr>
            <a:r>
              <a:rPr kumimoji="0" lang="en-GB" altLang="en-US" sz="2800" dirty="0">
                <a:solidFill>
                  <a:schemeClr val="tx1"/>
                </a:solidFill>
                <a:cs typeface="Arial" panose="020B0604020202020204" pitchFamily="34" charset="0"/>
              </a:rPr>
              <a:t>It is a barrier method of contraception as it provides a barrier between the penis and the vagina and avoids any skin-to-skin contact.</a:t>
            </a:r>
          </a:p>
          <a:p>
            <a:pPr>
              <a:spcBef>
                <a:spcPct val="0"/>
              </a:spcBef>
            </a:pPr>
            <a:r>
              <a:rPr lang="en-GB" altLang="en-US" dirty="0">
                <a:cs typeface="Arial" panose="020B0604020202020204" pitchFamily="34" charset="0"/>
              </a:rPr>
              <a:t>Easily accessible.</a:t>
            </a:r>
            <a:endParaRPr kumimoji="0" lang="en-GB" altLang="en-US" sz="2800" dirty="0">
              <a:solidFill>
                <a:schemeClr val="tx1"/>
              </a:solidFill>
              <a:cs typeface="Arial" panose="020B0604020202020204" pitchFamily="34" charset="0"/>
            </a:endParaRPr>
          </a:p>
          <a:p>
            <a:pPr>
              <a:spcBef>
                <a:spcPct val="0"/>
              </a:spcBef>
            </a:pPr>
            <a:r>
              <a:rPr kumimoji="0" lang="en-GB" altLang="en-US" sz="2800" dirty="0">
                <a:solidFill>
                  <a:schemeClr val="tx1"/>
                </a:solidFill>
                <a:cs typeface="Arial" panose="020B0604020202020204" pitchFamily="34" charset="0"/>
              </a:rPr>
              <a:t>94 – 98% effective if used correctly. </a:t>
            </a:r>
          </a:p>
          <a:p>
            <a:pPr>
              <a:spcBef>
                <a:spcPct val="0"/>
              </a:spcBef>
            </a:pPr>
            <a:r>
              <a:rPr kumimoji="0" lang="en-GB" altLang="en-US" sz="2800" dirty="0">
                <a:solidFill>
                  <a:schemeClr val="tx1"/>
                </a:solidFill>
                <a:cs typeface="Arial" panose="020B0604020202020204" pitchFamily="34" charset="0"/>
              </a:rPr>
              <a:t>STI prevention.</a:t>
            </a:r>
          </a:p>
          <a:p>
            <a:endParaRPr lang="en-US" dirty="0"/>
          </a:p>
        </p:txBody>
      </p:sp>
      <p:pic>
        <p:nvPicPr>
          <p:cNvPr id="2050" name="Picture 2" descr="Condoms - Advantages and Disadvantages">
            <a:extLst>
              <a:ext uri="{FF2B5EF4-FFF2-40B4-BE49-F238E27FC236}">
                <a16:creationId xmlns:a16="http://schemas.microsoft.com/office/drawing/2014/main" id="{B3488FBF-4AD6-82F3-9834-1E854846B5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3893" y="4718468"/>
            <a:ext cx="3018778" cy="203195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Condoms: Birth Control, Types, How They Work &amp; Effectiveness">
            <a:extLst>
              <a:ext uri="{FF2B5EF4-FFF2-40B4-BE49-F238E27FC236}">
                <a16:creationId xmlns:a16="http://schemas.microsoft.com/office/drawing/2014/main" id="{F092B725-75AC-87F6-8D95-F08AD454C8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18661" y="1821807"/>
            <a:ext cx="3018778" cy="4928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89407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08FAD-A9F0-13A7-CF25-0F5C48412627}"/>
              </a:ext>
            </a:extLst>
          </p:cNvPr>
          <p:cNvSpPr>
            <a:spLocks noGrp="1"/>
          </p:cNvSpPr>
          <p:nvPr>
            <p:ph type="title"/>
          </p:nvPr>
        </p:nvSpPr>
        <p:spPr/>
        <p:txBody>
          <a:bodyPr/>
          <a:lstStyle/>
          <a:p>
            <a:r>
              <a:rPr lang="en-US" dirty="0"/>
              <a:t>FEMALE CONDOM</a:t>
            </a:r>
          </a:p>
        </p:txBody>
      </p:sp>
      <p:sp>
        <p:nvSpPr>
          <p:cNvPr id="3" name="Content Placeholder 2">
            <a:extLst>
              <a:ext uri="{FF2B5EF4-FFF2-40B4-BE49-F238E27FC236}">
                <a16:creationId xmlns:a16="http://schemas.microsoft.com/office/drawing/2014/main" id="{F4066B16-396D-A6D7-29B6-B320D1134C01}"/>
              </a:ext>
            </a:extLst>
          </p:cNvPr>
          <p:cNvSpPr>
            <a:spLocks noGrp="1"/>
          </p:cNvSpPr>
          <p:nvPr>
            <p:ph idx="1"/>
          </p:nvPr>
        </p:nvSpPr>
        <p:spPr>
          <a:xfrm>
            <a:off x="838199" y="1929383"/>
            <a:ext cx="6193669" cy="4563491"/>
          </a:xfrm>
        </p:spPr>
        <p:txBody>
          <a:bodyPr/>
          <a:lstStyle/>
          <a:p>
            <a:r>
              <a:rPr lang="en-US" dirty="0"/>
              <a:t>Not as widely available as the male condom and is more expensive.</a:t>
            </a:r>
          </a:p>
          <a:p>
            <a:r>
              <a:rPr lang="en-US" dirty="0"/>
              <a:t>The closed end gets inserted into the vagina, and the penis enters </a:t>
            </a:r>
            <a:br>
              <a:rPr lang="en-US" dirty="0"/>
            </a:br>
            <a:r>
              <a:rPr lang="en-US" dirty="0"/>
              <a:t>through the open end. </a:t>
            </a:r>
          </a:p>
          <a:p>
            <a:r>
              <a:rPr lang="en-US" dirty="0"/>
              <a:t>It also puts a barrier between the penis and the vagina and </a:t>
            </a:r>
            <a:br>
              <a:rPr lang="en-US" dirty="0"/>
            </a:br>
            <a:r>
              <a:rPr lang="en-US" dirty="0"/>
              <a:t>therefore, prevents sperm from entering the female body.</a:t>
            </a:r>
          </a:p>
          <a:p>
            <a:r>
              <a:rPr lang="en-US" dirty="0"/>
              <a:t>95% effective if used correctly.</a:t>
            </a:r>
          </a:p>
          <a:p>
            <a:r>
              <a:rPr lang="en-US" dirty="0"/>
              <a:t>STI prevention.</a:t>
            </a:r>
          </a:p>
        </p:txBody>
      </p:sp>
      <p:pic>
        <p:nvPicPr>
          <p:cNvPr id="3074" name="Picture 2" descr="The Female Condom Gets a New Name">
            <a:extLst>
              <a:ext uri="{FF2B5EF4-FFF2-40B4-BE49-F238E27FC236}">
                <a16:creationId xmlns:a16="http://schemas.microsoft.com/office/drawing/2014/main" id="{F7636E9A-F47B-7CA0-A230-D0C1A9AC934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763"/>
          <a:stretch/>
        </p:blipFill>
        <p:spPr bwMode="auto">
          <a:xfrm>
            <a:off x="4954458" y="4736406"/>
            <a:ext cx="2283084" cy="199516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1">
            <a:extLst>
              <a:ext uri="{FF2B5EF4-FFF2-40B4-BE49-F238E27FC236}">
                <a16:creationId xmlns:a16="http://schemas.microsoft.com/office/drawing/2014/main" id="{A4001B85-51BF-8DB7-D2A7-DA0900D3CBF4}"/>
              </a:ext>
            </a:extLst>
          </p:cNvPr>
          <p:cNvPicPr>
            <a:picLocks noChangeAspect="1"/>
          </p:cNvPicPr>
          <p:nvPr/>
        </p:nvPicPr>
        <p:blipFill>
          <a:blip r:embed="rId3">
            <a:extLst>
              <a:ext uri="{28A0092B-C50C-407E-A947-70E740481C1C}">
                <a14:useLocalDpi xmlns:a14="http://schemas.microsoft.com/office/drawing/2010/main" val="0"/>
              </a:ext>
            </a:extLst>
          </a:blip>
          <a:srcRect l="2238" r="1199" b="2042"/>
          <a:stretch>
            <a:fillRect/>
          </a:stretch>
        </p:blipFill>
        <p:spPr bwMode="auto">
          <a:xfrm>
            <a:off x="7461504" y="1929383"/>
            <a:ext cx="4378261" cy="4142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375009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567A3-5494-4E62-B963-4B90A415C6C6}"/>
              </a:ext>
            </a:extLst>
          </p:cNvPr>
          <p:cNvSpPr>
            <a:spLocks noGrp="1"/>
          </p:cNvSpPr>
          <p:nvPr>
            <p:ph type="title"/>
          </p:nvPr>
        </p:nvSpPr>
        <p:spPr/>
        <p:txBody>
          <a:bodyPr/>
          <a:lstStyle/>
          <a:p>
            <a:r>
              <a:rPr lang="en-US" dirty="0"/>
              <a:t>What you need to know about Condoms:</a:t>
            </a:r>
          </a:p>
        </p:txBody>
      </p:sp>
      <p:sp>
        <p:nvSpPr>
          <p:cNvPr id="3" name="Content Placeholder 2">
            <a:extLst>
              <a:ext uri="{FF2B5EF4-FFF2-40B4-BE49-F238E27FC236}">
                <a16:creationId xmlns:a16="http://schemas.microsoft.com/office/drawing/2014/main" id="{5A89FCE5-47C8-A9AB-8252-1EDE1BF8F169}"/>
              </a:ext>
            </a:extLst>
          </p:cNvPr>
          <p:cNvSpPr>
            <a:spLocks noGrp="1"/>
          </p:cNvSpPr>
          <p:nvPr>
            <p:ph idx="1"/>
          </p:nvPr>
        </p:nvSpPr>
        <p:spPr/>
        <p:txBody>
          <a:bodyPr/>
          <a:lstStyle/>
          <a:p>
            <a:endParaRPr lang="en-US"/>
          </a:p>
        </p:txBody>
      </p:sp>
      <p:pic>
        <p:nvPicPr>
          <p:cNvPr id="4" name="Online Media 3" title="What you need know about condoms">
            <a:hlinkClick r:id="" action="ppaction://media"/>
            <a:extLst>
              <a:ext uri="{FF2B5EF4-FFF2-40B4-BE49-F238E27FC236}">
                <a16:creationId xmlns:a16="http://schemas.microsoft.com/office/drawing/2014/main" id="{0BF5E128-541A-E5B1-66B8-DF7820BDBB9F}"/>
              </a:ext>
            </a:extLst>
          </p:cNvPr>
          <p:cNvPicPr>
            <a:picLocks noRot="1" noChangeAspect="1"/>
          </p:cNvPicPr>
          <p:nvPr>
            <a:videoFile r:link="rId1"/>
          </p:nvPr>
        </p:nvPicPr>
        <p:blipFill>
          <a:blip r:embed="rId4"/>
          <a:stretch>
            <a:fillRect/>
          </a:stretch>
        </p:blipFill>
        <p:spPr>
          <a:xfrm>
            <a:off x="1545384" y="1929384"/>
            <a:ext cx="9101231" cy="4868008"/>
          </a:xfrm>
          <a:prstGeom prst="rect">
            <a:avLst/>
          </a:prstGeom>
        </p:spPr>
      </p:pic>
    </p:spTree>
    <p:extLst>
      <p:ext uri="{BB962C8B-B14F-4D97-AF65-F5344CB8AC3E}">
        <p14:creationId xmlns:p14="http://schemas.microsoft.com/office/powerpoint/2010/main" val="3684657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vol="80000">
                <p:cTn id="12" fill="hold" display="0">
                  <p:stCondLst>
                    <p:cond delay="indefinite"/>
                  </p:stCondLst>
                </p:cTn>
                <p:tgtEl>
                  <p:spTgt spid="4"/>
                </p:tgtEl>
              </p:cMediaNode>
            </p:video>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272C9-DBCF-1B4A-F222-AA514A077048}"/>
              </a:ext>
            </a:extLst>
          </p:cNvPr>
          <p:cNvSpPr>
            <a:spLocks noGrp="1"/>
          </p:cNvSpPr>
          <p:nvPr>
            <p:ph type="title"/>
          </p:nvPr>
        </p:nvSpPr>
        <p:spPr/>
        <p:txBody>
          <a:bodyPr/>
          <a:lstStyle/>
          <a:p>
            <a:r>
              <a:rPr lang="en-US" dirty="0"/>
              <a:t>DIAPHRAGM &amp; Cervical Cap</a:t>
            </a:r>
          </a:p>
        </p:txBody>
      </p:sp>
      <p:sp>
        <p:nvSpPr>
          <p:cNvPr id="3" name="Content Placeholder 2">
            <a:extLst>
              <a:ext uri="{FF2B5EF4-FFF2-40B4-BE49-F238E27FC236}">
                <a16:creationId xmlns:a16="http://schemas.microsoft.com/office/drawing/2014/main" id="{9C41E7C7-9CF5-C6C8-4C2C-8DEBA9A01DA8}"/>
              </a:ext>
            </a:extLst>
          </p:cNvPr>
          <p:cNvSpPr>
            <a:spLocks noGrp="1"/>
          </p:cNvSpPr>
          <p:nvPr>
            <p:ph idx="1"/>
          </p:nvPr>
        </p:nvSpPr>
        <p:spPr/>
        <p:txBody>
          <a:bodyPr/>
          <a:lstStyle/>
          <a:p>
            <a:r>
              <a:rPr lang="en-US" dirty="0"/>
              <a:t>Puts a barrier covering the cervix so that sperm cannot enter the uterus. </a:t>
            </a:r>
          </a:p>
          <a:p>
            <a:r>
              <a:rPr lang="en-US" dirty="0"/>
              <a:t>A shallow dome of silicone with a firm, flexible rim. </a:t>
            </a:r>
          </a:p>
          <a:p>
            <a:r>
              <a:rPr lang="en-US" dirty="0"/>
              <a:t>Must be left in place for at least 6 hours after sex. </a:t>
            </a:r>
          </a:p>
          <a:p>
            <a:r>
              <a:rPr lang="en-US" dirty="0"/>
              <a:t>92% – 96% effective when used perfectly and with a spermicide.</a:t>
            </a:r>
          </a:p>
          <a:p>
            <a:r>
              <a:rPr lang="en-US" dirty="0"/>
              <a:t>Does not prevent STI’s.</a:t>
            </a:r>
          </a:p>
        </p:txBody>
      </p:sp>
      <p:pic>
        <p:nvPicPr>
          <p:cNvPr id="1026" name="Picture 2" descr="Contraceptive diaphragm and cervical cap colored flat style icons. Birth  control methods. Safe sex vector elements. Contraception items Stock Vector  | Adobe Stock">
            <a:extLst>
              <a:ext uri="{FF2B5EF4-FFF2-40B4-BE49-F238E27FC236}">
                <a16:creationId xmlns:a16="http://schemas.microsoft.com/office/drawing/2014/main" id="{9BEC31A6-D0A4-F78D-E1E4-43EE32DD69F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699" t="22895" r="11650" b="17066"/>
          <a:stretch/>
        </p:blipFill>
        <p:spPr bwMode="auto">
          <a:xfrm>
            <a:off x="503041" y="5035369"/>
            <a:ext cx="3789048" cy="156123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ontraceptive diaphragm or cap - NHS">
            <a:extLst>
              <a:ext uri="{FF2B5EF4-FFF2-40B4-BE49-F238E27FC236}">
                <a16:creationId xmlns:a16="http://schemas.microsoft.com/office/drawing/2014/main" id="{A1F4DE54-6CF3-EA6B-1A60-4CAEA70E36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69331" y="4532094"/>
            <a:ext cx="3273016" cy="2260427"/>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Nonhormonal birth control: All the options - Flo">
            <a:hlinkClick r:id="rId5"/>
            <a:extLst>
              <a:ext uri="{FF2B5EF4-FFF2-40B4-BE49-F238E27FC236}">
                <a16:creationId xmlns:a16="http://schemas.microsoft.com/office/drawing/2014/main" id="{9A37201F-8444-40BF-E073-F12C1ED6F9C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42911" y="2032970"/>
            <a:ext cx="3010889" cy="2260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78005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88F75-9998-E6E4-D804-20ABC8A566BB}"/>
              </a:ext>
            </a:extLst>
          </p:cNvPr>
          <p:cNvSpPr>
            <a:spLocks noGrp="1"/>
          </p:cNvSpPr>
          <p:nvPr>
            <p:ph type="title"/>
          </p:nvPr>
        </p:nvSpPr>
        <p:spPr/>
        <p:txBody>
          <a:bodyPr/>
          <a:lstStyle/>
          <a:p>
            <a:r>
              <a:rPr lang="en-US" dirty="0"/>
              <a:t>SPERMICIDE</a:t>
            </a:r>
          </a:p>
        </p:txBody>
      </p:sp>
      <p:sp>
        <p:nvSpPr>
          <p:cNvPr id="3" name="Content Placeholder 2">
            <a:extLst>
              <a:ext uri="{FF2B5EF4-FFF2-40B4-BE49-F238E27FC236}">
                <a16:creationId xmlns:a16="http://schemas.microsoft.com/office/drawing/2014/main" id="{EAECE8C9-FDC2-2F85-8509-1C217A23CCDA}"/>
              </a:ext>
            </a:extLst>
          </p:cNvPr>
          <p:cNvSpPr>
            <a:spLocks noGrp="1"/>
          </p:cNvSpPr>
          <p:nvPr>
            <p:ph idx="1"/>
          </p:nvPr>
        </p:nvSpPr>
        <p:spPr>
          <a:xfrm>
            <a:off x="838200" y="1929383"/>
            <a:ext cx="9476232" cy="4563491"/>
          </a:xfrm>
        </p:spPr>
        <p:txBody>
          <a:bodyPr>
            <a:normAutofit lnSpcReduction="10000"/>
          </a:bodyPr>
          <a:lstStyle/>
          <a:p>
            <a:pPr eaLnBrk="1" hangingPunct="1">
              <a:defRPr/>
            </a:pPr>
            <a:r>
              <a:rPr lang="en-GB" sz="2800" dirty="0">
                <a:ea typeface="+mn-ea"/>
                <a:cs typeface="Arial" charset="0"/>
              </a:rPr>
              <a:t>Come in several different forms: cream, gel and foam. </a:t>
            </a:r>
          </a:p>
          <a:p>
            <a:pPr eaLnBrk="1" hangingPunct="1">
              <a:defRPr/>
            </a:pPr>
            <a:r>
              <a:rPr lang="en-GB" sz="2800" dirty="0">
                <a:ea typeface="+mn-ea"/>
                <a:cs typeface="Arial" charset="0"/>
              </a:rPr>
              <a:t>Most spermicides contain nonoxynol-9, a chemical that </a:t>
            </a:r>
            <a:r>
              <a:rPr lang="en-GB" dirty="0">
                <a:cs typeface="Arial" charset="0"/>
              </a:rPr>
              <a:t>blocks the </a:t>
            </a:r>
            <a:r>
              <a:rPr lang="en-GB" sz="2800" dirty="0">
                <a:ea typeface="+mn-ea"/>
                <a:cs typeface="Arial" charset="0"/>
              </a:rPr>
              <a:t>sperm. </a:t>
            </a:r>
          </a:p>
          <a:p>
            <a:pPr eaLnBrk="1" hangingPunct="1">
              <a:defRPr/>
            </a:pPr>
            <a:r>
              <a:rPr lang="en-GB" dirty="0">
                <a:cs typeface="Arial" charset="0"/>
              </a:rPr>
              <a:t>Up to</a:t>
            </a:r>
            <a:r>
              <a:rPr lang="en-GB" sz="2800" dirty="0">
                <a:ea typeface="+mn-ea"/>
                <a:cs typeface="Arial" charset="0"/>
              </a:rPr>
              <a:t> </a:t>
            </a:r>
            <a:r>
              <a:rPr lang="en-GB" dirty="0">
                <a:cs typeface="Arial" charset="0"/>
              </a:rPr>
              <a:t>7</a:t>
            </a:r>
            <a:r>
              <a:rPr lang="en-GB" sz="2800" dirty="0">
                <a:ea typeface="+mn-ea"/>
                <a:cs typeface="Arial" charset="0"/>
              </a:rPr>
              <a:t>0% effective on their own. Can be inserted into the vagina.</a:t>
            </a:r>
          </a:p>
          <a:p>
            <a:pPr>
              <a:defRPr/>
            </a:pPr>
            <a:r>
              <a:rPr lang="en-GB" sz="2800" dirty="0">
                <a:ea typeface="+mn-ea"/>
                <a:cs typeface="Arial" charset="0"/>
              </a:rPr>
              <a:t>Spermicides can be used alone but are more effective when used with another method of birth control, such as a condom or diaphragm.</a:t>
            </a:r>
          </a:p>
          <a:p>
            <a:pPr eaLnBrk="1" hangingPunct="1">
              <a:defRPr/>
            </a:pPr>
            <a:r>
              <a:rPr lang="en-GB" sz="2800" dirty="0">
                <a:ea typeface="+mn-ea"/>
                <a:cs typeface="Arial" charset="0"/>
              </a:rPr>
              <a:t>Very little side effects.</a:t>
            </a:r>
          </a:p>
          <a:p>
            <a:pPr eaLnBrk="1" hangingPunct="1">
              <a:defRPr/>
            </a:pPr>
            <a:r>
              <a:rPr lang="en-GB" dirty="0">
                <a:cs typeface="Arial" charset="0"/>
              </a:rPr>
              <a:t>Must follow instructions properly. </a:t>
            </a:r>
            <a:endParaRPr lang="en-GB" sz="2800" dirty="0">
              <a:ea typeface="+mn-ea"/>
              <a:cs typeface="Arial" charset="0"/>
            </a:endParaRPr>
          </a:p>
          <a:p>
            <a:r>
              <a:rPr lang="en-GB" dirty="0">
                <a:cs typeface="Arial" charset="0"/>
              </a:rPr>
              <a:t>Does not prevent STI’s.</a:t>
            </a:r>
            <a:endParaRPr lang="en-US" dirty="0"/>
          </a:p>
        </p:txBody>
      </p:sp>
      <p:pic>
        <p:nvPicPr>
          <p:cNvPr id="3074" name="Picture 2" descr="Contraception – vaginal gel">
            <a:extLst>
              <a:ext uri="{FF2B5EF4-FFF2-40B4-BE49-F238E27FC236}">
                <a16:creationId xmlns:a16="http://schemas.microsoft.com/office/drawing/2014/main" id="{76A05A52-4E4F-ED86-BEF6-94D78CFD28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6353" y="4184276"/>
            <a:ext cx="5347447" cy="26737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4558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9D5F66-176A-D284-9E37-13377101B488}"/>
              </a:ext>
            </a:extLst>
          </p:cNvPr>
          <p:cNvSpPr>
            <a:spLocks noGrp="1"/>
          </p:cNvSpPr>
          <p:nvPr>
            <p:ph type="title"/>
          </p:nvPr>
        </p:nvSpPr>
        <p:spPr>
          <a:xfrm>
            <a:off x="630936" y="640080"/>
            <a:ext cx="4818888" cy="1481328"/>
          </a:xfrm>
        </p:spPr>
        <p:txBody>
          <a:bodyPr anchor="b">
            <a:normAutofit/>
          </a:bodyPr>
          <a:lstStyle/>
          <a:p>
            <a:r>
              <a:rPr lang="en-US" sz="5600" dirty="0">
                <a:solidFill>
                  <a:srgbClr val="00B050"/>
                </a:solidFill>
              </a:rPr>
              <a:t>HORMONAL METHODS:</a:t>
            </a:r>
          </a:p>
        </p:txBody>
      </p:sp>
      <p:sp>
        <p:nvSpPr>
          <p:cNvPr id="1033"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2386584"/>
            <a:ext cx="4114800" cy="18288"/>
          </a:xfrm>
          <a:custGeom>
            <a:avLst/>
            <a:gdLst>
              <a:gd name="connsiteX0" fmla="*/ 0 w 4114800"/>
              <a:gd name="connsiteY0" fmla="*/ 0 h 18288"/>
              <a:gd name="connsiteX1" fmla="*/ 768096 w 4114800"/>
              <a:gd name="connsiteY1" fmla="*/ 0 h 18288"/>
              <a:gd name="connsiteX2" fmla="*/ 1495044 w 4114800"/>
              <a:gd name="connsiteY2" fmla="*/ 0 h 18288"/>
              <a:gd name="connsiteX3" fmla="*/ 2221992 w 4114800"/>
              <a:gd name="connsiteY3" fmla="*/ 0 h 18288"/>
              <a:gd name="connsiteX4" fmla="*/ 2784348 w 4114800"/>
              <a:gd name="connsiteY4" fmla="*/ 0 h 18288"/>
              <a:gd name="connsiteX5" fmla="*/ 3387852 w 4114800"/>
              <a:gd name="connsiteY5" fmla="*/ 0 h 18288"/>
              <a:gd name="connsiteX6" fmla="*/ 4114800 w 4114800"/>
              <a:gd name="connsiteY6" fmla="*/ 0 h 18288"/>
              <a:gd name="connsiteX7" fmla="*/ 4114800 w 4114800"/>
              <a:gd name="connsiteY7" fmla="*/ 18288 h 18288"/>
              <a:gd name="connsiteX8" fmla="*/ 3429000 w 4114800"/>
              <a:gd name="connsiteY8" fmla="*/ 18288 h 18288"/>
              <a:gd name="connsiteX9" fmla="*/ 2866644 w 4114800"/>
              <a:gd name="connsiteY9" fmla="*/ 18288 h 18288"/>
              <a:gd name="connsiteX10" fmla="*/ 2304288 w 4114800"/>
              <a:gd name="connsiteY10" fmla="*/ 18288 h 18288"/>
              <a:gd name="connsiteX11" fmla="*/ 1577340 w 4114800"/>
              <a:gd name="connsiteY11" fmla="*/ 18288 h 18288"/>
              <a:gd name="connsiteX12" fmla="*/ 973836 w 4114800"/>
              <a:gd name="connsiteY12" fmla="*/ 18288 h 18288"/>
              <a:gd name="connsiteX13" fmla="*/ 0 w 4114800"/>
              <a:gd name="connsiteY13" fmla="*/ 18288 h 18288"/>
              <a:gd name="connsiteX14" fmla="*/ 0 w 411480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4800" h="18288" fill="none" extrusionOk="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w="4114800" h="18288" stroke="0" extrusionOk="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rgbClr val="FACA7B"/>
          </a:solidFill>
          <a:ln w="38100" cap="rnd">
            <a:solidFill>
              <a:srgbClr val="FACA7B"/>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48779AD-8338-FFA8-7169-02716D657F68}"/>
              </a:ext>
            </a:extLst>
          </p:cNvPr>
          <p:cNvSpPr>
            <a:spLocks noGrp="1"/>
          </p:cNvSpPr>
          <p:nvPr>
            <p:ph idx="1"/>
          </p:nvPr>
        </p:nvSpPr>
        <p:spPr>
          <a:xfrm>
            <a:off x="630936" y="2660904"/>
            <a:ext cx="4818888" cy="3547872"/>
          </a:xfrm>
        </p:spPr>
        <p:txBody>
          <a:bodyPr anchor="t">
            <a:normAutofit/>
          </a:bodyPr>
          <a:lstStyle/>
          <a:p>
            <a:r>
              <a:rPr lang="en-US" dirty="0"/>
              <a:t>IUD – Copper (non-hormonal) or Plastic (hormonal)</a:t>
            </a:r>
          </a:p>
          <a:p>
            <a:r>
              <a:rPr lang="en-US" dirty="0"/>
              <a:t>Patch</a:t>
            </a:r>
          </a:p>
          <a:p>
            <a:r>
              <a:rPr lang="en-US" dirty="0"/>
              <a:t>Implanon/Rod </a:t>
            </a:r>
          </a:p>
          <a:p>
            <a:r>
              <a:rPr lang="en-US" dirty="0"/>
              <a:t>Injection</a:t>
            </a:r>
          </a:p>
          <a:p>
            <a:r>
              <a:rPr lang="en-US" dirty="0"/>
              <a:t>Vaginal Ring</a:t>
            </a:r>
          </a:p>
          <a:p>
            <a:r>
              <a:rPr lang="en-US" dirty="0"/>
              <a:t>Pill – Combined &amp; Mini</a:t>
            </a:r>
          </a:p>
        </p:txBody>
      </p:sp>
      <mc:AlternateContent xmlns:mc="http://schemas.openxmlformats.org/markup-compatibility/2006" xmlns:p14="http://schemas.microsoft.com/office/powerpoint/2010/main">
        <mc:Choice Requires="p14">
          <p:contentPart p14:bwMode="auto" r:id="rId2">
            <p14:nvContentPartPr>
              <p14:cNvPr id="1035" name="Ink 103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5755403" y="1971579"/>
              <a:ext cx="360" cy="2160"/>
            </p14:xfrm>
          </p:contentPart>
        </mc:Choice>
        <mc:Fallback xmlns="">
          <p:pic>
            <p:nvPicPr>
              <p:cNvPr id="1035" name="Ink 103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3"/>
              <a:stretch>
                <a:fillRect/>
              </a:stretch>
            </p:blipFill>
            <p:spPr>
              <a:xfrm>
                <a:off x="5737403" y="1956150"/>
                <a:ext cx="36000" cy="32709"/>
              </a:xfrm>
              <a:prstGeom prst="rect">
                <a:avLst/>
              </a:prstGeom>
            </p:spPr>
          </p:pic>
        </mc:Fallback>
      </mc:AlternateContent>
      <p:pic>
        <p:nvPicPr>
          <p:cNvPr id="6146" name="Picture 2" descr="Intrauterine devices (IUD)">
            <a:extLst>
              <a:ext uri="{FF2B5EF4-FFF2-40B4-BE49-F238E27FC236}">
                <a16:creationId xmlns:a16="http://schemas.microsoft.com/office/drawing/2014/main" id="{19CC23B8-BB70-1E27-1647-DF8C66FFDD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9824" y="265943"/>
            <a:ext cx="2026949" cy="2568618"/>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Birth Control Patch: How It Works, Side Effects &amp; Benefits">
            <a:extLst>
              <a:ext uri="{FF2B5EF4-FFF2-40B4-BE49-F238E27FC236}">
                <a16:creationId xmlns:a16="http://schemas.microsoft.com/office/drawing/2014/main" id="{D815E762-EB33-0E6D-91B0-6DF4E77DAC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64137" y="98558"/>
            <a:ext cx="2543814" cy="2893438"/>
          </a:xfrm>
          <a:prstGeom prst="rect">
            <a:avLst/>
          </a:prstGeom>
          <a:noFill/>
          <a:extLst>
            <a:ext uri="{909E8E84-426E-40DD-AFC4-6F175D3DCCD1}">
              <a14:hiddenFill xmlns:a14="http://schemas.microsoft.com/office/drawing/2010/main">
                <a:solidFill>
                  <a:srgbClr val="FFFFFF"/>
                </a:solidFill>
              </a14:hiddenFill>
            </a:ext>
          </a:extLst>
        </p:spPr>
      </p:pic>
      <p:pic>
        <p:nvPicPr>
          <p:cNvPr id="6154" name="Picture 10" descr="Contraceptive Implant (The Rod)">
            <a:extLst>
              <a:ext uri="{FF2B5EF4-FFF2-40B4-BE49-F238E27FC236}">
                <a16:creationId xmlns:a16="http://schemas.microsoft.com/office/drawing/2014/main" id="{4A86DFFF-2DA8-278F-7936-678243E73ED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34913" y="4012685"/>
            <a:ext cx="3655691" cy="1827846"/>
          </a:xfrm>
          <a:prstGeom prst="rect">
            <a:avLst/>
          </a:prstGeom>
          <a:noFill/>
          <a:extLst>
            <a:ext uri="{909E8E84-426E-40DD-AFC4-6F175D3DCCD1}">
              <a14:hiddenFill xmlns:a14="http://schemas.microsoft.com/office/drawing/2010/main">
                <a:solidFill>
                  <a:srgbClr val="FFFFFF"/>
                </a:solidFill>
              </a14:hiddenFill>
            </a:ext>
          </a:extLst>
        </p:spPr>
      </p:pic>
      <p:pic>
        <p:nvPicPr>
          <p:cNvPr id="6156" name="Picture 12" descr="Depo Medroxyprogesterone | The Family Planning Association of Sri Lanka">
            <a:extLst>
              <a:ext uri="{FF2B5EF4-FFF2-40B4-BE49-F238E27FC236}">
                <a16:creationId xmlns:a16="http://schemas.microsoft.com/office/drawing/2014/main" id="{4BDA8B22-E882-3900-EFBF-D5274B5417C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08844" y="1731741"/>
            <a:ext cx="2543814" cy="1697259"/>
          </a:xfrm>
          <a:prstGeom prst="rect">
            <a:avLst/>
          </a:prstGeom>
          <a:noFill/>
          <a:extLst>
            <a:ext uri="{909E8E84-426E-40DD-AFC4-6F175D3DCCD1}">
              <a14:hiddenFill xmlns:a14="http://schemas.microsoft.com/office/drawing/2010/main">
                <a:solidFill>
                  <a:srgbClr val="FFFFFF"/>
                </a:solidFill>
              </a14:hiddenFill>
            </a:ext>
          </a:extLst>
        </p:spPr>
      </p:pic>
      <p:pic>
        <p:nvPicPr>
          <p:cNvPr id="6158" name="Picture 14" descr="Vaginal Ring (NuvaRing) | Family Planning NSW">
            <a:extLst>
              <a:ext uri="{FF2B5EF4-FFF2-40B4-BE49-F238E27FC236}">
                <a16:creationId xmlns:a16="http://schemas.microsoft.com/office/drawing/2014/main" id="{C46BA760-9704-7345-06A1-2A4036C02D3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97574" y="4967515"/>
            <a:ext cx="2527965" cy="1705862"/>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Contraception 101: Oral Contraceptives — Gynaecology and Advanced  Laparoscopic Surgery, Brisbane">
            <a:extLst>
              <a:ext uri="{FF2B5EF4-FFF2-40B4-BE49-F238E27FC236}">
                <a16:creationId xmlns:a16="http://schemas.microsoft.com/office/drawing/2014/main" id="{91179A00-3D80-1AD0-4F98-8D748C8ADE5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54287" y="3203222"/>
            <a:ext cx="2056886" cy="1371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78734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336BA-39B7-B220-EC85-352DBEB55248}"/>
              </a:ext>
            </a:extLst>
          </p:cNvPr>
          <p:cNvSpPr>
            <a:spLocks noGrp="1"/>
          </p:cNvSpPr>
          <p:nvPr>
            <p:ph type="title"/>
          </p:nvPr>
        </p:nvSpPr>
        <p:spPr/>
        <p:txBody>
          <a:bodyPr/>
          <a:lstStyle/>
          <a:p>
            <a:r>
              <a:rPr lang="en-US" dirty="0"/>
              <a:t>Copper IUD</a:t>
            </a:r>
          </a:p>
        </p:txBody>
      </p:sp>
      <p:sp>
        <p:nvSpPr>
          <p:cNvPr id="3" name="Content Placeholder 2">
            <a:extLst>
              <a:ext uri="{FF2B5EF4-FFF2-40B4-BE49-F238E27FC236}">
                <a16:creationId xmlns:a16="http://schemas.microsoft.com/office/drawing/2014/main" id="{400AC73C-FB5E-E301-0796-6B23F56F2783}"/>
              </a:ext>
            </a:extLst>
          </p:cNvPr>
          <p:cNvSpPr>
            <a:spLocks noGrp="1"/>
          </p:cNvSpPr>
          <p:nvPr>
            <p:ph sz="half" idx="1"/>
          </p:nvPr>
        </p:nvSpPr>
        <p:spPr/>
        <p:txBody>
          <a:bodyPr>
            <a:normAutofit fontScale="85000" lnSpcReduction="20000"/>
          </a:bodyPr>
          <a:lstStyle/>
          <a:p>
            <a:r>
              <a:rPr lang="en-US" sz="3200" dirty="0"/>
              <a:t>IUD = </a:t>
            </a:r>
            <a:r>
              <a:rPr lang="en-US" sz="3200" b="1" u="sng" dirty="0"/>
              <a:t>I</a:t>
            </a:r>
            <a:r>
              <a:rPr lang="en-US" sz="3200" dirty="0"/>
              <a:t>ntra-</a:t>
            </a:r>
            <a:r>
              <a:rPr lang="en-US" sz="3200" b="1" u="sng" dirty="0"/>
              <a:t>U</a:t>
            </a:r>
            <a:r>
              <a:rPr lang="en-US" sz="3200" dirty="0"/>
              <a:t>terine </a:t>
            </a:r>
            <a:r>
              <a:rPr lang="en-US" sz="3200" b="1" u="sng" dirty="0"/>
              <a:t>D</a:t>
            </a:r>
            <a:r>
              <a:rPr lang="en-US" sz="3200" dirty="0"/>
              <a:t>evice.</a:t>
            </a:r>
          </a:p>
          <a:p>
            <a:r>
              <a:rPr lang="en-US" sz="3200" dirty="0"/>
              <a:t>T shaped device with fine copper wire wrapped around the frame. </a:t>
            </a:r>
          </a:p>
          <a:p>
            <a:r>
              <a:rPr lang="en-US" sz="3200" dirty="0"/>
              <a:t>Placed inside the uterus.</a:t>
            </a:r>
          </a:p>
          <a:p>
            <a:r>
              <a:rPr lang="en-US" dirty="0"/>
              <a:t>T</a:t>
            </a:r>
            <a:r>
              <a:rPr lang="en-US" sz="3200" dirty="0"/>
              <a:t>oxic to sperm which prevents fertilisation, slows the movement of sperm and changes the lining of the uterus to prevent implantation. </a:t>
            </a:r>
          </a:p>
          <a:p>
            <a:r>
              <a:rPr lang="en-US" sz="3200" dirty="0"/>
              <a:t>They can last for 5 – 10 years </a:t>
            </a:r>
            <a:br>
              <a:rPr lang="en-US" sz="3200" dirty="0"/>
            </a:br>
            <a:r>
              <a:rPr lang="en-US" sz="3200" dirty="0"/>
              <a:t>(</a:t>
            </a:r>
            <a:r>
              <a:rPr lang="en-US" sz="3200" b="1" u="sng" dirty="0"/>
              <a:t>L</a:t>
            </a:r>
            <a:r>
              <a:rPr lang="en-US" sz="3200" dirty="0"/>
              <a:t>ong </a:t>
            </a:r>
            <a:r>
              <a:rPr lang="en-US" sz="3200" b="1" u="sng" dirty="0"/>
              <a:t>A</a:t>
            </a:r>
            <a:r>
              <a:rPr lang="en-US" sz="3200" dirty="0"/>
              <a:t>cting </a:t>
            </a:r>
            <a:r>
              <a:rPr lang="en-US" sz="3200" b="1" u="sng" dirty="0"/>
              <a:t>R</a:t>
            </a:r>
            <a:r>
              <a:rPr lang="en-US" sz="3200" dirty="0"/>
              <a:t>eversible – LAR method)</a:t>
            </a:r>
          </a:p>
          <a:p>
            <a:endParaRPr lang="en-US" dirty="0"/>
          </a:p>
        </p:txBody>
      </p:sp>
      <p:sp>
        <p:nvSpPr>
          <p:cNvPr id="4" name="Content Placeholder 3">
            <a:extLst>
              <a:ext uri="{FF2B5EF4-FFF2-40B4-BE49-F238E27FC236}">
                <a16:creationId xmlns:a16="http://schemas.microsoft.com/office/drawing/2014/main" id="{AB37B1EC-B723-6F43-67E1-3B26EB2479F6}"/>
              </a:ext>
            </a:extLst>
          </p:cNvPr>
          <p:cNvSpPr>
            <a:spLocks noGrp="1"/>
          </p:cNvSpPr>
          <p:nvPr>
            <p:ph sz="half" idx="2"/>
          </p:nvPr>
        </p:nvSpPr>
        <p:spPr/>
        <p:txBody>
          <a:bodyPr>
            <a:normAutofit fontScale="85000" lnSpcReduction="20000"/>
          </a:bodyPr>
          <a:lstStyle/>
          <a:p>
            <a:r>
              <a:rPr lang="en-US" sz="3200" dirty="0"/>
              <a:t>Side effects may include infection, uterine wall damage, heavier and longer periods, irregular bleeding. </a:t>
            </a:r>
          </a:p>
          <a:p>
            <a:r>
              <a:rPr lang="en-US" sz="3200" dirty="0"/>
              <a:t>It needs to be inserted and removed by a medical professional.</a:t>
            </a:r>
          </a:p>
          <a:p>
            <a:r>
              <a:rPr lang="en-US" sz="3200" dirty="0"/>
              <a:t>Can be used as an emergency contraception if inserted up to 5 days after unprotected sex.</a:t>
            </a:r>
          </a:p>
          <a:p>
            <a:r>
              <a:rPr lang="en-US" sz="3200" dirty="0"/>
              <a:t>99% effective.</a:t>
            </a:r>
          </a:p>
          <a:p>
            <a:r>
              <a:rPr lang="en-US" sz="3200" dirty="0"/>
              <a:t>Does not prevent STI’s</a:t>
            </a:r>
          </a:p>
        </p:txBody>
      </p:sp>
    </p:spTree>
    <p:extLst>
      <p:ext uri="{BB962C8B-B14F-4D97-AF65-F5344CB8AC3E}">
        <p14:creationId xmlns:p14="http://schemas.microsoft.com/office/powerpoint/2010/main" val="28423795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01195-351E-CBFF-9524-0DDDAEC9EB4E}"/>
              </a:ext>
            </a:extLst>
          </p:cNvPr>
          <p:cNvSpPr>
            <a:spLocks noGrp="1"/>
          </p:cNvSpPr>
          <p:nvPr>
            <p:ph type="title"/>
          </p:nvPr>
        </p:nvSpPr>
        <p:spPr/>
        <p:txBody>
          <a:bodyPr/>
          <a:lstStyle/>
          <a:p>
            <a:r>
              <a:rPr lang="en-US" dirty="0"/>
              <a:t>Hormonal/Plastic IUD</a:t>
            </a:r>
          </a:p>
        </p:txBody>
      </p:sp>
      <p:sp>
        <p:nvSpPr>
          <p:cNvPr id="3" name="Content Placeholder 2">
            <a:extLst>
              <a:ext uri="{FF2B5EF4-FFF2-40B4-BE49-F238E27FC236}">
                <a16:creationId xmlns:a16="http://schemas.microsoft.com/office/drawing/2014/main" id="{390AE283-0370-FA0B-0368-FE1D5E2CA73C}"/>
              </a:ext>
            </a:extLst>
          </p:cNvPr>
          <p:cNvSpPr>
            <a:spLocks noGrp="1"/>
          </p:cNvSpPr>
          <p:nvPr>
            <p:ph sz="half" idx="1"/>
          </p:nvPr>
        </p:nvSpPr>
        <p:spPr/>
        <p:txBody>
          <a:bodyPr>
            <a:normAutofit fontScale="92500" lnSpcReduction="20000"/>
          </a:bodyPr>
          <a:lstStyle/>
          <a:p>
            <a:r>
              <a:rPr lang="en-US" dirty="0"/>
              <a:t>IUD = </a:t>
            </a:r>
            <a:r>
              <a:rPr lang="en-US" b="1" u="sng" dirty="0"/>
              <a:t>I</a:t>
            </a:r>
            <a:r>
              <a:rPr lang="en-US" dirty="0"/>
              <a:t>ntra-</a:t>
            </a:r>
            <a:r>
              <a:rPr lang="en-US" b="1" u="sng" dirty="0"/>
              <a:t>U</a:t>
            </a:r>
            <a:r>
              <a:rPr lang="en-US" dirty="0"/>
              <a:t>terine </a:t>
            </a:r>
            <a:r>
              <a:rPr lang="en-US" b="1" u="sng" dirty="0"/>
              <a:t>D</a:t>
            </a:r>
            <a:r>
              <a:rPr lang="en-US" dirty="0"/>
              <a:t>evice.</a:t>
            </a:r>
          </a:p>
          <a:p>
            <a:r>
              <a:rPr lang="en-US" dirty="0"/>
              <a:t>A small T shaped plastic device with a hormone (levonorgestrel) in the stem.</a:t>
            </a:r>
          </a:p>
          <a:p>
            <a:r>
              <a:rPr lang="en-US" dirty="0"/>
              <a:t>Placed in the uterus. </a:t>
            </a:r>
          </a:p>
          <a:p>
            <a:r>
              <a:rPr lang="en-US" dirty="0"/>
              <a:t>Stops fertilisation and makes the mucus thicker so the sperm can’t swim to the egg.</a:t>
            </a:r>
          </a:p>
          <a:p>
            <a:r>
              <a:rPr lang="en-US" dirty="0"/>
              <a:t>Changes the uterine lining so implantation cannot occur. </a:t>
            </a:r>
          </a:p>
        </p:txBody>
      </p:sp>
      <p:sp>
        <p:nvSpPr>
          <p:cNvPr id="4" name="Content Placeholder 3">
            <a:extLst>
              <a:ext uri="{FF2B5EF4-FFF2-40B4-BE49-F238E27FC236}">
                <a16:creationId xmlns:a16="http://schemas.microsoft.com/office/drawing/2014/main" id="{FE5C83E3-AD1F-491D-2C56-96AD8807680E}"/>
              </a:ext>
            </a:extLst>
          </p:cNvPr>
          <p:cNvSpPr>
            <a:spLocks noGrp="1"/>
          </p:cNvSpPr>
          <p:nvPr>
            <p:ph sz="half" idx="2"/>
          </p:nvPr>
        </p:nvSpPr>
        <p:spPr/>
        <p:txBody>
          <a:bodyPr>
            <a:normAutofit fontScale="92500" lnSpcReduction="20000"/>
          </a:bodyPr>
          <a:lstStyle/>
          <a:p>
            <a:r>
              <a:rPr lang="en-US" dirty="0"/>
              <a:t>Lasts for 5 years (LAR method).</a:t>
            </a:r>
          </a:p>
          <a:p>
            <a:r>
              <a:rPr lang="en-US" dirty="0"/>
              <a:t>Side-effects may include bloating, headaches, mood changes, acne, lower sex drive, irregular bleeding or spotting.</a:t>
            </a:r>
          </a:p>
          <a:p>
            <a:r>
              <a:rPr lang="en-US" dirty="0"/>
              <a:t>It needs to be inserted and removed by a medical professional.</a:t>
            </a:r>
          </a:p>
          <a:p>
            <a:r>
              <a:rPr lang="en-US" dirty="0"/>
              <a:t>99% effective.</a:t>
            </a:r>
          </a:p>
          <a:p>
            <a:r>
              <a:rPr lang="en-US" dirty="0"/>
              <a:t>Does not prevent STI’s.</a:t>
            </a:r>
          </a:p>
        </p:txBody>
      </p:sp>
    </p:spTree>
    <p:extLst>
      <p:ext uri="{BB962C8B-B14F-4D97-AF65-F5344CB8AC3E}">
        <p14:creationId xmlns:p14="http://schemas.microsoft.com/office/powerpoint/2010/main" val="32860443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31" name="Rectangle 513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2" descr="Copper IUD (ParaGard) - Mayo Clinic">
            <a:extLst>
              <a:ext uri="{FF2B5EF4-FFF2-40B4-BE49-F238E27FC236}">
                <a16:creationId xmlns:a16="http://schemas.microsoft.com/office/drawing/2014/main" id="{3ED638BB-F4D3-DCC6-8852-54D5FCD09F1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18" b="24839"/>
          <a:stretch/>
        </p:blipFill>
        <p:spPr bwMode="auto">
          <a:xfrm>
            <a:off x="6196929" y="171716"/>
            <a:ext cx="5803986" cy="3171422"/>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Intrauterine Device (IUD) | University Health Service">
            <a:extLst>
              <a:ext uri="{FF2B5EF4-FFF2-40B4-BE49-F238E27FC236}">
                <a16:creationId xmlns:a16="http://schemas.microsoft.com/office/drawing/2014/main" id="{528EA0D1-D92A-FFFA-496C-C32C5C717E3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922" b="43931"/>
          <a:stretch/>
        </p:blipFill>
        <p:spPr bwMode="auto">
          <a:xfrm>
            <a:off x="6196929" y="3514856"/>
            <a:ext cx="5786386" cy="2785950"/>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Intrauterine devices (IUD)">
            <a:extLst>
              <a:ext uri="{FF2B5EF4-FFF2-40B4-BE49-F238E27FC236}">
                <a16:creationId xmlns:a16="http://schemas.microsoft.com/office/drawing/2014/main" id="{73DD07CB-2B01-6FD0-C965-1153AB3393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0942" y="323600"/>
            <a:ext cx="5036570" cy="6382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09990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782FA-08AC-28FF-B24B-596FFEF20101}"/>
              </a:ext>
            </a:extLst>
          </p:cNvPr>
          <p:cNvSpPr>
            <a:spLocks noGrp="1"/>
          </p:cNvSpPr>
          <p:nvPr>
            <p:ph type="title"/>
          </p:nvPr>
        </p:nvSpPr>
        <p:spPr/>
        <p:txBody>
          <a:bodyPr/>
          <a:lstStyle/>
          <a:p>
            <a:r>
              <a:rPr lang="en-US" dirty="0"/>
              <a:t>Patch</a:t>
            </a:r>
          </a:p>
        </p:txBody>
      </p:sp>
      <p:sp>
        <p:nvSpPr>
          <p:cNvPr id="3" name="Content Placeholder 2">
            <a:extLst>
              <a:ext uri="{FF2B5EF4-FFF2-40B4-BE49-F238E27FC236}">
                <a16:creationId xmlns:a16="http://schemas.microsoft.com/office/drawing/2014/main" id="{79E0591E-8662-8FDC-D9A0-6EA748A382A3}"/>
              </a:ext>
            </a:extLst>
          </p:cNvPr>
          <p:cNvSpPr>
            <a:spLocks noGrp="1"/>
          </p:cNvSpPr>
          <p:nvPr>
            <p:ph idx="1"/>
          </p:nvPr>
        </p:nvSpPr>
        <p:spPr>
          <a:xfrm>
            <a:off x="838200" y="1929383"/>
            <a:ext cx="6772835" cy="4740357"/>
          </a:xfrm>
        </p:spPr>
        <p:txBody>
          <a:bodyPr>
            <a:normAutofit fontScale="92500" lnSpcReduction="20000"/>
          </a:bodyPr>
          <a:lstStyle/>
          <a:p>
            <a:r>
              <a:rPr lang="en-US" dirty="0"/>
              <a:t>Contains hormones – oestrogen and progesterone (same as the combined pill).</a:t>
            </a:r>
          </a:p>
          <a:p>
            <a:r>
              <a:rPr lang="en-US" dirty="0"/>
              <a:t>Worn on the skin like a band-aid.</a:t>
            </a:r>
          </a:p>
          <a:p>
            <a:r>
              <a:rPr lang="en-US" dirty="0"/>
              <a:t>One patch is worn for a week at a time, for 3 weeks. The 4</a:t>
            </a:r>
            <a:r>
              <a:rPr lang="en-US" baseline="30000" dirty="0"/>
              <a:t>th</a:t>
            </a:r>
            <a:r>
              <a:rPr lang="en-US" dirty="0"/>
              <a:t> week it is not worn, and menstrual bleeding will occur. </a:t>
            </a:r>
          </a:p>
          <a:p>
            <a:r>
              <a:rPr lang="en-US" dirty="0"/>
              <a:t>Releases hormones into the body that prevents ovulation from occurring. </a:t>
            </a:r>
          </a:p>
          <a:p>
            <a:r>
              <a:rPr lang="en-US" dirty="0"/>
              <a:t>Thickens cervical mucus, preventing sperm from reaching the egg. </a:t>
            </a:r>
          </a:p>
          <a:p>
            <a:r>
              <a:rPr lang="en-US" dirty="0"/>
              <a:t>Less serious side-effects may include spotting, irritation, menstrual pain, headaches, mood swings, weight gain, mood swings, blood clots etc.</a:t>
            </a:r>
          </a:p>
          <a:p>
            <a:r>
              <a:rPr lang="en-US" dirty="0"/>
              <a:t>Perfect use = 99% effective, typical use = 93% effective.</a:t>
            </a:r>
          </a:p>
          <a:p>
            <a:r>
              <a:rPr lang="en-US" dirty="0"/>
              <a:t>Does not prevent STI’s.</a:t>
            </a:r>
          </a:p>
        </p:txBody>
      </p:sp>
      <p:pic>
        <p:nvPicPr>
          <p:cNvPr id="7170" name="Picture 2" descr="Birth Control Patch: How It Works, Side Effects &amp; Benefits">
            <a:extLst>
              <a:ext uri="{FF2B5EF4-FFF2-40B4-BE49-F238E27FC236}">
                <a16:creationId xmlns:a16="http://schemas.microsoft.com/office/drawing/2014/main" id="{D733BB9A-DCA3-8048-B5F6-B4C14E3BD02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712" r="13461" b="10666"/>
          <a:stretch/>
        </p:blipFill>
        <p:spPr bwMode="auto">
          <a:xfrm>
            <a:off x="7933764" y="1904308"/>
            <a:ext cx="3638774" cy="4790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66556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50149-5749-AF62-0A91-882C5AF0EEF3}"/>
              </a:ext>
            </a:extLst>
          </p:cNvPr>
          <p:cNvSpPr>
            <a:spLocks noGrp="1"/>
          </p:cNvSpPr>
          <p:nvPr>
            <p:ph type="title"/>
          </p:nvPr>
        </p:nvSpPr>
        <p:spPr/>
        <p:txBody>
          <a:bodyPr/>
          <a:lstStyle/>
          <a:p>
            <a:r>
              <a:rPr lang="en-US" dirty="0"/>
              <a:t>IMPLANON (ROD)</a:t>
            </a:r>
          </a:p>
        </p:txBody>
      </p:sp>
      <p:sp>
        <p:nvSpPr>
          <p:cNvPr id="3" name="Content Placeholder 2">
            <a:extLst>
              <a:ext uri="{FF2B5EF4-FFF2-40B4-BE49-F238E27FC236}">
                <a16:creationId xmlns:a16="http://schemas.microsoft.com/office/drawing/2014/main" id="{1AF3B44F-4D2E-6DE3-7FDA-E28E624BF2D6}"/>
              </a:ext>
            </a:extLst>
          </p:cNvPr>
          <p:cNvSpPr>
            <a:spLocks noGrp="1"/>
          </p:cNvSpPr>
          <p:nvPr>
            <p:ph idx="1"/>
          </p:nvPr>
        </p:nvSpPr>
        <p:spPr>
          <a:xfrm>
            <a:off x="838200" y="1929383"/>
            <a:ext cx="10515600" cy="4659675"/>
          </a:xfrm>
        </p:spPr>
        <p:txBody>
          <a:bodyPr>
            <a:normAutofit/>
          </a:bodyPr>
          <a:lstStyle/>
          <a:p>
            <a:r>
              <a:rPr lang="en-US" dirty="0"/>
              <a:t>A small, thin, flexible 4cm rod that’s inserted under the skin on the inside of the upper arm. </a:t>
            </a:r>
          </a:p>
          <a:p>
            <a:r>
              <a:rPr lang="en-US" dirty="0"/>
              <a:t>Continuously releases small amounts of a progesterone hormone that prevents ovulation and thickens the cervical mucus. </a:t>
            </a:r>
          </a:p>
          <a:p>
            <a:r>
              <a:rPr lang="en-US" dirty="0"/>
              <a:t>Can be left in for up to 3 years. </a:t>
            </a:r>
          </a:p>
          <a:p>
            <a:r>
              <a:rPr lang="en-US" dirty="0"/>
              <a:t>Must be inserted and removed by a medical professional. </a:t>
            </a:r>
          </a:p>
          <a:p>
            <a:r>
              <a:rPr lang="en-US" dirty="0"/>
              <a:t>Side-effects may include a change in menstrual bleeding (irregular or </a:t>
            </a:r>
            <a:br>
              <a:rPr lang="en-US" dirty="0"/>
            </a:br>
            <a:r>
              <a:rPr lang="en-US" dirty="0"/>
              <a:t>stopping), headaches, skin changes, tender breasts, mood swings.</a:t>
            </a:r>
          </a:p>
          <a:p>
            <a:r>
              <a:rPr lang="en-US" dirty="0"/>
              <a:t>99% effective.</a:t>
            </a:r>
          </a:p>
          <a:p>
            <a:r>
              <a:rPr lang="en-US" dirty="0"/>
              <a:t>Does not prevent STI’s.</a:t>
            </a:r>
          </a:p>
        </p:txBody>
      </p:sp>
      <p:pic>
        <p:nvPicPr>
          <p:cNvPr id="2050" name="Picture 2" descr="Contraceptive Implant | Implanon insertion &amp; side effects - Sexual Health  Victoria">
            <a:extLst>
              <a:ext uri="{FF2B5EF4-FFF2-40B4-BE49-F238E27FC236}">
                <a16:creationId xmlns:a16="http://schemas.microsoft.com/office/drawing/2014/main" id="{82C049F1-BD61-FF1F-F0DB-67FEB0E02A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7624" y="3696080"/>
            <a:ext cx="4984376" cy="3161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6172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44C87-8687-85DD-E99B-D80BC40629D8}"/>
              </a:ext>
            </a:extLst>
          </p:cNvPr>
          <p:cNvSpPr>
            <a:spLocks noGrp="1"/>
          </p:cNvSpPr>
          <p:nvPr>
            <p:ph type="title"/>
          </p:nvPr>
        </p:nvSpPr>
        <p:spPr/>
        <p:txBody>
          <a:bodyPr/>
          <a:lstStyle/>
          <a:p>
            <a:r>
              <a:rPr lang="en-US" dirty="0"/>
              <a:t>INJECTION (DEPO-PROVERA)</a:t>
            </a:r>
          </a:p>
        </p:txBody>
      </p:sp>
      <p:sp>
        <p:nvSpPr>
          <p:cNvPr id="3" name="Content Placeholder 2">
            <a:extLst>
              <a:ext uri="{FF2B5EF4-FFF2-40B4-BE49-F238E27FC236}">
                <a16:creationId xmlns:a16="http://schemas.microsoft.com/office/drawing/2014/main" id="{6B07C35F-5645-F15C-9838-FDAFD1C929B7}"/>
              </a:ext>
            </a:extLst>
          </p:cNvPr>
          <p:cNvSpPr>
            <a:spLocks noGrp="1"/>
          </p:cNvSpPr>
          <p:nvPr>
            <p:ph idx="1"/>
          </p:nvPr>
        </p:nvSpPr>
        <p:spPr>
          <a:xfrm>
            <a:off x="838200" y="1929383"/>
            <a:ext cx="10515600" cy="4800601"/>
          </a:xfrm>
        </p:spPr>
        <p:txBody>
          <a:bodyPr>
            <a:normAutofit lnSpcReduction="10000"/>
          </a:bodyPr>
          <a:lstStyle/>
          <a:p>
            <a:r>
              <a:rPr lang="en-US" dirty="0"/>
              <a:t>Contains progesterone. </a:t>
            </a:r>
          </a:p>
          <a:p>
            <a:r>
              <a:rPr lang="en-US" dirty="0"/>
              <a:t>Injected into the buttock or upper arm muscle once every 3 months. It is only effective for that 3 months. </a:t>
            </a:r>
          </a:p>
          <a:p>
            <a:r>
              <a:rPr lang="en-US" dirty="0"/>
              <a:t>Prevents ovulation and thickens cervical mucus, preventing sperm from entering the uterus. </a:t>
            </a:r>
          </a:p>
          <a:p>
            <a:r>
              <a:rPr lang="en-US" dirty="0"/>
              <a:t>Needs to be administered by a medical professional and requires a prescription. </a:t>
            </a:r>
          </a:p>
          <a:p>
            <a:r>
              <a:rPr lang="en-US" dirty="0"/>
              <a:t>Side-effects may include weight gain, mood swings, , headaches, irregular, longer bleeding </a:t>
            </a:r>
            <a:br>
              <a:rPr lang="en-US" dirty="0"/>
            </a:br>
            <a:r>
              <a:rPr lang="en-US" dirty="0"/>
              <a:t>or heavier bleeding, bone thinning, can take up to 18 months for fertility to return </a:t>
            </a:r>
            <a:br>
              <a:rPr lang="en-US" dirty="0"/>
            </a:br>
            <a:r>
              <a:rPr lang="en-US" dirty="0"/>
              <a:t>after stopping use.</a:t>
            </a:r>
          </a:p>
          <a:p>
            <a:r>
              <a:rPr lang="en-US" dirty="0"/>
              <a:t>Perfect use = 99% effective, typical use = 95% effective.</a:t>
            </a:r>
          </a:p>
          <a:p>
            <a:r>
              <a:rPr lang="en-US" dirty="0"/>
              <a:t>Does not prevent STI’s.</a:t>
            </a:r>
          </a:p>
        </p:txBody>
      </p:sp>
      <p:pic>
        <p:nvPicPr>
          <p:cNvPr id="4" name="Picture 12" descr="Depo Medroxyprogesterone | The Family Planning Association of Sri Lanka">
            <a:extLst>
              <a:ext uri="{FF2B5EF4-FFF2-40B4-BE49-F238E27FC236}">
                <a16:creationId xmlns:a16="http://schemas.microsoft.com/office/drawing/2014/main" id="{08C07055-174B-4187-A054-730E5555FA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9934" y="3904805"/>
            <a:ext cx="4592066" cy="30638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81276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B18B6-EFC0-0135-7B51-7E91525BF406}"/>
              </a:ext>
            </a:extLst>
          </p:cNvPr>
          <p:cNvSpPr>
            <a:spLocks noGrp="1"/>
          </p:cNvSpPr>
          <p:nvPr>
            <p:ph type="title"/>
          </p:nvPr>
        </p:nvSpPr>
        <p:spPr/>
        <p:txBody>
          <a:bodyPr/>
          <a:lstStyle/>
          <a:p>
            <a:r>
              <a:rPr lang="en-US" dirty="0"/>
              <a:t>VAGINAL RING</a:t>
            </a:r>
          </a:p>
        </p:txBody>
      </p:sp>
      <p:sp>
        <p:nvSpPr>
          <p:cNvPr id="3" name="Content Placeholder 2">
            <a:extLst>
              <a:ext uri="{FF2B5EF4-FFF2-40B4-BE49-F238E27FC236}">
                <a16:creationId xmlns:a16="http://schemas.microsoft.com/office/drawing/2014/main" id="{E8735FF3-AE37-DD25-A345-DC463B217433}"/>
              </a:ext>
            </a:extLst>
          </p:cNvPr>
          <p:cNvSpPr>
            <a:spLocks noGrp="1"/>
          </p:cNvSpPr>
          <p:nvPr>
            <p:ph idx="1"/>
          </p:nvPr>
        </p:nvSpPr>
        <p:spPr>
          <a:xfrm>
            <a:off x="838200" y="1929384"/>
            <a:ext cx="5715000" cy="4782312"/>
          </a:xfrm>
        </p:spPr>
        <p:txBody>
          <a:bodyPr>
            <a:normAutofit lnSpcReduction="10000"/>
          </a:bodyPr>
          <a:lstStyle/>
          <a:p>
            <a:r>
              <a:rPr lang="en-US" dirty="0"/>
              <a:t>Delivers low doses of oestrogen and progesterone.</a:t>
            </a:r>
          </a:p>
          <a:p>
            <a:r>
              <a:rPr lang="en-US" dirty="0"/>
              <a:t>Suppresses ovulation and thickens cervical mucus. </a:t>
            </a:r>
          </a:p>
          <a:p>
            <a:r>
              <a:rPr lang="en-US" dirty="0"/>
              <a:t>Inserted into the vagina.</a:t>
            </a:r>
          </a:p>
          <a:p>
            <a:r>
              <a:rPr lang="en-US" dirty="0"/>
              <a:t>It is inserted for 3 weeks and removed for 1 week, during which menstrual bleeding will occur. A new ring is then inserted.</a:t>
            </a:r>
          </a:p>
          <a:p>
            <a:r>
              <a:rPr lang="en-US" dirty="0"/>
              <a:t>Side-effects may include irregular bleeding, nausea, sore breasts, headaches, bloating, mood swings. </a:t>
            </a:r>
          </a:p>
          <a:p>
            <a:r>
              <a:rPr lang="en-US" dirty="0"/>
              <a:t>Perfect use = 99% effective, typical use = 93% effective.</a:t>
            </a:r>
          </a:p>
          <a:p>
            <a:r>
              <a:rPr lang="en-US" dirty="0"/>
              <a:t>Does not prevent STI’s.</a:t>
            </a:r>
          </a:p>
        </p:txBody>
      </p:sp>
      <p:pic>
        <p:nvPicPr>
          <p:cNvPr id="8194" name="Picture 2" descr="Nuvaring Birth Control · Vaginal Ring NYC | Birth Control Specialists">
            <a:extLst>
              <a:ext uri="{FF2B5EF4-FFF2-40B4-BE49-F238E27FC236}">
                <a16:creationId xmlns:a16="http://schemas.microsoft.com/office/drawing/2014/main" id="{1B33D98D-9334-CD74-7EC4-96A6C7D489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2346558"/>
            <a:ext cx="5422392" cy="349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51678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314DC-83DC-43CE-9AFB-DCEA0E440A8E}"/>
              </a:ext>
            </a:extLst>
          </p:cNvPr>
          <p:cNvSpPr>
            <a:spLocks noGrp="1"/>
          </p:cNvSpPr>
          <p:nvPr>
            <p:ph type="title"/>
          </p:nvPr>
        </p:nvSpPr>
        <p:spPr/>
        <p:txBody>
          <a:bodyPr/>
          <a:lstStyle/>
          <a:p>
            <a:r>
              <a:rPr lang="en-US" dirty="0"/>
              <a:t>COMBINED PILL &amp; Mini Pill</a:t>
            </a:r>
          </a:p>
        </p:txBody>
      </p:sp>
      <p:sp>
        <p:nvSpPr>
          <p:cNvPr id="3" name="Content Placeholder 2">
            <a:extLst>
              <a:ext uri="{FF2B5EF4-FFF2-40B4-BE49-F238E27FC236}">
                <a16:creationId xmlns:a16="http://schemas.microsoft.com/office/drawing/2014/main" id="{4F6FE6AF-104E-CC0C-069A-69B49975CA5E}"/>
              </a:ext>
            </a:extLst>
          </p:cNvPr>
          <p:cNvSpPr>
            <a:spLocks noGrp="1"/>
          </p:cNvSpPr>
          <p:nvPr>
            <p:ph sz="half" idx="1"/>
          </p:nvPr>
        </p:nvSpPr>
        <p:spPr>
          <a:xfrm>
            <a:off x="838200" y="1929383"/>
            <a:ext cx="5181600" cy="4563491"/>
          </a:xfrm>
        </p:spPr>
        <p:txBody>
          <a:bodyPr>
            <a:normAutofit fontScale="70000" lnSpcReduction="20000"/>
          </a:bodyPr>
          <a:lstStyle/>
          <a:p>
            <a:r>
              <a:rPr lang="en-US" dirty="0"/>
              <a:t>A pill taken daily that contains hormones. </a:t>
            </a:r>
          </a:p>
          <a:p>
            <a:r>
              <a:rPr lang="en-US" dirty="0"/>
              <a:t>Combined Pill = Oestrogen AND Progesterone, Mini Pill = Progesterone.</a:t>
            </a:r>
          </a:p>
          <a:p>
            <a:r>
              <a:rPr lang="en-US" dirty="0"/>
              <a:t>Works in 3 ways:</a:t>
            </a:r>
          </a:p>
          <a:p>
            <a:pPr lvl="1"/>
            <a:r>
              <a:rPr lang="en-US" dirty="0"/>
              <a:t>Temporarily prevents ovulation. </a:t>
            </a:r>
          </a:p>
          <a:p>
            <a:pPr lvl="1"/>
            <a:r>
              <a:rPr lang="en-US" dirty="0"/>
              <a:t>Temporarily thins the lining of the uterus, preventing implantation.</a:t>
            </a:r>
          </a:p>
          <a:p>
            <a:pPr lvl="1"/>
            <a:r>
              <a:rPr lang="en-US" dirty="0"/>
              <a:t>Thickens cervical mucus to prevent sperm entering the uterus. </a:t>
            </a:r>
          </a:p>
          <a:p>
            <a:r>
              <a:rPr lang="en-US" dirty="0"/>
              <a:t>Must be taken every day. If it is forgotten, it can result in an unplanned pregnancy if sexual intercourse occurs. </a:t>
            </a:r>
          </a:p>
          <a:p>
            <a:r>
              <a:rPr lang="en-US" dirty="0"/>
              <a:t>A hormonal pill is taken daily for 3 weeks, and in the 4</a:t>
            </a:r>
            <a:r>
              <a:rPr lang="en-US" baseline="30000" dirty="0"/>
              <a:t>th</a:t>
            </a:r>
            <a:r>
              <a:rPr lang="en-US" dirty="0"/>
              <a:t> week a sugar pill is taken, and this allows for menstrual bleeding to occur.</a:t>
            </a:r>
          </a:p>
          <a:p>
            <a:r>
              <a:rPr lang="en-US" dirty="0"/>
              <a:t>Effectiveness of the pill can be affected by severe vomiting, diarrhoea, or with antibiotics. </a:t>
            </a:r>
          </a:p>
          <a:p>
            <a:endParaRPr lang="en-US" dirty="0"/>
          </a:p>
        </p:txBody>
      </p:sp>
      <p:sp>
        <p:nvSpPr>
          <p:cNvPr id="4" name="Content Placeholder 3">
            <a:extLst>
              <a:ext uri="{FF2B5EF4-FFF2-40B4-BE49-F238E27FC236}">
                <a16:creationId xmlns:a16="http://schemas.microsoft.com/office/drawing/2014/main" id="{1F8B2158-B667-463D-1560-0ED9D29D10A0}"/>
              </a:ext>
            </a:extLst>
          </p:cNvPr>
          <p:cNvSpPr>
            <a:spLocks noGrp="1"/>
          </p:cNvSpPr>
          <p:nvPr>
            <p:ph sz="half" idx="2"/>
          </p:nvPr>
        </p:nvSpPr>
        <p:spPr>
          <a:xfrm>
            <a:off x="6172199" y="1929384"/>
            <a:ext cx="5650831" cy="4251960"/>
          </a:xfrm>
        </p:spPr>
        <p:txBody>
          <a:bodyPr>
            <a:normAutofit fontScale="70000" lnSpcReduction="20000"/>
          </a:bodyPr>
          <a:lstStyle/>
          <a:p>
            <a:r>
              <a:rPr lang="en-US" dirty="0"/>
              <a:t>It can help make periods regular, can improve acne, can help manage other painful menstruation symptoms.</a:t>
            </a:r>
          </a:p>
          <a:p>
            <a:r>
              <a:rPr lang="en-US" dirty="0"/>
              <a:t>Side-effects may include weight gain, mood swings, nausea, bleeding, blood clotting, ovarian cysts, depression.</a:t>
            </a:r>
          </a:p>
          <a:p>
            <a:r>
              <a:rPr lang="en-US" dirty="0"/>
              <a:t>A prescription is needed for the pill. </a:t>
            </a:r>
          </a:p>
          <a:p>
            <a:r>
              <a:rPr lang="en-US" dirty="0"/>
              <a:t>There are many options of the pill available with different hormone dosages. </a:t>
            </a:r>
          </a:p>
          <a:p>
            <a:r>
              <a:rPr lang="en-US" dirty="0"/>
              <a:t>Perfect use = 99% effective, typical use = 91% effective.</a:t>
            </a:r>
          </a:p>
          <a:p>
            <a:r>
              <a:rPr lang="en-US" dirty="0"/>
              <a:t>Does not prevent STI’s</a:t>
            </a:r>
          </a:p>
          <a:p>
            <a:endParaRPr lang="en-US" dirty="0"/>
          </a:p>
        </p:txBody>
      </p:sp>
      <p:pic>
        <p:nvPicPr>
          <p:cNvPr id="1026" name="Picture 2" descr="Is it okay to delay your period with birth control pills? | Think Twice">
            <a:extLst>
              <a:ext uri="{FF2B5EF4-FFF2-40B4-BE49-F238E27FC236}">
                <a16:creationId xmlns:a16="http://schemas.microsoft.com/office/drawing/2014/main" id="{28AC50DF-CD6E-A2F9-F1FB-C255459B893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036"/>
          <a:stretch/>
        </p:blipFill>
        <p:spPr bwMode="auto">
          <a:xfrm>
            <a:off x="8768614" y="4674971"/>
            <a:ext cx="3054416" cy="21067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58087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ED1D94F-BC8C-4ABD-9133-E5FE8FD01D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lose-up of stacked books">
            <a:extLst>
              <a:ext uri="{FF2B5EF4-FFF2-40B4-BE49-F238E27FC236}">
                <a16:creationId xmlns:a16="http://schemas.microsoft.com/office/drawing/2014/main" id="{1233A9E2-CD78-7B1E-EF6D-8FC4ABA8F96F}"/>
              </a:ext>
            </a:extLst>
          </p:cNvPr>
          <p:cNvPicPr>
            <a:picLocks noChangeAspect="1"/>
          </p:cNvPicPr>
          <p:nvPr/>
        </p:nvPicPr>
        <p:blipFill rotWithShape="1">
          <a:blip r:embed="rId2">
            <a:alphaModFix amt="40000"/>
          </a:blip>
          <a:srcRect/>
          <a:stretch/>
        </p:blipFill>
        <p:spPr>
          <a:xfrm>
            <a:off x="20" y="0"/>
            <a:ext cx="12191980" cy="6858000"/>
          </a:xfrm>
          <a:prstGeom prst="rect">
            <a:avLst/>
          </a:prstGeom>
        </p:spPr>
      </p:pic>
      <p:sp>
        <p:nvSpPr>
          <p:cNvPr id="2" name="Title 1">
            <a:extLst>
              <a:ext uri="{FF2B5EF4-FFF2-40B4-BE49-F238E27FC236}">
                <a16:creationId xmlns:a16="http://schemas.microsoft.com/office/drawing/2014/main" id="{D5298AA8-A15B-DFA3-A2A3-E27B380AC424}"/>
              </a:ext>
            </a:extLst>
          </p:cNvPr>
          <p:cNvSpPr>
            <a:spLocks noGrp="1"/>
          </p:cNvSpPr>
          <p:nvPr>
            <p:ph type="title"/>
          </p:nvPr>
        </p:nvSpPr>
        <p:spPr>
          <a:xfrm>
            <a:off x="7525512" y="494951"/>
            <a:ext cx="4023360" cy="5722227"/>
          </a:xfrm>
        </p:spPr>
        <p:txBody>
          <a:bodyPr>
            <a:normAutofit/>
          </a:bodyPr>
          <a:lstStyle/>
          <a:p>
            <a:r>
              <a:rPr lang="en-US" sz="7200" dirty="0"/>
              <a:t>GLOSSARY: </a:t>
            </a:r>
            <a:r>
              <a:rPr lang="en-US" sz="7200" dirty="0">
                <a:highlight>
                  <a:srgbClr val="FFFF00"/>
                </a:highlight>
              </a:rPr>
              <a:t>(pg. 8)</a:t>
            </a:r>
            <a:endParaRPr lang="en-US" sz="7200" dirty="0"/>
          </a:p>
        </p:txBody>
      </p:sp>
      <p:sp>
        <p:nvSpPr>
          <p:cNvPr id="3" name="Content Placeholder 2">
            <a:extLst>
              <a:ext uri="{FF2B5EF4-FFF2-40B4-BE49-F238E27FC236}">
                <a16:creationId xmlns:a16="http://schemas.microsoft.com/office/drawing/2014/main" id="{DA1F88F0-F259-08F8-24F9-BD80B00CB17B}"/>
              </a:ext>
            </a:extLst>
          </p:cNvPr>
          <p:cNvSpPr>
            <a:spLocks noGrp="1"/>
          </p:cNvSpPr>
          <p:nvPr>
            <p:ph idx="1"/>
          </p:nvPr>
        </p:nvSpPr>
        <p:spPr>
          <a:xfrm>
            <a:off x="841248" y="850392"/>
            <a:ext cx="5824728" cy="5001768"/>
          </a:xfrm>
        </p:spPr>
        <p:txBody>
          <a:bodyPr anchor="ctr">
            <a:normAutofit/>
          </a:bodyPr>
          <a:lstStyle/>
          <a:p>
            <a:pPr marL="0" indent="0">
              <a:buNone/>
            </a:pPr>
            <a:endParaRPr lang="en-US" dirty="0"/>
          </a:p>
          <a:p>
            <a:r>
              <a:rPr lang="en-US" b="1" i="1" dirty="0"/>
              <a:t>Barrier Method:</a:t>
            </a:r>
          </a:p>
          <a:p>
            <a:pPr lvl="1"/>
            <a:r>
              <a:rPr lang="en-US" dirty="0"/>
              <a:t>P</a:t>
            </a:r>
            <a:r>
              <a:rPr lang="en-US" sz="2400" dirty="0"/>
              <a:t>uts a barrier between the penis and the vagina and stops the sperm from meeting the egg</a:t>
            </a:r>
            <a:r>
              <a:rPr lang="en-US" dirty="0"/>
              <a:t>. </a:t>
            </a:r>
          </a:p>
          <a:p>
            <a:pPr lvl="1"/>
            <a:endParaRPr lang="en-US" dirty="0"/>
          </a:p>
          <a:p>
            <a:r>
              <a:rPr lang="en-US" b="1" i="1" dirty="0"/>
              <a:t>Hormonal Method:</a:t>
            </a:r>
          </a:p>
          <a:p>
            <a:pPr lvl="1"/>
            <a:r>
              <a:rPr lang="en-US" sz="2400" dirty="0"/>
              <a:t>Regulates or stops ovulation and so preventing pregnancy</a:t>
            </a:r>
            <a:r>
              <a:rPr lang="en-US" sz="2400" b="1" dirty="0"/>
              <a:t>.</a:t>
            </a:r>
            <a:endParaRPr lang="en-US" b="1" i="1" dirty="0"/>
          </a:p>
          <a:p>
            <a:pPr lvl="1"/>
            <a:endParaRPr lang="en-US" dirty="0"/>
          </a:p>
          <a:p>
            <a:endParaRPr lang="en-US" dirty="0"/>
          </a:p>
        </p:txBody>
      </p:sp>
      <p:sp>
        <p:nvSpPr>
          <p:cNvPr id="14" name="sketchy content container">
            <a:extLst>
              <a:ext uri="{FF2B5EF4-FFF2-40B4-BE49-F238E27FC236}">
                <a16:creationId xmlns:a16="http://schemas.microsoft.com/office/drawing/2014/main" id="{65C49067-A40C-4881-A0C6-21B6125510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75" y="494951"/>
            <a:ext cx="6229604" cy="5722227"/>
          </a:xfrm>
          <a:custGeom>
            <a:avLst/>
            <a:gdLst>
              <a:gd name="connsiteX0" fmla="*/ 0 w 6229604"/>
              <a:gd name="connsiteY0" fmla="*/ 0 h 5722227"/>
              <a:gd name="connsiteX1" fmla="*/ 629882 w 6229604"/>
              <a:gd name="connsiteY1" fmla="*/ 0 h 5722227"/>
              <a:gd name="connsiteX2" fmla="*/ 1135172 w 6229604"/>
              <a:gd name="connsiteY2" fmla="*/ 0 h 5722227"/>
              <a:gd name="connsiteX3" fmla="*/ 1951943 w 6229604"/>
              <a:gd name="connsiteY3" fmla="*/ 0 h 5722227"/>
              <a:gd name="connsiteX4" fmla="*/ 2581825 w 6229604"/>
              <a:gd name="connsiteY4" fmla="*/ 0 h 5722227"/>
              <a:gd name="connsiteX5" fmla="*/ 3211707 w 6229604"/>
              <a:gd name="connsiteY5" fmla="*/ 0 h 5722227"/>
              <a:gd name="connsiteX6" fmla="*/ 4028477 w 6229604"/>
              <a:gd name="connsiteY6" fmla="*/ 0 h 5722227"/>
              <a:gd name="connsiteX7" fmla="*/ 4596063 w 6229604"/>
              <a:gd name="connsiteY7" fmla="*/ 0 h 5722227"/>
              <a:gd name="connsiteX8" fmla="*/ 5412834 w 6229604"/>
              <a:gd name="connsiteY8" fmla="*/ 0 h 5722227"/>
              <a:gd name="connsiteX9" fmla="*/ 6229604 w 6229604"/>
              <a:gd name="connsiteY9" fmla="*/ 0 h 5722227"/>
              <a:gd name="connsiteX10" fmla="*/ 6229604 w 6229604"/>
              <a:gd name="connsiteY10" fmla="*/ 635803 h 5722227"/>
              <a:gd name="connsiteX11" fmla="*/ 6229604 w 6229604"/>
              <a:gd name="connsiteY11" fmla="*/ 1271606 h 5722227"/>
              <a:gd name="connsiteX12" fmla="*/ 6229604 w 6229604"/>
              <a:gd name="connsiteY12" fmla="*/ 1964631 h 5722227"/>
              <a:gd name="connsiteX13" fmla="*/ 6229604 w 6229604"/>
              <a:gd name="connsiteY13" fmla="*/ 2428767 h 5722227"/>
              <a:gd name="connsiteX14" fmla="*/ 6229604 w 6229604"/>
              <a:gd name="connsiteY14" fmla="*/ 3064570 h 5722227"/>
              <a:gd name="connsiteX15" fmla="*/ 6229604 w 6229604"/>
              <a:gd name="connsiteY15" fmla="*/ 3700373 h 5722227"/>
              <a:gd name="connsiteX16" fmla="*/ 6229604 w 6229604"/>
              <a:gd name="connsiteY16" fmla="*/ 4336176 h 5722227"/>
              <a:gd name="connsiteX17" fmla="*/ 6229604 w 6229604"/>
              <a:gd name="connsiteY17" fmla="*/ 5029202 h 5722227"/>
              <a:gd name="connsiteX18" fmla="*/ 6229604 w 6229604"/>
              <a:gd name="connsiteY18" fmla="*/ 5722227 h 5722227"/>
              <a:gd name="connsiteX19" fmla="*/ 5475130 w 6229604"/>
              <a:gd name="connsiteY19" fmla="*/ 5722227 h 5722227"/>
              <a:gd name="connsiteX20" fmla="*/ 4907544 w 6229604"/>
              <a:gd name="connsiteY20" fmla="*/ 5722227 h 5722227"/>
              <a:gd name="connsiteX21" fmla="*/ 4090773 w 6229604"/>
              <a:gd name="connsiteY21" fmla="*/ 5722227 h 5722227"/>
              <a:gd name="connsiteX22" fmla="*/ 3398595 w 6229604"/>
              <a:gd name="connsiteY22" fmla="*/ 5722227 h 5722227"/>
              <a:gd name="connsiteX23" fmla="*/ 2831009 w 6229604"/>
              <a:gd name="connsiteY23" fmla="*/ 5722227 h 5722227"/>
              <a:gd name="connsiteX24" fmla="*/ 2138831 w 6229604"/>
              <a:gd name="connsiteY24" fmla="*/ 5722227 h 5722227"/>
              <a:gd name="connsiteX25" fmla="*/ 1633541 w 6229604"/>
              <a:gd name="connsiteY25" fmla="*/ 5722227 h 5722227"/>
              <a:gd name="connsiteX26" fmla="*/ 1128251 w 6229604"/>
              <a:gd name="connsiteY26" fmla="*/ 5722227 h 5722227"/>
              <a:gd name="connsiteX27" fmla="*/ 0 w 6229604"/>
              <a:gd name="connsiteY27" fmla="*/ 5722227 h 5722227"/>
              <a:gd name="connsiteX28" fmla="*/ 0 w 6229604"/>
              <a:gd name="connsiteY28" fmla="*/ 5200869 h 5722227"/>
              <a:gd name="connsiteX29" fmla="*/ 0 w 6229604"/>
              <a:gd name="connsiteY29" fmla="*/ 4450621 h 5722227"/>
              <a:gd name="connsiteX30" fmla="*/ 0 w 6229604"/>
              <a:gd name="connsiteY30" fmla="*/ 3872040 h 5722227"/>
              <a:gd name="connsiteX31" fmla="*/ 0 w 6229604"/>
              <a:gd name="connsiteY31" fmla="*/ 3407904 h 5722227"/>
              <a:gd name="connsiteX32" fmla="*/ 0 w 6229604"/>
              <a:gd name="connsiteY32" fmla="*/ 2714879 h 5722227"/>
              <a:gd name="connsiteX33" fmla="*/ 0 w 6229604"/>
              <a:gd name="connsiteY33" fmla="*/ 2193520 h 5722227"/>
              <a:gd name="connsiteX34" fmla="*/ 0 w 6229604"/>
              <a:gd name="connsiteY34" fmla="*/ 1500495 h 5722227"/>
              <a:gd name="connsiteX35" fmla="*/ 0 w 6229604"/>
              <a:gd name="connsiteY35" fmla="*/ 750248 h 5722227"/>
              <a:gd name="connsiteX36" fmla="*/ 0 w 6229604"/>
              <a:gd name="connsiteY36" fmla="*/ 0 h 5722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229604" h="5722227" extrusionOk="0">
                <a:moveTo>
                  <a:pt x="0" y="0"/>
                </a:moveTo>
                <a:cubicBezTo>
                  <a:pt x="134765" y="733"/>
                  <a:pt x="359555" y="-15387"/>
                  <a:pt x="629882" y="0"/>
                </a:cubicBezTo>
                <a:cubicBezTo>
                  <a:pt x="900209" y="15387"/>
                  <a:pt x="965450" y="15937"/>
                  <a:pt x="1135172" y="0"/>
                </a:cubicBezTo>
                <a:cubicBezTo>
                  <a:pt x="1304894" y="-15937"/>
                  <a:pt x="1787212" y="10921"/>
                  <a:pt x="1951943" y="0"/>
                </a:cubicBezTo>
                <a:cubicBezTo>
                  <a:pt x="2116674" y="-10921"/>
                  <a:pt x="2378222" y="13313"/>
                  <a:pt x="2581825" y="0"/>
                </a:cubicBezTo>
                <a:cubicBezTo>
                  <a:pt x="2785428" y="-13313"/>
                  <a:pt x="2915218" y="19972"/>
                  <a:pt x="3211707" y="0"/>
                </a:cubicBezTo>
                <a:cubicBezTo>
                  <a:pt x="3508196" y="-19972"/>
                  <a:pt x="3832828" y="-34359"/>
                  <a:pt x="4028477" y="0"/>
                </a:cubicBezTo>
                <a:cubicBezTo>
                  <a:pt x="4224126" y="34359"/>
                  <a:pt x="4361257" y="4467"/>
                  <a:pt x="4596063" y="0"/>
                </a:cubicBezTo>
                <a:cubicBezTo>
                  <a:pt x="4830869" y="-4467"/>
                  <a:pt x="5091403" y="-7365"/>
                  <a:pt x="5412834" y="0"/>
                </a:cubicBezTo>
                <a:cubicBezTo>
                  <a:pt x="5734265" y="7365"/>
                  <a:pt x="6034988" y="-26786"/>
                  <a:pt x="6229604" y="0"/>
                </a:cubicBezTo>
                <a:cubicBezTo>
                  <a:pt x="6208296" y="256153"/>
                  <a:pt x="6219810" y="335049"/>
                  <a:pt x="6229604" y="635803"/>
                </a:cubicBezTo>
                <a:cubicBezTo>
                  <a:pt x="6239398" y="936557"/>
                  <a:pt x="6230184" y="1092448"/>
                  <a:pt x="6229604" y="1271606"/>
                </a:cubicBezTo>
                <a:cubicBezTo>
                  <a:pt x="6229024" y="1450764"/>
                  <a:pt x="6217841" y="1797531"/>
                  <a:pt x="6229604" y="1964631"/>
                </a:cubicBezTo>
                <a:cubicBezTo>
                  <a:pt x="6241367" y="2131731"/>
                  <a:pt x="6220367" y="2235822"/>
                  <a:pt x="6229604" y="2428767"/>
                </a:cubicBezTo>
                <a:cubicBezTo>
                  <a:pt x="6238841" y="2621712"/>
                  <a:pt x="6220929" y="2925917"/>
                  <a:pt x="6229604" y="3064570"/>
                </a:cubicBezTo>
                <a:cubicBezTo>
                  <a:pt x="6238279" y="3203223"/>
                  <a:pt x="6256755" y="3501958"/>
                  <a:pt x="6229604" y="3700373"/>
                </a:cubicBezTo>
                <a:cubicBezTo>
                  <a:pt x="6202453" y="3898788"/>
                  <a:pt x="6201714" y="4046823"/>
                  <a:pt x="6229604" y="4336176"/>
                </a:cubicBezTo>
                <a:cubicBezTo>
                  <a:pt x="6257494" y="4625529"/>
                  <a:pt x="6258821" y="4774033"/>
                  <a:pt x="6229604" y="5029202"/>
                </a:cubicBezTo>
                <a:cubicBezTo>
                  <a:pt x="6200387" y="5284371"/>
                  <a:pt x="6233334" y="5383875"/>
                  <a:pt x="6229604" y="5722227"/>
                </a:cubicBezTo>
                <a:cubicBezTo>
                  <a:pt x="6016393" y="5707881"/>
                  <a:pt x="5684528" y="5751176"/>
                  <a:pt x="5475130" y="5722227"/>
                </a:cubicBezTo>
                <a:cubicBezTo>
                  <a:pt x="5265732" y="5693278"/>
                  <a:pt x="5082862" y="5732690"/>
                  <a:pt x="4907544" y="5722227"/>
                </a:cubicBezTo>
                <a:cubicBezTo>
                  <a:pt x="4732226" y="5711764"/>
                  <a:pt x="4474837" y="5716289"/>
                  <a:pt x="4090773" y="5722227"/>
                </a:cubicBezTo>
                <a:cubicBezTo>
                  <a:pt x="3706709" y="5728165"/>
                  <a:pt x="3645902" y="5723973"/>
                  <a:pt x="3398595" y="5722227"/>
                </a:cubicBezTo>
                <a:cubicBezTo>
                  <a:pt x="3151288" y="5720481"/>
                  <a:pt x="3001606" y="5732695"/>
                  <a:pt x="2831009" y="5722227"/>
                </a:cubicBezTo>
                <a:cubicBezTo>
                  <a:pt x="2660412" y="5711759"/>
                  <a:pt x="2424161" y="5689878"/>
                  <a:pt x="2138831" y="5722227"/>
                </a:cubicBezTo>
                <a:cubicBezTo>
                  <a:pt x="1853501" y="5754576"/>
                  <a:pt x="1788223" y="5720540"/>
                  <a:pt x="1633541" y="5722227"/>
                </a:cubicBezTo>
                <a:cubicBezTo>
                  <a:pt x="1478859" y="5723915"/>
                  <a:pt x="1324151" y="5739059"/>
                  <a:pt x="1128251" y="5722227"/>
                </a:cubicBezTo>
                <a:cubicBezTo>
                  <a:pt x="932351" y="5705396"/>
                  <a:pt x="522340" y="5691488"/>
                  <a:pt x="0" y="5722227"/>
                </a:cubicBezTo>
                <a:cubicBezTo>
                  <a:pt x="-8445" y="5596771"/>
                  <a:pt x="-11215" y="5344833"/>
                  <a:pt x="0" y="5200869"/>
                </a:cubicBezTo>
                <a:cubicBezTo>
                  <a:pt x="11215" y="5056905"/>
                  <a:pt x="20310" y="4693766"/>
                  <a:pt x="0" y="4450621"/>
                </a:cubicBezTo>
                <a:cubicBezTo>
                  <a:pt x="-20310" y="4207476"/>
                  <a:pt x="817" y="4075053"/>
                  <a:pt x="0" y="3872040"/>
                </a:cubicBezTo>
                <a:cubicBezTo>
                  <a:pt x="-817" y="3669027"/>
                  <a:pt x="-21729" y="3595882"/>
                  <a:pt x="0" y="3407904"/>
                </a:cubicBezTo>
                <a:cubicBezTo>
                  <a:pt x="21729" y="3219926"/>
                  <a:pt x="-30605" y="3052469"/>
                  <a:pt x="0" y="2714879"/>
                </a:cubicBezTo>
                <a:cubicBezTo>
                  <a:pt x="30605" y="2377289"/>
                  <a:pt x="-16081" y="2430808"/>
                  <a:pt x="0" y="2193520"/>
                </a:cubicBezTo>
                <a:cubicBezTo>
                  <a:pt x="16081" y="1956232"/>
                  <a:pt x="18120" y="1817979"/>
                  <a:pt x="0" y="1500495"/>
                </a:cubicBezTo>
                <a:cubicBezTo>
                  <a:pt x="-18120" y="1183011"/>
                  <a:pt x="23969" y="972269"/>
                  <a:pt x="0" y="750248"/>
                </a:cubicBezTo>
                <a:cubicBezTo>
                  <a:pt x="-23969" y="528227"/>
                  <a:pt x="-3769" y="358360"/>
                  <a:pt x="0" y="0"/>
                </a:cubicBezTo>
                <a:close/>
              </a:path>
            </a:pathLst>
          </a:custGeom>
          <a:noFill/>
          <a:ln w="25400">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2174DFB-8830-EBE1-20F8-A5003F1A9046}"/>
              </a:ext>
            </a:extLst>
          </p:cNvPr>
          <p:cNvSpPr txBox="1"/>
          <p:nvPr/>
        </p:nvSpPr>
        <p:spPr>
          <a:xfrm>
            <a:off x="7188999" y="4147981"/>
            <a:ext cx="4696385" cy="1200329"/>
          </a:xfrm>
          <a:prstGeom prst="rect">
            <a:avLst/>
          </a:prstGeom>
          <a:noFill/>
        </p:spPr>
        <p:txBody>
          <a:bodyPr wrap="square">
            <a:spAutoFit/>
          </a:bodyPr>
          <a:lstStyle/>
          <a:p>
            <a:pPr algn="ctr"/>
            <a:r>
              <a:rPr lang="en-US" sz="2400" dirty="0"/>
              <a:t>At the front of your books is your glossary. </a:t>
            </a:r>
          </a:p>
          <a:p>
            <a:pPr algn="ctr"/>
            <a:r>
              <a:rPr lang="en-US" sz="2400" dirty="0"/>
              <a:t>Turn to your glossary and add the following words and their definitions:</a:t>
            </a:r>
          </a:p>
        </p:txBody>
      </p:sp>
    </p:spTree>
    <p:extLst>
      <p:ext uri="{BB962C8B-B14F-4D97-AF65-F5344CB8AC3E}">
        <p14:creationId xmlns:p14="http://schemas.microsoft.com/office/powerpoint/2010/main" val="2633503867"/>
      </p:ext>
    </p:extLst>
  </p:cSld>
  <p:clrMapOvr>
    <a:overrideClrMapping bg1="dk1" tx1="lt1" bg2="dk2" tx2="lt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9D5F66-176A-D284-9E37-13377101B488}"/>
              </a:ext>
            </a:extLst>
          </p:cNvPr>
          <p:cNvSpPr>
            <a:spLocks noGrp="1"/>
          </p:cNvSpPr>
          <p:nvPr>
            <p:ph type="title"/>
          </p:nvPr>
        </p:nvSpPr>
        <p:spPr>
          <a:xfrm>
            <a:off x="630936" y="640080"/>
            <a:ext cx="4818888" cy="1481328"/>
          </a:xfrm>
        </p:spPr>
        <p:txBody>
          <a:bodyPr anchor="b">
            <a:normAutofit/>
          </a:bodyPr>
          <a:lstStyle/>
          <a:p>
            <a:r>
              <a:rPr lang="en-US" sz="5600" dirty="0">
                <a:solidFill>
                  <a:srgbClr val="FFC000"/>
                </a:solidFill>
              </a:rPr>
              <a:t>NATURAL METHODS:</a:t>
            </a:r>
          </a:p>
        </p:txBody>
      </p:sp>
      <p:sp>
        <p:nvSpPr>
          <p:cNvPr id="1033"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2386584"/>
            <a:ext cx="4114800" cy="18288"/>
          </a:xfrm>
          <a:custGeom>
            <a:avLst/>
            <a:gdLst>
              <a:gd name="connsiteX0" fmla="*/ 0 w 4114800"/>
              <a:gd name="connsiteY0" fmla="*/ 0 h 18288"/>
              <a:gd name="connsiteX1" fmla="*/ 768096 w 4114800"/>
              <a:gd name="connsiteY1" fmla="*/ 0 h 18288"/>
              <a:gd name="connsiteX2" fmla="*/ 1495044 w 4114800"/>
              <a:gd name="connsiteY2" fmla="*/ 0 h 18288"/>
              <a:gd name="connsiteX3" fmla="*/ 2221992 w 4114800"/>
              <a:gd name="connsiteY3" fmla="*/ 0 h 18288"/>
              <a:gd name="connsiteX4" fmla="*/ 2784348 w 4114800"/>
              <a:gd name="connsiteY4" fmla="*/ 0 h 18288"/>
              <a:gd name="connsiteX5" fmla="*/ 3387852 w 4114800"/>
              <a:gd name="connsiteY5" fmla="*/ 0 h 18288"/>
              <a:gd name="connsiteX6" fmla="*/ 4114800 w 4114800"/>
              <a:gd name="connsiteY6" fmla="*/ 0 h 18288"/>
              <a:gd name="connsiteX7" fmla="*/ 4114800 w 4114800"/>
              <a:gd name="connsiteY7" fmla="*/ 18288 h 18288"/>
              <a:gd name="connsiteX8" fmla="*/ 3429000 w 4114800"/>
              <a:gd name="connsiteY8" fmla="*/ 18288 h 18288"/>
              <a:gd name="connsiteX9" fmla="*/ 2866644 w 4114800"/>
              <a:gd name="connsiteY9" fmla="*/ 18288 h 18288"/>
              <a:gd name="connsiteX10" fmla="*/ 2304288 w 4114800"/>
              <a:gd name="connsiteY10" fmla="*/ 18288 h 18288"/>
              <a:gd name="connsiteX11" fmla="*/ 1577340 w 4114800"/>
              <a:gd name="connsiteY11" fmla="*/ 18288 h 18288"/>
              <a:gd name="connsiteX12" fmla="*/ 973836 w 4114800"/>
              <a:gd name="connsiteY12" fmla="*/ 18288 h 18288"/>
              <a:gd name="connsiteX13" fmla="*/ 0 w 4114800"/>
              <a:gd name="connsiteY13" fmla="*/ 18288 h 18288"/>
              <a:gd name="connsiteX14" fmla="*/ 0 w 411480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4800" h="18288" fill="none" extrusionOk="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w="4114800" h="18288" stroke="0" extrusionOk="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rgbClr val="FACA7B"/>
          </a:solidFill>
          <a:ln w="38100" cap="rnd">
            <a:solidFill>
              <a:srgbClr val="FACA7B"/>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48779AD-8338-FFA8-7169-02716D657F68}"/>
              </a:ext>
            </a:extLst>
          </p:cNvPr>
          <p:cNvSpPr>
            <a:spLocks noGrp="1"/>
          </p:cNvSpPr>
          <p:nvPr>
            <p:ph idx="1"/>
          </p:nvPr>
        </p:nvSpPr>
        <p:spPr>
          <a:xfrm>
            <a:off x="630936" y="2660904"/>
            <a:ext cx="4818888" cy="3547872"/>
          </a:xfrm>
        </p:spPr>
        <p:txBody>
          <a:bodyPr anchor="t">
            <a:normAutofit/>
          </a:bodyPr>
          <a:lstStyle/>
          <a:p>
            <a:r>
              <a:rPr lang="en-US" dirty="0"/>
              <a:t>Calendar (Rhythm Method)</a:t>
            </a:r>
          </a:p>
          <a:p>
            <a:pPr lvl="1"/>
            <a:r>
              <a:rPr lang="en-US" dirty="0"/>
              <a:t>Basal Body Temperature</a:t>
            </a:r>
          </a:p>
          <a:p>
            <a:pPr lvl="1"/>
            <a:r>
              <a:rPr lang="en-US" dirty="0"/>
              <a:t>Cervical Mucus </a:t>
            </a:r>
          </a:p>
          <a:p>
            <a:pPr lvl="1"/>
            <a:r>
              <a:rPr lang="en-US" dirty="0"/>
              <a:t>Ovulation Awareness</a:t>
            </a:r>
          </a:p>
          <a:p>
            <a:r>
              <a:rPr lang="en-US" dirty="0"/>
              <a:t>Withdrawal</a:t>
            </a:r>
          </a:p>
          <a:p>
            <a:r>
              <a:rPr lang="en-US" dirty="0"/>
              <a:t>Abstinence</a:t>
            </a:r>
          </a:p>
        </p:txBody>
      </p:sp>
      <mc:AlternateContent xmlns:mc="http://schemas.openxmlformats.org/markup-compatibility/2006" xmlns:p14="http://schemas.microsoft.com/office/powerpoint/2010/main">
        <mc:Choice Requires="p14">
          <p:contentPart p14:bwMode="auto" r:id="rId2">
            <p14:nvContentPartPr>
              <p14:cNvPr id="1035" name="Ink 103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5755403" y="1971579"/>
              <a:ext cx="360" cy="2160"/>
            </p14:xfrm>
          </p:contentPart>
        </mc:Choice>
        <mc:Fallback xmlns="">
          <p:pic>
            <p:nvPicPr>
              <p:cNvPr id="1035" name="Ink 103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3"/>
              <a:stretch>
                <a:fillRect/>
              </a:stretch>
            </p:blipFill>
            <p:spPr>
              <a:xfrm>
                <a:off x="5737403" y="1956150"/>
                <a:ext cx="36000" cy="32709"/>
              </a:xfrm>
              <a:prstGeom prst="rect">
                <a:avLst/>
              </a:prstGeom>
            </p:spPr>
          </p:pic>
        </mc:Fallback>
      </mc:AlternateContent>
      <p:pic>
        <p:nvPicPr>
          <p:cNvPr id="5122" name="Picture 2" descr="Contraception - Natural methods: Nursing - Biblioteca de Osmosis">
            <a:extLst>
              <a:ext uri="{FF2B5EF4-FFF2-40B4-BE49-F238E27FC236}">
                <a16:creationId xmlns:a16="http://schemas.microsoft.com/office/drawing/2014/main" id="{CEB788FA-96E9-CC6A-97F9-54DE032988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9563" y="1944504"/>
            <a:ext cx="7732437" cy="4349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62961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6ACFE-2C5B-7831-25B3-573ABC6B5D59}"/>
              </a:ext>
            </a:extLst>
          </p:cNvPr>
          <p:cNvSpPr>
            <a:spLocks noGrp="1"/>
          </p:cNvSpPr>
          <p:nvPr>
            <p:ph type="title"/>
          </p:nvPr>
        </p:nvSpPr>
        <p:spPr/>
        <p:txBody>
          <a:bodyPr/>
          <a:lstStyle/>
          <a:p>
            <a:r>
              <a:rPr lang="en-US" dirty="0"/>
              <a:t>Natural Methods</a:t>
            </a:r>
          </a:p>
        </p:txBody>
      </p:sp>
      <p:sp>
        <p:nvSpPr>
          <p:cNvPr id="3" name="Content Placeholder 2">
            <a:extLst>
              <a:ext uri="{FF2B5EF4-FFF2-40B4-BE49-F238E27FC236}">
                <a16:creationId xmlns:a16="http://schemas.microsoft.com/office/drawing/2014/main" id="{293C6BC2-927D-A792-41A7-285108A582C5}"/>
              </a:ext>
            </a:extLst>
          </p:cNvPr>
          <p:cNvSpPr>
            <a:spLocks noGrp="1"/>
          </p:cNvSpPr>
          <p:nvPr>
            <p:ph idx="1"/>
          </p:nvPr>
        </p:nvSpPr>
        <p:spPr/>
        <p:txBody>
          <a:bodyPr>
            <a:normAutofit lnSpcReduction="10000"/>
          </a:bodyPr>
          <a:lstStyle/>
          <a:p>
            <a:r>
              <a:rPr lang="en-US" dirty="0"/>
              <a:t>Involve finding out when a woman is at her most fertile so she can be extra careful or avoid sex all together during these times. </a:t>
            </a:r>
          </a:p>
          <a:p>
            <a:r>
              <a:rPr lang="en-US" dirty="0"/>
              <a:t>A combination of techniques is recommended for increased effectiveness.</a:t>
            </a:r>
          </a:p>
          <a:p>
            <a:r>
              <a:rPr lang="en-US" dirty="0"/>
              <a:t>Methods include: </a:t>
            </a:r>
          </a:p>
          <a:p>
            <a:pPr lvl="1"/>
            <a:r>
              <a:rPr lang="en-US" dirty="0"/>
              <a:t>Calendar (Rhythm) method</a:t>
            </a:r>
          </a:p>
          <a:p>
            <a:pPr lvl="1"/>
            <a:r>
              <a:rPr lang="en-US" dirty="0"/>
              <a:t>Basal body temperature</a:t>
            </a:r>
          </a:p>
          <a:p>
            <a:pPr lvl="1"/>
            <a:r>
              <a:rPr lang="en-US" dirty="0"/>
              <a:t>Cervical mucous method</a:t>
            </a:r>
          </a:p>
          <a:p>
            <a:pPr lvl="1"/>
            <a:r>
              <a:rPr lang="en-US" dirty="0"/>
              <a:t>Ovulation awareness method</a:t>
            </a:r>
          </a:p>
          <a:p>
            <a:pPr lvl="1"/>
            <a:r>
              <a:rPr lang="en-US" dirty="0"/>
              <a:t>Withdrawal </a:t>
            </a:r>
          </a:p>
        </p:txBody>
      </p:sp>
      <p:pic>
        <p:nvPicPr>
          <p:cNvPr id="4098" name="Picture 2" descr="Contraception - Natural methods: Nursing - Biblioteca de Osmosis">
            <a:extLst>
              <a:ext uri="{FF2B5EF4-FFF2-40B4-BE49-F238E27FC236}">
                <a16:creationId xmlns:a16="http://schemas.microsoft.com/office/drawing/2014/main" id="{1CA50178-1759-7D8A-342F-0909CBE3A7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3539326"/>
            <a:ext cx="5736238" cy="3096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08943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BAD1D-4282-BF5C-6C02-2C1A72D6CB67}"/>
              </a:ext>
            </a:extLst>
          </p:cNvPr>
          <p:cNvSpPr>
            <a:spLocks noGrp="1"/>
          </p:cNvSpPr>
          <p:nvPr>
            <p:ph type="title"/>
          </p:nvPr>
        </p:nvSpPr>
        <p:spPr/>
        <p:txBody>
          <a:bodyPr/>
          <a:lstStyle/>
          <a:p>
            <a:r>
              <a:rPr lang="en-US" dirty="0"/>
              <a:t>Rhythm Method</a:t>
            </a:r>
          </a:p>
        </p:txBody>
      </p:sp>
      <p:sp>
        <p:nvSpPr>
          <p:cNvPr id="3" name="Content Placeholder 2">
            <a:extLst>
              <a:ext uri="{FF2B5EF4-FFF2-40B4-BE49-F238E27FC236}">
                <a16:creationId xmlns:a16="http://schemas.microsoft.com/office/drawing/2014/main" id="{2C273D10-A870-F92D-DEA6-FB2DDD4F98C1}"/>
              </a:ext>
            </a:extLst>
          </p:cNvPr>
          <p:cNvSpPr>
            <a:spLocks noGrp="1"/>
          </p:cNvSpPr>
          <p:nvPr>
            <p:ph idx="1"/>
          </p:nvPr>
        </p:nvSpPr>
        <p:spPr>
          <a:xfrm>
            <a:off x="838200" y="1929383"/>
            <a:ext cx="10927976" cy="4713464"/>
          </a:xfrm>
        </p:spPr>
        <p:txBody>
          <a:bodyPr>
            <a:normAutofit fontScale="85000" lnSpcReduction="20000"/>
          </a:bodyPr>
          <a:lstStyle/>
          <a:p>
            <a:r>
              <a:rPr lang="en-US" dirty="0"/>
              <a:t>Used for females only with regular menstrual cycles. </a:t>
            </a:r>
          </a:p>
          <a:p>
            <a:r>
              <a:rPr lang="en-US" dirty="0"/>
              <a:t>This is done depending on the exact knowledge of ovulation and avoiding intercourse during the ovulation days. </a:t>
            </a:r>
          </a:p>
          <a:p>
            <a:r>
              <a:rPr lang="en-US" dirty="0"/>
              <a:t>For example: in a regular period that occurs every 28 days, ovulation should take place on day 14, so intercourse should be avoided 4-5 days before and after ovulation. </a:t>
            </a:r>
          </a:p>
          <a:p>
            <a:r>
              <a:rPr lang="en-US" dirty="0"/>
              <a:t>Ovulation can be detected by:</a:t>
            </a:r>
          </a:p>
          <a:p>
            <a:pPr lvl="1"/>
            <a:r>
              <a:rPr lang="en-US" dirty="0"/>
              <a:t>Basal body temperature – Increased body temperature by approx. 0.5 C</a:t>
            </a:r>
          </a:p>
          <a:p>
            <a:pPr lvl="1"/>
            <a:r>
              <a:rPr lang="en-US" dirty="0"/>
              <a:t>Cervical mucus – Change in type of cervical mucous </a:t>
            </a:r>
          </a:p>
          <a:p>
            <a:pPr lvl="1"/>
            <a:r>
              <a:rPr lang="en-US" dirty="0"/>
              <a:t>Ovulation awareness - Using an ovulation kit which can measure the amount of LH hormone present on that day. </a:t>
            </a:r>
          </a:p>
          <a:p>
            <a:r>
              <a:rPr lang="en-US" dirty="0"/>
              <a:t>There are apps available that allow women to track their menstrual cycle, body temperature, predicted ovulation etc. </a:t>
            </a:r>
          </a:p>
          <a:p>
            <a:r>
              <a:rPr lang="en-US" dirty="0"/>
              <a:t>Perfect use = 95% effective, typical use = ~75% effective.</a:t>
            </a:r>
          </a:p>
          <a:p>
            <a:r>
              <a:rPr lang="en-US" dirty="0"/>
              <a:t>Does not prevent STI’s.</a:t>
            </a:r>
          </a:p>
        </p:txBody>
      </p:sp>
    </p:spTree>
    <p:extLst>
      <p:ext uri="{BB962C8B-B14F-4D97-AF65-F5344CB8AC3E}">
        <p14:creationId xmlns:p14="http://schemas.microsoft.com/office/powerpoint/2010/main" val="7586218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Is Natural Family Planning a good contraceptive tool? - The OBGYN Mum">
            <a:extLst>
              <a:ext uri="{FF2B5EF4-FFF2-40B4-BE49-F238E27FC236}">
                <a16:creationId xmlns:a16="http://schemas.microsoft.com/office/drawing/2014/main" id="{D380B2D1-6993-5628-6968-6AA0F04075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291" y="633334"/>
            <a:ext cx="8707669" cy="580511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79F93B4-1CE3-BED8-2120-3446DF63EC3A}"/>
              </a:ext>
            </a:extLst>
          </p:cNvPr>
          <p:cNvSpPr txBox="1"/>
          <p:nvPr/>
        </p:nvSpPr>
        <p:spPr>
          <a:xfrm>
            <a:off x="9561080" y="456247"/>
            <a:ext cx="2308485" cy="6401753"/>
          </a:xfrm>
          <a:prstGeom prst="rect">
            <a:avLst/>
          </a:prstGeom>
          <a:noFill/>
        </p:spPr>
        <p:txBody>
          <a:bodyPr wrap="square" rtlCol="0">
            <a:spAutoFit/>
          </a:bodyPr>
          <a:lstStyle/>
          <a:p>
            <a:pPr algn="ctr"/>
            <a:r>
              <a:rPr lang="en-US" sz="2800" dirty="0"/>
              <a:t>Fertility windows are different for every person, and it does rely on a regular menstrual cycle, so it is still important to exercise caution if a person does not want to get pregnant. </a:t>
            </a:r>
          </a:p>
          <a:p>
            <a:pPr algn="ctr"/>
            <a:endParaRPr lang="en-US" sz="2800" dirty="0"/>
          </a:p>
          <a:p>
            <a:pPr algn="ctr"/>
            <a:r>
              <a:rPr lang="en-US" sz="2800" dirty="0"/>
              <a:t>While uncommon and the chances are lower, a person can still fall pregnant while on their period. </a:t>
            </a:r>
          </a:p>
          <a:p>
            <a:endParaRPr lang="en-US" dirty="0"/>
          </a:p>
        </p:txBody>
      </p:sp>
    </p:spTree>
    <p:extLst>
      <p:ext uri="{BB962C8B-B14F-4D97-AF65-F5344CB8AC3E}">
        <p14:creationId xmlns:p14="http://schemas.microsoft.com/office/powerpoint/2010/main" val="23957219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54F2B-27AE-73D1-103D-19E7D3118C90}"/>
              </a:ext>
            </a:extLst>
          </p:cNvPr>
          <p:cNvSpPr>
            <a:spLocks noGrp="1"/>
          </p:cNvSpPr>
          <p:nvPr>
            <p:ph type="title"/>
          </p:nvPr>
        </p:nvSpPr>
        <p:spPr/>
        <p:txBody>
          <a:bodyPr/>
          <a:lstStyle/>
          <a:p>
            <a:r>
              <a:rPr lang="en-US" dirty="0"/>
              <a:t>Withdrawal</a:t>
            </a:r>
          </a:p>
        </p:txBody>
      </p:sp>
      <p:sp>
        <p:nvSpPr>
          <p:cNvPr id="3" name="Content Placeholder 2">
            <a:extLst>
              <a:ext uri="{FF2B5EF4-FFF2-40B4-BE49-F238E27FC236}">
                <a16:creationId xmlns:a16="http://schemas.microsoft.com/office/drawing/2014/main" id="{41925D3D-B295-FD6D-01CF-8059B9C51C12}"/>
              </a:ext>
            </a:extLst>
          </p:cNvPr>
          <p:cNvSpPr>
            <a:spLocks noGrp="1"/>
          </p:cNvSpPr>
          <p:nvPr>
            <p:ph idx="1"/>
          </p:nvPr>
        </p:nvSpPr>
        <p:spPr>
          <a:xfrm>
            <a:off x="838200" y="1929384"/>
            <a:ext cx="5024718" cy="4251960"/>
          </a:xfrm>
        </p:spPr>
        <p:txBody>
          <a:bodyPr>
            <a:normAutofit lnSpcReduction="10000"/>
          </a:bodyPr>
          <a:lstStyle/>
          <a:p>
            <a:r>
              <a:rPr lang="en-US" dirty="0"/>
              <a:t>A.K.A. Coitus Interruptus or ‘pulling out.’</a:t>
            </a:r>
          </a:p>
          <a:p>
            <a:r>
              <a:rPr lang="en-US" dirty="0"/>
              <a:t>The withdrawal/removal of the penis from the vagina before ejaculation occurs. </a:t>
            </a:r>
          </a:p>
          <a:p>
            <a:r>
              <a:rPr lang="en-US" dirty="0"/>
              <a:t>Relies on timing and self-control. </a:t>
            </a:r>
          </a:p>
          <a:p>
            <a:r>
              <a:rPr lang="en-US" dirty="0"/>
              <a:t>Still a chance of pregnancy as pre-ejaculate (the fluid before ejaculation) can contain sperm. </a:t>
            </a:r>
          </a:p>
          <a:p>
            <a:r>
              <a:rPr lang="en-US" dirty="0"/>
              <a:t>Perfect use = 96%, typical use = 78%</a:t>
            </a:r>
          </a:p>
          <a:p>
            <a:r>
              <a:rPr lang="en-US" dirty="0"/>
              <a:t>Does not prevent STI’s.</a:t>
            </a:r>
          </a:p>
        </p:txBody>
      </p:sp>
      <p:pic>
        <p:nvPicPr>
          <p:cNvPr id="5122" name="Picture 2" descr="A contraceptive method in which the male partner withdraws his penis from  the vagina just before ejaculation as to avoid insemination, is called">
            <a:extLst>
              <a:ext uri="{FF2B5EF4-FFF2-40B4-BE49-F238E27FC236}">
                <a16:creationId xmlns:a16="http://schemas.microsoft.com/office/drawing/2014/main" id="{9F66EF46-78EA-2D02-4D08-A29E9377522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71" t="3061" r="2644" b="13648"/>
          <a:stretch/>
        </p:blipFill>
        <p:spPr bwMode="auto">
          <a:xfrm>
            <a:off x="5862918" y="3550023"/>
            <a:ext cx="6145306" cy="319905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Female reproductive system uterus diagram Vector Image">
            <a:extLst>
              <a:ext uri="{FF2B5EF4-FFF2-40B4-BE49-F238E27FC236}">
                <a16:creationId xmlns:a16="http://schemas.microsoft.com/office/drawing/2014/main" id="{4B86F6ED-B3FA-6A02-00B1-C4CD2822B5D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788" b="27302"/>
          <a:stretch/>
        </p:blipFill>
        <p:spPr bwMode="auto">
          <a:xfrm>
            <a:off x="5935158" y="286635"/>
            <a:ext cx="6000826" cy="2617164"/>
          </a:xfrm>
          <a:prstGeom prst="rect">
            <a:avLst/>
          </a:prstGeom>
          <a:noFill/>
          <a:extLst>
            <a:ext uri="{909E8E84-426E-40DD-AFC4-6F175D3DCCD1}">
              <a14:hiddenFill xmlns:a14="http://schemas.microsoft.com/office/drawing/2010/main">
                <a:solidFill>
                  <a:srgbClr val="FFFFFF"/>
                </a:solidFill>
              </a14:hiddenFill>
            </a:ext>
          </a:extLst>
        </p:spPr>
      </p:pic>
      <p:sp>
        <p:nvSpPr>
          <p:cNvPr id="4" name="Oval 3">
            <a:extLst>
              <a:ext uri="{FF2B5EF4-FFF2-40B4-BE49-F238E27FC236}">
                <a16:creationId xmlns:a16="http://schemas.microsoft.com/office/drawing/2014/main" id="{6597F43F-D8ED-681F-2084-98964FA2E484}"/>
              </a:ext>
            </a:extLst>
          </p:cNvPr>
          <p:cNvSpPr/>
          <p:nvPr/>
        </p:nvSpPr>
        <p:spPr>
          <a:xfrm>
            <a:off x="8174577" y="1553376"/>
            <a:ext cx="1548882" cy="1422639"/>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094B606D-9517-ED79-EDE4-86357F0B691E}"/>
              </a:ext>
            </a:extLst>
          </p:cNvPr>
          <p:cNvCxnSpPr>
            <a:stCxn id="4" idx="3"/>
          </p:cNvCxnSpPr>
          <p:nvPr/>
        </p:nvCxnSpPr>
        <p:spPr>
          <a:xfrm flipH="1">
            <a:off x="7678271" y="2767674"/>
            <a:ext cx="723135" cy="71013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9559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Withdrawal - Avort.md">
            <a:extLst>
              <a:ext uri="{FF2B5EF4-FFF2-40B4-BE49-F238E27FC236}">
                <a16:creationId xmlns:a16="http://schemas.microsoft.com/office/drawing/2014/main" id="{13518E93-C334-AFD4-B431-B69FE177DF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552" y="1000310"/>
            <a:ext cx="6736930" cy="50461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FFE0379-ECCD-8166-1A55-BDFB8D0D0E91}"/>
              </a:ext>
            </a:extLst>
          </p:cNvPr>
          <p:cNvSpPr txBox="1"/>
          <p:nvPr/>
        </p:nvSpPr>
        <p:spPr>
          <a:xfrm>
            <a:off x="8054788" y="1322804"/>
            <a:ext cx="3738283" cy="4401205"/>
          </a:xfrm>
          <a:prstGeom prst="rect">
            <a:avLst/>
          </a:prstGeom>
          <a:noFill/>
        </p:spPr>
        <p:txBody>
          <a:bodyPr wrap="square" rtlCol="0">
            <a:spAutoFit/>
          </a:bodyPr>
          <a:lstStyle/>
          <a:p>
            <a:pPr marL="285750" indent="-285750">
              <a:buFont typeface="Arial" panose="020B0604020202020204" pitchFamily="34" charset="0"/>
              <a:buChar char="•"/>
            </a:pPr>
            <a:r>
              <a:rPr lang="en-US" sz="2800" dirty="0"/>
              <a:t>Pre-ejaculate can still contain semen, meaning there is still a chance pregnancy could occur. </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If using the withdrawal method, it is important for the ejaculate to be away from the vulva/vaginal opening. </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Withdrawal method can be partnered with a hormonal method. </a:t>
            </a:r>
          </a:p>
        </p:txBody>
      </p:sp>
    </p:spTree>
    <p:extLst>
      <p:ext uri="{BB962C8B-B14F-4D97-AF65-F5344CB8AC3E}">
        <p14:creationId xmlns:p14="http://schemas.microsoft.com/office/powerpoint/2010/main" val="23728784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A167A-5EDB-09D4-7C36-BEDD73FFA3BE}"/>
              </a:ext>
            </a:extLst>
          </p:cNvPr>
          <p:cNvSpPr>
            <a:spLocks noGrp="1"/>
          </p:cNvSpPr>
          <p:nvPr>
            <p:ph type="title"/>
          </p:nvPr>
        </p:nvSpPr>
        <p:spPr/>
        <p:txBody>
          <a:bodyPr/>
          <a:lstStyle/>
          <a:p>
            <a:r>
              <a:rPr lang="en-US" dirty="0"/>
              <a:t>ABSTINENCE</a:t>
            </a:r>
          </a:p>
        </p:txBody>
      </p:sp>
      <p:sp>
        <p:nvSpPr>
          <p:cNvPr id="3" name="Content Placeholder 2">
            <a:extLst>
              <a:ext uri="{FF2B5EF4-FFF2-40B4-BE49-F238E27FC236}">
                <a16:creationId xmlns:a16="http://schemas.microsoft.com/office/drawing/2014/main" id="{376742CB-825E-DCA6-C485-0C4405B7EDF2}"/>
              </a:ext>
            </a:extLst>
          </p:cNvPr>
          <p:cNvSpPr>
            <a:spLocks noGrp="1"/>
          </p:cNvSpPr>
          <p:nvPr>
            <p:ph idx="1"/>
          </p:nvPr>
        </p:nvSpPr>
        <p:spPr/>
        <p:txBody>
          <a:bodyPr/>
          <a:lstStyle/>
          <a:p>
            <a:r>
              <a:rPr lang="en-US" dirty="0"/>
              <a:t>Not engaging in any kind of sexual contact or behaviour. </a:t>
            </a:r>
          </a:p>
          <a:p>
            <a:r>
              <a:rPr lang="en-US" dirty="0"/>
              <a:t>100% effective (the only method).</a:t>
            </a:r>
          </a:p>
          <a:p>
            <a:r>
              <a:rPr lang="en-US" dirty="0"/>
              <a:t>STI prevention.</a:t>
            </a:r>
          </a:p>
        </p:txBody>
      </p:sp>
      <p:pic>
        <p:nvPicPr>
          <p:cNvPr id="10242" name="Picture 2" descr="Abstinence Special Lineal color icon">
            <a:extLst>
              <a:ext uri="{FF2B5EF4-FFF2-40B4-BE49-F238E27FC236}">
                <a16:creationId xmlns:a16="http://schemas.microsoft.com/office/drawing/2014/main" id="{1BA373D9-484C-631F-196C-F4631A6046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5783" y="2136601"/>
            <a:ext cx="4283439" cy="42834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21442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9D5F66-176A-D284-9E37-13377101B488}"/>
              </a:ext>
            </a:extLst>
          </p:cNvPr>
          <p:cNvSpPr>
            <a:spLocks noGrp="1"/>
          </p:cNvSpPr>
          <p:nvPr>
            <p:ph type="title"/>
          </p:nvPr>
        </p:nvSpPr>
        <p:spPr>
          <a:xfrm>
            <a:off x="630936" y="640080"/>
            <a:ext cx="4818888" cy="1481328"/>
          </a:xfrm>
        </p:spPr>
        <p:txBody>
          <a:bodyPr anchor="b">
            <a:normAutofit/>
          </a:bodyPr>
          <a:lstStyle/>
          <a:p>
            <a:r>
              <a:rPr lang="en-US" sz="5600" dirty="0">
                <a:solidFill>
                  <a:srgbClr val="00B0F0"/>
                </a:solidFill>
              </a:rPr>
              <a:t>EMERGENCY METHODS:</a:t>
            </a:r>
          </a:p>
        </p:txBody>
      </p:sp>
      <p:sp>
        <p:nvSpPr>
          <p:cNvPr id="1033"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2386584"/>
            <a:ext cx="4114800" cy="18288"/>
          </a:xfrm>
          <a:custGeom>
            <a:avLst/>
            <a:gdLst>
              <a:gd name="connsiteX0" fmla="*/ 0 w 4114800"/>
              <a:gd name="connsiteY0" fmla="*/ 0 h 18288"/>
              <a:gd name="connsiteX1" fmla="*/ 768096 w 4114800"/>
              <a:gd name="connsiteY1" fmla="*/ 0 h 18288"/>
              <a:gd name="connsiteX2" fmla="*/ 1495044 w 4114800"/>
              <a:gd name="connsiteY2" fmla="*/ 0 h 18288"/>
              <a:gd name="connsiteX3" fmla="*/ 2221992 w 4114800"/>
              <a:gd name="connsiteY3" fmla="*/ 0 h 18288"/>
              <a:gd name="connsiteX4" fmla="*/ 2784348 w 4114800"/>
              <a:gd name="connsiteY4" fmla="*/ 0 h 18288"/>
              <a:gd name="connsiteX5" fmla="*/ 3387852 w 4114800"/>
              <a:gd name="connsiteY5" fmla="*/ 0 h 18288"/>
              <a:gd name="connsiteX6" fmla="*/ 4114800 w 4114800"/>
              <a:gd name="connsiteY6" fmla="*/ 0 h 18288"/>
              <a:gd name="connsiteX7" fmla="*/ 4114800 w 4114800"/>
              <a:gd name="connsiteY7" fmla="*/ 18288 h 18288"/>
              <a:gd name="connsiteX8" fmla="*/ 3429000 w 4114800"/>
              <a:gd name="connsiteY8" fmla="*/ 18288 h 18288"/>
              <a:gd name="connsiteX9" fmla="*/ 2866644 w 4114800"/>
              <a:gd name="connsiteY9" fmla="*/ 18288 h 18288"/>
              <a:gd name="connsiteX10" fmla="*/ 2304288 w 4114800"/>
              <a:gd name="connsiteY10" fmla="*/ 18288 h 18288"/>
              <a:gd name="connsiteX11" fmla="*/ 1577340 w 4114800"/>
              <a:gd name="connsiteY11" fmla="*/ 18288 h 18288"/>
              <a:gd name="connsiteX12" fmla="*/ 973836 w 4114800"/>
              <a:gd name="connsiteY12" fmla="*/ 18288 h 18288"/>
              <a:gd name="connsiteX13" fmla="*/ 0 w 4114800"/>
              <a:gd name="connsiteY13" fmla="*/ 18288 h 18288"/>
              <a:gd name="connsiteX14" fmla="*/ 0 w 411480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4800" h="18288" fill="none" extrusionOk="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w="4114800" h="18288" stroke="0" extrusionOk="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rgbClr val="FACA7B"/>
          </a:solidFill>
          <a:ln w="38100" cap="rnd">
            <a:solidFill>
              <a:srgbClr val="FACA7B"/>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48779AD-8338-FFA8-7169-02716D657F68}"/>
              </a:ext>
            </a:extLst>
          </p:cNvPr>
          <p:cNvSpPr>
            <a:spLocks noGrp="1"/>
          </p:cNvSpPr>
          <p:nvPr>
            <p:ph idx="1"/>
          </p:nvPr>
        </p:nvSpPr>
        <p:spPr>
          <a:xfrm>
            <a:off x="630936" y="2660904"/>
            <a:ext cx="4818888" cy="3547872"/>
          </a:xfrm>
        </p:spPr>
        <p:txBody>
          <a:bodyPr anchor="t">
            <a:normAutofit/>
          </a:bodyPr>
          <a:lstStyle/>
          <a:p>
            <a:r>
              <a:rPr lang="en-US" dirty="0"/>
              <a:t>Emergency Contraceptive Pill/Plan B</a:t>
            </a:r>
          </a:p>
          <a:p>
            <a:r>
              <a:rPr lang="en-US" dirty="0"/>
              <a:t>Copper IUD</a:t>
            </a:r>
          </a:p>
        </p:txBody>
      </p:sp>
      <mc:AlternateContent xmlns:mc="http://schemas.openxmlformats.org/markup-compatibility/2006" xmlns:p14="http://schemas.microsoft.com/office/powerpoint/2010/main">
        <mc:Choice Requires="p14">
          <p:contentPart p14:bwMode="auto" r:id="rId3">
            <p14:nvContentPartPr>
              <p14:cNvPr id="1035" name="Ink 103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5755403" y="1971579"/>
              <a:ext cx="360" cy="2160"/>
            </p14:xfrm>
          </p:contentPart>
        </mc:Choice>
        <mc:Fallback xmlns="">
          <p:pic>
            <p:nvPicPr>
              <p:cNvPr id="1035" name="Ink 103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5737403" y="1956150"/>
                <a:ext cx="36000" cy="32709"/>
              </a:xfrm>
              <a:prstGeom prst="rect">
                <a:avLst/>
              </a:prstGeom>
            </p:spPr>
          </p:pic>
        </mc:Fallback>
      </mc:AlternateContent>
      <p:pic>
        <p:nvPicPr>
          <p:cNvPr id="4" name="Picture 2" descr="Do you think the morning-after pill is too expensive in the UK? | Health |  The Guardian">
            <a:extLst>
              <a:ext uri="{FF2B5EF4-FFF2-40B4-BE49-F238E27FC236}">
                <a16:creationId xmlns:a16="http://schemas.microsoft.com/office/drawing/2014/main" id="{C3498653-A7A8-7BE9-F9D7-5E4FB208E0A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76941" y="2121408"/>
            <a:ext cx="3009120" cy="300912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ellaOne - Most Effective Emergency Morning After Pill 30mg | Sexual Health  | Superdrug">
            <a:extLst>
              <a:ext uri="{FF2B5EF4-FFF2-40B4-BE49-F238E27FC236}">
                <a16:creationId xmlns:a16="http://schemas.microsoft.com/office/drawing/2014/main" id="{1420B110-55D6-5714-00BB-4AA7E211B0D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0127" t="24652" r="12550" b="22623"/>
          <a:stretch/>
        </p:blipFill>
        <p:spPr bwMode="auto">
          <a:xfrm>
            <a:off x="5528343" y="651376"/>
            <a:ext cx="3264959" cy="2226295"/>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Copper Intrauterine Device (IUD)">
            <a:extLst>
              <a:ext uri="{FF2B5EF4-FFF2-40B4-BE49-F238E27FC236}">
                <a16:creationId xmlns:a16="http://schemas.microsoft.com/office/drawing/2014/main" id="{ED72AF08-0347-D049-2853-CC6B47BC82B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91053" y="4157651"/>
            <a:ext cx="4102249" cy="2051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40019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C5950-2648-CE7F-AE3A-A6593EFA601E}"/>
              </a:ext>
            </a:extLst>
          </p:cNvPr>
          <p:cNvSpPr>
            <a:spLocks noGrp="1"/>
          </p:cNvSpPr>
          <p:nvPr>
            <p:ph type="title"/>
          </p:nvPr>
        </p:nvSpPr>
        <p:spPr/>
        <p:txBody>
          <a:bodyPr/>
          <a:lstStyle/>
          <a:p>
            <a:r>
              <a:rPr lang="en-US" dirty="0"/>
              <a:t>EMERGENCY CONTRACEPTIVE PILL / PLAN B </a:t>
            </a:r>
          </a:p>
        </p:txBody>
      </p:sp>
      <p:sp>
        <p:nvSpPr>
          <p:cNvPr id="3" name="Content Placeholder 2">
            <a:extLst>
              <a:ext uri="{FF2B5EF4-FFF2-40B4-BE49-F238E27FC236}">
                <a16:creationId xmlns:a16="http://schemas.microsoft.com/office/drawing/2014/main" id="{03F74C7E-FF43-AFE1-AF8E-9305C1EE4EDB}"/>
              </a:ext>
            </a:extLst>
          </p:cNvPr>
          <p:cNvSpPr>
            <a:spLocks noGrp="1"/>
          </p:cNvSpPr>
          <p:nvPr>
            <p:ph idx="1"/>
          </p:nvPr>
        </p:nvSpPr>
        <p:spPr>
          <a:xfrm>
            <a:off x="838200" y="1929383"/>
            <a:ext cx="10515600" cy="4713463"/>
          </a:xfrm>
        </p:spPr>
        <p:txBody>
          <a:bodyPr>
            <a:normAutofit fontScale="92500" lnSpcReduction="10000"/>
          </a:bodyPr>
          <a:lstStyle/>
          <a:p>
            <a:r>
              <a:rPr lang="en-US" dirty="0"/>
              <a:t>A.K.A. Morning After Pill.</a:t>
            </a:r>
          </a:p>
          <a:p>
            <a:r>
              <a:rPr lang="en-US" dirty="0"/>
              <a:t>A ‘one-off’ pill taken ASAP after unprotected sex or where a contraceptive failure has occurred. </a:t>
            </a:r>
          </a:p>
          <a:p>
            <a:pPr lvl="1"/>
            <a:r>
              <a:rPr lang="en-US" dirty="0"/>
              <a:t>The sooner it is taken, the more effective it is in preventing pregnancy. </a:t>
            </a:r>
          </a:p>
          <a:p>
            <a:r>
              <a:rPr lang="en-US" dirty="0"/>
              <a:t>Available without a prescription. </a:t>
            </a:r>
          </a:p>
          <a:p>
            <a:r>
              <a:rPr lang="en-US" dirty="0"/>
              <a:t>Not to be used as a regular form of contraception. </a:t>
            </a:r>
          </a:p>
          <a:p>
            <a:r>
              <a:rPr lang="en-US" dirty="0"/>
              <a:t>Works by preventing or delaying ovulation.</a:t>
            </a:r>
          </a:p>
          <a:p>
            <a:r>
              <a:rPr lang="en-US" dirty="0"/>
              <a:t>Side-effects may include a heavier next period or have an early or later period, nausea, headaches, bloating, tender breasts.</a:t>
            </a:r>
          </a:p>
          <a:p>
            <a:r>
              <a:rPr lang="en-US" dirty="0"/>
              <a:t>85% effective (varies depending on when the pill is taken).</a:t>
            </a:r>
          </a:p>
          <a:p>
            <a:r>
              <a:rPr lang="en-US" dirty="0"/>
              <a:t>Does not prevent STI’s.</a:t>
            </a:r>
          </a:p>
          <a:p>
            <a:endParaRPr lang="en-US" dirty="0"/>
          </a:p>
        </p:txBody>
      </p:sp>
      <p:pic>
        <p:nvPicPr>
          <p:cNvPr id="9218" name="Picture 2" descr="Do you think the morning-after pill is too expensive in the UK? | Health |  The Guardian">
            <a:extLst>
              <a:ext uri="{FF2B5EF4-FFF2-40B4-BE49-F238E27FC236}">
                <a16:creationId xmlns:a16="http://schemas.microsoft.com/office/drawing/2014/main" id="{DC70FA26-840A-983F-CE30-0FE4F0DA6D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0796" y="1929383"/>
            <a:ext cx="1837896" cy="1837896"/>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ellaOne - Most Effective Emergency Morning After Pill 30mg | Sexual Health  | Superdrug">
            <a:extLst>
              <a:ext uri="{FF2B5EF4-FFF2-40B4-BE49-F238E27FC236}">
                <a16:creationId xmlns:a16="http://schemas.microsoft.com/office/drawing/2014/main" id="{017C4A56-F301-3E4E-DCCE-07D29AD115B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0127" t="24652" r="12550" b="22623"/>
          <a:stretch/>
        </p:blipFill>
        <p:spPr bwMode="auto">
          <a:xfrm>
            <a:off x="7117478" y="3296336"/>
            <a:ext cx="2398426" cy="1635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32420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336BA-39B7-B220-EC85-352DBEB55248}"/>
              </a:ext>
            </a:extLst>
          </p:cNvPr>
          <p:cNvSpPr>
            <a:spLocks noGrp="1"/>
          </p:cNvSpPr>
          <p:nvPr>
            <p:ph type="title"/>
          </p:nvPr>
        </p:nvSpPr>
        <p:spPr/>
        <p:txBody>
          <a:bodyPr/>
          <a:lstStyle/>
          <a:p>
            <a:r>
              <a:rPr lang="en-US" dirty="0"/>
              <a:t>Copper IUD - RECAP</a:t>
            </a:r>
          </a:p>
        </p:txBody>
      </p:sp>
      <p:sp>
        <p:nvSpPr>
          <p:cNvPr id="3" name="Content Placeholder 2">
            <a:extLst>
              <a:ext uri="{FF2B5EF4-FFF2-40B4-BE49-F238E27FC236}">
                <a16:creationId xmlns:a16="http://schemas.microsoft.com/office/drawing/2014/main" id="{400AC73C-FB5E-E301-0796-6B23F56F2783}"/>
              </a:ext>
            </a:extLst>
          </p:cNvPr>
          <p:cNvSpPr>
            <a:spLocks noGrp="1"/>
          </p:cNvSpPr>
          <p:nvPr>
            <p:ph sz="half" idx="1"/>
          </p:nvPr>
        </p:nvSpPr>
        <p:spPr/>
        <p:txBody>
          <a:bodyPr>
            <a:normAutofit/>
          </a:bodyPr>
          <a:lstStyle/>
          <a:p>
            <a:r>
              <a:rPr lang="en-US" sz="3200" dirty="0"/>
              <a:t>T shaped device with copper wire.</a:t>
            </a:r>
          </a:p>
          <a:p>
            <a:r>
              <a:rPr lang="en-US" sz="3200" dirty="0"/>
              <a:t>Placed inside the uterus.</a:t>
            </a:r>
          </a:p>
          <a:p>
            <a:r>
              <a:rPr lang="en-US" dirty="0"/>
              <a:t>T</a:t>
            </a:r>
            <a:r>
              <a:rPr lang="en-US" sz="3200" dirty="0"/>
              <a:t>oxic to sperm which prevents fertilisation, slows the movement of sperm and changes the lining of the uterus to prevent implantation. </a:t>
            </a:r>
          </a:p>
          <a:p>
            <a:r>
              <a:rPr lang="en-US" sz="3200" dirty="0"/>
              <a:t>They can last for 5 – 10 years </a:t>
            </a:r>
            <a:br>
              <a:rPr lang="en-US" sz="3200" dirty="0"/>
            </a:br>
            <a:r>
              <a:rPr lang="en-US" sz="3200" dirty="0"/>
              <a:t>(</a:t>
            </a:r>
            <a:r>
              <a:rPr lang="en-US" sz="3200" b="1" u="sng" dirty="0"/>
              <a:t>L</a:t>
            </a:r>
            <a:r>
              <a:rPr lang="en-US" sz="3200" dirty="0"/>
              <a:t>ong </a:t>
            </a:r>
            <a:r>
              <a:rPr lang="en-US" sz="3200" b="1" u="sng" dirty="0"/>
              <a:t>A</a:t>
            </a:r>
            <a:r>
              <a:rPr lang="en-US" sz="3200" dirty="0"/>
              <a:t>cting </a:t>
            </a:r>
            <a:r>
              <a:rPr lang="en-US" sz="3200" b="1" u="sng" dirty="0"/>
              <a:t>R</a:t>
            </a:r>
            <a:r>
              <a:rPr lang="en-US" sz="3200" dirty="0"/>
              <a:t>eversible – LAR method)</a:t>
            </a:r>
          </a:p>
          <a:p>
            <a:endParaRPr lang="en-US" dirty="0"/>
          </a:p>
        </p:txBody>
      </p:sp>
      <p:sp>
        <p:nvSpPr>
          <p:cNvPr id="4" name="Content Placeholder 3">
            <a:extLst>
              <a:ext uri="{FF2B5EF4-FFF2-40B4-BE49-F238E27FC236}">
                <a16:creationId xmlns:a16="http://schemas.microsoft.com/office/drawing/2014/main" id="{AB37B1EC-B723-6F43-67E1-3B26EB2479F6}"/>
              </a:ext>
            </a:extLst>
          </p:cNvPr>
          <p:cNvSpPr>
            <a:spLocks noGrp="1"/>
          </p:cNvSpPr>
          <p:nvPr>
            <p:ph sz="half" idx="2"/>
          </p:nvPr>
        </p:nvSpPr>
        <p:spPr/>
        <p:txBody>
          <a:bodyPr>
            <a:normAutofit/>
          </a:bodyPr>
          <a:lstStyle/>
          <a:p>
            <a:r>
              <a:rPr lang="en-US" sz="3200" dirty="0"/>
              <a:t>Can be used as an emergency contraception if inserted up to 5 days after unprotected sex.</a:t>
            </a:r>
          </a:p>
          <a:p>
            <a:r>
              <a:rPr lang="en-US" sz="3200" dirty="0"/>
              <a:t>99% effective.</a:t>
            </a:r>
          </a:p>
          <a:p>
            <a:r>
              <a:rPr lang="en-US" sz="3200" dirty="0"/>
              <a:t>Does not prevent STI’s</a:t>
            </a:r>
          </a:p>
        </p:txBody>
      </p:sp>
      <p:pic>
        <p:nvPicPr>
          <p:cNvPr id="5" name="Picture 2" descr="Copper Intrauterine Device (IUD)">
            <a:extLst>
              <a:ext uri="{FF2B5EF4-FFF2-40B4-BE49-F238E27FC236}">
                <a16:creationId xmlns:a16="http://schemas.microsoft.com/office/drawing/2014/main" id="{96E79BAC-B8EC-3466-EFB3-6C26990EF9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51551" y="4547616"/>
            <a:ext cx="4102249" cy="2051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44769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9D5F66-176A-D284-9E37-13377101B488}"/>
              </a:ext>
            </a:extLst>
          </p:cNvPr>
          <p:cNvSpPr>
            <a:spLocks noGrp="1"/>
          </p:cNvSpPr>
          <p:nvPr>
            <p:ph type="title"/>
          </p:nvPr>
        </p:nvSpPr>
        <p:spPr>
          <a:xfrm>
            <a:off x="630936" y="640080"/>
            <a:ext cx="4818888" cy="1481328"/>
          </a:xfrm>
        </p:spPr>
        <p:txBody>
          <a:bodyPr anchor="b">
            <a:normAutofit/>
          </a:bodyPr>
          <a:lstStyle/>
          <a:p>
            <a:r>
              <a:rPr lang="en-US" sz="5600" dirty="0">
                <a:solidFill>
                  <a:srgbClr val="7030A0"/>
                </a:solidFill>
              </a:rPr>
              <a:t>SURGICAL METHODS:</a:t>
            </a:r>
          </a:p>
        </p:txBody>
      </p:sp>
      <p:sp>
        <p:nvSpPr>
          <p:cNvPr id="1033"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2386584"/>
            <a:ext cx="4114800" cy="18288"/>
          </a:xfrm>
          <a:custGeom>
            <a:avLst/>
            <a:gdLst>
              <a:gd name="connsiteX0" fmla="*/ 0 w 4114800"/>
              <a:gd name="connsiteY0" fmla="*/ 0 h 18288"/>
              <a:gd name="connsiteX1" fmla="*/ 768096 w 4114800"/>
              <a:gd name="connsiteY1" fmla="*/ 0 h 18288"/>
              <a:gd name="connsiteX2" fmla="*/ 1495044 w 4114800"/>
              <a:gd name="connsiteY2" fmla="*/ 0 h 18288"/>
              <a:gd name="connsiteX3" fmla="*/ 2221992 w 4114800"/>
              <a:gd name="connsiteY3" fmla="*/ 0 h 18288"/>
              <a:gd name="connsiteX4" fmla="*/ 2784348 w 4114800"/>
              <a:gd name="connsiteY4" fmla="*/ 0 h 18288"/>
              <a:gd name="connsiteX5" fmla="*/ 3387852 w 4114800"/>
              <a:gd name="connsiteY5" fmla="*/ 0 h 18288"/>
              <a:gd name="connsiteX6" fmla="*/ 4114800 w 4114800"/>
              <a:gd name="connsiteY6" fmla="*/ 0 h 18288"/>
              <a:gd name="connsiteX7" fmla="*/ 4114800 w 4114800"/>
              <a:gd name="connsiteY7" fmla="*/ 18288 h 18288"/>
              <a:gd name="connsiteX8" fmla="*/ 3429000 w 4114800"/>
              <a:gd name="connsiteY8" fmla="*/ 18288 h 18288"/>
              <a:gd name="connsiteX9" fmla="*/ 2866644 w 4114800"/>
              <a:gd name="connsiteY9" fmla="*/ 18288 h 18288"/>
              <a:gd name="connsiteX10" fmla="*/ 2304288 w 4114800"/>
              <a:gd name="connsiteY10" fmla="*/ 18288 h 18288"/>
              <a:gd name="connsiteX11" fmla="*/ 1577340 w 4114800"/>
              <a:gd name="connsiteY11" fmla="*/ 18288 h 18288"/>
              <a:gd name="connsiteX12" fmla="*/ 973836 w 4114800"/>
              <a:gd name="connsiteY12" fmla="*/ 18288 h 18288"/>
              <a:gd name="connsiteX13" fmla="*/ 0 w 4114800"/>
              <a:gd name="connsiteY13" fmla="*/ 18288 h 18288"/>
              <a:gd name="connsiteX14" fmla="*/ 0 w 411480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4800" h="18288" fill="none" extrusionOk="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w="4114800" h="18288" stroke="0" extrusionOk="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rgbClr val="FACA7B"/>
          </a:solidFill>
          <a:ln w="38100" cap="rnd">
            <a:solidFill>
              <a:srgbClr val="FACA7B"/>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48779AD-8338-FFA8-7169-02716D657F68}"/>
              </a:ext>
            </a:extLst>
          </p:cNvPr>
          <p:cNvSpPr>
            <a:spLocks noGrp="1"/>
          </p:cNvSpPr>
          <p:nvPr>
            <p:ph idx="1"/>
          </p:nvPr>
        </p:nvSpPr>
        <p:spPr>
          <a:xfrm>
            <a:off x="630936" y="2660904"/>
            <a:ext cx="4818888" cy="3547872"/>
          </a:xfrm>
        </p:spPr>
        <p:txBody>
          <a:bodyPr anchor="t">
            <a:normAutofit/>
          </a:bodyPr>
          <a:lstStyle/>
          <a:p>
            <a:r>
              <a:rPr lang="en-US" dirty="0"/>
              <a:t>Tubal Ligation (female sterilisation)</a:t>
            </a:r>
          </a:p>
          <a:p>
            <a:r>
              <a:rPr lang="en-US" dirty="0"/>
              <a:t>Vasectomy (male sterilisation)</a:t>
            </a:r>
          </a:p>
        </p:txBody>
      </p:sp>
      <mc:AlternateContent xmlns:mc="http://schemas.openxmlformats.org/markup-compatibility/2006" xmlns:p14="http://schemas.microsoft.com/office/powerpoint/2010/main">
        <mc:Choice Requires="p14">
          <p:contentPart p14:bwMode="auto" r:id="rId2">
            <p14:nvContentPartPr>
              <p14:cNvPr id="1035" name="Ink 103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5755403" y="1971579"/>
              <a:ext cx="360" cy="2160"/>
            </p14:xfrm>
          </p:contentPart>
        </mc:Choice>
        <mc:Fallback xmlns="">
          <p:pic>
            <p:nvPicPr>
              <p:cNvPr id="1035" name="Ink 103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3"/>
              <a:stretch>
                <a:fillRect/>
              </a:stretch>
            </p:blipFill>
            <p:spPr>
              <a:xfrm>
                <a:off x="5737403" y="1956150"/>
                <a:ext cx="36000" cy="32709"/>
              </a:xfrm>
              <a:prstGeom prst="rect">
                <a:avLst/>
              </a:prstGeom>
            </p:spPr>
          </p:pic>
        </mc:Fallback>
      </mc:AlternateContent>
      <p:pic>
        <p:nvPicPr>
          <p:cNvPr id="4" name="Picture 2" descr="Male contraceptive - Wikipedia">
            <a:extLst>
              <a:ext uri="{FF2B5EF4-FFF2-40B4-BE49-F238E27FC236}">
                <a16:creationId xmlns:a16="http://schemas.microsoft.com/office/drawing/2014/main" id="{3389AE3D-C07F-9D1D-AAE9-3496A93C89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82717" y="252763"/>
            <a:ext cx="3509537" cy="3796681"/>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Tubal Ligation Surgery | Female Sterilization | Plano, Frisco, Dallas TX">
            <a:extLst>
              <a:ext uri="{FF2B5EF4-FFF2-40B4-BE49-F238E27FC236}">
                <a16:creationId xmlns:a16="http://schemas.microsoft.com/office/drawing/2014/main" id="{495D0CC2-6248-9FDB-4B87-4F65B5A99B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06843" y="3429000"/>
            <a:ext cx="5129446" cy="33341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20281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99407-20D8-0C02-CD43-B97819B05AE1}"/>
              </a:ext>
            </a:extLst>
          </p:cNvPr>
          <p:cNvSpPr>
            <a:spLocks noGrp="1"/>
          </p:cNvSpPr>
          <p:nvPr>
            <p:ph type="title"/>
          </p:nvPr>
        </p:nvSpPr>
        <p:spPr/>
        <p:txBody>
          <a:bodyPr/>
          <a:lstStyle/>
          <a:p>
            <a:r>
              <a:rPr lang="en-US" dirty="0"/>
              <a:t>Tubal Ligation </a:t>
            </a:r>
          </a:p>
        </p:txBody>
      </p:sp>
      <p:sp>
        <p:nvSpPr>
          <p:cNvPr id="3" name="Content Placeholder 2">
            <a:extLst>
              <a:ext uri="{FF2B5EF4-FFF2-40B4-BE49-F238E27FC236}">
                <a16:creationId xmlns:a16="http://schemas.microsoft.com/office/drawing/2014/main" id="{87485E86-DFD2-556C-0598-0133FA21B3B3}"/>
              </a:ext>
            </a:extLst>
          </p:cNvPr>
          <p:cNvSpPr>
            <a:spLocks noGrp="1"/>
          </p:cNvSpPr>
          <p:nvPr>
            <p:ph idx="1"/>
          </p:nvPr>
        </p:nvSpPr>
        <p:spPr>
          <a:xfrm>
            <a:off x="838200" y="1929383"/>
            <a:ext cx="5895819" cy="4563491"/>
          </a:xfrm>
        </p:spPr>
        <p:txBody>
          <a:bodyPr>
            <a:normAutofit fontScale="92500" lnSpcReduction="10000"/>
          </a:bodyPr>
          <a:lstStyle/>
          <a:p>
            <a:r>
              <a:rPr lang="en-US" dirty="0"/>
              <a:t>A.K.A. Female sterilisation or getting ‘tubes tied’.</a:t>
            </a:r>
          </a:p>
          <a:p>
            <a:r>
              <a:rPr lang="en-US" dirty="0"/>
              <a:t>A surgical procedure where the fallopian tubes (the tubes that carry the eggs from the ovary to the uterus) are cut or tied. </a:t>
            </a:r>
          </a:p>
          <a:p>
            <a:r>
              <a:rPr lang="en-US" dirty="0"/>
              <a:t>Prevents the egg entering the uterus and therefore a sperm meeting an egg. </a:t>
            </a:r>
          </a:p>
          <a:p>
            <a:r>
              <a:rPr lang="en-US" dirty="0"/>
              <a:t>Permanent**</a:t>
            </a:r>
          </a:p>
          <a:p>
            <a:r>
              <a:rPr lang="en-US" dirty="0"/>
              <a:t>Menstrual bleeding will still occur monthly.</a:t>
            </a:r>
          </a:p>
          <a:p>
            <a:r>
              <a:rPr lang="en-US" dirty="0"/>
              <a:t>99+% effective.</a:t>
            </a:r>
          </a:p>
          <a:p>
            <a:r>
              <a:rPr lang="en-US" dirty="0"/>
              <a:t>Does not prevent STI’s.</a:t>
            </a:r>
          </a:p>
        </p:txBody>
      </p:sp>
      <p:pic>
        <p:nvPicPr>
          <p:cNvPr id="4" name="Picture 2" descr="Tubal Ligation Surgery | Female Sterilization | Plano, Frisco, Dallas TX">
            <a:extLst>
              <a:ext uri="{FF2B5EF4-FFF2-40B4-BE49-F238E27FC236}">
                <a16:creationId xmlns:a16="http://schemas.microsoft.com/office/drawing/2014/main" id="{BC02BFDE-C6C4-5C74-DFBC-3AC16167DC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4019" y="2604541"/>
            <a:ext cx="5129446" cy="33341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75188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99407-20D8-0C02-CD43-B97819B05AE1}"/>
              </a:ext>
            </a:extLst>
          </p:cNvPr>
          <p:cNvSpPr>
            <a:spLocks noGrp="1"/>
          </p:cNvSpPr>
          <p:nvPr>
            <p:ph type="title"/>
          </p:nvPr>
        </p:nvSpPr>
        <p:spPr/>
        <p:txBody>
          <a:bodyPr/>
          <a:lstStyle/>
          <a:p>
            <a:r>
              <a:rPr lang="en-US" dirty="0"/>
              <a:t>Vasectomy</a:t>
            </a:r>
          </a:p>
        </p:txBody>
      </p:sp>
      <p:sp>
        <p:nvSpPr>
          <p:cNvPr id="3" name="Content Placeholder 2">
            <a:extLst>
              <a:ext uri="{FF2B5EF4-FFF2-40B4-BE49-F238E27FC236}">
                <a16:creationId xmlns:a16="http://schemas.microsoft.com/office/drawing/2014/main" id="{87485E86-DFD2-556C-0598-0133FA21B3B3}"/>
              </a:ext>
            </a:extLst>
          </p:cNvPr>
          <p:cNvSpPr>
            <a:spLocks noGrp="1"/>
          </p:cNvSpPr>
          <p:nvPr>
            <p:ph idx="1"/>
          </p:nvPr>
        </p:nvSpPr>
        <p:spPr>
          <a:xfrm>
            <a:off x="838200" y="1929384"/>
            <a:ext cx="6463553" cy="4251960"/>
          </a:xfrm>
        </p:spPr>
        <p:txBody>
          <a:bodyPr/>
          <a:lstStyle/>
          <a:p>
            <a:r>
              <a:rPr lang="en-US" dirty="0"/>
              <a:t>A.K.A. Male sterilisation or ‘the snip.’</a:t>
            </a:r>
          </a:p>
          <a:p>
            <a:r>
              <a:rPr lang="en-US" dirty="0"/>
              <a:t>A surgical procedure where the vas deferens (the tube that carries sperm from the testes to the penis) is cut. </a:t>
            </a:r>
          </a:p>
          <a:p>
            <a:r>
              <a:rPr lang="en-US" dirty="0"/>
              <a:t>Effective 3 months after the procedure. </a:t>
            </a:r>
          </a:p>
          <a:p>
            <a:r>
              <a:rPr lang="en-US" dirty="0"/>
              <a:t>Permanent**</a:t>
            </a:r>
          </a:p>
          <a:p>
            <a:r>
              <a:rPr lang="en-US" dirty="0"/>
              <a:t>99+% effective.</a:t>
            </a:r>
          </a:p>
          <a:p>
            <a:r>
              <a:rPr lang="en-US" dirty="0"/>
              <a:t>Does not prevent STI’s. </a:t>
            </a:r>
          </a:p>
        </p:txBody>
      </p:sp>
      <p:pic>
        <p:nvPicPr>
          <p:cNvPr id="3074" name="Picture 2" descr="Male contraceptive - Wikipedia">
            <a:extLst>
              <a:ext uri="{FF2B5EF4-FFF2-40B4-BE49-F238E27FC236}">
                <a16:creationId xmlns:a16="http://schemas.microsoft.com/office/drawing/2014/main" id="{8F2A44A0-336D-B870-78E2-AD16B151FB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23418" y="1929383"/>
            <a:ext cx="3930382" cy="4251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02588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3B475F8-50AE-46A0-9943-B2B63183D5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143435-6B86-DCA6-F3EE-3F612E750686}"/>
              </a:ext>
            </a:extLst>
          </p:cNvPr>
          <p:cNvSpPr>
            <a:spLocks noGrp="1"/>
          </p:cNvSpPr>
          <p:nvPr>
            <p:ph type="title"/>
          </p:nvPr>
        </p:nvSpPr>
        <p:spPr>
          <a:xfrm>
            <a:off x="612648" y="365125"/>
            <a:ext cx="6986015" cy="1776484"/>
          </a:xfrm>
        </p:spPr>
        <p:txBody>
          <a:bodyPr anchor="b">
            <a:normAutofit/>
          </a:bodyPr>
          <a:lstStyle/>
          <a:p>
            <a:r>
              <a:rPr lang="en-US" dirty="0"/>
              <a:t>Activity 3: contraception scenario’s</a:t>
            </a:r>
            <a:br>
              <a:rPr lang="en-US" dirty="0"/>
            </a:br>
            <a:r>
              <a:rPr lang="en-US" dirty="0"/>
              <a:t>Which is best and why? </a:t>
            </a:r>
            <a:r>
              <a:rPr lang="en-US" sz="5400" dirty="0"/>
              <a:t>(pg. 17)</a:t>
            </a:r>
            <a:endParaRPr lang="en-US" dirty="0"/>
          </a:p>
        </p:txBody>
      </p:sp>
      <p:pic>
        <p:nvPicPr>
          <p:cNvPr id="7" name="Picture 6" descr="A paper with text on it&#10;&#10;Description automatically generated">
            <a:extLst>
              <a:ext uri="{FF2B5EF4-FFF2-40B4-BE49-F238E27FC236}">
                <a16:creationId xmlns:a16="http://schemas.microsoft.com/office/drawing/2014/main" id="{FC8D8FC6-9878-2611-7428-7A710A9A0017}"/>
              </a:ext>
            </a:extLst>
          </p:cNvPr>
          <p:cNvPicPr>
            <a:picLocks noChangeAspect="1"/>
          </p:cNvPicPr>
          <p:nvPr/>
        </p:nvPicPr>
        <p:blipFill rotWithShape="1">
          <a:blip r:embed="rId3"/>
          <a:srcRect b="2809"/>
          <a:stretch/>
        </p:blipFill>
        <p:spPr>
          <a:xfrm>
            <a:off x="8379409" y="2564407"/>
            <a:ext cx="3532036" cy="1776484"/>
          </a:xfrm>
          <a:prstGeom prst="rect">
            <a:avLst/>
          </a:prstGeom>
          <a:ln w="38100">
            <a:solidFill>
              <a:srgbClr val="7030A0"/>
            </a:solidFill>
          </a:ln>
        </p:spPr>
      </p:pic>
      <p:sp>
        <p:nvSpPr>
          <p:cNvPr id="16" name="sketchy rule">
            <a:extLst>
              <a:ext uri="{FF2B5EF4-FFF2-40B4-BE49-F238E27FC236}">
                <a16:creationId xmlns:a16="http://schemas.microsoft.com/office/drawing/2014/main" id="{E0787460-62AF-47DB-8E74-8598B9833C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648" y="230949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rgbClr val="3E6898"/>
          </a:solidFill>
          <a:ln w="38100" cap="rnd">
            <a:solidFill>
              <a:srgbClr val="3E6898"/>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595E12F-80D7-3A70-3459-A0883E76B370}"/>
              </a:ext>
            </a:extLst>
          </p:cNvPr>
          <p:cNvSpPr>
            <a:spLocks noGrp="1"/>
          </p:cNvSpPr>
          <p:nvPr>
            <p:ph idx="1"/>
          </p:nvPr>
        </p:nvSpPr>
        <p:spPr>
          <a:xfrm>
            <a:off x="612648" y="2504819"/>
            <a:ext cx="6986016" cy="3672144"/>
          </a:xfrm>
        </p:spPr>
        <p:txBody>
          <a:bodyPr>
            <a:normAutofit/>
          </a:bodyPr>
          <a:lstStyle/>
          <a:p>
            <a:r>
              <a:rPr lang="en-US" dirty="0"/>
              <a:t>Students will work in small groups or pairs. </a:t>
            </a:r>
          </a:p>
          <a:p>
            <a:r>
              <a:rPr lang="en-US" dirty="0"/>
              <a:t>Each group will be given a scenario card.</a:t>
            </a:r>
          </a:p>
          <a:p>
            <a:r>
              <a:rPr lang="en-US" dirty="0"/>
              <a:t>Read the scenario and decide on the best method/s of contraception to use in that situation for the people involved. </a:t>
            </a:r>
          </a:p>
        </p:txBody>
      </p:sp>
      <p:pic>
        <p:nvPicPr>
          <p:cNvPr id="5" name="Picture 4" descr="A white paper with black text&#10;&#10;Description automatically generated">
            <a:extLst>
              <a:ext uri="{FF2B5EF4-FFF2-40B4-BE49-F238E27FC236}">
                <a16:creationId xmlns:a16="http://schemas.microsoft.com/office/drawing/2014/main" id="{8D2B3672-91E1-AFFE-6146-FA9A22EBB3FF}"/>
              </a:ext>
            </a:extLst>
          </p:cNvPr>
          <p:cNvPicPr>
            <a:picLocks noChangeAspect="1"/>
          </p:cNvPicPr>
          <p:nvPr/>
        </p:nvPicPr>
        <p:blipFill>
          <a:blip r:embed="rId4"/>
          <a:stretch>
            <a:fillRect/>
          </a:stretch>
        </p:blipFill>
        <p:spPr>
          <a:xfrm>
            <a:off x="8379409" y="282720"/>
            <a:ext cx="3532036" cy="1993433"/>
          </a:xfrm>
          <a:prstGeom prst="rect">
            <a:avLst/>
          </a:prstGeom>
          <a:ln w="38100">
            <a:solidFill>
              <a:srgbClr val="7030A0"/>
            </a:solidFill>
          </a:ln>
        </p:spPr>
      </p:pic>
      <p:pic>
        <p:nvPicPr>
          <p:cNvPr id="9" name="Picture 8" descr="A white paper with black text&#10;&#10;Description automatically generated">
            <a:extLst>
              <a:ext uri="{FF2B5EF4-FFF2-40B4-BE49-F238E27FC236}">
                <a16:creationId xmlns:a16="http://schemas.microsoft.com/office/drawing/2014/main" id="{C86C276A-5ECE-8C5F-7FDC-BF647591DB59}"/>
              </a:ext>
            </a:extLst>
          </p:cNvPr>
          <p:cNvPicPr>
            <a:picLocks noChangeAspect="1"/>
          </p:cNvPicPr>
          <p:nvPr/>
        </p:nvPicPr>
        <p:blipFill rotWithShape="1">
          <a:blip r:embed="rId5"/>
          <a:srcRect b="3114"/>
          <a:stretch/>
        </p:blipFill>
        <p:spPr>
          <a:xfrm>
            <a:off x="8379409" y="4581847"/>
            <a:ext cx="3546875" cy="1931362"/>
          </a:xfrm>
          <a:prstGeom prst="rect">
            <a:avLst/>
          </a:prstGeom>
          <a:ln w="38100">
            <a:solidFill>
              <a:srgbClr val="7030A0"/>
            </a:solidFill>
          </a:ln>
        </p:spPr>
      </p:pic>
    </p:spTree>
    <p:extLst>
      <p:ext uri="{BB962C8B-B14F-4D97-AF65-F5344CB8AC3E}">
        <p14:creationId xmlns:p14="http://schemas.microsoft.com/office/powerpoint/2010/main" val="13604709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6">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0" name="Rectangle 9">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1002C1-8CFC-4C31-5E02-AE252C28C0C9}"/>
              </a:ext>
            </a:extLst>
          </p:cNvPr>
          <p:cNvSpPr>
            <a:spLocks noGrp="1"/>
          </p:cNvSpPr>
          <p:nvPr>
            <p:ph type="title"/>
          </p:nvPr>
        </p:nvSpPr>
        <p:spPr>
          <a:xfrm>
            <a:off x="838200" y="451381"/>
            <a:ext cx="6772835" cy="4066540"/>
          </a:xfrm>
        </p:spPr>
        <p:txBody>
          <a:bodyPr vert="horz" lIns="91440" tIns="45720" rIns="91440" bIns="45720" rtlCol="0" anchor="b">
            <a:normAutofit fontScale="90000"/>
          </a:bodyPr>
          <a:lstStyle/>
          <a:p>
            <a:r>
              <a:rPr lang="en-US" sz="9600" dirty="0">
                <a:solidFill>
                  <a:schemeClr val="accent1"/>
                </a:solidFill>
              </a:rPr>
              <a:t>Optional Activity 4: Contraception Kit</a:t>
            </a:r>
          </a:p>
        </p:txBody>
      </p:sp>
      <p:sp>
        <p:nvSpPr>
          <p:cNvPr id="3" name="Content Placeholder 2">
            <a:extLst>
              <a:ext uri="{FF2B5EF4-FFF2-40B4-BE49-F238E27FC236}">
                <a16:creationId xmlns:a16="http://schemas.microsoft.com/office/drawing/2014/main" id="{2158341A-E2A6-5823-818C-15F12D25A3F1}"/>
              </a:ext>
            </a:extLst>
          </p:cNvPr>
          <p:cNvSpPr>
            <a:spLocks noGrp="1"/>
          </p:cNvSpPr>
          <p:nvPr>
            <p:ph idx="1"/>
          </p:nvPr>
        </p:nvSpPr>
        <p:spPr>
          <a:xfrm>
            <a:off x="838200" y="5119575"/>
            <a:ext cx="9879106" cy="1126680"/>
          </a:xfrm>
        </p:spPr>
        <p:txBody>
          <a:bodyPr vert="horz" lIns="91440" tIns="45720" rIns="91440" bIns="45720" rtlCol="0">
            <a:normAutofit/>
          </a:bodyPr>
          <a:lstStyle/>
          <a:p>
            <a:pPr marL="0" indent="0">
              <a:buNone/>
            </a:pPr>
            <a:r>
              <a:rPr lang="en-US" dirty="0"/>
              <a:t>Use the contraception kit to show students the different methods of contraception.</a:t>
            </a:r>
          </a:p>
        </p:txBody>
      </p:sp>
      <p:sp>
        <p:nvSpPr>
          <p:cNvPr id="12" name="Rectangle 6">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68038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6">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0" name="Rectangle 9">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1002C1-8CFC-4C31-5E02-AE252C28C0C9}"/>
              </a:ext>
            </a:extLst>
          </p:cNvPr>
          <p:cNvSpPr>
            <a:spLocks noGrp="1"/>
          </p:cNvSpPr>
          <p:nvPr>
            <p:ph type="title"/>
          </p:nvPr>
        </p:nvSpPr>
        <p:spPr>
          <a:xfrm>
            <a:off x="838200" y="451381"/>
            <a:ext cx="10753165" cy="4066540"/>
          </a:xfrm>
        </p:spPr>
        <p:txBody>
          <a:bodyPr vert="horz" lIns="91440" tIns="45720" rIns="91440" bIns="45720" rtlCol="0" anchor="b">
            <a:normAutofit fontScale="90000"/>
          </a:bodyPr>
          <a:lstStyle/>
          <a:p>
            <a:r>
              <a:rPr lang="en-US" sz="9600" dirty="0">
                <a:solidFill>
                  <a:schemeClr val="accent1"/>
                </a:solidFill>
              </a:rPr>
              <a:t>Optional Activity 5: </a:t>
            </a:r>
            <a:br>
              <a:rPr lang="en-US" sz="9600" dirty="0">
                <a:solidFill>
                  <a:schemeClr val="accent1"/>
                </a:solidFill>
              </a:rPr>
            </a:br>
            <a:r>
              <a:rPr lang="en-US" sz="9600" dirty="0">
                <a:solidFill>
                  <a:schemeClr val="accent1"/>
                </a:solidFill>
              </a:rPr>
              <a:t>Contraception Matching activity</a:t>
            </a:r>
          </a:p>
        </p:txBody>
      </p:sp>
      <p:sp>
        <p:nvSpPr>
          <p:cNvPr id="3" name="Content Placeholder 2">
            <a:extLst>
              <a:ext uri="{FF2B5EF4-FFF2-40B4-BE49-F238E27FC236}">
                <a16:creationId xmlns:a16="http://schemas.microsoft.com/office/drawing/2014/main" id="{2158341A-E2A6-5823-818C-15F12D25A3F1}"/>
              </a:ext>
            </a:extLst>
          </p:cNvPr>
          <p:cNvSpPr>
            <a:spLocks noGrp="1"/>
          </p:cNvSpPr>
          <p:nvPr>
            <p:ph idx="1"/>
          </p:nvPr>
        </p:nvSpPr>
        <p:spPr>
          <a:xfrm>
            <a:off x="838200" y="5119575"/>
            <a:ext cx="9879106" cy="1126680"/>
          </a:xfrm>
        </p:spPr>
        <p:txBody>
          <a:bodyPr vert="horz" lIns="91440" tIns="45720" rIns="91440" bIns="45720" rtlCol="0">
            <a:normAutofit/>
          </a:bodyPr>
          <a:lstStyle/>
          <a:p>
            <a:pPr marL="0" indent="0">
              <a:buNone/>
            </a:pPr>
            <a:r>
              <a:rPr lang="en-US" dirty="0"/>
              <a:t>Students are to work in small groups. Each group will receive a set of cards. Together, they need to match the contraception method to its correct pros and cons.</a:t>
            </a:r>
          </a:p>
        </p:txBody>
      </p:sp>
      <p:sp>
        <p:nvSpPr>
          <p:cNvPr id="12" name="Rectangle 6">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27982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6">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2" name="Rectangle 11">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E237C8-4809-6F69-ABC9-644C86F1F7C9}"/>
              </a:ext>
            </a:extLst>
          </p:cNvPr>
          <p:cNvSpPr>
            <a:spLocks noGrp="1"/>
          </p:cNvSpPr>
          <p:nvPr>
            <p:ph type="title"/>
          </p:nvPr>
        </p:nvSpPr>
        <p:spPr>
          <a:xfrm>
            <a:off x="638882" y="639193"/>
            <a:ext cx="3571810" cy="3573516"/>
          </a:xfrm>
        </p:spPr>
        <p:txBody>
          <a:bodyPr vert="horz" lIns="91440" tIns="45720" rIns="91440" bIns="45720" rtlCol="0" anchor="b">
            <a:normAutofit/>
          </a:bodyPr>
          <a:lstStyle/>
          <a:p>
            <a:pPr>
              <a:lnSpc>
                <a:spcPct val="90000"/>
              </a:lnSpc>
            </a:pPr>
            <a:r>
              <a:rPr lang="en-US" sz="5800"/>
              <a:t>REMINDER:</a:t>
            </a:r>
            <a:br>
              <a:rPr lang="en-US" sz="5800"/>
            </a:br>
            <a:br>
              <a:rPr lang="en-US" sz="5800"/>
            </a:br>
            <a:r>
              <a:rPr lang="en-US" sz="5800"/>
              <a:t>TOPIC TEST NEXT WEEK</a:t>
            </a:r>
          </a:p>
        </p:txBody>
      </p:sp>
      <p:sp>
        <p:nvSpPr>
          <p:cNvPr id="14"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27432"/>
          </a:xfrm>
          <a:custGeom>
            <a:avLst/>
            <a:gdLst>
              <a:gd name="connsiteX0" fmla="*/ 0 w 3255095"/>
              <a:gd name="connsiteY0" fmla="*/ 0 h 27432"/>
              <a:gd name="connsiteX1" fmla="*/ 618468 w 3255095"/>
              <a:gd name="connsiteY1" fmla="*/ 0 h 27432"/>
              <a:gd name="connsiteX2" fmla="*/ 1269487 w 3255095"/>
              <a:gd name="connsiteY2" fmla="*/ 0 h 27432"/>
              <a:gd name="connsiteX3" fmla="*/ 1953057 w 3255095"/>
              <a:gd name="connsiteY3" fmla="*/ 0 h 27432"/>
              <a:gd name="connsiteX4" fmla="*/ 2636627 w 3255095"/>
              <a:gd name="connsiteY4" fmla="*/ 0 h 27432"/>
              <a:gd name="connsiteX5" fmla="*/ 3255095 w 3255095"/>
              <a:gd name="connsiteY5" fmla="*/ 0 h 27432"/>
              <a:gd name="connsiteX6" fmla="*/ 3255095 w 3255095"/>
              <a:gd name="connsiteY6" fmla="*/ 27432 h 27432"/>
              <a:gd name="connsiteX7" fmla="*/ 2538974 w 3255095"/>
              <a:gd name="connsiteY7" fmla="*/ 27432 h 27432"/>
              <a:gd name="connsiteX8" fmla="*/ 1822853 w 3255095"/>
              <a:gd name="connsiteY8" fmla="*/ 27432 h 27432"/>
              <a:gd name="connsiteX9" fmla="*/ 1171834 w 3255095"/>
              <a:gd name="connsiteY9" fmla="*/ 27432 h 27432"/>
              <a:gd name="connsiteX10" fmla="*/ 0 w 3255095"/>
              <a:gd name="connsiteY10" fmla="*/ 27432 h 27432"/>
              <a:gd name="connsiteX11" fmla="*/ 0 w 3255095"/>
              <a:gd name="connsiteY11"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27432"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3929" y="7395"/>
                  <a:pt x="3255140" y="21864"/>
                  <a:pt x="3255095" y="27432"/>
                </a:cubicBezTo>
                <a:cubicBezTo>
                  <a:pt x="3088545" y="32347"/>
                  <a:pt x="2687475" y="16563"/>
                  <a:pt x="2538974" y="27432"/>
                </a:cubicBezTo>
                <a:cubicBezTo>
                  <a:pt x="2390473" y="38301"/>
                  <a:pt x="2137381" y="185"/>
                  <a:pt x="1822853" y="27432"/>
                </a:cubicBezTo>
                <a:cubicBezTo>
                  <a:pt x="1508325" y="54679"/>
                  <a:pt x="1466437" y="29529"/>
                  <a:pt x="1171834" y="27432"/>
                </a:cubicBezTo>
                <a:cubicBezTo>
                  <a:pt x="877231" y="25335"/>
                  <a:pt x="561097" y="46787"/>
                  <a:pt x="0" y="27432"/>
                </a:cubicBezTo>
                <a:cubicBezTo>
                  <a:pt x="-503" y="20663"/>
                  <a:pt x="1168" y="5855"/>
                  <a:pt x="0" y="0"/>
                </a:cubicBezTo>
                <a:close/>
              </a:path>
              <a:path w="3255095" h="27432"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5288" y="12649"/>
                  <a:pt x="3254107" y="17989"/>
                  <a:pt x="3255095" y="27432"/>
                </a:cubicBezTo>
                <a:cubicBezTo>
                  <a:pt x="3120743" y="25834"/>
                  <a:pt x="2759628" y="51606"/>
                  <a:pt x="2604076" y="27432"/>
                </a:cubicBezTo>
                <a:cubicBezTo>
                  <a:pt x="2448524" y="3258"/>
                  <a:pt x="2184336" y="28743"/>
                  <a:pt x="1887955" y="27432"/>
                </a:cubicBezTo>
                <a:cubicBezTo>
                  <a:pt x="1591574" y="26121"/>
                  <a:pt x="1548845" y="16014"/>
                  <a:pt x="1334589" y="27432"/>
                </a:cubicBezTo>
                <a:cubicBezTo>
                  <a:pt x="1120333" y="38850"/>
                  <a:pt x="996014" y="18806"/>
                  <a:pt x="683570" y="27432"/>
                </a:cubicBezTo>
                <a:cubicBezTo>
                  <a:pt x="371126" y="36058"/>
                  <a:pt x="198687" y="25311"/>
                  <a:pt x="0" y="27432"/>
                </a:cubicBezTo>
                <a:cubicBezTo>
                  <a:pt x="1300" y="19678"/>
                  <a:pt x="-86" y="12044"/>
                  <a:pt x="0" y="0"/>
                </a:cubicBezTo>
                <a:close/>
              </a:path>
            </a:pathLst>
          </a:custGeom>
          <a:solidFill>
            <a:srgbClr val="D2660B"/>
          </a:solidFill>
          <a:ln w="38100" cap="rnd">
            <a:solidFill>
              <a:srgbClr val="D2660B"/>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ubble sheet test paper and pencil">
            <a:extLst>
              <a:ext uri="{FF2B5EF4-FFF2-40B4-BE49-F238E27FC236}">
                <a16:creationId xmlns:a16="http://schemas.microsoft.com/office/drawing/2014/main" id="{E8B5B8A4-AEDE-65F9-FCF1-1E4FD5EF8E20}"/>
              </a:ext>
            </a:extLst>
          </p:cNvPr>
          <p:cNvPicPr>
            <a:picLocks noChangeAspect="1"/>
          </p:cNvPicPr>
          <p:nvPr/>
        </p:nvPicPr>
        <p:blipFill rotWithShape="1">
          <a:blip r:embed="rId3"/>
          <a:srcRect t="13462"/>
          <a:stretch/>
        </p:blipFill>
        <p:spPr>
          <a:xfrm>
            <a:off x="4654296" y="1386184"/>
            <a:ext cx="7214616" cy="4058200"/>
          </a:xfrm>
          <a:prstGeom prst="rect">
            <a:avLst/>
          </a:prstGeom>
        </p:spPr>
      </p:pic>
      <p:sp>
        <p:nvSpPr>
          <p:cNvPr id="3" name="TextBox 2">
            <a:extLst>
              <a:ext uri="{FF2B5EF4-FFF2-40B4-BE49-F238E27FC236}">
                <a16:creationId xmlns:a16="http://schemas.microsoft.com/office/drawing/2014/main" id="{2A9A4068-72A6-238B-84E7-FCCD317C38B0}"/>
              </a:ext>
            </a:extLst>
          </p:cNvPr>
          <p:cNvSpPr txBox="1"/>
          <p:nvPr/>
        </p:nvSpPr>
        <p:spPr>
          <a:xfrm>
            <a:off x="638882" y="4546600"/>
            <a:ext cx="3259491" cy="523220"/>
          </a:xfrm>
          <a:prstGeom prst="rect">
            <a:avLst/>
          </a:prstGeom>
          <a:noFill/>
        </p:spPr>
        <p:txBody>
          <a:bodyPr wrap="square" rtlCol="0">
            <a:spAutoFit/>
          </a:bodyPr>
          <a:lstStyle/>
          <a:p>
            <a:r>
              <a:rPr lang="en-US" sz="2800" dirty="0"/>
              <a:t>Complete your revision worksheet. </a:t>
            </a:r>
          </a:p>
        </p:txBody>
      </p:sp>
    </p:spTree>
    <p:extLst>
      <p:ext uri="{BB962C8B-B14F-4D97-AF65-F5344CB8AC3E}">
        <p14:creationId xmlns:p14="http://schemas.microsoft.com/office/powerpoint/2010/main" val="1785765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FA2E39B7-17D8-4009-A8BA-9E8D8EC1B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Graphic 33">
            <a:extLst>
              <a:ext uri="{FF2B5EF4-FFF2-40B4-BE49-F238E27FC236}">
                <a16:creationId xmlns:a16="http://schemas.microsoft.com/office/drawing/2014/main" id="{967EEEC4-6120-428D-8FB5-916920AEC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18417" y="0"/>
            <a:ext cx="9570431" cy="6858000"/>
          </a:xfrm>
          <a:custGeom>
            <a:avLst/>
            <a:gdLst>
              <a:gd name="connsiteX0" fmla="*/ 7178288 w 7187261"/>
              <a:gd name="connsiteY0" fmla="*/ 2604802 h 5150263"/>
              <a:gd name="connsiteX1" fmla="*/ 7169335 w 7187261"/>
              <a:gd name="connsiteY1" fmla="*/ 2328577 h 5150263"/>
              <a:gd name="connsiteX2" fmla="*/ 7060845 w 7187261"/>
              <a:gd name="connsiteY2" fmla="*/ 1661160 h 5150263"/>
              <a:gd name="connsiteX3" fmla="*/ 6212263 w 7187261"/>
              <a:gd name="connsiteY3" fmla="*/ 243840 h 5150263"/>
              <a:gd name="connsiteX4" fmla="*/ 5953564 w 7187261"/>
              <a:gd name="connsiteY4" fmla="*/ 0 h 5150263"/>
              <a:gd name="connsiteX5" fmla="*/ 1408615 w 7187261"/>
              <a:gd name="connsiteY5" fmla="*/ 0 h 5150263"/>
              <a:gd name="connsiteX6" fmla="*/ 805111 w 7187261"/>
              <a:gd name="connsiteY6" fmla="*/ 676275 h 5150263"/>
              <a:gd name="connsiteX7" fmla="*/ 104928 w 7187261"/>
              <a:gd name="connsiteY7" fmla="*/ 2183035 h 5150263"/>
              <a:gd name="connsiteX8" fmla="*/ 51588 w 7187261"/>
              <a:gd name="connsiteY8" fmla="*/ 2400014 h 5150263"/>
              <a:gd name="connsiteX9" fmla="*/ 41301 w 7187261"/>
              <a:gd name="connsiteY9" fmla="*/ 2424208 h 5150263"/>
              <a:gd name="connsiteX10" fmla="*/ 119692 w 7187261"/>
              <a:gd name="connsiteY10" fmla="*/ 1834801 h 5150263"/>
              <a:gd name="connsiteX11" fmla="*/ 870071 w 7187261"/>
              <a:gd name="connsiteY11" fmla="*/ 462248 h 5150263"/>
              <a:gd name="connsiteX12" fmla="*/ 1389279 w 7187261"/>
              <a:gd name="connsiteY12" fmla="*/ 476 h 5150263"/>
              <a:gd name="connsiteX13" fmla="*/ 1320223 w 7187261"/>
              <a:gd name="connsiteY13" fmla="*/ 476 h 5150263"/>
              <a:gd name="connsiteX14" fmla="*/ 423158 w 7187261"/>
              <a:gd name="connsiteY14" fmla="*/ 989743 h 5150263"/>
              <a:gd name="connsiteX15" fmla="*/ 25585 w 7187261"/>
              <a:gd name="connsiteY15" fmla="*/ 2113693 h 5150263"/>
              <a:gd name="connsiteX16" fmla="*/ 2344 w 7187261"/>
              <a:gd name="connsiteY16" fmla="*/ 2725865 h 5150263"/>
              <a:gd name="connsiteX17" fmla="*/ 447256 w 7187261"/>
              <a:gd name="connsiteY17" fmla="*/ 4210717 h 5150263"/>
              <a:gd name="connsiteX18" fmla="*/ 1138962 w 7187261"/>
              <a:gd name="connsiteY18" fmla="*/ 4988910 h 5150263"/>
              <a:gd name="connsiteX19" fmla="*/ 1348512 w 7187261"/>
              <a:gd name="connsiteY19" fmla="*/ 5146834 h 5150263"/>
              <a:gd name="connsiteX20" fmla="*/ 1422712 w 7187261"/>
              <a:gd name="connsiteY20" fmla="*/ 5146834 h 5150263"/>
              <a:gd name="connsiteX21" fmla="*/ 480594 w 7187261"/>
              <a:gd name="connsiteY21" fmla="*/ 4187952 h 5150263"/>
              <a:gd name="connsiteX22" fmla="*/ 398679 w 7187261"/>
              <a:gd name="connsiteY22" fmla="*/ 4046125 h 5150263"/>
              <a:gd name="connsiteX23" fmla="*/ 411823 w 7187261"/>
              <a:gd name="connsiteY23" fmla="*/ 4053078 h 5150263"/>
              <a:gd name="connsiteX24" fmla="*/ 1439380 w 7187261"/>
              <a:gd name="connsiteY24" fmla="*/ 5147405 h 5150263"/>
              <a:gd name="connsiteX25" fmla="*/ 5710010 w 7187261"/>
              <a:gd name="connsiteY25" fmla="*/ 5150263 h 5150263"/>
              <a:gd name="connsiteX26" fmla="*/ 5999665 w 7187261"/>
              <a:gd name="connsiteY26" fmla="*/ 4910900 h 5150263"/>
              <a:gd name="connsiteX27" fmla="*/ 6954165 w 7187261"/>
              <a:gd name="connsiteY27" fmla="*/ 3545777 h 5150263"/>
              <a:gd name="connsiteX28" fmla="*/ 7137712 w 7187261"/>
              <a:gd name="connsiteY28" fmla="*/ 2799207 h 5150263"/>
              <a:gd name="connsiteX29" fmla="*/ 7142951 w 7187261"/>
              <a:gd name="connsiteY29" fmla="*/ 2754535 h 5150263"/>
              <a:gd name="connsiteX30" fmla="*/ 7149428 w 7187261"/>
              <a:gd name="connsiteY30" fmla="*/ 2774823 h 5150263"/>
              <a:gd name="connsiteX31" fmla="*/ 7066465 w 7187261"/>
              <a:gd name="connsiteY31" fmla="*/ 3465672 h 5150263"/>
              <a:gd name="connsiteX32" fmla="*/ 6452578 w 7187261"/>
              <a:gd name="connsiteY32" fmla="*/ 4552760 h 5150263"/>
              <a:gd name="connsiteX33" fmla="*/ 5752110 w 7187261"/>
              <a:gd name="connsiteY33" fmla="*/ 5150263 h 5150263"/>
              <a:gd name="connsiteX34" fmla="*/ 5827643 w 7187261"/>
              <a:gd name="connsiteY34" fmla="*/ 5150263 h 5150263"/>
              <a:gd name="connsiteX35" fmla="*/ 6642793 w 7187261"/>
              <a:gd name="connsiteY35" fmla="*/ 4389406 h 5150263"/>
              <a:gd name="connsiteX36" fmla="*/ 7102469 w 7187261"/>
              <a:gd name="connsiteY36" fmla="*/ 3490817 h 5150263"/>
              <a:gd name="connsiteX37" fmla="*/ 7187242 w 7187261"/>
              <a:gd name="connsiteY37" fmla="*/ 2990183 h 5150263"/>
              <a:gd name="connsiteX38" fmla="*/ 7178288 w 7187261"/>
              <a:gd name="connsiteY38" fmla="*/ 2604802 h 5150263"/>
              <a:gd name="connsiteX39" fmla="*/ 6342565 w 7187261"/>
              <a:gd name="connsiteY39" fmla="*/ 441389 h 5150263"/>
              <a:gd name="connsiteX40" fmla="*/ 7126567 w 7187261"/>
              <a:gd name="connsiteY40" fmla="*/ 2355056 h 5150263"/>
              <a:gd name="connsiteX41" fmla="*/ 6342565 w 7187261"/>
              <a:gd name="connsiteY41" fmla="*/ 441389 h 5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187261" h="5150263">
                <a:moveTo>
                  <a:pt x="7178288" y="2604802"/>
                </a:moveTo>
                <a:cubicBezTo>
                  <a:pt x="7168763" y="2513076"/>
                  <a:pt x="7174478" y="2420684"/>
                  <a:pt x="7169335" y="2328577"/>
                </a:cubicBezTo>
                <a:cubicBezTo>
                  <a:pt x="7156952" y="2102882"/>
                  <a:pt x="7120586" y="1879149"/>
                  <a:pt x="7060845" y="1661160"/>
                </a:cubicBezTo>
                <a:cubicBezTo>
                  <a:pt x="6910588" y="1121007"/>
                  <a:pt x="6617428" y="631374"/>
                  <a:pt x="6212263" y="243840"/>
                </a:cubicBezTo>
                <a:cubicBezTo>
                  <a:pt x="6126538" y="162496"/>
                  <a:pt x="6040813" y="80201"/>
                  <a:pt x="5953564" y="0"/>
                </a:cubicBezTo>
                <a:lnTo>
                  <a:pt x="1408615" y="0"/>
                </a:lnTo>
                <a:cubicBezTo>
                  <a:pt x="1180967" y="200316"/>
                  <a:pt x="978332" y="427387"/>
                  <a:pt x="805111" y="676275"/>
                </a:cubicBezTo>
                <a:cubicBezTo>
                  <a:pt x="481261" y="1136523"/>
                  <a:pt x="252089" y="1640872"/>
                  <a:pt x="104928" y="2183035"/>
                </a:cubicBezTo>
                <a:cubicBezTo>
                  <a:pt x="85878" y="2254853"/>
                  <a:pt x="69495" y="2327720"/>
                  <a:pt x="51588" y="2400014"/>
                </a:cubicBezTo>
                <a:cubicBezTo>
                  <a:pt x="49683" y="2407634"/>
                  <a:pt x="51588" y="2416969"/>
                  <a:pt x="41301" y="2424208"/>
                </a:cubicBezTo>
                <a:cubicBezTo>
                  <a:pt x="45900" y="2225469"/>
                  <a:pt x="72186" y="2027834"/>
                  <a:pt x="119692" y="1834801"/>
                </a:cubicBezTo>
                <a:cubicBezTo>
                  <a:pt x="247993" y="1310926"/>
                  <a:pt x="506121" y="857726"/>
                  <a:pt x="870071" y="462248"/>
                </a:cubicBezTo>
                <a:cubicBezTo>
                  <a:pt x="1027729" y="291823"/>
                  <a:pt x="1201617" y="137169"/>
                  <a:pt x="1389279" y="476"/>
                </a:cubicBezTo>
                <a:lnTo>
                  <a:pt x="1320223" y="476"/>
                </a:lnTo>
                <a:cubicBezTo>
                  <a:pt x="960844" y="274320"/>
                  <a:pt x="656330" y="599123"/>
                  <a:pt x="423158" y="989743"/>
                </a:cubicBezTo>
                <a:cubicBezTo>
                  <a:pt x="215608" y="1337596"/>
                  <a:pt x="80258" y="1711357"/>
                  <a:pt x="25585" y="2113693"/>
                </a:cubicBezTo>
                <a:cubicBezTo>
                  <a:pt x="-2705" y="2316480"/>
                  <a:pt x="-2228" y="2521077"/>
                  <a:pt x="2344" y="2725865"/>
                </a:cubicBezTo>
                <a:cubicBezTo>
                  <a:pt x="14155" y="3261932"/>
                  <a:pt x="170650" y="3754565"/>
                  <a:pt x="447256" y="4210717"/>
                </a:cubicBezTo>
                <a:cubicBezTo>
                  <a:pt x="629851" y="4511612"/>
                  <a:pt x="866356" y="4767167"/>
                  <a:pt x="1138962" y="4988910"/>
                </a:cubicBezTo>
                <a:cubicBezTo>
                  <a:pt x="1207161" y="5044345"/>
                  <a:pt x="1277008" y="5096990"/>
                  <a:pt x="1348512" y="5146834"/>
                </a:cubicBezTo>
                <a:lnTo>
                  <a:pt x="1422712" y="5146834"/>
                </a:lnTo>
                <a:cubicBezTo>
                  <a:pt x="1043426" y="4892802"/>
                  <a:pt x="724720" y="4577334"/>
                  <a:pt x="480594" y="4187952"/>
                </a:cubicBezTo>
                <a:cubicBezTo>
                  <a:pt x="452019" y="4141851"/>
                  <a:pt x="423444" y="4095179"/>
                  <a:pt x="398679" y="4046125"/>
                </a:cubicBezTo>
                <a:cubicBezTo>
                  <a:pt x="407442" y="4043267"/>
                  <a:pt x="409156" y="4048982"/>
                  <a:pt x="411823" y="4053078"/>
                </a:cubicBezTo>
                <a:cubicBezTo>
                  <a:pt x="683572" y="4484656"/>
                  <a:pt x="1033139" y="4842701"/>
                  <a:pt x="1439380" y="5147405"/>
                </a:cubicBezTo>
                <a:lnTo>
                  <a:pt x="5710010" y="5150263"/>
                </a:lnTo>
                <a:cubicBezTo>
                  <a:pt x="5810594" y="5075482"/>
                  <a:pt x="5907272" y="4995587"/>
                  <a:pt x="5999665" y="4910900"/>
                </a:cubicBezTo>
                <a:cubicBezTo>
                  <a:pt x="6418765" y="4526661"/>
                  <a:pt x="6746901" y="4078129"/>
                  <a:pt x="6954165" y="3545777"/>
                </a:cubicBezTo>
                <a:cubicBezTo>
                  <a:pt x="7048234" y="3306175"/>
                  <a:pt x="7109956" y="3055115"/>
                  <a:pt x="7137712" y="2799207"/>
                </a:cubicBezTo>
                <a:cubicBezTo>
                  <a:pt x="7139236" y="2784920"/>
                  <a:pt x="7141046" y="2770632"/>
                  <a:pt x="7142951" y="2754535"/>
                </a:cubicBezTo>
                <a:cubicBezTo>
                  <a:pt x="7151714" y="2760440"/>
                  <a:pt x="7149237" y="2768441"/>
                  <a:pt x="7149428" y="2774823"/>
                </a:cubicBezTo>
                <a:cubicBezTo>
                  <a:pt x="7156743" y="3007967"/>
                  <a:pt x="7128777" y="3240881"/>
                  <a:pt x="7066465" y="3465672"/>
                </a:cubicBezTo>
                <a:cubicBezTo>
                  <a:pt x="6952165" y="3878580"/>
                  <a:pt x="6737948" y="4235863"/>
                  <a:pt x="6452578" y="4552760"/>
                </a:cubicBezTo>
                <a:cubicBezTo>
                  <a:pt x="6244553" y="4783836"/>
                  <a:pt x="6008809" y="4980242"/>
                  <a:pt x="5752110" y="5150263"/>
                </a:cubicBezTo>
                <a:lnTo>
                  <a:pt x="5827643" y="5150263"/>
                </a:lnTo>
                <a:cubicBezTo>
                  <a:pt x="6136539" y="4938904"/>
                  <a:pt x="6412192" y="4689348"/>
                  <a:pt x="6642793" y="4389406"/>
                </a:cubicBezTo>
                <a:cubicBezTo>
                  <a:pt x="6851295" y="4118324"/>
                  <a:pt x="7009125" y="3820859"/>
                  <a:pt x="7102469" y="3490817"/>
                </a:cubicBezTo>
                <a:cubicBezTo>
                  <a:pt x="7148646" y="3327473"/>
                  <a:pt x="7177069" y="3159624"/>
                  <a:pt x="7187242" y="2990183"/>
                </a:cubicBezTo>
                <a:cubicBezTo>
                  <a:pt x="7187623" y="2984087"/>
                  <a:pt x="7182384" y="2642330"/>
                  <a:pt x="7178288" y="2604802"/>
                </a:cubicBezTo>
                <a:close/>
                <a:moveTo>
                  <a:pt x="6342565" y="441389"/>
                </a:moveTo>
                <a:cubicBezTo>
                  <a:pt x="6829797" y="986533"/>
                  <a:pt x="7091135" y="1624422"/>
                  <a:pt x="7126567" y="2355056"/>
                </a:cubicBezTo>
                <a:cubicBezTo>
                  <a:pt x="7001123" y="1661827"/>
                  <a:pt x="6756426" y="1017365"/>
                  <a:pt x="6342565" y="441389"/>
                </a:cubicBezTo>
                <a:close/>
              </a:path>
            </a:pathLst>
          </a:custGeom>
          <a:solidFill>
            <a:schemeClr val="accent1"/>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B71BA2E5-8E6F-8D9E-8FBE-E6717C18664C}"/>
              </a:ext>
            </a:extLst>
          </p:cNvPr>
          <p:cNvSpPr>
            <a:spLocks noGrp="1"/>
          </p:cNvSpPr>
          <p:nvPr>
            <p:ph type="title"/>
          </p:nvPr>
        </p:nvSpPr>
        <p:spPr>
          <a:xfrm>
            <a:off x="4326188" y="0"/>
            <a:ext cx="3536576" cy="1739467"/>
          </a:xfrm>
        </p:spPr>
        <p:txBody>
          <a:bodyPr anchor="b">
            <a:normAutofit/>
          </a:bodyPr>
          <a:lstStyle/>
          <a:p>
            <a:pPr algn="ctr"/>
            <a:r>
              <a:rPr lang="en-US" sz="8800" b="1" dirty="0">
                <a:solidFill>
                  <a:srgbClr val="FFFFFF"/>
                </a:solidFill>
              </a:rPr>
              <a:t>REMINDER!</a:t>
            </a:r>
          </a:p>
        </p:txBody>
      </p:sp>
      <p:sp>
        <p:nvSpPr>
          <p:cNvPr id="3" name="Content Placeholder 2">
            <a:extLst>
              <a:ext uri="{FF2B5EF4-FFF2-40B4-BE49-F238E27FC236}">
                <a16:creationId xmlns:a16="http://schemas.microsoft.com/office/drawing/2014/main" id="{055D5E07-DC2C-C281-7C64-FE4E21E1B7B3}"/>
              </a:ext>
            </a:extLst>
          </p:cNvPr>
          <p:cNvSpPr>
            <a:spLocks noGrp="1"/>
          </p:cNvSpPr>
          <p:nvPr>
            <p:ph idx="1"/>
          </p:nvPr>
        </p:nvSpPr>
        <p:spPr>
          <a:xfrm>
            <a:off x="2220204" y="1739468"/>
            <a:ext cx="7811302" cy="4490362"/>
          </a:xfrm>
        </p:spPr>
        <p:txBody>
          <a:bodyPr>
            <a:normAutofit fontScale="92500" lnSpcReduction="10000"/>
          </a:bodyPr>
          <a:lstStyle/>
          <a:p>
            <a:pPr>
              <a:lnSpc>
                <a:spcPct val="100000"/>
              </a:lnSpc>
            </a:pPr>
            <a:r>
              <a:rPr lang="en-US" sz="2000" dirty="0">
                <a:latin typeface="Aptos" panose="020B0004020202020204" pitchFamily="34" charset="0"/>
              </a:rPr>
              <a:t>As we talk through this unit on sexual health, it is important to acknowledge that no two people are the same. </a:t>
            </a:r>
          </a:p>
          <a:p>
            <a:pPr>
              <a:lnSpc>
                <a:spcPct val="100000"/>
              </a:lnSpc>
            </a:pPr>
            <a:endParaRPr lang="en-US" sz="2000" dirty="0">
              <a:latin typeface="Aptos" panose="020B0004020202020204" pitchFamily="34" charset="0"/>
            </a:endParaRPr>
          </a:p>
          <a:p>
            <a:pPr>
              <a:lnSpc>
                <a:spcPct val="100000"/>
              </a:lnSpc>
            </a:pPr>
            <a:r>
              <a:rPr lang="en-US" sz="2000" dirty="0">
                <a:latin typeface="Aptos" panose="020B0004020202020204" pitchFamily="34" charset="0"/>
              </a:rPr>
              <a:t>Just as we all have different hair colour, skin colour, facial features etc., penis and vagina also vary greatly in shape, size and colour. </a:t>
            </a:r>
          </a:p>
          <a:p>
            <a:pPr>
              <a:lnSpc>
                <a:spcPct val="100000"/>
              </a:lnSpc>
            </a:pPr>
            <a:endParaRPr lang="en-US" sz="2000" dirty="0">
              <a:latin typeface="Aptos" panose="020B0004020202020204" pitchFamily="34" charset="0"/>
            </a:endParaRPr>
          </a:p>
          <a:p>
            <a:pPr>
              <a:lnSpc>
                <a:spcPct val="100000"/>
              </a:lnSpc>
            </a:pPr>
            <a:r>
              <a:rPr lang="en-US" sz="2000" dirty="0">
                <a:latin typeface="Aptos" panose="020B0004020202020204" pitchFamily="34" charset="0"/>
              </a:rPr>
              <a:t>As with contraceptive methods – everyone has their own preferences for various reasons (i.e., cost, ease of use, length of effectiveness etc.) and everyone will react differently or have different side-effects (particularly for hormonal methods). This is also why there are so many options available. </a:t>
            </a:r>
          </a:p>
          <a:p>
            <a:pPr>
              <a:lnSpc>
                <a:spcPct val="100000"/>
              </a:lnSpc>
            </a:pPr>
            <a:endParaRPr lang="en-US" sz="2000" dirty="0">
              <a:latin typeface="Aptos" panose="020B0004020202020204" pitchFamily="34" charset="0"/>
            </a:endParaRPr>
          </a:p>
          <a:p>
            <a:pPr>
              <a:lnSpc>
                <a:spcPct val="100000"/>
              </a:lnSpc>
            </a:pPr>
            <a:r>
              <a:rPr lang="en-US" sz="2000" dirty="0">
                <a:latin typeface="Aptos" panose="020B0004020202020204" pitchFamily="34" charset="0"/>
              </a:rPr>
              <a:t>There is no one perfect penis, vulva or method of contraception. </a:t>
            </a:r>
          </a:p>
        </p:txBody>
      </p:sp>
    </p:spTree>
    <p:extLst>
      <p:ext uri="{BB962C8B-B14F-4D97-AF65-F5344CB8AC3E}">
        <p14:creationId xmlns:p14="http://schemas.microsoft.com/office/powerpoint/2010/main" val="41142017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93245F62-CCC4-49E4-B95B-EA6C1E790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rainbow colored splatter&#10;&#10;Description automatically generated">
            <a:extLst>
              <a:ext uri="{FF2B5EF4-FFF2-40B4-BE49-F238E27FC236}">
                <a16:creationId xmlns:a16="http://schemas.microsoft.com/office/drawing/2014/main" id="{EEA83DFB-1DE6-B5DE-A972-635BA2248013}"/>
              </a:ext>
            </a:extLst>
          </p:cNvPr>
          <p:cNvPicPr>
            <a:picLocks noChangeAspect="1"/>
          </p:cNvPicPr>
          <p:nvPr/>
        </p:nvPicPr>
        <p:blipFill rotWithShape="1">
          <a:blip r:embed="rId2"/>
          <a:srcRect t="1747"/>
          <a:stretch/>
        </p:blipFill>
        <p:spPr>
          <a:xfrm>
            <a:off x="1298963" y="266542"/>
            <a:ext cx="9589477" cy="5394065"/>
          </a:xfrm>
          <a:prstGeom prst="rect">
            <a:avLst/>
          </a:prstGeom>
        </p:spPr>
      </p:pic>
      <p:pic>
        <p:nvPicPr>
          <p:cNvPr id="1028" name="Picture 4" descr="Sexually Transmitted Infections and HIV">
            <a:extLst>
              <a:ext uri="{FF2B5EF4-FFF2-40B4-BE49-F238E27FC236}">
                <a16:creationId xmlns:a16="http://schemas.microsoft.com/office/drawing/2014/main" id="{BDCE080E-9344-5EDA-E414-5ED90ABD48C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l="25312" t="22731" r="26524" b="12904"/>
          <a:stretch/>
        </p:blipFill>
        <p:spPr bwMode="auto">
          <a:xfrm>
            <a:off x="9472614" y="266542"/>
            <a:ext cx="2614612" cy="192992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657FBC4-0AFB-ADB7-F057-3A685854992A}"/>
              </a:ext>
            </a:extLst>
          </p:cNvPr>
          <p:cNvSpPr>
            <a:spLocks noGrp="1"/>
          </p:cNvSpPr>
          <p:nvPr>
            <p:ph type="ctrTitle"/>
          </p:nvPr>
        </p:nvSpPr>
        <p:spPr>
          <a:xfrm>
            <a:off x="638882" y="3577456"/>
            <a:ext cx="10909640" cy="1687814"/>
          </a:xfrm>
        </p:spPr>
        <p:txBody>
          <a:bodyPr anchor="b">
            <a:normAutofit/>
          </a:bodyPr>
          <a:lstStyle/>
          <a:p>
            <a:pPr algn="ctr"/>
            <a:r>
              <a:rPr lang="en-US" sz="10000" dirty="0"/>
              <a:t>CONTRACEPTION &amp; STI’s</a:t>
            </a:r>
          </a:p>
        </p:txBody>
      </p:sp>
      <p:sp>
        <p:nvSpPr>
          <p:cNvPr id="3" name="Subtitle 2">
            <a:extLst>
              <a:ext uri="{FF2B5EF4-FFF2-40B4-BE49-F238E27FC236}">
                <a16:creationId xmlns:a16="http://schemas.microsoft.com/office/drawing/2014/main" id="{E0D7FC79-1308-3C8D-6F49-05BF0614DDCD}"/>
              </a:ext>
            </a:extLst>
          </p:cNvPr>
          <p:cNvSpPr>
            <a:spLocks noGrp="1"/>
          </p:cNvSpPr>
          <p:nvPr>
            <p:ph type="subTitle" idx="1"/>
          </p:nvPr>
        </p:nvSpPr>
        <p:spPr>
          <a:xfrm>
            <a:off x="638881" y="5660607"/>
            <a:ext cx="10909643" cy="1060868"/>
          </a:xfrm>
        </p:spPr>
        <p:txBody>
          <a:bodyPr anchor="t">
            <a:normAutofit/>
          </a:bodyPr>
          <a:lstStyle/>
          <a:p>
            <a:pPr algn="ctr"/>
            <a:r>
              <a:rPr lang="en-US" sz="3200" b="1" dirty="0"/>
              <a:t>Year 10 Health 			Lesson 4			Term 2, 2024</a:t>
            </a:r>
          </a:p>
        </p:txBody>
      </p:sp>
      <p:sp>
        <p:nvSpPr>
          <p:cNvPr id="77" name="Rectangle 6">
            <a:extLst>
              <a:ext uri="{FF2B5EF4-FFF2-40B4-BE49-F238E27FC236}">
                <a16:creationId xmlns:a16="http://schemas.microsoft.com/office/drawing/2014/main" id="{E6C0DD6B-6AA3-448F-9B99-8386295BC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27432"/>
          </a:xfrm>
          <a:custGeom>
            <a:avLst/>
            <a:gdLst>
              <a:gd name="connsiteX0" fmla="*/ 0 w 4572000"/>
              <a:gd name="connsiteY0" fmla="*/ 0 h 27432"/>
              <a:gd name="connsiteX1" fmla="*/ 607423 w 4572000"/>
              <a:gd name="connsiteY1" fmla="*/ 0 h 27432"/>
              <a:gd name="connsiteX2" fmla="*/ 1123406 w 4572000"/>
              <a:gd name="connsiteY2" fmla="*/ 0 h 27432"/>
              <a:gd name="connsiteX3" fmla="*/ 1685109 w 4572000"/>
              <a:gd name="connsiteY3" fmla="*/ 0 h 27432"/>
              <a:gd name="connsiteX4" fmla="*/ 2383971 w 4572000"/>
              <a:gd name="connsiteY4" fmla="*/ 0 h 27432"/>
              <a:gd name="connsiteX5" fmla="*/ 2991394 w 4572000"/>
              <a:gd name="connsiteY5" fmla="*/ 0 h 27432"/>
              <a:gd name="connsiteX6" fmla="*/ 3553097 w 4572000"/>
              <a:gd name="connsiteY6" fmla="*/ 0 h 27432"/>
              <a:gd name="connsiteX7" fmla="*/ 4572000 w 4572000"/>
              <a:gd name="connsiteY7" fmla="*/ 0 h 27432"/>
              <a:gd name="connsiteX8" fmla="*/ 4572000 w 4572000"/>
              <a:gd name="connsiteY8" fmla="*/ 27432 h 27432"/>
              <a:gd name="connsiteX9" fmla="*/ 3918857 w 4572000"/>
              <a:gd name="connsiteY9" fmla="*/ 27432 h 27432"/>
              <a:gd name="connsiteX10" fmla="*/ 3357154 w 4572000"/>
              <a:gd name="connsiteY10" fmla="*/ 27432 h 27432"/>
              <a:gd name="connsiteX11" fmla="*/ 2612571 w 4572000"/>
              <a:gd name="connsiteY11" fmla="*/ 27432 h 27432"/>
              <a:gd name="connsiteX12" fmla="*/ 2005149 w 4572000"/>
              <a:gd name="connsiteY12" fmla="*/ 27432 h 27432"/>
              <a:gd name="connsiteX13" fmla="*/ 1489166 w 4572000"/>
              <a:gd name="connsiteY13" fmla="*/ 27432 h 27432"/>
              <a:gd name="connsiteX14" fmla="*/ 790303 w 4572000"/>
              <a:gd name="connsiteY14" fmla="*/ 27432 h 27432"/>
              <a:gd name="connsiteX15" fmla="*/ 0 w 4572000"/>
              <a:gd name="connsiteY15" fmla="*/ 27432 h 27432"/>
              <a:gd name="connsiteX16" fmla="*/ 0 w 457200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27432" fill="none" extrusionOk="0">
                <a:moveTo>
                  <a:pt x="0" y="0"/>
                </a:moveTo>
                <a:cubicBezTo>
                  <a:pt x="150397" y="-23421"/>
                  <a:pt x="474161" y="9174"/>
                  <a:pt x="607423" y="0"/>
                </a:cubicBezTo>
                <a:cubicBezTo>
                  <a:pt x="740685" y="-9174"/>
                  <a:pt x="868821" y="-4258"/>
                  <a:pt x="1123406" y="0"/>
                </a:cubicBezTo>
                <a:cubicBezTo>
                  <a:pt x="1377991" y="4258"/>
                  <a:pt x="1567664" y="-12410"/>
                  <a:pt x="1685109" y="0"/>
                </a:cubicBezTo>
                <a:cubicBezTo>
                  <a:pt x="1802554" y="12410"/>
                  <a:pt x="2193086" y="-14353"/>
                  <a:pt x="2383971" y="0"/>
                </a:cubicBezTo>
                <a:cubicBezTo>
                  <a:pt x="2574856" y="14353"/>
                  <a:pt x="2697477" y="-26142"/>
                  <a:pt x="2991394" y="0"/>
                </a:cubicBezTo>
                <a:cubicBezTo>
                  <a:pt x="3285311" y="26142"/>
                  <a:pt x="3423667" y="26544"/>
                  <a:pt x="3553097" y="0"/>
                </a:cubicBezTo>
                <a:cubicBezTo>
                  <a:pt x="3682527" y="-26544"/>
                  <a:pt x="4344147" y="50350"/>
                  <a:pt x="4572000" y="0"/>
                </a:cubicBezTo>
                <a:cubicBezTo>
                  <a:pt x="4571027" y="8304"/>
                  <a:pt x="4571522" y="21512"/>
                  <a:pt x="4572000" y="27432"/>
                </a:cubicBezTo>
                <a:cubicBezTo>
                  <a:pt x="4438349" y="5490"/>
                  <a:pt x="4090129" y="31231"/>
                  <a:pt x="3918857" y="27432"/>
                </a:cubicBezTo>
                <a:cubicBezTo>
                  <a:pt x="3747585" y="23633"/>
                  <a:pt x="3498826" y="6883"/>
                  <a:pt x="3357154" y="27432"/>
                </a:cubicBezTo>
                <a:cubicBezTo>
                  <a:pt x="3215482" y="47981"/>
                  <a:pt x="2784289" y="56849"/>
                  <a:pt x="2612571" y="27432"/>
                </a:cubicBezTo>
                <a:cubicBezTo>
                  <a:pt x="2440853" y="-1985"/>
                  <a:pt x="2261292" y="25951"/>
                  <a:pt x="2005149" y="27432"/>
                </a:cubicBezTo>
                <a:cubicBezTo>
                  <a:pt x="1749006" y="28913"/>
                  <a:pt x="1700078" y="34342"/>
                  <a:pt x="1489166" y="27432"/>
                </a:cubicBezTo>
                <a:cubicBezTo>
                  <a:pt x="1278254" y="20522"/>
                  <a:pt x="1077188" y="56916"/>
                  <a:pt x="790303" y="27432"/>
                </a:cubicBezTo>
                <a:cubicBezTo>
                  <a:pt x="503418" y="-2052"/>
                  <a:pt x="359168" y="57044"/>
                  <a:pt x="0" y="27432"/>
                </a:cubicBezTo>
                <a:cubicBezTo>
                  <a:pt x="-1048" y="14992"/>
                  <a:pt x="-1120" y="7447"/>
                  <a:pt x="0" y="0"/>
                </a:cubicBezTo>
                <a:close/>
              </a:path>
              <a:path w="4572000" h="27432" stroke="0" extrusionOk="0">
                <a:moveTo>
                  <a:pt x="0" y="0"/>
                </a:moveTo>
                <a:cubicBezTo>
                  <a:pt x="155698" y="6780"/>
                  <a:pt x="465972" y="13197"/>
                  <a:pt x="607423" y="0"/>
                </a:cubicBezTo>
                <a:cubicBezTo>
                  <a:pt x="748874" y="-13197"/>
                  <a:pt x="1014133" y="22994"/>
                  <a:pt x="1123406" y="0"/>
                </a:cubicBezTo>
                <a:cubicBezTo>
                  <a:pt x="1232679" y="-22994"/>
                  <a:pt x="1639431" y="-2997"/>
                  <a:pt x="1867989" y="0"/>
                </a:cubicBezTo>
                <a:cubicBezTo>
                  <a:pt x="2096547" y="2997"/>
                  <a:pt x="2265668" y="29557"/>
                  <a:pt x="2475411" y="0"/>
                </a:cubicBezTo>
                <a:cubicBezTo>
                  <a:pt x="2685154" y="-29557"/>
                  <a:pt x="2951491" y="73"/>
                  <a:pt x="3082834" y="0"/>
                </a:cubicBezTo>
                <a:cubicBezTo>
                  <a:pt x="3214177" y="-73"/>
                  <a:pt x="3641000" y="-33478"/>
                  <a:pt x="3827417" y="0"/>
                </a:cubicBezTo>
                <a:cubicBezTo>
                  <a:pt x="4013834" y="33478"/>
                  <a:pt x="4345917" y="14255"/>
                  <a:pt x="4572000" y="0"/>
                </a:cubicBezTo>
                <a:cubicBezTo>
                  <a:pt x="4572485" y="9333"/>
                  <a:pt x="4573278" y="19699"/>
                  <a:pt x="4572000" y="27432"/>
                </a:cubicBezTo>
                <a:cubicBezTo>
                  <a:pt x="4318030" y="43025"/>
                  <a:pt x="4161104" y="34314"/>
                  <a:pt x="4010297" y="27432"/>
                </a:cubicBezTo>
                <a:cubicBezTo>
                  <a:pt x="3859490" y="20550"/>
                  <a:pt x="3592529" y="6613"/>
                  <a:pt x="3357154" y="27432"/>
                </a:cubicBezTo>
                <a:cubicBezTo>
                  <a:pt x="3121779" y="48251"/>
                  <a:pt x="2884285" y="3780"/>
                  <a:pt x="2704011" y="27432"/>
                </a:cubicBezTo>
                <a:cubicBezTo>
                  <a:pt x="2523737" y="51084"/>
                  <a:pt x="2295944" y="32081"/>
                  <a:pt x="2096589" y="27432"/>
                </a:cubicBezTo>
                <a:cubicBezTo>
                  <a:pt x="1897234" y="22783"/>
                  <a:pt x="1623782" y="52518"/>
                  <a:pt x="1352006" y="27432"/>
                </a:cubicBezTo>
                <a:cubicBezTo>
                  <a:pt x="1080230" y="2346"/>
                  <a:pt x="869959" y="12864"/>
                  <a:pt x="607423" y="27432"/>
                </a:cubicBezTo>
                <a:cubicBezTo>
                  <a:pt x="344887" y="42000"/>
                  <a:pt x="188100" y="40051"/>
                  <a:pt x="0" y="27432"/>
                </a:cubicBezTo>
                <a:cubicBezTo>
                  <a:pt x="211" y="18145"/>
                  <a:pt x="120" y="6480"/>
                  <a:pt x="0" y="0"/>
                </a:cubicBezTo>
                <a:close/>
              </a:path>
            </a:pathLst>
          </a:custGeom>
          <a:solidFill>
            <a:srgbClr val="7EB8FB"/>
          </a:solidFill>
          <a:ln w="38100" cap="rnd">
            <a:solidFill>
              <a:srgbClr val="7EB8FB"/>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Date Placeholder 26">
            <a:extLst>
              <a:ext uri="{FF2B5EF4-FFF2-40B4-BE49-F238E27FC236}">
                <a16:creationId xmlns:a16="http://schemas.microsoft.com/office/drawing/2014/main" id="{F28B82B1-E269-4325-A665-6CFE5DEE5DE5}"/>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81" name="Footer Placeholder 27">
            <a:extLst>
              <a:ext uri="{FF2B5EF4-FFF2-40B4-BE49-F238E27FC236}">
                <a16:creationId xmlns:a16="http://schemas.microsoft.com/office/drawing/2014/main" id="{7C700527-76FD-4DF4-A597-6F5E089CA0C2}"/>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83" name="Slide Number Placeholder 28">
            <a:extLst>
              <a:ext uri="{FF2B5EF4-FFF2-40B4-BE49-F238E27FC236}">
                <a16:creationId xmlns:a16="http://schemas.microsoft.com/office/drawing/2014/main" id="{B5EA49A9-01EB-4D60-A392-7DC9B625D67D}"/>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2171690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41" presetClass="path" presetSubtype="0" accel="50000" decel="50000" fill="hold" nodeType="withEffect">
                                  <p:stCondLst>
                                    <p:cond delay="0"/>
                                  </p:stCondLst>
                                  <p:childTnLst>
                                    <p:animMotion origin="layout" path="M -4.58333E-6 -1.11111E-6 C -0.01679 -0.02407 -0.07395 -0.04745 -0.09492 -0.04745 C -0.22226 -0.04745 -0.35377 0.32408 -0.35377 0.69583 C -0.35377 0.50857 -0.41966 0.32408 -0.48112 0.32408 C -0.547 0.32408 -0.60846 0.51134 -0.60846 0.69583 C -0.60846 0.60347 -0.64114 0.50857 -0.67421 0.50857 C -0.70703 0.50857 -0.74023 0.6007 -0.74023 0.69583 C -0.74023 0.64815 -0.75664 0.60347 -0.77278 0.60347 C -0.78945 0.60347 -0.80546 0.65093 -0.80546 0.69583 C -0.80546 0.67153 -0.81341 0.64815 -0.822 0.64815 C -0.8263 0.64815 -0.83867 0.67222 -0.83867 0.69583 C -0.83867 0.68403 -0.84296 0.67153 -0.84661 0.67153 C -0.84661 0.66898 -0.85468 0.68333 -0.85468 0.69583 C -0.85468 0.68958 -0.85468 0.68403 -0.85898 0.68403 C -0.85898 0.68681 -0.86328 0.69028 -0.86328 0.69583 C -0.86328 0.69306 -0.86328 0.68958 -0.86328 0.68681 C -0.86757 0.68681 -0.86757 0.68958 -0.86757 0.69306 C -0.87187 0.69306 -0.87187 0.69028 -0.87187 0.68681 C -0.87591 0.68681 -0.87591 0.68958 -0.87591 0.69306 " pathEditMode="relative" rAng="0" ptsTypes="AAAAAAAAAAAAAAAAAAA">
                                      <p:cBhvr>
                                        <p:cTn id="9" dur="5000" fill="hold"/>
                                        <p:tgtEl>
                                          <p:spTgt spid="1028"/>
                                        </p:tgtEl>
                                        <p:attrNameLst>
                                          <p:attrName>ppt_x</p:attrName>
                                          <p:attrName>ppt_y</p:attrName>
                                        </p:attrNameLst>
                                      </p:cBhvr>
                                      <p:rCtr x="-43802" y="3240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04FFB5-DE23-4D74-BEF9-CC7D947D357C}"/>
              </a:ext>
            </a:extLst>
          </p:cNvPr>
          <p:cNvSpPr>
            <a:spLocks noGrp="1"/>
          </p:cNvSpPr>
          <p:nvPr>
            <p:ph type="title"/>
          </p:nvPr>
        </p:nvSpPr>
        <p:spPr>
          <a:xfrm>
            <a:off x="640080" y="325369"/>
            <a:ext cx="4368602" cy="1956841"/>
          </a:xfrm>
        </p:spPr>
        <p:txBody>
          <a:bodyPr anchor="b">
            <a:normAutofit/>
          </a:bodyPr>
          <a:lstStyle/>
          <a:p>
            <a:r>
              <a:rPr lang="en-US" sz="6600"/>
              <a:t>Today’s Focus</a:t>
            </a:r>
          </a:p>
        </p:txBody>
      </p:sp>
      <p:sp>
        <p:nvSpPr>
          <p:cNvPr id="28"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093" y="2563839"/>
            <a:ext cx="3931920" cy="27432"/>
          </a:xfrm>
          <a:custGeom>
            <a:avLst/>
            <a:gdLst>
              <a:gd name="connsiteX0" fmla="*/ 0 w 3931920"/>
              <a:gd name="connsiteY0" fmla="*/ 0 h 27432"/>
              <a:gd name="connsiteX1" fmla="*/ 733958 w 3931920"/>
              <a:gd name="connsiteY1" fmla="*/ 0 h 27432"/>
              <a:gd name="connsiteX2" fmla="*/ 1428598 w 3931920"/>
              <a:gd name="connsiteY2" fmla="*/ 0 h 27432"/>
              <a:gd name="connsiteX3" fmla="*/ 2123237 w 3931920"/>
              <a:gd name="connsiteY3" fmla="*/ 0 h 27432"/>
              <a:gd name="connsiteX4" fmla="*/ 2660599 w 3931920"/>
              <a:gd name="connsiteY4" fmla="*/ 0 h 27432"/>
              <a:gd name="connsiteX5" fmla="*/ 3237281 w 3931920"/>
              <a:gd name="connsiteY5" fmla="*/ 0 h 27432"/>
              <a:gd name="connsiteX6" fmla="*/ 3931920 w 3931920"/>
              <a:gd name="connsiteY6" fmla="*/ 0 h 27432"/>
              <a:gd name="connsiteX7" fmla="*/ 3931920 w 3931920"/>
              <a:gd name="connsiteY7" fmla="*/ 27432 h 27432"/>
              <a:gd name="connsiteX8" fmla="*/ 3276600 w 3931920"/>
              <a:gd name="connsiteY8" fmla="*/ 27432 h 27432"/>
              <a:gd name="connsiteX9" fmla="*/ 2739238 w 3931920"/>
              <a:gd name="connsiteY9" fmla="*/ 27432 h 27432"/>
              <a:gd name="connsiteX10" fmla="*/ 2201875 w 3931920"/>
              <a:gd name="connsiteY10" fmla="*/ 27432 h 27432"/>
              <a:gd name="connsiteX11" fmla="*/ 1507236 w 3931920"/>
              <a:gd name="connsiteY11" fmla="*/ 27432 h 27432"/>
              <a:gd name="connsiteX12" fmla="*/ 930554 w 3931920"/>
              <a:gd name="connsiteY12" fmla="*/ 27432 h 27432"/>
              <a:gd name="connsiteX13" fmla="*/ 0 w 3931920"/>
              <a:gd name="connsiteY13" fmla="*/ 27432 h 27432"/>
              <a:gd name="connsiteX14" fmla="*/ 0 w 3931920"/>
              <a:gd name="connsiteY14"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31920" h="27432" fill="none" extrusionOk="0">
                <a:moveTo>
                  <a:pt x="0" y="0"/>
                </a:moveTo>
                <a:cubicBezTo>
                  <a:pt x="245351" y="16874"/>
                  <a:pt x="509174" y="13736"/>
                  <a:pt x="733958" y="0"/>
                </a:cubicBezTo>
                <a:cubicBezTo>
                  <a:pt x="958742" y="-13736"/>
                  <a:pt x="1245406" y="-17215"/>
                  <a:pt x="1428598" y="0"/>
                </a:cubicBezTo>
                <a:cubicBezTo>
                  <a:pt x="1611790" y="17215"/>
                  <a:pt x="1930525" y="20562"/>
                  <a:pt x="2123237" y="0"/>
                </a:cubicBezTo>
                <a:cubicBezTo>
                  <a:pt x="2315949" y="-20562"/>
                  <a:pt x="2485508" y="11332"/>
                  <a:pt x="2660599" y="0"/>
                </a:cubicBezTo>
                <a:cubicBezTo>
                  <a:pt x="2835690" y="-11332"/>
                  <a:pt x="3075198" y="-14809"/>
                  <a:pt x="3237281" y="0"/>
                </a:cubicBezTo>
                <a:cubicBezTo>
                  <a:pt x="3399364" y="14809"/>
                  <a:pt x="3745084" y="-4992"/>
                  <a:pt x="3931920" y="0"/>
                </a:cubicBezTo>
                <a:cubicBezTo>
                  <a:pt x="3930963" y="8431"/>
                  <a:pt x="3931571" y="14612"/>
                  <a:pt x="3931920" y="27432"/>
                </a:cubicBezTo>
                <a:cubicBezTo>
                  <a:pt x="3765435" y="40792"/>
                  <a:pt x="3452398" y="38703"/>
                  <a:pt x="3276600" y="27432"/>
                </a:cubicBezTo>
                <a:cubicBezTo>
                  <a:pt x="3100802" y="16161"/>
                  <a:pt x="2914889" y="26998"/>
                  <a:pt x="2739238" y="27432"/>
                </a:cubicBezTo>
                <a:cubicBezTo>
                  <a:pt x="2563587" y="27866"/>
                  <a:pt x="2395484" y="39154"/>
                  <a:pt x="2201875" y="27432"/>
                </a:cubicBezTo>
                <a:cubicBezTo>
                  <a:pt x="2008266" y="15710"/>
                  <a:pt x="1781367" y="4899"/>
                  <a:pt x="1507236" y="27432"/>
                </a:cubicBezTo>
                <a:cubicBezTo>
                  <a:pt x="1233105" y="49965"/>
                  <a:pt x="1075495" y="47542"/>
                  <a:pt x="930554" y="27432"/>
                </a:cubicBezTo>
                <a:cubicBezTo>
                  <a:pt x="785613" y="7322"/>
                  <a:pt x="268930" y="30433"/>
                  <a:pt x="0" y="27432"/>
                </a:cubicBezTo>
                <a:cubicBezTo>
                  <a:pt x="226" y="18208"/>
                  <a:pt x="-648" y="12891"/>
                  <a:pt x="0" y="0"/>
                </a:cubicBezTo>
                <a:close/>
              </a:path>
              <a:path w="3931920" h="27432" stroke="0" extrusionOk="0">
                <a:moveTo>
                  <a:pt x="0" y="0"/>
                </a:moveTo>
                <a:cubicBezTo>
                  <a:pt x="278269" y="4786"/>
                  <a:pt x="349028" y="-10422"/>
                  <a:pt x="616001" y="0"/>
                </a:cubicBezTo>
                <a:cubicBezTo>
                  <a:pt x="882974" y="10422"/>
                  <a:pt x="931617" y="-15515"/>
                  <a:pt x="1153363" y="0"/>
                </a:cubicBezTo>
                <a:cubicBezTo>
                  <a:pt x="1375109" y="15515"/>
                  <a:pt x="1704089" y="-3631"/>
                  <a:pt x="1887322" y="0"/>
                </a:cubicBezTo>
                <a:cubicBezTo>
                  <a:pt x="2070555" y="3631"/>
                  <a:pt x="2344155" y="2213"/>
                  <a:pt x="2503322" y="0"/>
                </a:cubicBezTo>
                <a:cubicBezTo>
                  <a:pt x="2662489" y="-2213"/>
                  <a:pt x="2976859" y="26691"/>
                  <a:pt x="3119323" y="0"/>
                </a:cubicBezTo>
                <a:cubicBezTo>
                  <a:pt x="3261787" y="-26691"/>
                  <a:pt x="3588171" y="-28651"/>
                  <a:pt x="3931920" y="0"/>
                </a:cubicBezTo>
                <a:cubicBezTo>
                  <a:pt x="3930565" y="9524"/>
                  <a:pt x="3930718" y="13975"/>
                  <a:pt x="3931920" y="27432"/>
                </a:cubicBezTo>
                <a:cubicBezTo>
                  <a:pt x="3664329" y="4021"/>
                  <a:pt x="3437686" y="14511"/>
                  <a:pt x="3276600" y="27432"/>
                </a:cubicBezTo>
                <a:cubicBezTo>
                  <a:pt x="3115514" y="40353"/>
                  <a:pt x="2913592" y="48967"/>
                  <a:pt x="2739238" y="27432"/>
                </a:cubicBezTo>
                <a:cubicBezTo>
                  <a:pt x="2564884" y="5897"/>
                  <a:pt x="2294049" y="39820"/>
                  <a:pt x="2083918" y="27432"/>
                </a:cubicBezTo>
                <a:cubicBezTo>
                  <a:pt x="1873787" y="15044"/>
                  <a:pt x="1718903" y="21388"/>
                  <a:pt x="1428598" y="27432"/>
                </a:cubicBezTo>
                <a:cubicBezTo>
                  <a:pt x="1138293" y="33476"/>
                  <a:pt x="952209" y="50441"/>
                  <a:pt x="812597" y="27432"/>
                </a:cubicBezTo>
                <a:cubicBezTo>
                  <a:pt x="672985" y="4423"/>
                  <a:pt x="305800" y="28240"/>
                  <a:pt x="0" y="27432"/>
                </a:cubicBezTo>
                <a:cubicBezTo>
                  <a:pt x="-800" y="16780"/>
                  <a:pt x="-583" y="12910"/>
                  <a:pt x="0" y="0"/>
                </a:cubicBezTo>
                <a:close/>
              </a:path>
            </a:pathLst>
          </a:custGeom>
          <a:solidFill>
            <a:srgbClr val="E5B399"/>
          </a:solidFill>
          <a:ln w="38100" cap="rnd">
            <a:solidFill>
              <a:srgbClr val="E5B399"/>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A63D7FC-176D-B898-C622-E503B972CD01}"/>
              </a:ext>
            </a:extLst>
          </p:cNvPr>
          <p:cNvSpPr>
            <a:spLocks noGrp="1"/>
          </p:cNvSpPr>
          <p:nvPr>
            <p:ph idx="1"/>
          </p:nvPr>
        </p:nvSpPr>
        <p:spPr>
          <a:xfrm>
            <a:off x="640080" y="2872899"/>
            <a:ext cx="4243589" cy="3320668"/>
          </a:xfrm>
        </p:spPr>
        <p:txBody>
          <a:bodyPr>
            <a:normAutofit/>
          </a:bodyPr>
          <a:lstStyle/>
          <a:p>
            <a:r>
              <a:rPr lang="en-US" dirty="0"/>
              <a:t>Topic Test.</a:t>
            </a:r>
          </a:p>
        </p:txBody>
      </p:sp>
      <p:pic>
        <p:nvPicPr>
          <p:cNvPr id="5" name="Picture 4" descr="Writing an appointment on a paper agenda">
            <a:extLst>
              <a:ext uri="{FF2B5EF4-FFF2-40B4-BE49-F238E27FC236}">
                <a16:creationId xmlns:a16="http://schemas.microsoft.com/office/drawing/2014/main" id="{EDE161DE-AC56-B92C-DAD0-35C65DB94381}"/>
              </a:ext>
            </a:extLst>
          </p:cNvPr>
          <p:cNvPicPr>
            <a:picLocks noChangeAspect="1"/>
          </p:cNvPicPr>
          <p:nvPr/>
        </p:nvPicPr>
        <p:blipFill rotWithShape="1">
          <a:blip r:embed="rId2"/>
          <a:srcRect r="33047"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8944968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72DE4C0-EE12-4CAC-98CF-A89349319A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29CF03F-5E6E-4B23-89A5-81548BA4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512253-3A15-239D-C7A0-51A6366E6BD3}"/>
              </a:ext>
            </a:extLst>
          </p:cNvPr>
          <p:cNvSpPr>
            <a:spLocks noGrp="1"/>
          </p:cNvSpPr>
          <p:nvPr>
            <p:ph type="title"/>
          </p:nvPr>
        </p:nvSpPr>
        <p:spPr>
          <a:xfrm>
            <a:off x="4654296" y="329184"/>
            <a:ext cx="6894576" cy="1783080"/>
          </a:xfrm>
        </p:spPr>
        <p:txBody>
          <a:bodyPr anchor="b">
            <a:normAutofit/>
          </a:bodyPr>
          <a:lstStyle/>
          <a:p>
            <a:r>
              <a:rPr lang="en-US" sz="7200"/>
              <a:t>Test CONDITIONS:</a:t>
            </a:r>
          </a:p>
        </p:txBody>
      </p:sp>
      <p:sp>
        <p:nvSpPr>
          <p:cNvPr id="13"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39572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ED13BA1-1DAE-C858-8429-1571E7954906}"/>
              </a:ext>
            </a:extLst>
          </p:cNvPr>
          <p:cNvSpPr>
            <a:spLocks noGrp="1"/>
          </p:cNvSpPr>
          <p:nvPr>
            <p:ph idx="1"/>
          </p:nvPr>
        </p:nvSpPr>
        <p:spPr>
          <a:xfrm>
            <a:off x="4654296" y="2706624"/>
            <a:ext cx="6894576" cy="3975530"/>
          </a:xfrm>
        </p:spPr>
        <p:txBody>
          <a:bodyPr>
            <a:normAutofit fontScale="62500" lnSpcReduction="20000"/>
          </a:bodyPr>
          <a:lstStyle/>
          <a:p>
            <a:pPr>
              <a:lnSpc>
                <a:spcPct val="100000"/>
              </a:lnSpc>
            </a:pPr>
            <a:r>
              <a:rPr lang="en-US" sz="3600" dirty="0">
                <a:solidFill>
                  <a:schemeClr val="bg1"/>
                </a:solidFill>
              </a:rPr>
              <a:t>You have ONE period to complete the test</a:t>
            </a:r>
          </a:p>
          <a:p>
            <a:pPr>
              <a:lnSpc>
                <a:spcPct val="100000"/>
              </a:lnSpc>
            </a:pPr>
            <a:endParaRPr lang="en-US" sz="3600" dirty="0">
              <a:solidFill>
                <a:schemeClr val="bg1"/>
              </a:solidFill>
            </a:endParaRPr>
          </a:p>
          <a:p>
            <a:pPr lvl="0">
              <a:lnSpc>
                <a:spcPct val="100000"/>
              </a:lnSpc>
            </a:pPr>
            <a:r>
              <a:rPr lang="en-AU" sz="3600" dirty="0">
                <a:solidFill>
                  <a:schemeClr val="bg1"/>
                </a:solidFill>
              </a:rPr>
              <a:t>Separate all desks. </a:t>
            </a:r>
          </a:p>
          <a:p>
            <a:pPr lvl="0">
              <a:lnSpc>
                <a:spcPct val="100000"/>
              </a:lnSpc>
            </a:pPr>
            <a:endParaRPr lang="en-US" sz="3600" dirty="0">
              <a:solidFill>
                <a:schemeClr val="bg1"/>
              </a:solidFill>
            </a:endParaRPr>
          </a:p>
          <a:p>
            <a:pPr lvl="0">
              <a:lnSpc>
                <a:spcPct val="100000"/>
              </a:lnSpc>
            </a:pPr>
            <a:r>
              <a:rPr lang="en-AU" sz="3600" dirty="0">
                <a:solidFill>
                  <a:schemeClr val="bg1"/>
                </a:solidFill>
              </a:rPr>
              <a:t>You need a pen.</a:t>
            </a:r>
          </a:p>
          <a:p>
            <a:pPr lvl="0">
              <a:lnSpc>
                <a:spcPct val="100000"/>
              </a:lnSpc>
            </a:pPr>
            <a:endParaRPr lang="en-US" sz="3600" dirty="0">
              <a:solidFill>
                <a:schemeClr val="bg1"/>
              </a:solidFill>
            </a:endParaRPr>
          </a:p>
          <a:p>
            <a:pPr lvl="0">
              <a:lnSpc>
                <a:spcPct val="100000"/>
              </a:lnSpc>
            </a:pPr>
            <a:r>
              <a:rPr lang="en-AU" sz="3600" dirty="0">
                <a:solidFill>
                  <a:schemeClr val="bg1"/>
                </a:solidFill>
              </a:rPr>
              <a:t>No talking or cheating. </a:t>
            </a:r>
            <a:endParaRPr lang="en-US" sz="3600" dirty="0">
              <a:solidFill>
                <a:schemeClr val="bg1"/>
              </a:solidFill>
            </a:endParaRPr>
          </a:p>
          <a:p>
            <a:pPr lvl="1">
              <a:lnSpc>
                <a:spcPct val="100000"/>
              </a:lnSpc>
            </a:pPr>
            <a:r>
              <a:rPr lang="en-AU" sz="3600" dirty="0">
                <a:solidFill>
                  <a:schemeClr val="bg1"/>
                </a:solidFill>
              </a:rPr>
              <a:t>May result in a loss of marks/score of 0.</a:t>
            </a:r>
            <a:r>
              <a:rPr lang="en-US" sz="3600" dirty="0">
                <a:solidFill>
                  <a:schemeClr val="bg1"/>
                </a:solidFill>
              </a:rPr>
              <a:t> </a:t>
            </a:r>
          </a:p>
          <a:p>
            <a:pPr lvl="1">
              <a:lnSpc>
                <a:spcPct val="100000"/>
              </a:lnSpc>
            </a:pPr>
            <a:endParaRPr lang="en-US" sz="3600" dirty="0">
              <a:solidFill>
                <a:schemeClr val="bg1"/>
              </a:solidFill>
            </a:endParaRPr>
          </a:p>
          <a:p>
            <a:pPr>
              <a:lnSpc>
                <a:spcPct val="100000"/>
              </a:lnSpc>
            </a:pPr>
            <a:r>
              <a:rPr lang="en-US" sz="4400" dirty="0">
                <a:solidFill>
                  <a:schemeClr val="bg1"/>
                </a:solidFill>
              </a:rPr>
              <a:t>Raise your hand if you finish early or have a question. </a:t>
            </a:r>
          </a:p>
          <a:p>
            <a:pPr>
              <a:lnSpc>
                <a:spcPct val="100000"/>
              </a:lnSpc>
            </a:pPr>
            <a:endParaRPr lang="en-US" sz="1300" dirty="0"/>
          </a:p>
          <a:p>
            <a:pPr>
              <a:lnSpc>
                <a:spcPct val="100000"/>
              </a:lnSpc>
            </a:pPr>
            <a:endParaRPr lang="en-US" sz="1300" dirty="0"/>
          </a:p>
        </p:txBody>
      </p:sp>
      <p:pic>
        <p:nvPicPr>
          <p:cNvPr id="5" name="Picture 4" descr="Black pen against a sheet with shaded numbers">
            <a:extLst>
              <a:ext uri="{FF2B5EF4-FFF2-40B4-BE49-F238E27FC236}">
                <a16:creationId xmlns:a16="http://schemas.microsoft.com/office/drawing/2014/main" id="{9A311B61-03D6-11E2-25F0-6C8717A99A5C}"/>
              </a:ext>
            </a:extLst>
          </p:cNvPr>
          <p:cNvPicPr>
            <a:picLocks noChangeAspect="1"/>
          </p:cNvPicPr>
          <p:nvPr/>
        </p:nvPicPr>
        <p:blipFill rotWithShape="1">
          <a:blip r:embed="rId2"/>
          <a:srcRect l="60547" r="-1" b="-1"/>
          <a:stretch/>
        </p:blipFill>
        <p:spPr>
          <a:xfrm>
            <a:off x="20" y="10"/>
            <a:ext cx="4053550" cy="6857989"/>
          </a:xfrm>
          <a:custGeom>
            <a:avLst/>
            <a:gdLst/>
            <a:ahLst/>
            <a:cxnLst/>
            <a:rect l="l" t="t" r="r" b="b"/>
            <a:pathLst>
              <a:path w="4053570" h="6857999">
                <a:moveTo>
                  <a:pt x="0" y="0"/>
                </a:moveTo>
                <a:lnTo>
                  <a:pt x="4022851" y="0"/>
                </a:lnTo>
                <a:lnTo>
                  <a:pt x="4023684" y="7069"/>
                </a:lnTo>
                <a:cubicBezTo>
                  <a:pt x="4038634" y="90834"/>
                  <a:pt x="4036100" y="175741"/>
                  <a:pt x="4040154" y="260014"/>
                </a:cubicBezTo>
                <a:cubicBezTo>
                  <a:pt x="4044969" y="363071"/>
                  <a:pt x="4038888" y="466508"/>
                  <a:pt x="4036607" y="569818"/>
                </a:cubicBezTo>
                <a:cubicBezTo>
                  <a:pt x="4034833" y="657771"/>
                  <a:pt x="4026091" y="745598"/>
                  <a:pt x="4028752" y="833678"/>
                </a:cubicBezTo>
                <a:cubicBezTo>
                  <a:pt x="4028942" y="836724"/>
                  <a:pt x="4028942" y="839770"/>
                  <a:pt x="4028752" y="842816"/>
                </a:cubicBezTo>
                <a:cubicBezTo>
                  <a:pt x="4020643" y="939653"/>
                  <a:pt x="4020643" y="1036998"/>
                  <a:pt x="4028752" y="1133836"/>
                </a:cubicBezTo>
                <a:cubicBezTo>
                  <a:pt x="4031324" y="1174144"/>
                  <a:pt x="4030602" y="1214593"/>
                  <a:pt x="4026598" y="1254787"/>
                </a:cubicBezTo>
                <a:cubicBezTo>
                  <a:pt x="4022797" y="1305935"/>
                  <a:pt x="4010634" y="1357844"/>
                  <a:pt x="4019376" y="1408610"/>
                </a:cubicBezTo>
                <a:cubicBezTo>
                  <a:pt x="4025065" y="1450430"/>
                  <a:pt x="4028194" y="1492566"/>
                  <a:pt x="4028752" y="1534766"/>
                </a:cubicBezTo>
                <a:cubicBezTo>
                  <a:pt x="4033186" y="1629192"/>
                  <a:pt x="4029005" y="1724125"/>
                  <a:pt x="4027358" y="1818805"/>
                </a:cubicBezTo>
                <a:cubicBezTo>
                  <a:pt x="4025584" y="1929096"/>
                  <a:pt x="4028372" y="2039387"/>
                  <a:pt x="4019503" y="2149804"/>
                </a:cubicBezTo>
                <a:cubicBezTo>
                  <a:pt x="4014625" y="2239001"/>
                  <a:pt x="4014625" y="2328401"/>
                  <a:pt x="4019503" y="2417598"/>
                </a:cubicBezTo>
                <a:cubicBezTo>
                  <a:pt x="4021910" y="2499333"/>
                  <a:pt x="4034200" y="2580306"/>
                  <a:pt x="4032173" y="2662929"/>
                </a:cubicBezTo>
                <a:cubicBezTo>
                  <a:pt x="4029765" y="2759258"/>
                  <a:pt x="4018363" y="2855334"/>
                  <a:pt x="4021910" y="2951918"/>
                </a:cubicBezTo>
                <a:cubicBezTo>
                  <a:pt x="4023557" y="2997989"/>
                  <a:pt x="4023684" y="3044060"/>
                  <a:pt x="4024571" y="3090130"/>
                </a:cubicBezTo>
                <a:cubicBezTo>
                  <a:pt x="4025711" y="3145593"/>
                  <a:pt x="4035720" y="3200928"/>
                  <a:pt x="4030145" y="3256264"/>
                </a:cubicBezTo>
                <a:cubicBezTo>
                  <a:pt x="4020897" y="3348533"/>
                  <a:pt x="3996951" y="3439278"/>
                  <a:pt x="4011901" y="3533831"/>
                </a:cubicBezTo>
                <a:cubicBezTo>
                  <a:pt x="4020136" y="3585867"/>
                  <a:pt x="4029385" y="3638030"/>
                  <a:pt x="4034200" y="3690573"/>
                </a:cubicBezTo>
                <a:cubicBezTo>
                  <a:pt x="4038381" y="3737532"/>
                  <a:pt x="4048896" y="3785253"/>
                  <a:pt x="4040914" y="3831958"/>
                </a:cubicBezTo>
                <a:cubicBezTo>
                  <a:pt x="4034073" y="3871937"/>
                  <a:pt x="4037620" y="3911916"/>
                  <a:pt x="4032299" y="3951895"/>
                </a:cubicBezTo>
                <a:cubicBezTo>
                  <a:pt x="4025331" y="4004311"/>
                  <a:pt x="4021657" y="4057616"/>
                  <a:pt x="4016336" y="4110414"/>
                </a:cubicBezTo>
                <a:cubicBezTo>
                  <a:pt x="4011648" y="4158261"/>
                  <a:pt x="4007974" y="4205982"/>
                  <a:pt x="4020643" y="4250911"/>
                </a:cubicBezTo>
                <a:cubicBezTo>
                  <a:pt x="4051684" y="4363994"/>
                  <a:pt x="4034707" y="4476442"/>
                  <a:pt x="4023051" y="4588763"/>
                </a:cubicBezTo>
                <a:cubicBezTo>
                  <a:pt x="4017349" y="4643337"/>
                  <a:pt x="4008987" y="4701084"/>
                  <a:pt x="4021657" y="4751090"/>
                </a:cubicBezTo>
                <a:cubicBezTo>
                  <a:pt x="4044969" y="4839804"/>
                  <a:pt x="4026725" y="4924077"/>
                  <a:pt x="4016589" y="5009238"/>
                </a:cubicBezTo>
                <a:cubicBezTo>
                  <a:pt x="4004363" y="5092546"/>
                  <a:pt x="4006124" y="5177301"/>
                  <a:pt x="4021784" y="5260026"/>
                </a:cubicBezTo>
                <a:cubicBezTo>
                  <a:pt x="4034200" y="5318407"/>
                  <a:pt x="4034200" y="5377804"/>
                  <a:pt x="4035720" y="5436566"/>
                </a:cubicBezTo>
                <a:cubicBezTo>
                  <a:pt x="4036607" y="5473373"/>
                  <a:pt x="4023051" y="5510813"/>
                  <a:pt x="4014055" y="5547492"/>
                </a:cubicBezTo>
                <a:cubicBezTo>
                  <a:pt x="3997965" y="5613743"/>
                  <a:pt x="3992137" y="5681008"/>
                  <a:pt x="4014055" y="5745609"/>
                </a:cubicBezTo>
                <a:cubicBezTo>
                  <a:pt x="4044589" y="5835085"/>
                  <a:pt x="4062073" y="5924561"/>
                  <a:pt x="4049403" y="6019242"/>
                </a:cubicBezTo>
                <a:cubicBezTo>
                  <a:pt x="4042055" y="6077623"/>
                  <a:pt x="4040408" y="6137274"/>
                  <a:pt x="4029385" y="6194894"/>
                </a:cubicBezTo>
                <a:cubicBezTo>
                  <a:pt x="4011268" y="6290463"/>
                  <a:pt x="4017729" y="6385396"/>
                  <a:pt x="4032173" y="6479568"/>
                </a:cubicBezTo>
                <a:cubicBezTo>
                  <a:pt x="4042321" y="6558257"/>
                  <a:pt x="4043423" y="6637846"/>
                  <a:pt x="4035467" y="6716775"/>
                </a:cubicBezTo>
                <a:lnTo>
                  <a:pt x="4025707" y="6857999"/>
                </a:lnTo>
                <a:lnTo>
                  <a:pt x="0" y="6857999"/>
                </a:lnTo>
                <a:close/>
              </a:path>
            </a:pathLst>
          </a:custGeom>
        </p:spPr>
      </p:pic>
    </p:spTree>
    <p:extLst>
      <p:ext uri="{BB962C8B-B14F-4D97-AF65-F5344CB8AC3E}">
        <p14:creationId xmlns:p14="http://schemas.microsoft.com/office/powerpoint/2010/main" val="332654714"/>
      </p:ext>
    </p:extLst>
  </p:cSld>
  <p:clrMapOvr>
    <a:overrideClrMapping bg1="dk1" tx1="lt1" bg2="dk2" tx2="lt2" accent1="accent1" accent2="accent2" accent3="accent3" accent4="accent4" accent5="accent5" accent6="accent6" hlink="hlink" folHlink="folHlink"/>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93245F62-CCC4-49E4-B95B-EA6C1E790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rainbow colored splatter&#10;&#10;Description automatically generated">
            <a:extLst>
              <a:ext uri="{FF2B5EF4-FFF2-40B4-BE49-F238E27FC236}">
                <a16:creationId xmlns:a16="http://schemas.microsoft.com/office/drawing/2014/main" id="{EEA83DFB-1DE6-B5DE-A972-635BA2248013}"/>
              </a:ext>
            </a:extLst>
          </p:cNvPr>
          <p:cNvPicPr>
            <a:picLocks noChangeAspect="1"/>
          </p:cNvPicPr>
          <p:nvPr/>
        </p:nvPicPr>
        <p:blipFill rotWithShape="1">
          <a:blip r:embed="rId2"/>
          <a:srcRect t="1747"/>
          <a:stretch/>
        </p:blipFill>
        <p:spPr>
          <a:xfrm>
            <a:off x="1298963" y="266542"/>
            <a:ext cx="9589477" cy="5394065"/>
          </a:xfrm>
          <a:prstGeom prst="rect">
            <a:avLst/>
          </a:prstGeom>
        </p:spPr>
      </p:pic>
      <p:pic>
        <p:nvPicPr>
          <p:cNvPr id="1028" name="Picture 4" descr="Sexually Transmitted Infections and HIV">
            <a:extLst>
              <a:ext uri="{FF2B5EF4-FFF2-40B4-BE49-F238E27FC236}">
                <a16:creationId xmlns:a16="http://schemas.microsoft.com/office/drawing/2014/main" id="{BDCE080E-9344-5EDA-E414-5ED90ABD48C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l="25312" t="22731" r="26524" b="12904"/>
          <a:stretch/>
        </p:blipFill>
        <p:spPr bwMode="auto">
          <a:xfrm>
            <a:off x="9472614" y="266542"/>
            <a:ext cx="2614612" cy="192992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657FBC4-0AFB-ADB7-F057-3A685854992A}"/>
              </a:ext>
            </a:extLst>
          </p:cNvPr>
          <p:cNvSpPr>
            <a:spLocks noGrp="1"/>
          </p:cNvSpPr>
          <p:nvPr>
            <p:ph type="ctrTitle"/>
          </p:nvPr>
        </p:nvSpPr>
        <p:spPr>
          <a:xfrm>
            <a:off x="638882" y="3577456"/>
            <a:ext cx="10909640" cy="1687814"/>
          </a:xfrm>
        </p:spPr>
        <p:txBody>
          <a:bodyPr anchor="b">
            <a:normAutofit/>
          </a:bodyPr>
          <a:lstStyle/>
          <a:p>
            <a:pPr algn="ctr"/>
            <a:r>
              <a:rPr lang="en-US" sz="10000" dirty="0"/>
              <a:t>CONTRACEPTION &amp; STI’s</a:t>
            </a:r>
          </a:p>
        </p:txBody>
      </p:sp>
      <p:sp>
        <p:nvSpPr>
          <p:cNvPr id="3" name="Subtitle 2">
            <a:extLst>
              <a:ext uri="{FF2B5EF4-FFF2-40B4-BE49-F238E27FC236}">
                <a16:creationId xmlns:a16="http://schemas.microsoft.com/office/drawing/2014/main" id="{E0D7FC79-1308-3C8D-6F49-05BF0614DDCD}"/>
              </a:ext>
            </a:extLst>
          </p:cNvPr>
          <p:cNvSpPr>
            <a:spLocks noGrp="1"/>
          </p:cNvSpPr>
          <p:nvPr>
            <p:ph type="subTitle" idx="1"/>
          </p:nvPr>
        </p:nvSpPr>
        <p:spPr>
          <a:xfrm>
            <a:off x="638881" y="5660607"/>
            <a:ext cx="10909643" cy="1060868"/>
          </a:xfrm>
        </p:spPr>
        <p:txBody>
          <a:bodyPr anchor="t">
            <a:normAutofit/>
          </a:bodyPr>
          <a:lstStyle/>
          <a:p>
            <a:pPr algn="ctr"/>
            <a:r>
              <a:rPr lang="en-US" sz="3200" b="1" dirty="0"/>
              <a:t>Year 10 Health 			Lesson 5			Term 2, 2024</a:t>
            </a:r>
          </a:p>
        </p:txBody>
      </p:sp>
      <p:sp>
        <p:nvSpPr>
          <p:cNvPr id="77" name="Rectangle 6">
            <a:extLst>
              <a:ext uri="{FF2B5EF4-FFF2-40B4-BE49-F238E27FC236}">
                <a16:creationId xmlns:a16="http://schemas.microsoft.com/office/drawing/2014/main" id="{E6C0DD6B-6AA3-448F-9B99-8386295BC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27432"/>
          </a:xfrm>
          <a:custGeom>
            <a:avLst/>
            <a:gdLst>
              <a:gd name="connsiteX0" fmla="*/ 0 w 4572000"/>
              <a:gd name="connsiteY0" fmla="*/ 0 h 27432"/>
              <a:gd name="connsiteX1" fmla="*/ 607423 w 4572000"/>
              <a:gd name="connsiteY1" fmla="*/ 0 h 27432"/>
              <a:gd name="connsiteX2" fmla="*/ 1123406 w 4572000"/>
              <a:gd name="connsiteY2" fmla="*/ 0 h 27432"/>
              <a:gd name="connsiteX3" fmla="*/ 1685109 w 4572000"/>
              <a:gd name="connsiteY3" fmla="*/ 0 h 27432"/>
              <a:gd name="connsiteX4" fmla="*/ 2383971 w 4572000"/>
              <a:gd name="connsiteY4" fmla="*/ 0 h 27432"/>
              <a:gd name="connsiteX5" fmla="*/ 2991394 w 4572000"/>
              <a:gd name="connsiteY5" fmla="*/ 0 h 27432"/>
              <a:gd name="connsiteX6" fmla="*/ 3553097 w 4572000"/>
              <a:gd name="connsiteY6" fmla="*/ 0 h 27432"/>
              <a:gd name="connsiteX7" fmla="*/ 4572000 w 4572000"/>
              <a:gd name="connsiteY7" fmla="*/ 0 h 27432"/>
              <a:gd name="connsiteX8" fmla="*/ 4572000 w 4572000"/>
              <a:gd name="connsiteY8" fmla="*/ 27432 h 27432"/>
              <a:gd name="connsiteX9" fmla="*/ 3918857 w 4572000"/>
              <a:gd name="connsiteY9" fmla="*/ 27432 h 27432"/>
              <a:gd name="connsiteX10" fmla="*/ 3357154 w 4572000"/>
              <a:gd name="connsiteY10" fmla="*/ 27432 h 27432"/>
              <a:gd name="connsiteX11" fmla="*/ 2612571 w 4572000"/>
              <a:gd name="connsiteY11" fmla="*/ 27432 h 27432"/>
              <a:gd name="connsiteX12" fmla="*/ 2005149 w 4572000"/>
              <a:gd name="connsiteY12" fmla="*/ 27432 h 27432"/>
              <a:gd name="connsiteX13" fmla="*/ 1489166 w 4572000"/>
              <a:gd name="connsiteY13" fmla="*/ 27432 h 27432"/>
              <a:gd name="connsiteX14" fmla="*/ 790303 w 4572000"/>
              <a:gd name="connsiteY14" fmla="*/ 27432 h 27432"/>
              <a:gd name="connsiteX15" fmla="*/ 0 w 4572000"/>
              <a:gd name="connsiteY15" fmla="*/ 27432 h 27432"/>
              <a:gd name="connsiteX16" fmla="*/ 0 w 457200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27432" fill="none" extrusionOk="0">
                <a:moveTo>
                  <a:pt x="0" y="0"/>
                </a:moveTo>
                <a:cubicBezTo>
                  <a:pt x="150397" y="-23421"/>
                  <a:pt x="474161" y="9174"/>
                  <a:pt x="607423" y="0"/>
                </a:cubicBezTo>
                <a:cubicBezTo>
                  <a:pt x="740685" y="-9174"/>
                  <a:pt x="868821" y="-4258"/>
                  <a:pt x="1123406" y="0"/>
                </a:cubicBezTo>
                <a:cubicBezTo>
                  <a:pt x="1377991" y="4258"/>
                  <a:pt x="1567664" y="-12410"/>
                  <a:pt x="1685109" y="0"/>
                </a:cubicBezTo>
                <a:cubicBezTo>
                  <a:pt x="1802554" y="12410"/>
                  <a:pt x="2193086" y="-14353"/>
                  <a:pt x="2383971" y="0"/>
                </a:cubicBezTo>
                <a:cubicBezTo>
                  <a:pt x="2574856" y="14353"/>
                  <a:pt x="2697477" y="-26142"/>
                  <a:pt x="2991394" y="0"/>
                </a:cubicBezTo>
                <a:cubicBezTo>
                  <a:pt x="3285311" y="26142"/>
                  <a:pt x="3423667" y="26544"/>
                  <a:pt x="3553097" y="0"/>
                </a:cubicBezTo>
                <a:cubicBezTo>
                  <a:pt x="3682527" y="-26544"/>
                  <a:pt x="4344147" y="50350"/>
                  <a:pt x="4572000" y="0"/>
                </a:cubicBezTo>
                <a:cubicBezTo>
                  <a:pt x="4571027" y="8304"/>
                  <a:pt x="4571522" y="21512"/>
                  <a:pt x="4572000" y="27432"/>
                </a:cubicBezTo>
                <a:cubicBezTo>
                  <a:pt x="4438349" y="5490"/>
                  <a:pt x="4090129" y="31231"/>
                  <a:pt x="3918857" y="27432"/>
                </a:cubicBezTo>
                <a:cubicBezTo>
                  <a:pt x="3747585" y="23633"/>
                  <a:pt x="3498826" y="6883"/>
                  <a:pt x="3357154" y="27432"/>
                </a:cubicBezTo>
                <a:cubicBezTo>
                  <a:pt x="3215482" y="47981"/>
                  <a:pt x="2784289" y="56849"/>
                  <a:pt x="2612571" y="27432"/>
                </a:cubicBezTo>
                <a:cubicBezTo>
                  <a:pt x="2440853" y="-1985"/>
                  <a:pt x="2261292" y="25951"/>
                  <a:pt x="2005149" y="27432"/>
                </a:cubicBezTo>
                <a:cubicBezTo>
                  <a:pt x="1749006" y="28913"/>
                  <a:pt x="1700078" y="34342"/>
                  <a:pt x="1489166" y="27432"/>
                </a:cubicBezTo>
                <a:cubicBezTo>
                  <a:pt x="1278254" y="20522"/>
                  <a:pt x="1077188" y="56916"/>
                  <a:pt x="790303" y="27432"/>
                </a:cubicBezTo>
                <a:cubicBezTo>
                  <a:pt x="503418" y="-2052"/>
                  <a:pt x="359168" y="57044"/>
                  <a:pt x="0" y="27432"/>
                </a:cubicBezTo>
                <a:cubicBezTo>
                  <a:pt x="-1048" y="14992"/>
                  <a:pt x="-1120" y="7447"/>
                  <a:pt x="0" y="0"/>
                </a:cubicBezTo>
                <a:close/>
              </a:path>
              <a:path w="4572000" h="27432" stroke="0" extrusionOk="0">
                <a:moveTo>
                  <a:pt x="0" y="0"/>
                </a:moveTo>
                <a:cubicBezTo>
                  <a:pt x="155698" y="6780"/>
                  <a:pt x="465972" y="13197"/>
                  <a:pt x="607423" y="0"/>
                </a:cubicBezTo>
                <a:cubicBezTo>
                  <a:pt x="748874" y="-13197"/>
                  <a:pt x="1014133" y="22994"/>
                  <a:pt x="1123406" y="0"/>
                </a:cubicBezTo>
                <a:cubicBezTo>
                  <a:pt x="1232679" y="-22994"/>
                  <a:pt x="1639431" y="-2997"/>
                  <a:pt x="1867989" y="0"/>
                </a:cubicBezTo>
                <a:cubicBezTo>
                  <a:pt x="2096547" y="2997"/>
                  <a:pt x="2265668" y="29557"/>
                  <a:pt x="2475411" y="0"/>
                </a:cubicBezTo>
                <a:cubicBezTo>
                  <a:pt x="2685154" y="-29557"/>
                  <a:pt x="2951491" y="73"/>
                  <a:pt x="3082834" y="0"/>
                </a:cubicBezTo>
                <a:cubicBezTo>
                  <a:pt x="3214177" y="-73"/>
                  <a:pt x="3641000" y="-33478"/>
                  <a:pt x="3827417" y="0"/>
                </a:cubicBezTo>
                <a:cubicBezTo>
                  <a:pt x="4013834" y="33478"/>
                  <a:pt x="4345917" y="14255"/>
                  <a:pt x="4572000" y="0"/>
                </a:cubicBezTo>
                <a:cubicBezTo>
                  <a:pt x="4572485" y="9333"/>
                  <a:pt x="4573278" y="19699"/>
                  <a:pt x="4572000" y="27432"/>
                </a:cubicBezTo>
                <a:cubicBezTo>
                  <a:pt x="4318030" y="43025"/>
                  <a:pt x="4161104" y="34314"/>
                  <a:pt x="4010297" y="27432"/>
                </a:cubicBezTo>
                <a:cubicBezTo>
                  <a:pt x="3859490" y="20550"/>
                  <a:pt x="3592529" y="6613"/>
                  <a:pt x="3357154" y="27432"/>
                </a:cubicBezTo>
                <a:cubicBezTo>
                  <a:pt x="3121779" y="48251"/>
                  <a:pt x="2884285" y="3780"/>
                  <a:pt x="2704011" y="27432"/>
                </a:cubicBezTo>
                <a:cubicBezTo>
                  <a:pt x="2523737" y="51084"/>
                  <a:pt x="2295944" y="32081"/>
                  <a:pt x="2096589" y="27432"/>
                </a:cubicBezTo>
                <a:cubicBezTo>
                  <a:pt x="1897234" y="22783"/>
                  <a:pt x="1623782" y="52518"/>
                  <a:pt x="1352006" y="27432"/>
                </a:cubicBezTo>
                <a:cubicBezTo>
                  <a:pt x="1080230" y="2346"/>
                  <a:pt x="869959" y="12864"/>
                  <a:pt x="607423" y="27432"/>
                </a:cubicBezTo>
                <a:cubicBezTo>
                  <a:pt x="344887" y="42000"/>
                  <a:pt x="188100" y="40051"/>
                  <a:pt x="0" y="27432"/>
                </a:cubicBezTo>
                <a:cubicBezTo>
                  <a:pt x="211" y="18145"/>
                  <a:pt x="120" y="6480"/>
                  <a:pt x="0" y="0"/>
                </a:cubicBezTo>
                <a:close/>
              </a:path>
            </a:pathLst>
          </a:custGeom>
          <a:solidFill>
            <a:srgbClr val="7EB8FB"/>
          </a:solidFill>
          <a:ln w="38100" cap="rnd">
            <a:solidFill>
              <a:srgbClr val="7EB8FB"/>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Date Placeholder 26">
            <a:extLst>
              <a:ext uri="{FF2B5EF4-FFF2-40B4-BE49-F238E27FC236}">
                <a16:creationId xmlns:a16="http://schemas.microsoft.com/office/drawing/2014/main" id="{F28B82B1-E269-4325-A665-6CFE5DEE5DE5}"/>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81" name="Footer Placeholder 27">
            <a:extLst>
              <a:ext uri="{FF2B5EF4-FFF2-40B4-BE49-F238E27FC236}">
                <a16:creationId xmlns:a16="http://schemas.microsoft.com/office/drawing/2014/main" id="{7C700527-76FD-4DF4-A597-6F5E089CA0C2}"/>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83" name="Slide Number Placeholder 28">
            <a:extLst>
              <a:ext uri="{FF2B5EF4-FFF2-40B4-BE49-F238E27FC236}">
                <a16:creationId xmlns:a16="http://schemas.microsoft.com/office/drawing/2014/main" id="{B5EA49A9-01EB-4D60-A392-7DC9B625D67D}"/>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3000995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41" presetClass="path" presetSubtype="0" accel="50000" decel="50000" fill="hold" nodeType="withEffect">
                                  <p:stCondLst>
                                    <p:cond delay="0"/>
                                  </p:stCondLst>
                                  <p:childTnLst>
                                    <p:animMotion origin="layout" path="M -4.58333E-6 -1.11111E-6 C -0.01679 -0.02407 -0.07395 -0.04745 -0.09492 -0.04745 C -0.22226 -0.04745 -0.35377 0.32408 -0.35377 0.69583 C -0.35377 0.50857 -0.41966 0.32408 -0.48112 0.32408 C -0.547 0.32408 -0.60846 0.51134 -0.60846 0.69583 C -0.60846 0.60347 -0.64114 0.50857 -0.67421 0.50857 C -0.70703 0.50857 -0.74023 0.6007 -0.74023 0.69583 C -0.74023 0.64815 -0.75664 0.60347 -0.77278 0.60347 C -0.78945 0.60347 -0.80546 0.65093 -0.80546 0.69583 C -0.80546 0.67153 -0.81341 0.64815 -0.822 0.64815 C -0.8263 0.64815 -0.83867 0.67222 -0.83867 0.69583 C -0.83867 0.68403 -0.84296 0.67153 -0.84661 0.67153 C -0.84661 0.66898 -0.85468 0.68333 -0.85468 0.69583 C -0.85468 0.68958 -0.85468 0.68403 -0.85898 0.68403 C -0.85898 0.68681 -0.86328 0.69028 -0.86328 0.69583 C -0.86328 0.69306 -0.86328 0.68958 -0.86328 0.68681 C -0.86757 0.68681 -0.86757 0.68958 -0.86757 0.69306 C -0.87187 0.69306 -0.87187 0.69028 -0.87187 0.68681 C -0.87591 0.68681 -0.87591 0.68958 -0.87591 0.69306 " pathEditMode="relative" rAng="0" ptsTypes="AAAAAAAAAAAAAAAAAAA">
                                      <p:cBhvr>
                                        <p:cTn id="9" dur="5000" fill="hold"/>
                                        <p:tgtEl>
                                          <p:spTgt spid="1028"/>
                                        </p:tgtEl>
                                        <p:attrNameLst>
                                          <p:attrName>ppt_x</p:attrName>
                                          <p:attrName>ppt_y</p:attrName>
                                        </p:attrNameLst>
                                      </p:cBhvr>
                                      <p:rCtr x="-43802" y="3240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FB85B-C4C0-1136-B34F-62E1C74290BF}"/>
              </a:ext>
            </a:extLst>
          </p:cNvPr>
          <p:cNvSpPr>
            <a:spLocks noGrp="1"/>
          </p:cNvSpPr>
          <p:nvPr>
            <p:ph type="title" idx="4294967295"/>
          </p:nvPr>
        </p:nvSpPr>
        <p:spPr>
          <a:xfrm>
            <a:off x="596900" y="639763"/>
            <a:ext cx="3573463" cy="5492750"/>
          </a:xfrm>
        </p:spPr>
        <p:txBody>
          <a:bodyPr>
            <a:normAutofit/>
          </a:bodyPr>
          <a:lstStyle/>
          <a:p>
            <a:r>
              <a:rPr lang="en-US" dirty="0"/>
              <a:t>Term Timeline:</a:t>
            </a:r>
          </a:p>
        </p:txBody>
      </p:sp>
      <p:graphicFrame>
        <p:nvGraphicFramePr>
          <p:cNvPr id="5" name="Content Placeholder 2">
            <a:extLst>
              <a:ext uri="{FF2B5EF4-FFF2-40B4-BE49-F238E27FC236}">
                <a16:creationId xmlns:a16="http://schemas.microsoft.com/office/drawing/2014/main" id="{0240271F-5CAE-A08D-DA4F-9C7C53D9DA03}"/>
              </a:ext>
            </a:extLst>
          </p:cNvPr>
          <p:cNvGraphicFramePr>
            <a:graphicFrameLocks noGrp="1"/>
          </p:cNvGraphicFramePr>
          <p:nvPr>
            <p:ph idx="4294967295"/>
            <p:extLst>
              <p:ext uri="{D42A27DB-BD31-4B8C-83A1-F6EECF244321}">
                <p14:modId xmlns:p14="http://schemas.microsoft.com/office/powerpoint/2010/main" val="1127876333"/>
              </p:ext>
            </p:extLst>
          </p:nvPr>
        </p:nvGraphicFramePr>
        <p:xfrm>
          <a:off x="4775200" y="491331"/>
          <a:ext cx="7004845" cy="58753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857237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04FFB5-DE23-4D74-BEF9-CC7D947D357C}"/>
              </a:ext>
            </a:extLst>
          </p:cNvPr>
          <p:cNvSpPr>
            <a:spLocks noGrp="1"/>
          </p:cNvSpPr>
          <p:nvPr>
            <p:ph type="title"/>
          </p:nvPr>
        </p:nvSpPr>
        <p:spPr>
          <a:xfrm>
            <a:off x="640080" y="325369"/>
            <a:ext cx="4368602" cy="1956841"/>
          </a:xfrm>
        </p:spPr>
        <p:txBody>
          <a:bodyPr anchor="b">
            <a:normAutofit/>
          </a:bodyPr>
          <a:lstStyle/>
          <a:p>
            <a:r>
              <a:rPr lang="en-US" sz="6600"/>
              <a:t>Today’s Focus</a:t>
            </a:r>
          </a:p>
        </p:txBody>
      </p:sp>
      <p:sp>
        <p:nvSpPr>
          <p:cNvPr id="28"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093" y="2563839"/>
            <a:ext cx="3931920" cy="27432"/>
          </a:xfrm>
          <a:custGeom>
            <a:avLst/>
            <a:gdLst>
              <a:gd name="connsiteX0" fmla="*/ 0 w 3931920"/>
              <a:gd name="connsiteY0" fmla="*/ 0 h 27432"/>
              <a:gd name="connsiteX1" fmla="*/ 733958 w 3931920"/>
              <a:gd name="connsiteY1" fmla="*/ 0 h 27432"/>
              <a:gd name="connsiteX2" fmla="*/ 1428598 w 3931920"/>
              <a:gd name="connsiteY2" fmla="*/ 0 h 27432"/>
              <a:gd name="connsiteX3" fmla="*/ 2123237 w 3931920"/>
              <a:gd name="connsiteY3" fmla="*/ 0 h 27432"/>
              <a:gd name="connsiteX4" fmla="*/ 2660599 w 3931920"/>
              <a:gd name="connsiteY4" fmla="*/ 0 h 27432"/>
              <a:gd name="connsiteX5" fmla="*/ 3237281 w 3931920"/>
              <a:gd name="connsiteY5" fmla="*/ 0 h 27432"/>
              <a:gd name="connsiteX6" fmla="*/ 3931920 w 3931920"/>
              <a:gd name="connsiteY6" fmla="*/ 0 h 27432"/>
              <a:gd name="connsiteX7" fmla="*/ 3931920 w 3931920"/>
              <a:gd name="connsiteY7" fmla="*/ 27432 h 27432"/>
              <a:gd name="connsiteX8" fmla="*/ 3276600 w 3931920"/>
              <a:gd name="connsiteY8" fmla="*/ 27432 h 27432"/>
              <a:gd name="connsiteX9" fmla="*/ 2739238 w 3931920"/>
              <a:gd name="connsiteY9" fmla="*/ 27432 h 27432"/>
              <a:gd name="connsiteX10" fmla="*/ 2201875 w 3931920"/>
              <a:gd name="connsiteY10" fmla="*/ 27432 h 27432"/>
              <a:gd name="connsiteX11" fmla="*/ 1507236 w 3931920"/>
              <a:gd name="connsiteY11" fmla="*/ 27432 h 27432"/>
              <a:gd name="connsiteX12" fmla="*/ 930554 w 3931920"/>
              <a:gd name="connsiteY12" fmla="*/ 27432 h 27432"/>
              <a:gd name="connsiteX13" fmla="*/ 0 w 3931920"/>
              <a:gd name="connsiteY13" fmla="*/ 27432 h 27432"/>
              <a:gd name="connsiteX14" fmla="*/ 0 w 3931920"/>
              <a:gd name="connsiteY14"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31920" h="27432" fill="none" extrusionOk="0">
                <a:moveTo>
                  <a:pt x="0" y="0"/>
                </a:moveTo>
                <a:cubicBezTo>
                  <a:pt x="245351" y="16874"/>
                  <a:pt x="509174" y="13736"/>
                  <a:pt x="733958" y="0"/>
                </a:cubicBezTo>
                <a:cubicBezTo>
                  <a:pt x="958742" y="-13736"/>
                  <a:pt x="1245406" y="-17215"/>
                  <a:pt x="1428598" y="0"/>
                </a:cubicBezTo>
                <a:cubicBezTo>
                  <a:pt x="1611790" y="17215"/>
                  <a:pt x="1930525" y="20562"/>
                  <a:pt x="2123237" y="0"/>
                </a:cubicBezTo>
                <a:cubicBezTo>
                  <a:pt x="2315949" y="-20562"/>
                  <a:pt x="2485508" y="11332"/>
                  <a:pt x="2660599" y="0"/>
                </a:cubicBezTo>
                <a:cubicBezTo>
                  <a:pt x="2835690" y="-11332"/>
                  <a:pt x="3075198" y="-14809"/>
                  <a:pt x="3237281" y="0"/>
                </a:cubicBezTo>
                <a:cubicBezTo>
                  <a:pt x="3399364" y="14809"/>
                  <a:pt x="3745084" y="-4992"/>
                  <a:pt x="3931920" y="0"/>
                </a:cubicBezTo>
                <a:cubicBezTo>
                  <a:pt x="3930963" y="8431"/>
                  <a:pt x="3931571" y="14612"/>
                  <a:pt x="3931920" y="27432"/>
                </a:cubicBezTo>
                <a:cubicBezTo>
                  <a:pt x="3765435" y="40792"/>
                  <a:pt x="3452398" y="38703"/>
                  <a:pt x="3276600" y="27432"/>
                </a:cubicBezTo>
                <a:cubicBezTo>
                  <a:pt x="3100802" y="16161"/>
                  <a:pt x="2914889" y="26998"/>
                  <a:pt x="2739238" y="27432"/>
                </a:cubicBezTo>
                <a:cubicBezTo>
                  <a:pt x="2563587" y="27866"/>
                  <a:pt x="2395484" y="39154"/>
                  <a:pt x="2201875" y="27432"/>
                </a:cubicBezTo>
                <a:cubicBezTo>
                  <a:pt x="2008266" y="15710"/>
                  <a:pt x="1781367" y="4899"/>
                  <a:pt x="1507236" y="27432"/>
                </a:cubicBezTo>
                <a:cubicBezTo>
                  <a:pt x="1233105" y="49965"/>
                  <a:pt x="1075495" y="47542"/>
                  <a:pt x="930554" y="27432"/>
                </a:cubicBezTo>
                <a:cubicBezTo>
                  <a:pt x="785613" y="7322"/>
                  <a:pt x="268930" y="30433"/>
                  <a:pt x="0" y="27432"/>
                </a:cubicBezTo>
                <a:cubicBezTo>
                  <a:pt x="226" y="18208"/>
                  <a:pt x="-648" y="12891"/>
                  <a:pt x="0" y="0"/>
                </a:cubicBezTo>
                <a:close/>
              </a:path>
              <a:path w="3931920" h="27432" stroke="0" extrusionOk="0">
                <a:moveTo>
                  <a:pt x="0" y="0"/>
                </a:moveTo>
                <a:cubicBezTo>
                  <a:pt x="278269" y="4786"/>
                  <a:pt x="349028" y="-10422"/>
                  <a:pt x="616001" y="0"/>
                </a:cubicBezTo>
                <a:cubicBezTo>
                  <a:pt x="882974" y="10422"/>
                  <a:pt x="931617" y="-15515"/>
                  <a:pt x="1153363" y="0"/>
                </a:cubicBezTo>
                <a:cubicBezTo>
                  <a:pt x="1375109" y="15515"/>
                  <a:pt x="1704089" y="-3631"/>
                  <a:pt x="1887322" y="0"/>
                </a:cubicBezTo>
                <a:cubicBezTo>
                  <a:pt x="2070555" y="3631"/>
                  <a:pt x="2344155" y="2213"/>
                  <a:pt x="2503322" y="0"/>
                </a:cubicBezTo>
                <a:cubicBezTo>
                  <a:pt x="2662489" y="-2213"/>
                  <a:pt x="2976859" y="26691"/>
                  <a:pt x="3119323" y="0"/>
                </a:cubicBezTo>
                <a:cubicBezTo>
                  <a:pt x="3261787" y="-26691"/>
                  <a:pt x="3588171" y="-28651"/>
                  <a:pt x="3931920" y="0"/>
                </a:cubicBezTo>
                <a:cubicBezTo>
                  <a:pt x="3930565" y="9524"/>
                  <a:pt x="3930718" y="13975"/>
                  <a:pt x="3931920" y="27432"/>
                </a:cubicBezTo>
                <a:cubicBezTo>
                  <a:pt x="3664329" y="4021"/>
                  <a:pt x="3437686" y="14511"/>
                  <a:pt x="3276600" y="27432"/>
                </a:cubicBezTo>
                <a:cubicBezTo>
                  <a:pt x="3115514" y="40353"/>
                  <a:pt x="2913592" y="48967"/>
                  <a:pt x="2739238" y="27432"/>
                </a:cubicBezTo>
                <a:cubicBezTo>
                  <a:pt x="2564884" y="5897"/>
                  <a:pt x="2294049" y="39820"/>
                  <a:pt x="2083918" y="27432"/>
                </a:cubicBezTo>
                <a:cubicBezTo>
                  <a:pt x="1873787" y="15044"/>
                  <a:pt x="1718903" y="21388"/>
                  <a:pt x="1428598" y="27432"/>
                </a:cubicBezTo>
                <a:cubicBezTo>
                  <a:pt x="1138293" y="33476"/>
                  <a:pt x="952209" y="50441"/>
                  <a:pt x="812597" y="27432"/>
                </a:cubicBezTo>
                <a:cubicBezTo>
                  <a:pt x="672985" y="4423"/>
                  <a:pt x="305800" y="28240"/>
                  <a:pt x="0" y="27432"/>
                </a:cubicBezTo>
                <a:cubicBezTo>
                  <a:pt x="-800" y="16780"/>
                  <a:pt x="-583" y="12910"/>
                  <a:pt x="0" y="0"/>
                </a:cubicBezTo>
                <a:close/>
              </a:path>
            </a:pathLst>
          </a:custGeom>
          <a:solidFill>
            <a:srgbClr val="E5B399"/>
          </a:solidFill>
          <a:ln w="38100" cap="rnd">
            <a:solidFill>
              <a:srgbClr val="E5B399"/>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A63D7FC-176D-B898-C622-E503B972CD01}"/>
              </a:ext>
            </a:extLst>
          </p:cNvPr>
          <p:cNvSpPr>
            <a:spLocks noGrp="1"/>
          </p:cNvSpPr>
          <p:nvPr>
            <p:ph idx="1"/>
          </p:nvPr>
        </p:nvSpPr>
        <p:spPr>
          <a:xfrm>
            <a:off x="640080" y="2872899"/>
            <a:ext cx="4243589" cy="3320668"/>
          </a:xfrm>
        </p:spPr>
        <p:txBody>
          <a:bodyPr>
            <a:normAutofit/>
          </a:bodyPr>
          <a:lstStyle/>
          <a:p>
            <a:r>
              <a:rPr lang="en-US" dirty="0"/>
              <a:t>Define STI and the different types. </a:t>
            </a:r>
          </a:p>
          <a:p>
            <a:r>
              <a:rPr lang="en-US" dirty="0"/>
              <a:t>Practice STI prevention. </a:t>
            </a:r>
          </a:p>
          <a:p>
            <a:endParaRPr lang="en-US" dirty="0"/>
          </a:p>
          <a:p>
            <a:endParaRPr lang="en-US" dirty="0"/>
          </a:p>
        </p:txBody>
      </p:sp>
      <p:pic>
        <p:nvPicPr>
          <p:cNvPr id="5" name="Picture 4" descr="Writing an appointment on a paper agenda">
            <a:extLst>
              <a:ext uri="{FF2B5EF4-FFF2-40B4-BE49-F238E27FC236}">
                <a16:creationId xmlns:a16="http://schemas.microsoft.com/office/drawing/2014/main" id="{EDE161DE-AC56-B92C-DAD0-35C65DB94381}"/>
              </a:ext>
            </a:extLst>
          </p:cNvPr>
          <p:cNvPicPr>
            <a:picLocks noChangeAspect="1"/>
          </p:cNvPicPr>
          <p:nvPr/>
        </p:nvPicPr>
        <p:blipFill rotWithShape="1">
          <a:blip r:embed="rId2"/>
          <a:srcRect r="33047"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6104078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1595A09-E336-4D1B-9B3A-06A2287A5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69AB2-5D1F-6296-6F33-18D72D0939C7}"/>
              </a:ext>
            </a:extLst>
          </p:cNvPr>
          <p:cNvSpPr>
            <a:spLocks noGrp="1"/>
          </p:cNvSpPr>
          <p:nvPr>
            <p:ph type="title"/>
          </p:nvPr>
        </p:nvSpPr>
        <p:spPr>
          <a:xfrm>
            <a:off x="640080" y="4777739"/>
            <a:ext cx="3418990" cy="1412119"/>
          </a:xfrm>
        </p:spPr>
        <p:txBody>
          <a:bodyPr>
            <a:normAutofit/>
          </a:bodyPr>
          <a:lstStyle/>
          <a:p>
            <a:r>
              <a:rPr lang="en-US" sz="4800" dirty="0"/>
              <a:t>OPTIONAL:</a:t>
            </a:r>
          </a:p>
        </p:txBody>
      </p:sp>
      <p:pic>
        <p:nvPicPr>
          <p:cNvPr id="4" name="Picture 6" descr="8 Educational Sites Like Kahoot">
            <a:extLst>
              <a:ext uri="{FF2B5EF4-FFF2-40B4-BE49-F238E27FC236}">
                <a16:creationId xmlns:a16="http://schemas.microsoft.com/office/drawing/2014/main" id="{119F66CE-22C4-3F47-A72B-AA9C9CA61AE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5223"/>
          <a:stretch/>
        </p:blipFill>
        <p:spPr bwMode="auto">
          <a:xfrm>
            <a:off x="20" y="10"/>
            <a:ext cx="12191980" cy="4558420"/>
          </a:xfrm>
          <a:custGeom>
            <a:avLst/>
            <a:gdLst/>
            <a:ahLst/>
            <a:cxnLst/>
            <a:rect l="l" t="t" r="r" b="b"/>
            <a:pathLst>
              <a:path w="12188952" h="4558430">
                <a:moveTo>
                  <a:pt x="6789701" y="4490221"/>
                </a:moveTo>
                <a:lnTo>
                  <a:pt x="6788702" y="4490299"/>
                </a:lnTo>
                <a:lnTo>
                  <a:pt x="6788476" y="4490833"/>
                </a:lnTo>
                <a:close/>
                <a:moveTo>
                  <a:pt x="0" y="0"/>
                </a:moveTo>
                <a:lnTo>
                  <a:pt x="12188952" y="0"/>
                </a:lnTo>
                <a:lnTo>
                  <a:pt x="12188952" y="3596895"/>
                </a:lnTo>
                <a:lnTo>
                  <a:pt x="12061096" y="3635026"/>
                </a:lnTo>
                <a:cubicBezTo>
                  <a:pt x="11933500" y="3671240"/>
                  <a:pt x="11805390" y="3705769"/>
                  <a:pt x="11676800" y="3738601"/>
                </a:cubicBezTo>
                <a:cubicBezTo>
                  <a:pt x="11262789" y="3846108"/>
                  <a:pt x="10845343" y="3939710"/>
                  <a:pt x="10425355" y="4022140"/>
                </a:cubicBezTo>
                <a:cubicBezTo>
                  <a:pt x="10092810" y="4087351"/>
                  <a:pt x="9759033" y="4145748"/>
                  <a:pt x="9424022" y="4197302"/>
                </a:cubicBezTo>
                <a:cubicBezTo>
                  <a:pt x="9102997" y="4246959"/>
                  <a:pt x="8781133" y="4291526"/>
                  <a:pt x="8458419" y="4331003"/>
                </a:cubicBezTo>
                <a:cubicBezTo>
                  <a:pt x="8211360" y="4361169"/>
                  <a:pt x="7963792" y="4386742"/>
                  <a:pt x="7715970" y="4410950"/>
                </a:cubicBezTo>
                <a:lnTo>
                  <a:pt x="6951716" y="4476730"/>
                </a:lnTo>
                <a:lnTo>
                  <a:pt x="6936303" y="4478801"/>
                </a:lnTo>
                <a:lnTo>
                  <a:pt x="6790448" y="4490162"/>
                </a:lnTo>
                <a:lnTo>
                  <a:pt x="6799941" y="4491982"/>
                </a:lnTo>
                <a:cubicBezTo>
                  <a:pt x="6811623" y="4492448"/>
                  <a:pt x="6823734" y="4490275"/>
                  <a:pt x="6835432" y="4490275"/>
                </a:cubicBezTo>
                <a:cubicBezTo>
                  <a:pt x="6851580" y="4490275"/>
                  <a:pt x="6867729" y="4487668"/>
                  <a:pt x="6884003" y="4487297"/>
                </a:cubicBezTo>
                <a:cubicBezTo>
                  <a:pt x="7115805" y="4481835"/>
                  <a:pt x="7347351" y="4469668"/>
                  <a:pt x="7578771" y="4454770"/>
                </a:cubicBezTo>
                <a:cubicBezTo>
                  <a:pt x="7927552" y="4432302"/>
                  <a:pt x="8276080" y="4404123"/>
                  <a:pt x="8623845" y="4367873"/>
                </a:cubicBezTo>
                <a:cubicBezTo>
                  <a:pt x="8909939" y="4338575"/>
                  <a:pt x="9195310" y="4303940"/>
                  <a:pt x="9479970" y="4263967"/>
                </a:cubicBezTo>
                <a:cubicBezTo>
                  <a:pt x="9864901" y="4209593"/>
                  <a:pt x="10248014" y="4144879"/>
                  <a:pt x="10629308" y="4069810"/>
                </a:cubicBezTo>
                <a:cubicBezTo>
                  <a:pt x="11090114" y="3978690"/>
                  <a:pt x="11546975" y="3871184"/>
                  <a:pt x="11998498" y="3743816"/>
                </a:cubicBezTo>
                <a:lnTo>
                  <a:pt x="12188952" y="3687715"/>
                </a:lnTo>
                <a:lnTo>
                  <a:pt x="12188952" y="3742439"/>
                </a:lnTo>
                <a:lnTo>
                  <a:pt x="11829257" y="3846853"/>
                </a:lnTo>
                <a:cubicBezTo>
                  <a:pt x="11534769" y="3926550"/>
                  <a:pt x="11238120" y="3997436"/>
                  <a:pt x="10939183" y="4061368"/>
                </a:cubicBezTo>
                <a:cubicBezTo>
                  <a:pt x="10622824" y="4129150"/>
                  <a:pt x="10304941" y="4189147"/>
                  <a:pt x="9985530" y="4241373"/>
                </a:cubicBezTo>
                <a:cubicBezTo>
                  <a:pt x="9720036" y="4284822"/>
                  <a:pt x="9453814" y="4323467"/>
                  <a:pt x="9186882" y="4357320"/>
                </a:cubicBezTo>
                <a:cubicBezTo>
                  <a:pt x="8984197" y="4382894"/>
                  <a:pt x="8781514" y="4406977"/>
                  <a:pt x="8578198" y="4426839"/>
                </a:cubicBezTo>
                <a:cubicBezTo>
                  <a:pt x="8340547" y="4449559"/>
                  <a:pt x="8102644" y="4471034"/>
                  <a:pt x="7864358" y="4488290"/>
                </a:cubicBezTo>
                <a:cubicBezTo>
                  <a:pt x="7554994" y="4510634"/>
                  <a:pt x="7245502" y="4528512"/>
                  <a:pt x="6935502" y="4539684"/>
                </a:cubicBezTo>
                <a:cubicBezTo>
                  <a:pt x="6782917" y="4545147"/>
                  <a:pt x="6630334" y="4548995"/>
                  <a:pt x="6477750" y="4553587"/>
                </a:cubicBezTo>
                <a:cubicBezTo>
                  <a:pt x="6439195" y="4551503"/>
                  <a:pt x="6400529" y="4553128"/>
                  <a:pt x="6362294" y="4558430"/>
                </a:cubicBezTo>
                <a:lnTo>
                  <a:pt x="6057129" y="4558430"/>
                </a:lnTo>
                <a:lnTo>
                  <a:pt x="5977784" y="4553836"/>
                </a:lnTo>
                <a:cubicBezTo>
                  <a:pt x="5740261" y="4541423"/>
                  <a:pt x="5502739" y="4527644"/>
                  <a:pt x="5265087" y="4517587"/>
                </a:cubicBezTo>
                <a:cubicBezTo>
                  <a:pt x="4958267" y="4505171"/>
                  <a:pt x="4651826" y="4484691"/>
                  <a:pt x="4346277" y="4455517"/>
                </a:cubicBezTo>
                <a:cubicBezTo>
                  <a:pt x="4021654" y="4424605"/>
                  <a:pt x="3697795" y="4389970"/>
                  <a:pt x="3373045" y="4356948"/>
                </a:cubicBezTo>
                <a:cubicBezTo>
                  <a:pt x="3035412" y="4322686"/>
                  <a:pt x="2698456" y="4283047"/>
                  <a:pt x="2362173" y="4238021"/>
                </a:cubicBezTo>
                <a:cubicBezTo>
                  <a:pt x="1984692" y="4187868"/>
                  <a:pt x="1608364" y="4130142"/>
                  <a:pt x="1233177" y="4064845"/>
                </a:cubicBezTo>
                <a:cubicBezTo>
                  <a:pt x="842181" y="3996132"/>
                  <a:pt x="453758" y="3917644"/>
                  <a:pt x="68500" y="3825138"/>
                </a:cubicBezTo>
                <a:lnTo>
                  <a:pt x="0" y="3807783"/>
                </a:lnTo>
                <a:lnTo>
                  <a:pt x="0" y="3751294"/>
                </a:lnTo>
                <a:lnTo>
                  <a:pt x="72441" y="3770071"/>
                </a:lnTo>
                <a:cubicBezTo>
                  <a:pt x="247961" y="3812249"/>
                  <a:pt x="424164" y="3851509"/>
                  <a:pt x="600716" y="3888441"/>
                </a:cubicBezTo>
                <a:cubicBezTo>
                  <a:pt x="988279" y="3969255"/>
                  <a:pt x="1378133" y="4038153"/>
                  <a:pt x="1769512" y="4098609"/>
                </a:cubicBezTo>
                <a:cubicBezTo>
                  <a:pt x="2052426" y="4142185"/>
                  <a:pt x="2335725" y="4182282"/>
                  <a:pt x="2613554" y="4215551"/>
                </a:cubicBezTo>
                <a:cubicBezTo>
                  <a:pt x="2605544" y="4218158"/>
                  <a:pt x="2594611" y="4208102"/>
                  <a:pt x="2581134" y="4205620"/>
                </a:cubicBezTo>
                <a:cubicBezTo>
                  <a:pt x="2087178" y="4113668"/>
                  <a:pt x="1597684" y="4002775"/>
                  <a:pt x="1112635" y="3872923"/>
                </a:cubicBezTo>
                <a:cubicBezTo>
                  <a:pt x="880453" y="3810852"/>
                  <a:pt x="649713" y="3744374"/>
                  <a:pt x="420412" y="3673490"/>
                </a:cubicBezTo>
                <a:lnTo>
                  <a:pt x="0" y="3534573"/>
                </a:lnTo>
                <a:close/>
              </a:path>
            </a:pathLst>
          </a:cu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6">
            <a:extLst>
              <a:ext uri="{FF2B5EF4-FFF2-40B4-BE49-F238E27FC236}">
                <a16:creationId xmlns:a16="http://schemas.microsoft.com/office/drawing/2014/main" id="{3540989C-C7B8-473B-BF87-6F2DA6A900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56733" y="5463634"/>
            <a:ext cx="1371600" cy="27432"/>
          </a:xfrm>
          <a:custGeom>
            <a:avLst/>
            <a:gdLst>
              <a:gd name="connsiteX0" fmla="*/ 0 w 1371600"/>
              <a:gd name="connsiteY0" fmla="*/ 0 h 27432"/>
              <a:gd name="connsiteX1" fmla="*/ 713232 w 1371600"/>
              <a:gd name="connsiteY1" fmla="*/ 0 h 27432"/>
              <a:gd name="connsiteX2" fmla="*/ 1371600 w 1371600"/>
              <a:gd name="connsiteY2" fmla="*/ 0 h 27432"/>
              <a:gd name="connsiteX3" fmla="*/ 1371600 w 1371600"/>
              <a:gd name="connsiteY3" fmla="*/ 27432 h 27432"/>
              <a:gd name="connsiteX4" fmla="*/ 699516 w 1371600"/>
              <a:gd name="connsiteY4" fmla="*/ 27432 h 27432"/>
              <a:gd name="connsiteX5" fmla="*/ 0 w 1371600"/>
              <a:gd name="connsiteY5" fmla="*/ 27432 h 27432"/>
              <a:gd name="connsiteX6" fmla="*/ 0 w 1371600"/>
              <a:gd name="connsiteY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600" h="27432" fill="none" extrusionOk="0">
                <a:moveTo>
                  <a:pt x="0" y="0"/>
                </a:moveTo>
                <a:cubicBezTo>
                  <a:pt x="196943" y="-1146"/>
                  <a:pt x="408267" y="-21226"/>
                  <a:pt x="713232" y="0"/>
                </a:cubicBezTo>
                <a:cubicBezTo>
                  <a:pt x="1018197" y="21226"/>
                  <a:pt x="1176465" y="-24520"/>
                  <a:pt x="1371600" y="0"/>
                </a:cubicBezTo>
                <a:cubicBezTo>
                  <a:pt x="1372004" y="8629"/>
                  <a:pt x="1371042" y="13798"/>
                  <a:pt x="1371600" y="27432"/>
                </a:cubicBezTo>
                <a:cubicBezTo>
                  <a:pt x="1106086" y="14473"/>
                  <a:pt x="951335" y="17231"/>
                  <a:pt x="699516" y="27432"/>
                </a:cubicBezTo>
                <a:cubicBezTo>
                  <a:pt x="447697" y="37633"/>
                  <a:pt x="283433" y="6518"/>
                  <a:pt x="0" y="27432"/>
                </a:cubicBezTo>
                <a:cubicBezTo>
                  <a:pt x="-583" y="21140"/>
                  <a:pt x="532" y="8001"/>
                  <a:pt x="0" y="0"/>
                </a:cubicBezTo>
                <a:close/>
              </a:path>
              <a:path w="1371600" h="27432" stroke="0" extrusionOk="0">
                <a:moveTo>
                  <a:pt x="0" y="0"/>
                </a:moveTo>
                <a:cubicBezTo>
                  <a:pt x="220136" y="-18051"/>
                  <a:pt x="430173" y="10591"/>
                  <a:pt x="672084" y="0"/>
                </a:cubicBezTo>
                <a:cubicBezTo>
                  <a:pt x="913995" y="-10591"/>
                  <a:pt x="1164723" y="30754"/>
                  <a:pt x="1371600" y="0"/>
                </a:cubicBezTo>
                <a:cubicBezTo>
                  <a:pt x="1372182" y="10360"/>
                  <a:pt x="1371123" y="21444"/>
                  <a:pt x="1371600" y="27432"/>
                </a:cubicBezTo>
                <a:cubicBezTo>
                  <a:pt x="1072365" y="46142"/>
                  <a:pt x="961528" y="35455"/>
                  <a:pt x="685800" y="27432"/>
                </a:cubicBezTo>
                <a:cubicBezTo>
                  <a:pt x="410072" y="19409"/>
                  <a:pt x="276398" y="11099"/>
                  <a:pt x="0" y="27432"/>
                </a:cubicBezTo>
                <a:cubicBezTo>
                  <a:pt x="1155" y="18353"/>
                  <a:pt x="-485" y="9869"/>
                  <a:pt x="0" y="0"/>
                </a:cubicBezTo>
                <a:close/>
              </a:path>
            </a:pathLst>
          </a:custGeom>
          <a:solidFill>
            <a:srgbClr val="41ADF8"/>
          </a:solidFill>
          <a:ln w="38100" cap="rnd">
            <a:solidFill>
              <a:srgbClr val="41ADF8"/>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60804A3-C245-C99D-0514-C3FD923B0675}"/>
              </a:ext>
            </a:extLst>
          </p:cNvPr>
          <p:cNvSpPr>
            <a:spLocks noGrp="1"/>
          </p:cNvSpPr>
          <p:nvPr>
            <p:ph idx="1"/>
          </p:nvPr>
        </p:nvSpPr>
        <p:spPr>
          <a:xfrm>
            <a:off x="4654294" y="4777739"/>
            <a:ext cx="6897626" cy="1399223"/>
          </a:xfrm>
        </p:spPr>
        <p:txBody>
          <a:bodyPr anchor="ctr">
            <a:normAutofit/>
          </a:bodyPr>
          <a:lstStyle/>
          <a:p>
            <a:pPr marL="0" indent="0">
              <a:buNone/>
            </a:pPr>
            <a:r>
              <a:rPr lang="en-AU" altLang="en-US" sz="2400" dirty="0">
                <a:hlinkClick r:id="rId4"/>
              </a:rPr>
              <a:t>https://create.kahoot.it/share/duplicate-of-sti-s/c27f6ea9-2b50-418b-812a-25b134679b46</a:t>
            </a:r>
            <a:endParaRPr lang="en-AU" altLang="en-US" sz="2400" dirty="0"/>
          </a:p>
          <a:p>
            <a:pPr marL="0" indent="0">
              <a:buNone/>
            </a:pPr>
            <a:endParaRPr lang="en-US" sz="1800" dirty="0"/>
          </a:p>
        </p:txBody>
      </p:sp>
    </p:spTree>
    <p:extLst>
      <p:ext uri="{BB962C8B-B14F-4D97-AF65-F5344CB8AC3E}">
        <p14:creationId xmlns:p14="http://schemas.microsoft.com/office/powerpoint/2010/main" val="20910585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DB1AF-725B-4E1B-94F7-02A6B1DCE9AA}"/>
              </a:ext>
            </a:extLst>
          </p:cNvPr>
          <p:cNvSpPr>
            <a:spLocks noGrp="1"/>
          </p:cNvSpPr>
          <p:nvPr>
            <p:ph type="title"/>
          </p:nvPr>
        </p:nvSpPr>
        <p:spPr>
          <a:xfrm>
            <a:off x="1657350" y="4588266"/>
            <a:ext cx="8877299" cy="1317643"/>
          </a:xfrm>
        </p:spPr>
        <p:txBody>
          <a:bodyPr vert="horz" lIns="91440" tIns="45720" rIns="91440" bIns="45720" rtlCol="0" anchor="b">
            <a:normAutofit/>
          </a:bodyPr>
          <a:lstStyle/>
          <a:p>
            <a:pPr>
              <a:lnSpc>
                <a:spcPct val="80000"/>
              </a:lnSpc>
            </a:pPr>
            <a:r>
              <a:rPr lang="en-US" sz="8000" dirty="0">
                <a:solidFill>
                  <a:schemeClr val="tx1"/>
                </a:solidFill>
              </a:rPr>
              <a:t>Activity 1: Handshake Activity</a:t>
            </a:r>
          </a:p>
        </p:txBody>
      </p:sp>
      <p:pic>
        <p:nvPicPr>
          <p:cNvPr id="4" name="Content Placeholder 3" descr="Shape, arrow&#10;&#10;Description automatically generated">
            <a:extLst>
              <a:ext uri="{FF2B5EF4-FFF2-40B4-BE49-F238E27FC236}">
                <a16:creationId xmlns:a16="http://schemas.microsoft.com/office/drawing/2014/main" id="{D00FAF09-A411-43FF-94AB-FDED7CA7F558}"/>
              </a:ext>
            </a:extLst>
          </p:cNvPr>
          <p:cNvPicPr>
            <a:picLocks noGrp="1" noChangeAspect="1"/>
          </p:cNvPicPr>
          <p:nvPr>
            <p:ph idx="1"/>
          </p:nvPr>
        </p:nvPicPr>
        <p:blipFill rotWithShape="1">
          <a:blip r:embed="rId3"/>
          <a:srcRect t="25201" b="4850"/>
          <a:stretch/>
        </p:blipFill>
        <p:spPr>
          <a:xfrm>
            <a:off x="-297712" y="10"/>
            <a:ext cx="12716540" cy="4242806"/>
          </a:xfrm>
          <a:prstGeom prst="rect">
            <a:avLst/>
          </a:prstGeom>
        </p:spPr>
      </p:pic>
    </p:spTree>
    <p:extLst>
      <p:ext uri="{BB962C8B-B14F-4D97-AF65-F5344CB8AC3E}">
        <p14:creationId xmlns:p14="http://schemas.microsoft.com/office/powerpoint/2010/main" val="9392764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FCBD1-36D6-336E-FBB8-48F01D5CFEC9}"/>
              </a:ext>
            </a:extLst>
          </p:cNvPr>
          <p:cNvSpPr>
            <a:spLocks noGrp="1"/>
          </p:cNvSpPr>
          <p:nvPr>
            <p:ph type="title"/>
          </p:nvPr>
        </p:nvSpPr>
        <p:spPr/>
        <p:txBody>
          <a:bodyPr/>
          <a:lstStyle/>
          <a:p>
            <a:endParaRPr lang="en-US"/>
          </a:p>
        </p:txBody>
      </p:sp>
      <p:pic>
        <p:nvPicPr>
          <p:cNvPr id="4" name="Online Media 3" descr="Luke Warm Sex: The STI House">
            <a:hlinkClick r:id="" action="ppaction://media"/>
            <a:extLst>
              <a:ext uri="{FF2B5EF4-FFF2-40B4-BE49-F238E27FC236}">
                <a16:creationId xmlns:a16="http://schemas.microsoft.com/office/drawing/2014/main" id="{2887D6DD-FCF0-4D3C-2F72-8D2BD8D1218B}"/>
              </a:ext>
            </a:extLst>
          </p:cNvPr>
          <p:cNvPicPr>
            <a:picLocks noGrp="1" noRot="1" noChangeAspect="1"/>
          </p:cNvPicPr>
          <p:nvPr>
            <p:ph idx="1"/>
            <a:videoFile r:link="rId1"/>
          </p:nvPr>
        </p:nvPicPr>
        <p:blipFill>
          <a:blip r:embed="rId4"/>
          <a:stretch>
            <a:fillRect/>
          </a:stretch>
        </p:blipFill>
        <p:spPr>
          <a:xfrm>
            <a:off x="197090" y="162232"/>
            <a:ext cx="11852342" cy="6577781"/>
          </a:xfrm>
          <a:prstGeom prst="rect">
            <a:avLst/>
          </a:prstGeom>
        </p:spPr>
      </p:pic>
    </p:spTree>
    <p:extLst>
      <p:ext uri="{BB962C8B-B14F-4D97-AF65-F5344CB8AC3E}">
        <p14:creationId xmlns:p14="http://schemas.microsoft.com/office/powerpoint/2010/main" val="2063337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010E05E-9237-4321-84BB-69C0F22568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999492"/>
            <a:ext cx="4889565" cy="4424065"/>
          </a:xfrm>
          <a:custGeom>
            <a:avLst/>
            <a:gdLst>
              <a:gd name="connsiteX0" fmla="*/ 2612540 w 5531319"/>
              <a:gd name="connsiteY0" fmla="*/ 836 h 4424065"/>
              <a:gd name="connsiteX1" fmla="*/ 2946310 w 5531319"/>
              <a:gd name="connsiteY1" fmla="*/ 35548 h 4424065"/>
              <a:gd name="connsiteX2" fmla="*/ 3961099 w 5531319"/>
              <a:gd name="connsiteY2" fmla="*/ 303581 h 4424065"/>
              <a:gd name="connsiteX3" fmla="*/ 4854587 w 5531319"/>
              <a:gd name="connsiteY3" fmla="*/ 764502 h 4424065"/>
              <a:gd name="connsiteX4" fmla="*/ 5377812 w 5531319"/>
              <a:gd name="connsiteY4" fmla="*/ 1339732 h 4424065"/>
              <a:gd name="connsiteX5" fmla="*/ 5526197 w 5531319"/>
              <a:gd name="connsiteY5" fmla="*/ 1825829 h 4424065"/>
              <a:gd name="connsiteX6" fmla="*/ 5510557 w 5531319"/>
              <a:gd name="connsiteY6" fmla="*/ 2199398 h 4424065"/>
              <a:gd name="connsiteX7" fmla="*/ 5509795 w 5531319"/>
              <a:gd name="connsiteY7" fmla="*/ 2402839 h 4424065"/>
              <a:gd name="connsiteX8" fmla="*/ 5323519 w 5531319"/>
              <a:gd name="connsiteY8" fmla="*/ 3144890 h 4424065"/>
              <a:gd name="connsiteX9" fmla="*/ 4853061 w 5531319"/>
              <a:gd name="connsiteY9" fmla="*/ 3612932 h 4424065"/>
              <a:gd name="connsiteX10" fmla="*/ 4316358 w 5531319"/>
              <a:gd name="connsiteY10" fmla="*/ 3982940 h 4424065"/>
              <a:gd name="connsiteX11" fmla="*/ 3352556 w 5531319"/>
              <a:gd name="connsiteY11" fmla="*/ 4386771 h 4424065"/>
              <a:gd name="connsiteX12" fmla="*/ 2770206 w 5531319"/>
              <a:gd name="connsiteY12" fmla="*/ 4412201 h 4424065"/>
              <a:gd name="connsiteX13" fmla="*/ 2514888 w 5531319"/>
              <a:gd name="connsiteY13" fmla="*/ 4393637 h 4424065"/>
              <a:gd name="connsiteX14" fmla="*/ 1903166 w 5531319"/>
              <a:gd name="connsiteY14" fmla="*/ 4263562 h 4424065"/>
              <a:gd name="connsiteX15" fmla="*/ 948392 w 5531319"/>
              <a:gd name="connsiteY15" fmla="*/ 3794249 h 4424065"/>
              <a:gd name="connsiteX16" fmla="*/ 223633 w 5531319"/>
              <a:gd name="connsiteY16" fmla="*/ 2975526 h 4424065"/>
              <a:gd name="connsiteX17" fmla="*/ 39519 w 5531319"/>
              <a:gd name="connsiteY17" fmla="*/ 2401695 h 4424065"/>
              <a:gd name="connsiteX18" fmla="*/ 16251 w 5531319"/>
              <a:gd name="connsiteY18" fmla="*/ 2300991 h 4424065"/>
              <a:gd name="connsiteX19" fmla="*/ 11800 w 5531319"/>
              <a:gd name="connsiteY19" fmla="*/ 2053556 h 4424065"/>
              <a:gd name="connsiteX20" fmla="*/ 812849 w 5531319"/>
              <a:gd name="connsiteY20" fmla="*/ 651084 h 4424065"/>
              <a:gd name="connsiteX21" fmla="*/ 2066809 w 5531319"/>
              <a:gd name="connsiteY21" fmla="*/ 52586 h 4424065"/>
              <a:gd name="connsiteX22" fmla="*/ 2332045 w 5531319"/>
              <a:gd name="connsiteY22" fmla="*/ 14441 h 4424065"/>
              <a:gd name="connsiteX23" fmla="*/ 2612540 w 5531319"/>
              <a:gd name="connsiteY23" fmla="*/ 836 h 4424065"/>
              <a:gd name="connsiteX24" fmla="*/ 5468597 w 5531319"/>
              <a:gd name="connsiteY24" fmla="*/ 2088522 h 4424065"/>
              <a:gd name="connsiteX25" fmla="*/ 5471140 w 5531319"/>
              <a:gd name="connsiteY25" fmla="*/ 1826083 h 4424065"/>
              <a:gd name="connsiteX26" fmla="*/ 5327079 w 5531319"/>
              <a:gd name="connsiteY26" fmla="*/ 1361348 h 4424065"/>
              <a:gd name="connsiteX27" fmla="*/ 4833353 w 5531319"/>
              <a:gd name="connsiteY27" fmla="*/ 816507 h 4424065"/>
              <a:gd name="connsiteX28" fmla="*/ 4063456 w 5531319"/>
              <a:gd name="connsiteY28" fmla="*/ 400724 h 4424065"/>
              <a:gd name="connsiteX29" fmla="*/ 3972543 w 5531319"/>
              <a:gd name="connsiteY29" fmla="*/ 365631 h 4424065"/>
              <a:gd name="connsiteX30" fmla="*/ 3885571 w 5531319"/>
              <a:gd name="connsiteY30" fmla="*/ 334733 h 4424065"/>
              <a:gd name="connsiteX31" fmla="*/ 4355012 w 5531319"/>
              <a:gd name="connsiteY31" fmla="*/ 579880 h 4424065"/>
              <a:gd name="connsiteX32" fmla="*/ 5144618 w 5531319"/>
              <a:gd name="connsiteY32" fmla="*/ 1290779 h 4424065"/>
              <a:gd name="connsiteX33" fmla="*/ 5468597 w 5531319"/>
              <a:gd name="connsiteY33" fmla="*/ 2088522 h 4424065"/>
              <a:gd name="connsiteX34" fmla="*/ 2219771 w 5531319"/>
              <a:gd name="connsiteY34" fmla="*/ 85645 h 4424065"/>
              <a:gd name="connsiteX35" fmla="*/ 2181626 w 5531319"/>
              <a:gd name="connsiteY35" fmla="*/ 89333 h 4424065"/>
              <a:gd name="connsiteX36" fmla="*/ 1462971 w 5531319"/>
              <a:gd name="connsiteY36" fmla="*/ 303073 h 4424065"/>
              <a:gd name="connsiteX37" fmla="*/ 308697 w 5531319"/>
              <a:gd name="connsiteY37" fmla="*/ 1338461 h 4424065"/>
              <a:gd name="connsiteX38" fmla="*/ 65839 w 5531319"/>
              <a:gd name="connsiteY38" fmla="*/ 2064364 h 4424065"/>
              <a:gd name="connsiteX39" fmla="*/ 82114 w 5531319"/>
              <a:gd name="connsiteY39" fmla="*/ 2022150 h 4424065"/>
              <a:gd name="connsiteX40" fmla="*/ 423260 w 5531319"/>
              <a:gd name="connsiteY40" fmla="*/ 1282260 h 4424065"/>
              <a:gd name="connsiteX41" fmla="*/ 1231811 w 5531319"/>
              <a:gd name="connsiteY41" fmla="*/ 454001 h 4424065"/>
              <a:gd name="connsiteX42" fmla="*/ 2219771 w 5531319"/>
              <a:gd name="connsiteY42" fmla="*/ 85645 h 4424065"/>
              <a:gd name="connsiteX43" fmla="*/ 2855524 w 5531319"/>
              <a:gd name="connsiteY43" fmla="*/ 4364392 h 4424065"/>
              <a:gd name="connsiteX44" fmla="*/ 4292327 w 5531319"/>
              <a:gd name="connsiteY44" fmla="*/ 3931444 h 4424065"/>
              <a:gd name="connsiteX45" fmla="*/ 2855652 w 5531319"/>
              <a:gd name="connsiteY45" fmla="*/ 4364392 h 4424065"/>
              <a:gd name="connsiteX46" fmla="*/ 3869805 w 5531319"/>
              <a:gd name="connsiteY46" fmla="*/ 330156 h 4424065"/>
              <a:gd name="connsiteX47" fmla="*/ 3865736 w 5531319"/>
              <a:gd name="connsiteY47" fmla="*/ 329520 h 4424065"/>
              <a:gd name="connsiteX48" fmla="*/ 3866499 w 5531319"/>
              <a:gd name="connsiteY48" fmla="*/ 330537 h 4424065"/>
              <a:gd name="connsiteX49" fmla="*/ 4302117 w 5531319"/>
              <a:gd name="connsiteY49" fmla="*/ 3923561 h 4424065"/>
              <a:gd name="connsiteX50" fmla="*/ 4301101 w 5531319"/>
              <a:gd name="connsiteY50" fmla="*/ 3924959 h 4424065"/>
              <a:gd name="connsiteX51" fmla="*/ 4302880 w 5531319"/>
              <a:gd name="connsiteY51" fmla="*/ 3924959 h 4424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531319" h="4424065">
                <a:moveTo>
                  <a:pt x="2612540" y="836"/>
                </a:moveTo>
                <a:cubicBezTo>
                  <a:pt x="2715913" y="-4250"/>
                  <a:pt x="2831239" y="14695"/>
                  <a:pt x="2946310" y="35548"/>
                </a:cubicBezTo>
                <a:cubicBezTo>
                  <a:pt x="3291651" y="98106"/>
                  <a:pt x="3631143" y="182915"/>
                  <a:pt x="3961099" y="303581"/>
                </a:cubicBezTo>
                <a:cubicBezTo>
                  <a:pt x="4278340" y="419543"/>
                  <a:pt x="4581340" y="563350"/>
                  <a:pt x="4854587" y="764502"/>
                </a:cubicBezTo>
                <a:cubicBezTo>
                  <a:pt x="5067437" y="921152"/>
                  <a:pt x="5250407" y="1105521"/>
                  <a:pt x="5377812" y="1339732"/>
                </a:cubicBezTo>
                <a:cubicBezTo>
                  <a:pt x="5459811" y="1489986"/>
                  <a:pt x="5510303" y="1655396"/>
                  <a:pt x="5526197" y="1825829"/>
                </a:cubicBezTo>
                <a:cubicBezTo>
                  <a:pt x="5538276" y="1951327"/>
                  <a:pt x="5527341" y="2074917"/>
                  <a:pt x="5510557" y="2199398"/>
                </a:cubicBezTo>
                <a:cubicBezTo>
                  <a:pt x="5502966" y="2266991"/>
                  <a:pt x="5502712" y="2335195"/>
                  <a:pt x="5509795" y="2402839"/>
                </a:cubicBezTo>
                <a:cubicBezTo>
                  <a:pt x="5534207" y="2664197"/>
                  <a:pt x="5468471" y="2926051"/>
                  <a:pt x="5323519" y="3144890"/>
                </a:cubicBezTo>
                <a:cubicBezTo>
                  <a:pt x="5201339" y="3332234"/>
                  <a:pt x="5041041" y="3491719"/>
                  <a:pt x="4853061" y="3612932"/>
                </a:cubicBezTo>
                <a:cubicBezTo>
                  <a:pt x="4671109" y="3732072"/>
                  <a:pt x="4498565" y="3864563"/>
                  <a:pt x="4316358" y="3982940"/>
                </a:cubicBezTo>
                <a:cubicBezTo>
                  <a:pt x="4019716" y="4175573"/>
                  <a:pt x="3701076" y="4317347"/>
                  <a:pt x="3352556" y="4386771"/>
                </a:cubicBezTo>
                <a:cubicBezTo>
                  <a:pt x="3160953" y="4425590"/>
                  <a:pt x="2964455" y="4434173"/>
                  <a:pt x="2770206" y="4412201"/>
                </a:cubicBezTo>
                <a:cubicBezTo>
                  <a:pt x="2685524" y="4402537"/>
                  <a:pt x="2599952" y="4402410"/>
                  <a:pt x="2514888" y="4393637"/>
                </a:cubicBezTo>
                <a:cubicBezTo>
                  <a:pt x="2307136" y="4370851"/>
                  <a:pt x="2102208" y="4327277"/>
                  <a:pt x="1903166" y="4263562"/>
                </a:cubicBezTo>
                <a:cubicBezTo>
                  <a:pt x="1560622" y="4156119"/>
                  <a:pt x="1238931" y="4006972"/>
                  <a:pt x="948392" y="3794249"/>
                </a:cubicBezTo>
                <a:cubicBezTo>
                  <a:pt x="647553" y="3573897"/>
                  <a:pt x="396812" y="3308660"/>
                  <a:pt x="223633" y="2975526"/>
                </a:cubicBezTo>
                <a:cubicBezTo>
                  <a:pt x="129453" y="2796370"/>
                  <a:pt x="67149" y="2602198"/>
                  <a:pt x="39519" y="2401695"/>
                </a:cubicBezTo>
                <a:cubicBezTo>
                  <a:pt x="34509" y="2367555"/>
                  <a:pt x="26728" y="2333872"/>
                  <a:pt x="16251" y="2300991"/>
                </a:cubicBezTo>
                <a:cubicBezTo>
                  <a:pt x="-9180" y="2218598"/>
                  <a:pt x="-25" y="2135695"/>
                  <a:pt x="11800" y="2053556"/>
                </a:cubicBezTo>
                <a:cubicBezTo>
                  <a:pt x="93685" y="1480615"/>
                  <a:pt x="377867" y="1021983"/>
                  <a:pt x="812849" y="651084"/>
                </a:cubicBezTo>
                <a:cubicBezTo>
                  <a:pt x="1176754" y="340201"/>
                  <a:pt x="1598259" y="146042"/>
                  <a:pt x="2066809" y="52586"/>
                </a:cubicBezTo>
                <a:cubicBezTo>
                  <a:pt x="2154543" y="35039"/>
                  <a:pt x="2243040" y="23087"/>
                  <a:pt x="2332045" y="14441"/>
                </a:cubicBezTo>
                <a:cubicBezTo>
                  <a:pt x="2421051" y="5794"/>
                  <a:pt x="2508912" y="2107"/>
                  <a:pt x="2612540" y="836"/>
                </a:cubicBezTo>
                <a:close/>
                <a:moveTo>
                  <a:pt x="5468597" y="2088522"/>
                </a:moveTo>
                <a:cubicBezTo>
                  <a:pt x="5479329" y="2001424"/>
                  <a:pt x="5480181" y="1913385"/>
                  <a:pt x="5471140" y="1826083"/>
                </a:cubicBezTo>
                <a:cubicBezTo>
                  <a:pt x="5455336" y="1662962"/>
                  <a:pt x="5406306" y="1504799"/>
                  <a:pt x="5327079" y="1361348"/>
                </a:cubicBezTo>
                <a:cubicBezTo>
                  <a:pt x="5206159" y="1140233"/>
                  <a:pt x="5033361" y="965782"/>
                  <a:pt x="4833353" y="816507"/>
                </a:cubicBezTo>
                <a:cubicBezTo>
                  <a:pt x="4597234" y="640276"/>
                  <a:pt x="4336321" y="509438"/>
                  <a:pt x="4063456" y="400724"/>
                </a:cubicBezTo>
                <a:cubicBezTo>
                  <a:pt x="4033359" y="388607"/>
                  <a:pt x="4003059" y="376909"/>
                  <a:pt x="3972543" y="365631"/>
                </a:cubicBezTo>
                <a:cubicBezTo>
                  <a:pt x="3943679" y="354950"/>
                  <a:pt x="3914562" y="345033"/>
                  <a:pt x="3885571" y="334733"/>
                </a:cubicBezTo>
                <a:cubicBezTo>
                  <a:pt x="4046888" y="406840"/>
                  <a:pt x="4203652" y="488713"/>
                  <a:pt x="4355012" y="579880"/>
                </a:cubicBezTo>
                <a:cubicBezTo>
                  <a:pt x="4662081" y="768063"/>
                  <a:pt x="4933802" y="995790"/>
                  <a:pt x="5144618" y="1290779"/>
                </a:cubicBezTo>
                <a:cubicBezTo>
                  <a:pt x="5314364" y="1528042"/>
                  <a:pt x="5426257" y="1789591"/>
                  <a:pt x="5468597" y="2088522"/>
                </a:cubicBezTo>
                <a:close/>
                <a:moveTo>
                  <a:pt x="2219771" y="85645"/>
                </a:moveTo>
                <a:cubicBezTo>
                  <a:pt x="2206942" y="84005"/>
                  <a:pt x="2193909" y="85264"/>
                  <a:pt x="2181626" y="89333"/>
                </a:cubicBezTo>
                <a:cubicBezTo>
                  <a:pt x="1932919" y="125113"/>
                  <a:pt x="1690799" y="197118"/>
                  <a:pt x="1462971" y="303073"/>
                </a:cubicBezTo>
                <a:cubicBezTo>
                  <a:pt x="971788" y="529528"/>
                  <a:pt x="578129" y="865460"/>
                  <a:pt x="308697" y="1338461"/>
                </a:cubicBezTo>
                <a:cubicBezTo>
                  <a:pt x="180224" y="1561852"/>
                  <a:pt x="97652" y="1808638"/>
                  <a:pt x="65839" y="2064364"/>
                </a:cubicBezTo>
                <a:cubicBezTo>
                  <a:pt x="71942" y="2050505"/>
                  <a:pt x="77283" y="2036391"/>
                  <a:pt x="82114" y="2022150"/>
                </a:cubicBezTo>
                <a:cubicBezTo>
                  <a:pt x="170103" y="1763653"/>
                  <a:pt x="279579" y="1515073"/>
                  <a:pt x="423260" y="1282260"/>
                </a:cubicBezTo>
                <a:cubicBezTo>
                  <a:pt x="630769" y="945565"/>
                  <a:pt x="895370" y="664944"/>
                  <a:pt x="1231811" y="454001"/>
                </a:cubicBezTo>
                <a:cubicBezTo>
                  <a:pt x="1535192" y="263783"/>
                  <a:pt x="1866801" y="149729"/>
                  <a:pt x="2219771" y="85645"/>
                </a:cubicBezTo>
                <a:close/>
                <a:moveTo>
                  <a:pt x="2855524" y="4364392"/>
                </a:moveTo>
                <a:cubicBezTo>
                  <a:pt x="3386633" y="4394018"/>
                  <a:pt x="3853530" y="4210158"/>
                  <a:pt x="4292327" y="3931444"/>
                </a:cubicBezTo>
                <a:cubicBezTo>
                  <a:pt x="3830134" y="4131325"/>
                  <a:pt x="3346707" y="4259111"/>
                  <a:pt x="2855652" y="4364392"/>
                </a:cubicBezTo>
                <a:close/>
                <a:moveTo>
                  <a:pt x="3869805" y="330156"/>
                </a:moveTo>
                <a:lnTo>
                  <a:pt x="3865736" y="329520"/>
                </a:lnTo>
                <a:cubicBezTo>
                  <a:pt x="3865736" y="329520"/>
                  <a:pt x="3865736" y="330410"/>
                  <a:pt x="3866499" y="330537"/>
                </a:cubicBezTo>
                <a:close/>
                <a:moveTo>
                  <a:pt x="4302117" y="3923561"/>
                </a:moveTo>
                <a:lnTo>
                  <a:pt x="4301101" y="3924959"/>
                </a:lnTo>
                <a:lnTo>
                  <a:pt x="4302880" y="3924959"/>
                </a:lnTo>
                <a:close/>
              </a:path>
            </a:pathLst>
          </a:custGeom>
          <a:solidFill>
            <a:schemeClr val="accent1"/>
          </a:solidFill>
          <a:ln w="12700"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8D582E69-2202-B7BF-4D30-9894EC1C7D78}"/>
              </a:ext>
            </a:extLst>
          </p:cNvPr>
          <p:cNvSpPr>
            <a:spLocks noGrp="1"/>
          </p:cNvSpPr>
          <p:nvPr>
            <p:ph type="title"/>
          </p:nvPr>
        </p:nvSpPr>
        <p:spPr>
          <a:xfrm>
            <a:off x="1039163" y="1762169"/>
            <a:ext cx="4073110" cy="3122092"/>
          </a:xfrm>
        </p:spPr>
        <p:txBody>
          <a:bodyPr anchor="ctr">
            <a:normAutofit/>
          </a:bodyPr>
          <a:lstStyle/>
          <a:p>
            <a:pPr algn="ctr"/>
            <a:r>
              <a:rPr lang="en-US" sz="6000" dirty="0">
                <a:solidFill>
                  <a:srgbClr val="FFFFFF"/>
                </a:solidFill>
              </a:rPr>
              <a:t>SPIT FIRE: </a:t>
            </a:r>
            <a:br>
              <a:rPr lang="en-US" sz="6000" dirty="0">
                <a:solidFill>
                  <a:srgbClr val="FFFFFF"/>
                </a:solidFill>
              </a:rPr>
            </a:br>
            <a:r>
              <a:rPr lang="en-US" sz="6000" dirty="0">
                <a:solidFill>
                  <a:srgbClr val="FFFFFF"/>
                </a:solidFill>
              </a:rPr>
              <a:t>Types of STI’s</a:t>
            </a:r>
          </a:p>
        </p:txBody>
      </p:sp>
      <mc:AlternateContent xmlns:mc="http://schemas.openxmlformats.org/markup-compatibility/2006" xmlns:p14="http://schemas.microsoft.com/office/powerpoint/2010/main">
        <mc:Choice Requires="p14">
          <p:contentPart p14:bwMode="auto" r:id="rId3">
            <p14:nvContentPartPr>
              <p14:cNvPr id="13" name="Ink 12">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5755403" y="4884261"/>
              <a:ext cx="360" cy="2160"/>
            </p14:xfrm>
          </p:contentPart>
        </mc:Choice>
        <mc:Fallback xmlns="">
          <p:pic>
            <p:nvPicPr>
              <p:cNvPr id="13" name="Ink 12">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5737403" y="4868832"/>
                <a:ext cx="36000" cy="32709"/>
              </a:xfrm>
              <a:prstGeom prst="rect">
                <a:avLst/>
              </a:prstGeom>
            </p:spPr>
          </p:pic>
        </mc:Fallback>
      </mc:AlternateContent>
      <p:pic>
        <p:nvPicPr>
          <p:cNvPr id="4" name="Graphic 4" descr="Megaphone1 with solid fill">
            <a:extLst>
              <a:ext uri="{FF2B5EF4-FFF2-40B4-BE49-F238E27FC236}">
                <a16:creationId xmlns:a16="http://schemas.microsoft.com/office/drawing/2014/main" id="{E8E48F32-D870-B3D4-D2E9-A7180F84F2CA}"/>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16718" b="16982"/>
          <a:stretch/>
        </p:blipFill>
        <p:spPr bwMode="auto">
          <a:xfrm rot="20624916" flipH="1">
            <a:off x="5522559" y="1977393"/>
            <a:ext cx="4608893" cy="3590207"/>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50519148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ED1D94F-BC8C-4ABD-9133-E5FE8FD01D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lose-up of stacked books">
            <a:extLst>
              <a:ext uri="{FF2B5EF4-FFF2-40B4-BE49-F238E27FC236}">
                <a16:creationId xmlns:a16="http://schemas.microsoft.com/office/drawing/2014/main" id="{1233A9E2-CD78-7B1E-EF6D-8FC4ABA8F96F}"/>
              </a:ext>
            </a:extLst>
          </p:cNvPr>
          <p:cNvPicPr>
            <a:picLocks noChangeAspect="1"/>
          </p:cNvPicPr>
          <p:nvPr/>
        </p:nvPicPr>
        <p:blipFill rotWithShape="1">
          <a:blip r:embed="rId2">
            <a:alphaModFix amt="40000"/>
          </a:blip>
          <a:srcRect/>
          <a:stretch/>
        </p:blipFill>
        <p:spPr>
          <a:xfrm>
            <a:off x="20" y="0"/>
            <a:ext cx="12191980" cy="6858000"/>
          </a:xfrm>
          <a:prstGeom prst="rect">
            <a:avLst/>
          </a:prstGeom>
        </p:spPr>
      </p:pic>
      <p:sp>
        <p:nvSpPr>
          <p:cNvPr id="2" name="Title 1">
            <a:extLst>
              <a:ext uri="{FF2B5EF4-FFF2-40B4-BE49-F238E27FC236}">
                <a16:creationId xmlns:a16="http://schemas.microsoft.com/office/drawing/2014/main" id="{D5298AA8-A15B-DFA3-A2A3-E27B380AC424}"/>
              </a:ext>
            </a:extLst>
          </p:cNvPr>
          <p:cNvSpPr>
            <a:spLocks noGrp="1"/>
          </p:cNvSpPr>
          <p:nvPr>
            <p:ph type="title"/>
          </p:nvPr>
        </p:nvSpPr>
        <p:spPr>
          <a:xfrm>
            <a:off x="7525512" y="494951"/>
            <a:ext cx="4023360" cy="5722227"/>
          </a:xfrm>
        </p:spPr>
        <p:txBody>
          <a:bodyPr>
            <a:normAutofit/>
          </a:bodyPr>
          <a:lstStyle/>
          <a:p>
            <a:r>
              <a:rPr lang="en-US" sz="7200" dirty="0"/>
              <a:t>GLOSSARY: (pg. 7)</a:t>
            </a:r>
          </a:p>
        </p:txBody>
      </p:sp>
      <p:sp>
        <p:nvSpPr>
          <p:cNvPr id="3" name="Content Placeholder 2">
            <a:extLst>
              <a:ext uri="{FF2B5EF4-FFF2-40B4-BE49-F238E27FC236}">
                <a16:creationId xmlns:a16="http://schemas.microsoft.com/office/drawing/2014/main" id="{DA1F88F0-F259-08F8-24F9-BD80B00CB17B}"/>
              </a:ext>
            </a:extLst>
          </p:cNvPr>
          <p:cNvSpPr>
            <a:spLocks noGrp="1"/>
          </p:cNvSpPr>
          <p:nvPr>
            <p:ph idx="1"/>
          </p:nvPr>
        </p:nvSpPr>
        <p:spPr>
          <a:xfrm>
            <a:off x="841248" y="850392"/>
            <a:ext cx="5824728" cy="5001768"/>
          </a:xfrm>
        </p:spPr>
        <p:txBody>
          <a:bodyPr anchor="ctr">
            <a:normAutofit/>
          </a:bodyPr>
          <a:lstStyle/>
          <a:p>
            <a:pPr marL="0" indent="0">
              <a:buNone/>
            </a:pPr>
            <a:endParaRPr lang="en-US" dirty="0"/>
          </a:p>
          <a:p>
            <a:r>
              <a:rPr lang="en-US" b="1" i="1" dirty="0"/>
              <a:t>Sexually Transmitted Infection:</a:t>
            </a:r>
          </a:p>
          <a:p>
            <a:pPr lvl="1"/>
            <a:r>
              <a:rPr lang="en-US" dirty="0"/>
              <a:t>An infection most commonly spread through unprotected sexual contact.</a:t>
            </a:r>
          </a:p>
        </p:txBody>
      </p:sp>
      <p:sp>
        <p:nvSpPr>
          <p:cNvPr id="14" name="sketchy content container">
            <a:extLst>
              <a:ext uri="{FF2B5EF4-FFF2-40B4-BE49-F238E27FC236}">
                <a16:creationId xmlns:a16="http://schemas.microsoft.com/office/drawing/2014/main" id="{65C49067-A40C-4881-A0C6-21B6125510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75" y="494951"/>
            <a:ext cx="6229604" cy="5722227"/>
          </a:xfrm>
          <a:custGeom>
            <a:avLst/>
            <a:gdLst>
              <a:gd name="connsiteX0" fmla="*/ 0 w 6229604"/>
              <a:gd name="connsiteY0" fmla="*/ 0 h 5722227"/>
              <a:gd name="connsiteX1" fmla="*/ 629882 w 6229604"/>
              <a:gd name="connsiteY1" fmla="*/ 0 h 5722227"/>
              <a:gd name="connsiteX2" fmla="*/ 1135172 w 6229604"/>
              <a:gd name="connsiteY2" fmla="*/ 0 h 5722227"/>
              <a:gd name="connsiteX3" fmla="*/ 1951943 w 6229604"/>
              <a:gd name="connsiteY3" fmla="*/ 0 h 5722227"/>
              <a:gd name="connsiteX4" fmla="*/ 2581825 w 6229604"/>
              <a:gd name="connsiteY4" fmla="*/ 0 h 5722227"/>
              <a:gd name="connsiteX5" fmla="*/ 3211707 w 6229604"/>
              <a:gd name="connsiteY5" fmla="*/ 0 h 5722227"/>
              <a:gd name="connsiteX6" fmla="*/ 4028477 w 6229604"/>
              <a:gd name="connsiteY6" fmla="*/ 0 h 5722227"/>
              <a:gd name="connsiteX7" fmla="*/ 4596063 w 6229604"/>
              <a:gd name="connsiteY7" fmla="*/ 0 h 5722227"/>
              <a:gd name="connsiteX8" fmla="*/ 5412834 w 6229604"/>
              <a:gd name="connsiteY8" fmla="*/ 0 h 5722227"/>
              <a:gd name="connsiteX9" fmla="*/ 6229604 w 6229604"/>
              <a:gd name="connsiteY9" fmla="*/ 0 h 5722227"/>
              <a:gd name="connsiteX10" fmla="*/ 6229604 w 6229604"/>
              <a:gd name="connsiteY10" fmla="*/ 635803 h 5722227"/>
              <a:gd name="connsiteX11" fmla="*/ 6229604 w 6229604"/>
              <a:gd name="connsiteY11" fmla="*/ 1271606 h 5722227"/>
              <a:gd name="connsiteX12" fmla="*/ 6229604 w 6229604"/>
              <a:gd name="connsiteY12" fmla="*/ 1964631 h 5722227"/>
              <a:gd name="connsiteX13" fmla="*/ 6229604 w 6229604"/>
              <a:gd name="connsiteY13" fmla="*/ 2428767 h 5722227"/>
              <a:gd name="connsiteX14" fmla="*/ 6229604 w 6229604"/>
              <a:gd name="connsiteY14" fmla="*/ 3064570 h 5722227"/>
              <a:gd name="connsiteX15" fmla="*/ 6229604 w 6229604"/>
              <a:gd name="connsiteY15" fmla="*/ 3700373 h 5722227"/>
              <a:gd name="connsiteX16" fmla="*/ 6229604 w 6229604"/>
              <a:gd name="connsiteY16" fmla="*/ 4336176 h 5722227"/>
              <a:gd name="connsiteX17" fmla="*/ 6229604 w 6229604"/>
              <a:gd name="connsiteY17" fmla="*/ 5029202 h 5722227"/>
              <a:gd name="connsiteX18" fmla="*/ 6229604 w 6229604"/>
              <a:gd name="connsiteY18" fmla="*/ 5722227 h 5722227"/>
              <a:gd name="connsiteX19" fmla="*/ 5475130 w 6229604"/>
              <a:gd name="connsiteY19" fmla="*/ 5722227 h 5722227"/>
              <a:gd name="connsiteX20" fmla="*/ 4907544 w 6229604"/>
              <a:gd name="connsiteY20" fmla="*/ 5722227 h 5722227"/>
              <a:gd name="connsiteX21" fmla="*/ 4090773 w 6229604"/>
              <a:gd name="connsiteY21" fmla="*/ 5722227 h 5722227"/>
              <a:gd name="connsiteX22" fmla="*/ 3398595 w 6229604"/>
              <a:gd name="connsiteY22" fmla="*/ 5722227 h 5722227"/>
              <a:gd name="connsiteX23" fmla="*/ 2831009 w 6229604"/>
              <a:gd name="connsiteY23" fmla="*/ 5722227 h 5722227"/>
              <a:gd name="connsiteX24" fmla="*/ 2138831 w 6229604"/>
              <a:gd name="connsiteY24" fmla="*/ 5722227 h 5722227"/>
              <a:gd name="connsiteX25" fmla="*/ 1633541 w 6229604"/>
              <a:gd name="connsiteY25" fmla="*/ 5722227 h 5722227"/>
              <a:gd name="connsiteX26" fmla="*/ 1128251 w 6229604"/>
              <a:gd name="connsiteY26" fmla="*/ 5722227 h 5722227"/>
              <a:gd name="connsiteX27" fmla="*/ 0 w 6229604"/>
              <a:gd name="connsiteY27" fmla="*/ 5722227 h 5722227"/>
              <a:gd name="connsiteX28" fmla="*/ 0 w 6229604"/>
              <a:gd name="connsiteY28" fmla="*/ 5200869 h 5722227"/>
              <a:gd name="connsiteX29" fmla="*/ 0 w 6229604"/>
              <a:gd name="connsiteY29" fmla="*/ 4450621 h 5722227"/>
              <a:gd name="connsiteX30" fmla="*/ 0 w 6229604"/>
              <a:gd name="connsiteY30" fmla="*/ 3872040 h 5722227"/>
              <a:gd name="connsiteX31" fmla="*/ 0 w 6229604"/>
              <a:gd name="connsiteY31" fmla="*/ 3407904 h 5722227"/>
              <a:gd name="connsiteX32" fmla="*/ 0 w 6229604"/>
              <a:gd name="connsiteY32" fmla="*/ 2714879 h 5722227"/>
              <a:gd name="connsiteX33" fmla="*/ 0 w 6229604"/>
              <a:gd name="connsiteY33" fmla="*/ 2193520 h 5722227"/>
              <a:gd name="connsiteX34" fmla="*/ 0 w 6229604"/>
              <a:gd name="connsiteY34" fmla="*/ 1500495 h 5722227"/>
              <a:gd name="connsiteX35" fmla="*/ 0 w 6229604"/>
              <a:gd name="connsiteY35" fmla="*/ 750248 h 5722227"/>
              <a:gd name="connsiteX36" fmla="*/ 0 w 6229604"/>
              <a:gd name="connsiteY36" fmla="*/ 0 h 5722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229604" h="5722227" extrusionOk="0">
                <a:moveTo>
                  <a:pt x="0" y="0"/>
                </a:moveTo>
                <a:cubicBezTo>
                  <a:pt x="134765" y="733"/>
                  <a:pt x="359555" y="-15387"/>
                  <a:pt x="629882" y="0"/>
                </a:cubicBezTo>
                <a:cubicBezTo>
                  <a:pt x="900209" y="15387"/>
                  <a:pt x="965450" y="15937"/>
                  <a:pt x="1135172" y="0"/>
                </a:cubicBezTo>
                <a:cubicBezTo>
                  <a:pt x="1304894" y="-15937"/>
                  <a:pt x="1787212" y="10921"/>
                  <a:pt x="1951943" y="0"/>
                </a:cubicBezTo>
                <a:cubicBezTo>
                  <a:pt x="2116674" y="-10921"/>
                  <a:pt x="2378222" y="13313"/>
                  <a:pt x="2581825" y="0"/>
                </a:cubicBezTo>
                <a:cubicBezTo>
                  <a:pt x="2785428" y="-13313"/>
                  <a:pt x="2915218" y="19972"/>
                  <a:pt x="3211707" y="0"/>
                </a:cubicBezTo>
                <a:cubicBezTo>
                  <a:pt x="3508196" y="-19972"/>
                  <a:pt x="3832828" y="-34359"/>
                  <a:pt x="4028477" y="0"/>
                </a:cubicBezTo>
                <a:cubicBezTo>
                  <a:pt x="4224126" y="34359"/>
                  <a:pt x="4361257" y="4467"/>
                  <a:pt x="4596063" y="0"/>
                </a:cubicBezTo>
                <a:cubicBezTo>
                  <a:pt x="4830869" y="-4467"/>
                  <a:pt x="5091403" y="-7365"/>
                  <a:pt x="5412834" y="0"/>
                </a:cubicBezTo>
                <a:cubicBezTo>
                  <a:pt x="5734265" y="7365"/>
                  <a:pt x="6034988" y="-26786"/>
                  <a:pt x="6229604" y="0"/>
                </a:cubicBezTo>
                <a:cubicBezTo>
                  <a:pt x="6208296" y="256153"/>
                  <a:pt x="6219810" y="335049"/>
                  <a:pt x="6229604" y="635803"/>
                </a:cubicBezTo>
                <a:cubicBezTo>
                  <a:pt x="6239398" y="936557"/>
                  <a:pt x="6230184" y="1092448"/>
                  <a:pt x="6229604" y="1271606"/>
                </a:cubicBezTo>
                <a:cubicBezTo>
                  <a:pt x="6229024" y="1450764"/>
                  <a:pt x="6217841" y="1797531"/>
                  <a:pt x="6229604" y="1964631"/>
                </a:cubicBezTo>
                <a:cubicBezTo>
                  <a:pt x="6241367" y="2131731"/>
                  <a:pt x="6220367" y="2235822"/>
                  <a:pt x="6229604" y="2428767"/>
                </a:cubicBezTo>
                <a:cubicBezTo>
                  <a:pt x="6238841" y="2621712"/>
                  <a:pt x="6220929" y="2925917"/>
                  <a:pt x="6229604" y="3064570"/>
                </a:cubicBezTo>
                <a:cubicBezTo>
                  <a:pt x="6238279" y="3203223"/>
                  <a:pt x="6256755" y="3501958"/>
                  <a:pt x="6229604" y="3700373"/>
                </a:cubicBezTo>
                <a:cubicBezTo>
                  <a:pt x="6202453" y="3898788"/>
                  <a:pt x="6201714" y="4046823"/>
                  <a:pt x="6229604" y="4336176"/>
                </a:cubicBezTo>
                <a:cubicBezTo>
                  <a:pt x="6257494" y="4625529"/>
                  <a:pt x="6258821" y="4774033"/>
                  <a:pt x="6229604" y="5029202"/>
                </a:cubicBezTo>
                <a:cubicBezTo>
                  <a:pt x="6200387" y="5284371"/>
                  <a:pt x="6233334" y="5383875"/>
                  <a:pt x="6229604" y="5722227"/>
                </a:cubicBezTo>
                <a:cubicBezTo>
                  <a:pt x="6016393" y="5707881"/>
                  <a:pt x="5684528" y="5751176"/>
                  <a:pt x="5475130" y="5722227"/>
                </a:cubicBezTo>
                <a:cubicBezTo>
                  <a:pt x="5265732" y="5693278"/>
                  <a:pt x="5082862" y="5732690"/>
                  <a:pt x="4907544" y="5722227"/>
                </a:cubicBezTo>
                <a:cubicBezTo>
                  <a:pt x="4732226" y="5711764"/>
                  <a:pt x="4474837" y="5716289"/>
                  <a:pt x="4090773" y="5722227"/>
                </a:cubicBezTo>
                <a:cubicBezTo>
                  <a:pt x="3706709" y="5728165"/>
                  <a:pt x="3645902" y="5723973"/>
                  <a:pt x="3398595" y="5722227"/>
                </a:cubicBezTo>
                <a:cubicBezTo>
                  <a:pt x="3151288" y="5720481"/>
                  <a:pt x="3001606" y="5732695"/>
                  <a:pt x="2831009" y="5722227"/>
                </a:cubicBezTo>
                <a:cubicBezTo>
                  <a:pt x="2660412" y="5711759"/>
                  <a:pt x="2424161" y="5689878"/>
                  <a:pt x="2138831" y="5722227"/>
                </a:cubicBezTo>
                <a:cubicBezTo>
                  <a:pt x="1853501" y="5754576"/>
                  <a:pt x="1788223" y="5720540"/>
                  <a:pt x="1633541" y="5722227"/>
                </a:cubicBezTo>
                <a:cubicBezTo>
                  <a:pt x="1478859" y="5723915"/>
                  <a:pt x="1324151" y="5739059"/>
                  <a:pt x="1128251" y="5722227"/>
                </a:cubicBezTo>
                <a:cubicBezTo>
                  <a:pt x="932351" y="5705396"/>
                  <a:pt x="522340" y="5691488"/>
                  <a:pt x="0" y="5722227"/>
                </a:cubicBezTo>
                <a:cubicBezTo>
                  <a:pt x="-8445" y="5596771"/>
                  <a:pt x="-11215" y="5344833"/>
                  <a:pt x="0" y="5200869"/>
                </a:cubicBezTo>
                <a:cubicBezTo>
                  <a:pt x="11215" y="5056905"/>
                  <a:pt x="20310" y="4693766"/>
                  <a:pt x="0" y="4450621"/>
                </a:cubicBezTo>
                <a:cubicBezTo>
                  <a:pt x="-20310" y="4207476"/>
                  <a:pt x="817" y="4075053"/>
                  <a:pt x="0" y="3872040"/>
                </a:cubicBezTo>
                <a:cubicBezTo>
                  <a:pt x="-817" y="3669027"/>
                  <a:pt x="-21729" y="3595882"/>
                  <a:pt x="0" y="3407904"/>
                </a:cubicBezTo>
                <a:cubicBezTo>
                  <a:pt x="21729" y="3219926"/>
                  <a:pt x="-30605" y="3052469"/>
                  <a:pt x="0" y="2714879"/>
                </a:cubicBezTo>
                <a:cubicBezTo>
                  <a:pt x="30605" y="2377289"/>
                  <a:pt x="-16081" y="2430808"/>
                  <a:pt x="0" y="2193520"/>
                </a:cubicBezTo>
                <a:cubicBezTo>
                  <a:pt x="16081" y="1956232"/>
                  <a:pt x="18120" y="1817979"/>
                  <a:pt x="0" y="1500495"/>
                </a:cubicBezTo>
                <a:cubicBezTo>
                  <a:pt x="-18120" y="1183011"/>
                  <a:pt x="23969" y="972269"/>
                  <a:pt x="0" y="750248"/>
                </a:cubicBezTo>
                <a:cubicBezTo>
                  <a:pt x="-23969" y="528227"/>
                  <a:pt x="-3769" y="358360"/>
                  <a:pt x="0" y="0"/>
                </a:cubicBezTo>
                <a:close/>
              </a:path>
            </a:pathLst>
          </a:custGeom>
          <a:noFill/>
          <a:ln w="25400">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2174DFB-8830-EBE1-20F8-A5003F1A9046}"/>
              </a:ext>
            </a:extLst>
          </p:cNvPr>
          <p:cNvSpPr txBox="1"/>
          <p:nvPr/>
        </p:nvSpPr>
        <p:spPr>
          <a:xfrm>
            <a:off x="7188999" y="4147981"/>
            <a:ext cx="4696385" cy="1200329"/>
          </a:xfrm>
          <a:prstGeom prst="rect">
            <a:avLst/>
          </a:prstGeom>
          <a:noFill/>
        </p:spPr>
        <p:txBody>
          <a:bodyPr wrap="square">
            <a:spAutoFit/>
          </a:bodyPr>
          <a:lstStyle/>
          <a:p>
            <a:pPr algn="ctr"/>
            <a:r>
              <a:rPr lang="en-US" sz="2400" dirty="0"/>
              <a:t>At the front of your books is your glossary. </a:t>
            </a:r>
          </a:p>
          <a:p>
            <a:pPr algn="ctr"/>
            <a:r>
              <a:rPr lang="en-US" sz="2400" dirty="0"/>
              <a:t>Turn to your glossary and add the following words and their definitions:</a:t>
            </a:r>
          </a:p>
        </p:txBody>
      </p:sp>
    </p:spTree>
    <p:extLst>
      <p:ext uri="{BB962C8B-B14F-4D97-AF65-F5344CB8AC3E}">
        <p14:creationId xmlns:p14="http://schemas.microsoft.com/office/powerpoint/2010/main" val="2754578493"/>
      </p:ext>
    </p:extLst>
  </p:cSld>
  <p:clrMapOvr>
    <a:overrideClrMapping bg1="dk1" tx1="lt1" bg2="dk2" tx2="lt2" accent1="accent1" accent2="accent2" accent3="accent3" accent4="accent4" accent5="accent5" accent6="accent6" hlink="hlink" folHlink="folHlink"/>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BAE63-1A2E-4628-BDD1-C7030B50C081}"/>
              </a:ext>
            </a:extLst>
          </p:cNvPr>
          <p:cNvSpPr>
            <a:spLocks noGrp="1"/>
          </p:cNvSpPr>
          <p:nvPr>
            <p:ph type="title"/>
          </p:nvPr>
        </p:nvSpPr>
        <p:spPr/>
        <p:txBody>
          <a:bodyPr/>
          <a:lstStyle/>
          <a:p>
            <a:r>
              <a:rPr lang="en-AU" dirty="0">
                <a:solidFill>
                  <a:schemeClr val="accent1"/>
                </a:solidFill>
              </a:rPr>
              <a:t>What are sexually transmitted infections? </a:t>
            </a:r>
            <a:r>
              <a:rPr lang="en-US" dirty="0"/>
              <a:t>(pg. 18)</a:t>
            </a:r>
            <a:endParaRPr lang="en-AU" u="sng" dirty="0">
              <a:solidFill>
                <a:schemeClr val="accent1"/>
              </a:solidFill>
            </a:endParaRPr>
          </a:p>
        </p:txBody>
      </p:sp>
      <p:sp>
        <p:nvSpPr>
          <p:cNvPr id="3" name="Content Placeholder 2">
            <a:extLst>
              <a:ext uri="{FF2B5EF4-FFF2-40B4-BE49-F238E27FC236}">
                <a16:creationId xmlns:a16="http://schemas.microsoft.com/office/drawing/2014/main" id="{1DC50BBA-017E-490E-B633-6C54D7A7CED1}"/>
              </a:ext>
            </a:extLst>
          </p:cNvPr>
          <p:cNvSpPr>
            <a:spLocks noGrp="1"/>
          </p:cNvSpPr>
          <p:nvPr>
            <p:ph idx="1"/>
          </p:nvPr>
        </p:nvSpPr>
        <p:spPr>
          <a:xfrm>
            <a:off x="838200" y="1929383"/>
            <a:ext cx="10515600" cy="4563491"/>
          </a:xfrm>
        </p:spPr>
        <p:txBody>
          <a:bodyPr>
            <a:normAutofit fontScale="92500" lnSpcReduction="20000"/>
          </a:bodyPr>
          <a:lstStyle/>
          <a:p>
            <a:pPr marL="0" indent="0">
              <a:buNone/>
            </a:pPr>
            <a:r>
              <a:rPr lang="en-AU" dirty="0"/>
              <a:t>STI’s are bacterial or viral infections that are most commonly passed through unprotected sexual contact with an infected partner:</a:t>
            </a:r>
          </a:p>
          <a:p>
            <a:pPr>
              <a:buFont typeface="Arial" panose="020B0604020202020204" pitchFamily="34" charset="0"/>
              <a:buChar char="•"/>
            </a:pPr>
            <a:r>
              <a:rPr lang="en-AU" dirty="0"/>
              <a:t> Oral sex</a:t>
            </a:r>
          </a:p>
          <a:p>
            <a:pPr>
              <a:buFont typeface="Arial" panose="020B0604020202020204" pitchFamily="34" charset="0"/>
              <a:buChar char="•"/>
            </a:pPr>
            <a:r>
              <a:rPr lang="en-AU" dirty="0"/>
              <a:t> Vaginal sex</a:t>
            </a:r>
          </a:p>
          <a:p>
            <a:pPr>
              <a:buFont typeface="Arial" panose="020B0604020202020204" pitchFamily="34" charset="0"/>
              <a:buChar char="•"/>
            </a:pPr>
            <a:r>
              <a:rPr lang="en-AU" dirty="0"/>
              <a:t> Anal sex</a:t>
            </a:r>
          </a:p>
          <a:p>
            <a:pPr>
              <a:buFont typeface="Arial" panose="020B0604020202020204" pitchFamily="34" charset="0"/>
              <a:buChar char="•"/>
            </a:pPr>
            <a:r>
              <a:rPr lang="en-AU" dirty="0"/>
              <a:t> Skin-to-skin contact </a:t>
            </a:r>
          </a:p>
          <a:p>
            <a:pPr>
              <a:buFont typeface="Arial" panose="020B0604020202020204" pitchFamily="34" charset="0"/>
              <a:buChar char="•"/>
            </a:pPr>
            <a:endParaRPr lang="en-AU" dirty="0"/>
          </a:p>
          <a:p>
            <a:pPr marL="0" indent="0">
              <a:buNone/>
            </a:pPr>
            <a:r>
              <a:rPr lang="en-AU" dirty="0"/>
              <a:t>For transmission to occur, it is necessary to have</a:t>
            </a:r>
          </a:p>
          <a:p>
            <a:pPr>
              <a:buFont typeface="Arial" panose="020B0604020202020204" pitchFamily="34" charset="0"/>
              <a:buChar char="•"/>
            </a:pPr>
            <a:r>
              <a:rPr lang="en-AU" dirty="0"/>
              <a:t> A body fluid with the germ in it</a:t>
            </a:r>
          </a:p>
          <a:p>
            <a:pPr>
              <a:buFont typeface="Arial" panose="020B0604020202020204" pitchFamily="34" charset="0"/>
              <a:buChar char="•"/>
            </a:pPr>
            <a:r>
              <a:rPr lang="en-AU" dirty="0"/>
              <a:t> A way of spreading the germ from one person to the other</a:t>
            </a:r>
          </a:p>
        </p:txBody>
      </p:sp>
      <p:sp>
        <p:nvSpPr>
          <p:cNvPr id="4" name="TextBox 3">
            <a:extLst>
              <a:ext uri="{FF2B5EF4-FFF2-40B4-BE49-F238E27FC236}">
                <a16:creationId xmlns:a16="http://schemas.microsoft.com/office/drawing/2014/main" id="{34767722-24F5-3205-B66E-7A0DFB3B8CD2}"/>
              </a:ext>
            </a:extLst>
          </p:cNvPr>
          <p:cNvSpPr txBox="1"/>
          <p:nvPr/>
        </p:nvSpPr>
        <p:spPr>
          <a:xfrm>
            <a:off x="3991232" y="2752693"/>
            <a:ext cx="3015049" cy="1323439"/>
          </a:xfrm>
          <a:prstGeom prst="rect">
            <a:avLst/>
          </a:prstGeom>
          <a:noFill/>
        </p:spPr>
        <p:txBody>
          <a:bodyPr wrap="square" rtlCol="0">
            <a:spAutoFit/>
          </a:bodyPr>
          <a:lstStyle/>
          <a:p>
            <a:pPr marL="342900" indent="-342900">
              <a:buFont typeface="Arial" panose="020B0604020202020204" pitchFamily="34" charset="0"/>
              <a:buChar char="•"/>
            </a:pPr>
            <a:r>
              <a:rPr lang="en-US" sz="2000" dirty="0"/>
              <a:t>STI’s can also be transmitted during pregnancy, childbirth and breastfeeding and through infected blook or blood products. </a:t>
            </a:r>
          </a:p>
        </p:txBody>
      </p:sp>
      <p:pic>
        <p:nvPicPr>
          <p:cNvPr id="2050" name="Picture 2" descr="Sexually Transmitted Infection: Causes, Types, Symptoms &amp; Treatment">
            <a:extLst>
              <a:ext uri="{FF2B5EF4-FFF2-40B4-BE49-F238E27FC236}">
                <a16:creationId xmlns:a16="http://schemas.microsoft.com/office/drawing/2014/main" id="{7F114CA6-B3B0-254C-23B5-72670D3D4C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9245" y="2637566"/>
            <a:ext cx="3978876" cy="3978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438960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8D907-810B-A710-1744-C09D51F38274}"/>
              </a:ext>
            </a:extLst>
          </p:cNvPr>
          <p:cNvSpPr>
            <a:spLocks noGrp="1"/>
          </p:cNvSpPr>
          <p:nvPr>
            <p:ph type="title"/>
          </p:nvPr>
        </p:nvSpPr>
        <p:spPr/>
        <p:txBody>
          <a:bodyPr/>
          <a:lstStyle/>
          <a:p>
            <a:r>
              <a:rPr lang="en-AU" dirty="0">
                <a:solidFill>
                  <a:schemeClr val="accent1"/>
                </a:solidFill>
              </a:rPr>
              <a:t>Body fluids – which one’s are considered infectious? </a:t>
            </a:r>
            <a:endParaRPr lang="en-US" dirty="0"/>
          </a:p>
        </p:txBody>
      </p:sp>
      <p:sp>
        <p:nvSpPr>
          <p:cNvPr id="4" name="Content Placeholder 3">
            <a:extLst>
              <a:ext uri="{FF2B5EF4-FFF2-40B4-BE49-F238E27FC236}">
                <a16:creationId xmlns:a16="http://schemas.microsoft.com/office/drawing/2014/main" id="{FD7A3FE5-40B6-07D9-5D3C-B4412A6C5B10}"/>
              </a:ext>
            </a:extLst>
          </p:cNvPr>
          <p:cNvSpPr>
            <a:spLocks noGrp="1"/>
          </p:cNvSpPr>
          <p:nvPr>
            <p:ph sz="half" idx="1"/>
          </p:nvPr>
        </p:nvSpPr>
        <p:spPr/>
        <p:txBody>
          <a:bodyPr/>
          <a:lstStyle/>
          <a:p>
            <a:r>
              <a:rPr lang="en-US" dirty="0"/>
              <a:t>Semen</a:t>
            </a:r>
          </a:p>
          <a:p>
            <a:r>
              <a:rPr lang="en-US" dirty="0"/>
              <a:t>Vaginal Fluid</a:t>
            </a:r>
          </a:p>
          <a:p>
            <a:r>
              <a:rPr lang="en-US" dirty="0"/>
              <a:t>Blood</a:t>
            </a:r>
          </a:p>
          <a:p>
            <a:r>
              <a:rPr lang="en-US" dirty="0"/>
              <a:t>Fluid in blisters or sores</a:t>
            </a:r>
          </a:p>
        </p:txBody>
      </p:sp>
      <p:sp>
        <p:nvSpPr>
          <p:cNvPr id="5" name="Content Placeholder 4">
            <a:extLst>
              <a:ext uri="{FF2B5EF4-FFF2-40B4-BE49-F238E27FC236}">
                <a16:creationId xmlns:a16="http://schemas.microsoft.com/office/drawing/2014/main" id="{50214D17-660C-688C-53DA-8E98D6D29EE8}"/>
              </a:ext>
            </a:extLst>
          </p:cNvPr>
          <p:cNvSpPr>
            <a:spLocks noGrp="1"/>
          </p:cNvSpPr>
          <p:nvPr>
            <p:ph sz="half" idx="2"/>
          </p:nvPr>
        </p:nvSpPr>
        <p:spPr/>
        <p:txBody>
          <a:bodyPr/>
          <a:lstStyle/>
          <a:p>
            <a:r>
              <a:rPr lang="en-US" dirty="0"/>
              <a:t>Saliva</a:t>
            </a:r>
          </a:p>
          <a:p>
            <a:r>
              <a:rPr lang="en-US" dirty="0"/>
              <a:t>Urine</a:t>
            </a:r>
          </a:p>
          <a:p>
            <a:r>
              <a:rPr lang="en-US" dirty="0"/>
              <a:t>Sweat</a:t>
            </a:r>
          </a:p>
          <a:p>
            <a:r>
              <a:rPr lang="en-US" dirty="0"/>
              <a:t>Ear wax</a:t>
            </a:r>
          </a:p>
          <a:p>
            <a:r>
              <a:rPr lang="en-US" dirty="0"/>
              <a:t>Tears</a:t>
            </a:r>
          </a:p>
          <a:p>
            <a:endParaRPr lang="en-US" dirty="0"/>
          </a:p>
        </p:txBody>
      </p:sp>
      <p:pic>
        <p:nvPicPr>
          <p:cNvPr id="6" name="Graphic 5" descr="Tick with solid fill">
            <a:extLst>
              <a:ext uri="{FF2B5EF4-FFF2-40B4-BE49-F238E27FC236}">
                <a16:creationId xmlns:a16="http://schemas.microsoft.com/office/drawing/2014/main" id="{A484387F-8729-AEEA-FAF7-29A0671CCA6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95284" y="4586324"/>
            <a:ext cx="1833716" cy="1833716"/>
          </a:xfrm>
          <a:prstGeom prst="rect">
            <a:avLst/>
          </a:prstGeom>
        </p:spPr>
      </p:pic>
      <p:pic>
        <p:nvPicPr>
          <p:cNvPr id="7" name="Graphic 6" descr="Close with solid fill">
            <a:extLst>
              <a:ext uri="{FF2B5EF4-FFF2-40B4-BE49-F238E27FC236}">
                <a16:creationId xmlns:a16="http://schemas.microsoft.com/office/drawing/2014/main" id="{DDDCAF92-628E-F8DB-F25C-E790D4010F9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71503" y="2322447"/>
            <a:ext cx="2263877" cy="2263877"/>
          </a:xfrm>
          <a:prstGeom prst="rect">
            <a:avLst/>
          </a:prstGeom>
        </p:spPr>
      </p:pic>
    </p:spTree>
    <p:extLst>
      <p:ext uri="{BB962C8B-B14F-4D97-AF65-F5344CB8AC3E}">
        <p14:creationId xmlns:p14="http://schemas.microsoft.com/office/powerpoint/2010/main" val="284364934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698E09ED-5780-4EC7-9B36-62B5397260C4}"/>
              </a:ext>
            </a:extLst>
          </p:cNvPr>
          <p:cNvSpPr>
            <a:spLocks noGrp="1" noChangeArrowheads="1"/>
          </p:cNvSpPr>
          <p:nvPr>
            <p:ph type="title"/>
          </p:nvPr>
        </p:nvSpPr>
        <p:spPr/>
        <p:txBody>
          <a:bodyPr>
            <a:normAutofit/>
          </a:bodyPr>
          <a:lstStyle/>
          <a:p>
            <a:r>
              <a:rPr lang="en-US" altLang="en-US" dirty="0">
                <a:solidFill>
                  <a:schemeClr val="accent1"/>
                </a:solidFill>
              </a:rPr>
              <a:t>METHODS OF TRANSMISSION: </a:t>
            </a:r>
            <a:r>
              <a:rPr lang="en-US" altLang="en-US" u="sng" dirty="0">
                <a:solidFill>
                  <a:schemeClr val="accent1"/>
                </a:solidFill>
              </a:rPr>
              <a:t>Low</a:t>
            </a:r>
            <a:r>
              <a:rPr lang="en-US" altLang="en-US" dirty="0">
                <a:solidFill>
                  <a:schemeClr val="accent1"/>
                </a:solidFill>
              </a:rPr>
              <a:t> Risk or </a:t>
            </a:r>
            <a:r>
              <a:rPr lang="en-US" altLang="en-US" u="sng" dirty="0">
                <a:solidFill>
                  <a:schemeClr val="accent1"/>
                </a:solidFill>
              </a:rPr>
              <a:t>No</a:t>
            </a:r>
            <a:r>
              <a:rPr lang="en-US" altLang="en-US" dirty="0">
                <a:solidFill>
                  <a:schemeClr val="accent1"/>
                </a:solidFill>
              </a:rPr>
              <a:t> Risk</a:t>
            </a:r>
            <a:endParaRPr lang="en-CA" altLang="en-US" dirty="0">
              <a:solidFill>
                <a:schemeClr val="accent1"/>
              </a:solidFill>
            </a:endParaRPr>
          </a:p>
        </p:txBody>
      </p:sp>
      <p:sp>
        <p:nvSpPr>
          <p:cNvPr id="9218" name="Rectangle 3">
            <a:extLst>
              <a:ext uri="{FF2B5EF4-FFF2-40B4-BE49-F238E27FC236}">
                <a16:creationId xmlns:a16="http://schemas.microsoft.com/office/drawing/2014/main" id="{DFD1C992-C3CA-4D77-8CD9-3AF771027B46}"/>
              </a:ext>
            </a:extLst>
          </p:cNvPr>
          <p:cNvSpPr>
            <a:spLocks noGrp="1" noChangeArrowheads="1"/>
          </p:cNvSpPr>
          <p:nvPr>
            <p:ph sz="half" idx="1"/>
          </p:nvPr>
        </p:nvSpPr>
        <p:spPr>
          <a:xfrm>
            <a:off x="838200" y="2262745"/>
            <a:ext cx="3709988" cy="4191000"/>
          </a:xfrm>
        </p:spPr>
        <p:txBody>
          <a:bodyPr/>
          <a:lstStyle/>
          <a:p>
            <a:pPr lvl="1"/>
            <a:r>
              <a:rPr lang="en-CA" altLang="en-US" sz="2800" dirty="0"/>
              <a:t>Abstaining</a:t>
            </a:r>
          </a:p>
          <a:p>
            <a:pPr lvl="1"/>
            <a:r>
              <a:rPr lang="en-CA" altLang="en-US" sz="2800" dirty="0"/>
              <a:t>Hugging</a:t>
            </a:r>
          </a:p>
          <a:p>
            <a:pPr lvl="1"/>
            <a:r>
              <a:rPr lang="en-CA" altLang="en-US" sz="2800" dirty="0"/>
              <a:t>Kissing</a:t>
            </a:r>
          </a:p>
          <a:p>
            <a:pPr lvl="1"/>
            <a:r>
              <a:rPr lang="en-CA" altLang="en-US" sz="2800" dirty="0"/>
              <a:t>Holding hands</a:t>
            </a:r>
          </a:p>
          <a:p>
            <a:pPr lvl="1"/>
            <a:r>
              <a:rPr lang="en-CA" altLang="en-US" sz="2800" dirty="0"/>
              <a:t>Dancing</a:t>
            </a:r>
          </a:p>
          <a:p>
            <a:pPr lvl="1"/>
            <a:r>
              <a:rPr lang="en-CA" altLang="en-US" sz="2800" dirty="0"/>
              <a:t>Sitting on toilets</a:t>
            </a:r>
          </a:p>
          <a:p>
            <a:pPr lvl="1">
              <a:buFont typeface="Wingdings" panose="05000000000000000000" pitchFamily="2" charset="2"/>
              <a:buChar char="§"/>
            </a:pPr>
            <a:endParaRPr lang="en-CA" altLang="en-US" sz="2800" dirty="0">
              <a:solidFill>
                <a:schemeClr val="accent1"/>
              </a:solidFill>
            </a:endParaRPr>
          </a:p>
          <a:p>
            <a:endParaRPr lang="en-CA" altLang="en-US" dirty="0"/>
          </a:p>
        </p:txBody>
      </p:sp>
      <p:sp>
        <p:nvSpPr>
          <p:cNvPr id="9219" name="Rectangle 4">
            <a:extLst>
              <a:ext uri="{FF2B5EF4-FFF2-40B4-BE49-F238E27FC236}">
                <a16:creationId xmlns:a16="http://schemas.microsoft.com/office/drawing/2014/main" id="{D252E616-B4E1-46A6-AEED-F4096254B66A}"/>
              </a:ext>
            </a:extLst>
          </p:cNvPr>
          <p:cNvSpPr>
            <a:spLocks noGrp="1" noChangeArrowheads="1"/>
          </p:cNvSpPr>
          <p:nvPr>
            <p:ph sz="half" idx="2"/>
          </p:nvPr>
        </p:nvSpPr>
        <p:spPr>
          <a:xfrm>
            <a:off x="4010498" y="2225675"/>
            <a:ext cx="3711575" cy="4267200"/>
          </a:xfrm>
        </p:spPr>
        <p:txBody>
          <a:bodyPr/>
          <a:lstStyle/>
          <a:p>
            <a:pPr lvl="1"/>
            <a:r>
              <a:rPr lang="en-CA" altLang="en-US" sz="2800" dirty="0"/>
              <a:t>Sharing lip balm</a:t>
            </a:r>
          </a:p>
          <a:p>
            <a:pPr lvl="1"/>
            <a:r>
              <a:rPr lang="en-CA" altLang="en-US" sz="2800" dirty="0"/>
              <a:t>Mutual monogamy</a:t>
            </a:r>
          </a:p>
          <a:p>
            <a:pPr lvl="1"/>
            <a:r>
              <a:rPr lang="en-CA" altLang="en-US" sz="2800" dirty="0"/>
              <a:t>Massage</a:t>
            </a:r>
          </a:p>
          <a:p>
            <a:pPr lvl="1"/>
            <a:r>
              <a:rPr lang="en-CA" altLang="en-US" sz="2800" dirty="0"/>
              <a:t>Sharing forks, knives, etc.</a:t>
            </a:r>
          </a:p>
          <a:p>
            <a:pPr lvl="1"/>
            <a:endParaRPr lang="en-CA" altLang="en-US" sz="2800" dirty="0">
              <a:solidFill>
                <a:schemeClr val="accent1"/>
              </a:solidFill>
            </a:endParaRPr>
          </a:p>
          <a:p>
            <a:pPr lvl="1">
              <a:buFont typeface="Wingdings" panose="05000000000000000000" pitchFamily="2" charset="2"/>
              <a:buChar char="§"/>
            </a:pPr>
            <a:endParaRPr lang="en-CA" altLang="en-US" sz="2800" dirty="0">
              <a:solidFill>
                <a:schemeClr val="accent1"/>
              </a:solidFill>
            </a:endParaRPr>
          </a:p>
        </p:txBody>
      </p:sp>
      <p:sp>
        <p:nvSpPr>
          <p:cNvPr id="2" name="TextBox 1">
            <a:extLst>
              <a:ext uri="{FF2B5EF4-FFF2-40B4-BE49-F238E27FC236}">
                <a16:creationId xmlns:a16="http://schemas.microsoft.com/office/drawing/2014/main" id="{23FEB4D1-75EC-0631-C85A-3D844E490C17}"/>
              </a:ext>
            </a:extLst>
          </p:cNvPr>
          <p:cNvSpPr txBox="1"/>
          <p:nvPr/>
        </p:nvSpPr>
        <p:spPr>
          <a:xfrm>
            <a:off x="7311082" y="5745859"/>
            <a:ext cx="4042718" cy="707886"/>
          </a:xfrm>
          <a:prstGeom prst="rect">
            <a:avLst/>
          </a:prstGeom>
          <a:noFill/>
        </p:spPr>
        <p:txBody>
          <a:bodyPr wrap="square" rtlCol="0">
            <a:spAutoFit/>
          </a:bodyPr>
          <a:lstStyle/>
          <a:p>
            <a:pPr algn="ctr"/>
            <a:r>
              <a:rPr lang="en-US" sz="2000" dirty="0"/>
              <a:t>**Kissing can spread an STI, such as Herpes (cold sores), if there is a sore is present at the time. </a:t>
            </a:r>
          </a:p>
        </p:txBody>
      </p:sp>
      <p:sp>
        <p:nvSpPr>
          <p:cNvPr id="3" name="TextBox 2">
            <a:extLst>
              <a:ext uri="{FF2B5EF4-FFF2-40B4-BE49-F238E27FC236}">
                <a16:creationId xmlns:a16="http://schemas.microsoft.com/office/drawing/2014/main" id="{5CA4A881-A653-F1B5-AEF5-37BD7F868714}"/>
              </a:ext>
            </a:extLst>
          </p:cNvPr>
          <p:cNvSpPr txBox="1"/>
          <p:nvPr/>
        </p:nvSpPr>
        <p:spPr>
          <a:xfrm>
            <a:off x="8180173" y="3249887"/>
            <a:ext cx="3509319" cy="954107"/>
          </a:xfrm>
          <a:prstGeom prst="rect">
            <a:avLst/>
          </a:prstGeom>
          <a:noFill/>
        </p:spPr>
        <p:txBody>
          <a:bodyPr wrap="square" rtlCol="0">
            <a:spAutoFit/>
          </a:bodyPr>
          <a:lstStyle/>
          <a:p>
            <a:pPr algn="ctr"/>
            <a:r>
              <a:rPr lang="en-US" sz="2800" dirty="0"/>
              <a:t>STI’s need a host body, and without that they cannot survive.</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5E707CD4-4885-459D-8AA1-C12BD10C0416}"/>
              </a:ext>
            </a:extLst>
          </p:cNvPr>
          <p:cNvSpPr>
            <a:spLocks noGrp="1" noChangeArrowheads="1"/>
          </p:cNvSpPr>
          <p:nvPr>
            <p:ph type="title"/>
          </p:nvPr>
        </p:nvSpPr>
        <p:spPr/>
        <p:txBody>
          <a:bodyPr>
            <a:normAutofit/>
          </a:bodyPr>
          <a:lstStyle/>
          <a:p>
            <a:r>
              <a:rPr lang="en-US" altLang="en-US" dirty="0">
                <a:solidFill>
                  <a:schemeClr val="accent1"/>
                </a:solidFill>
              </a:rPr>
              <a:t>METHODS OF TRANSMISSION: </a:t>
            </a:r>
            <a:r>
              <a:rPr lang="en-US" altLang="en-US" u="sng" dirty="0">
                <a:solidFill>
                  <a:schemeClr val="accent1"/>
                </a:solidFill>
              </a:rPr>
              <a:t>High</a:t>
            </a:r>
            <a:r>
              <a:rPr lang="en-US" altLang="en-US" dirty="0">
                <a:solidFill>
                  <a:schemeClr val="accent1"/>
                </a:solidFill>
              </a:rPr>
              <a:t>-Risk </a:t>
            </a:r>
            <a:r>
              <a:rPr lang="en-US" dirty="0"/>
              <a:t>(pg. 18)</a:t>
            </a:r>
            <a:endParaRPr lang="en-CA" altLang="en-US" dirty="0">
              <a:solidFill>
                <a:schemeClr val="accent1"/>
              </a:solidFill>
            </a:endParaRPr>
          </a:p>
        </p:txBody>
      </p:sp>
      <p:sp>
        <p:nvSpPr>
          <p:cNvPr id="10242" name="Rectangle 3">
            <a:extLst>
              <a:ext uri="{FF2B5EF4-FFF2-40B4-BE49-F238E27FC236}">
                <a16:creationId xmlns:a16="http://schemas.microsoft.com/office/drawing/2014/main" id="{94D3A618-71A3-4E6D-BDEA-33240C615012}"/>
              </a:ext>
            </a:extLst>
          </p:cNvPr>
          <p:cNvSpPr>
            <a:spLocks noGrp="1" noChangeArrowheads="1"/>
          </p:cNvSpPr>
          <p:nvPr>
            <p:ph idx="1"/>
          </p:nvPr>
        </p:nvSpPr>
        <p:spPr>
          <a:xfrm>
            <a:off x="838200" y="2015067"/>
            <a:ext cx="3999271" cy="4636456"/>
          </a:xfrm>
        </p:spPr>
        <p:txBody>
          <a:bodyPr>
            <a:normAutofit lnSpcReduction="10000"/>
          </a:bodyPr>
          <a:lstStyle/>
          <a:p>
            <a:r>
              <a:rPr lang="en-CA" altLang="en-US" dirty="0"/>
              <a:t>Sexual Intercourse </a:t>
            </a:r>
          </a:p>
          <a:p>
            <a:pPr lvl="1"/>
            <a:r>
              <a:rPr lang="en-CA" altLang="en-US" dirty="0"/>
              <a:t>vaginal</a:t>
            </a:r>
          </a:p>
          <a:p>
            <a:pPr lvl="1"/>
            <a:r>
              <a:rPr lang="en-CA" altLang="en-US" dirty="0"/>
              <a:t>anal </a:t>
            </a:r>
          </a:p>
          <a:p>
            <a:pPr lvl="1"/>
            <a:r>
              <a:rPr lang="en-CA" altLang="en-US" dirty="0"/>
              <a:t>oral</a:t>
            </a:r>
          </a:p>
          <a:p>
            <a:r>
              <a:rPr lang="en-CA" altLang="en-US" dirty="0"/>
              <a:t>Blood-to-blood contact or blood infusion </a:t>
            </a:r>
          </a:p>
          <a:p>
            <a:r>
              <a:rPr lang="en-CA" altLang="en-US" dirty="0"/>
              <a:t>Sharing needles or other drug-use equipment</a:t>
            </a:r>
          </a:p>
          <a:p>
            <a:r>
              <a:rPr lang="en-CA" altLang="en-US" dirty="0"/>
              <a:t>Tattoo or body piercing</a:t>
            </a:r>
          </a:p>
          <a:p>
            <a:r>
              <a:rPr lang="en-CA" altLang="en-US" dirty="0"/>
              <a:t>Infected mother to her baby</a:t>
            </a:r>
          </a:p>
          <a:p>
            <a:pPr>
              <a:buFont typeface="Monotype Sorts" charset="2"/>
              <a:buNone/>
            </a:pPr>
            <a:endParaRPr lang="en-CA" altLang="en-US" dirty="0"/>
          </a:p>
        </p:txBody>
      </p:sp>
      <p:pic>
        <p:nvPicPr>
          <p:cNvPr id="4098" name="Picture 2" descr="What Are Sexually Transmitted Diseases (STDs)? - Symptoms &amp; Types">
            <a:extLst>
              <a:ext uri="{FF2B5EF4-FFF2-40B4-BE49-F238E27FC236}">
                <a16:creationId xmlns:a16="http://schemas.microsoft.com/office/drawing/2014/main" id="{6C307B18-1FEC-4D7C-FFEC-E8629A1F9E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7471" y="2609482"/>
            <a:ext cx="7295535" cy="31006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4A3A8-CC31-5824-7083-DC87AF5FFB9C}"/>
              </a:ext>
            </a:extLst>
          </p:cNvPr>
          <p:cNvSpPr>
            <a:spLocks noGrp="1"/>
          </p:cNvSpPr>
          <p:nvPr>
            <p:ph type="title"/>
          </p:nvPr>
        </p:nvSpPr>
        <p:spPr/>
        <p:txBody>
          <a:bodyPr/>
          <a:lstStyle/>
          <a:p>
            <a:r>
              <a:rPr lang="en-US" dirty="0">
                <a:solidFill>
                  <a:srgbClr val="E4650C"/>
                </a:solidFill>
              </a:rPr>
              <a:t>TYPES of STI’s: </a:t>
            </a:r>
            <a:r>
              <a:rPr lang="en-US" dirty="0"/>
              <a:t>(pg. 19)</a:t>
            </a:r>
          </a:p>
        </p:txBody>
      </p:sp>
      <p:sp>
        <p:nvSpPr>
          <p:cNvPr id="3" name="Content Placeholder 2">
            <a:extLst>
              <a:ext uri="{FF2B5EF4-FFF2-40B4-BE49-F238E27FC236}">
                <a16:creationId xmlns:a16="http://schemas.microsoft.com/office/drawing/2014/main" id="{19666AA5-E8CD-480B-7A7B-62224F62EEF4}"/>
              </a:ext>
            </a:extLst>
          </p:cNvPr>
          <p:cNvSpPr>
            <a:spLocks noGrp="1"/>
          </p:cNvSpPr>
          <p:nvPr>
            <p:ph sz="half" idx="1"/>
          </p:nvPr>
        </p:nvSpPr>
        <p:spPr>
          <a:xfrm>
            <a:off x="838199" y="1929384"/>
            <a:ext cx="6266936" cy="4251960"/>
          </a:xfrm>
        </p:spPr>
        <p:txBody>
          <a:bodyPr>
            <a:normAutofit fontScale="85000" lnSpcReduction="10000"/>
          </a:bodyPr>
          <a:lstStyle/>
          <a:p>
            <a:pPr marL="514350" indent="-514350">
              <a:buFont typeface="+mj-lt"/>
              <a:buAutoNum type="arabicPeriod"/>
            </a:pPr>
            <a:r>
              <a:rPr lang="en-US" b="1" dirty="0"/>
              <a:t>BACTERIAL – an infection caused by a bacteria.</a:t>
            </a:r>
          </a:p>
          <a:p>
            <a:pPr lvl="2"/>
            <a:r>
              <a:rPr lang="en-US" dirty="0"/>
              <a:t>Treatable and curable with antibiotics. </a:t>
            </a:r>
          </a:p>
          <a:p>
            <a:pPr lvl="2"/>
            <a:r>
              <a:rPr lang="en-US" dirty="0"/>
              <a:t>If untreated can cause long term side-effects. </a:t>
            </a:r>
          </a:p>
          <a:p>
            <a:pPr lvl="2"/>
            <a:r>
              <a:rPr lang="en-US" dirty="0"/>
              <a:t>Chlamydia (most common), Gonorrhoea (‘the clap’), Syphilis, Trichomoniasis.</a:t>
            </a:r>
          </a:p>
          <a:p>
            <a:pPr lvl="2"/>
            <a:endParaRPr lang="en-US" dirty="0"/>
          </a:p>
          <a:p>
            <a:pPr marL="514350" indent="-514350">
              <a:buFont typeface="+mj-lt"/>
              <a:buAutoNum type="arabicPeriod"/>
            </a:pPr>
            <a:r>
              <a:rPr lang="en-US" b="1" dirty="0"/>
              <a:t>VIRAL – an infection caused by a virus.</a:t>
            </a:r>
          </a:p>
          <a:p>
            <a:pPr lvl="2"/>
            <a:r>
              <a:rPr lang="en-US" dirty="0"/>
              <a:t>Cannot be cured. </a:t>
            </a:r>
          </a:p>
          <a:p>
            <a:pPr lvl="2"/>
            <a:r>
              <a:rPr lang="en-US" dirty="0"/>
              <a:t>Medication to treat symptoms only.</a:t>
            </a:r>
          </a:p>
          <a:p>
            <a:pPr lvl="2"/>
            <a:r>
              <a:rPr lang="en-US" dirty="0"/>
              <a:t>Can pass onto others for the rest of your life. </a:t>
            </a:r>
          </a:p>
          <a:p>
            <a:pPr lvl="2"/>
            <a:r>
              <a:rPr lang="en-US" dirty="0"/>
              <a:t>Human </a:t>
            </a:r>
            <a:r>
              <a:rPr lang="en-US" dirty="0" err="1"/>
              <a:t>Papilomavirus</a:t>
            </a:r>
            <a:r>
              <a:rPr lang="en-US" dirty="0"/>
              <a:t> (HPV), HIV/AIDS, Herpes Simplex Virus (HSV), Hepatitis B.</a:t>
            </a:r>
          </a:p>
        </p:txBody>
      </p:sp>
      <p:sp>
        <p:nvSpPr>
          <p:cNvPr id="6" name="Content Placeholder 5">
            <a:extLst>
              <a:ext uri="{FF2B5EF4-FFF2-40B4-BE49-F238E27FC236}">
                <a16:creationId xmlns:a16="http://schemas.microsoft.com/office/drawing/2014/main" id="{01358E88-6468-D081-8DAD-83238C3B8CF8}"/>
              </a:ext>
            </a:extLst>
          </p:cNvPr>
          <p:cNvSpPr>
            <a:spLocks noGrp="1"/>
          </p:cNvSpPr>
          <p:nvPr>
            <p:ph sz="half" idx="2"/>
          </p:nvPr>
        </p:nvSpPr>
        <p:spPr>
          <a:xfrm>
            <a:off x="6981568" y="1929384"/>
            <a:ext cx="5041556" cy="4251960"/>
          </a:xfrm>
        </p:spPr>
        <p:txBody>
          <a:bodyPr>
            <a:normAutofit fontScale="85000" lnSpcReduction="10000"/>
          </a:bodyPr>
          <a:lstStyle/>
          <a:p>
            <a:pPr marL="0" indent="0">
              <a:buNone/>
            </a:pPr>
            <a:r>
              <a:rPr lang="en-US" dirty="0"/>
              <a:t>3.    </a:t>
            </a:r>
            <a:r>
              <a:rPr lang="en-US" b="1" dirty="0"/>
              <a:t>PARASITIC – an infection caused by a parasite.</a:t>
            </a:r>
          </a:p>
          <a:p>
            <a:pPr lvl="2"/>
            <a:r>
              <a:rPr lang="en-US" dirty="0"/>
              <a:t>Can be cured/treated</a:t>
            </a:r>
          </a:p>
          <a:p>
            <a:pPr lvl="2"/>
            <a:r>
              <a:rPr lang="en-US" dirty="0"/>
              <a:t>Public lice (crabs), Trichomoniasis, Scabies</a:t>
            </a:r>
          </a:p>
          <a:p>
            <a:pPr marL="514350" indent="-514350">
              <a:buFont typeface="+mj-lt"/>
              <a:buAutoNum type="arabicPeriod"/>
            </a:pPr>
            <a:endParaRPr lang="en-US" dirty="0"/>
          </a:p>
        </p:txBody>
      </p:sp>
      <p:pic>
        <p:nvPicPr>
          <p:cNvPr id="7170" name="Picture 2" descr="Sexually transmitted infections (STIs): Types &amp; symptoms - Flo">
            <a:extLst>
              <a:ext uri="{FF2B5EF4-FFF2-40B4-BE49-F238E27FC236}">
                <a16:creationId xmlns:a16="http://schemas.microsoft.com/office/drawing/2014/main" id="{12C042A8-58C6-9997-83D0-945549C115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3992" y="3286749"/>
            <a:ext cx="4756708" cy="3571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669261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6">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8" name="Picture 7" descr="Exclamation mark on a yellow background">
            <a:extLst>
              <a:ext uri="{FF2B5EF4-FFF2-40B4-BE49-F238E27FC236}">
                <a16:creationId xmlns:a16="http://schemas.microsoft.com/office/drawing/2014/main" id="{033D5B49-C143-8E6E-9EA1-8DC4E1569BD3}"/>
              </a:ext>
            </a:extLst>
          </p:cNvPr>
          <p:cNvPicPr>
            <a:picLocks noChangeAspect="1"/>
          </p:cNvPicPr>
          <p:nvPr/>
        </p:nvPicPr>
        <p:blipFill rotWithShape="1">
          <a:blip r:embed="rId3"/>
          <a:srcRect t="25000"/>
          <a:stretch/>
        </p:blipFill>
        <p:spPr>
          <a:xfrm>
            <a:off x="-3047" y="10"/>
            <a:ext cx="12191999" cy="6857990"/>
          </a:xfrm>
          <a:prstGeom prst="rect">
            <a:avLst/>
          </a:prstGeom>
        </p:spPr>
      </p:pic>
      <p:sp>
        <p:nvSpPr>
          <p:cNvPr id="14" name="Rectangle 13">
            <a:extLst>
              <a:ext uri="{FF2B5EF4-FFF2-40B4-BE49-F238E27FC236}">
                <a16:creationId xmlns:a16="http://schemas.microsoft.com/office/drawing/2014/main" id="{5683D043-25BB-4AC9-8130-641179672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3323345"/>
          </a:xfrm>
          <a:prstGeom prst="rect">
            <a:avLst/>
          </a:prstGeom>
          <a:gradFill flip="none" rotWithShape="1">
            <a:gsLst>
              <a:gs pos="57000">
                <a:schemeClr val="tx1">
                  <a:alpha val="30000"/>
                </a:schemeClr>
              </a:gs>
              <a:gs pos="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CD727EB7-2F8C-1E0A-09BE-AD294C989171}"/>
              </a:ext>
            </a:extLst>
          </p:cNvPr>
          <p:cNvSpPr>
            <a:spLocks noGrp="1"/>
          </p:cNvSpPr>
          <p:nvPr>
            <p:ph type="title"/>
          </p:nvPr>
        </p:nvSpPr>
        <p:spPr>
          <a:xfrm>
            <a:off x="321733" y="321733"/>
            <a:ext cx="11548532" cy="4229305"/>
          </a:xfrm>
        </p:spPr>
        <p:txBody>
          <a:bodyPr vert="horz" lIns="91440" tIns="45720" rIns="91440" bIns="45720" rtlCol="0" anchor="t">
            <a:normAutofit/>
          </a:bodyPr>
          <a:lstStyle/>
          <a:p>
            <a:r>
              <a:rPr lang="en-US" sz="11500">
                <a:solidFill>
                  <a:schemeClr val="bg1"/>
                </a:solidFill>
              </a:rPr>
              <a:t>WARNING: GRAPHIC CONTENT </a:t>
            </a:r>
          </a:p>
        </p:txBody>
      </p:sp>
      <p:sp>
        <p:nvSpPr>
          <p:cNvPr id="16" name="Rectangle 15">
            <a:extLst>
              <a:ext uri="{FF2B5EF4-FFF2-40B4-BE49-F238E27FC236}">
                <a16:creationId xmlns:a16="http://schemas.microsoft.com/office/drawing/2014/main" id="{AA61CCAC-6875-474C-8E9E-F57ABF078C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095" y="4702516"/>
            <a:ext cx="12191999" cy="2155484"/>
          </a:xfrm>
          <a:prstGeom prst="rect">
            <a:avLst/>
          </a:prstGeom>
          <a:gradFill flip="none" rotWithShape="1">
            <a:gsLst>
              <a:gs pos="59000">
                <a:schemeClr val="tx1">
                  <a:alpha val="30000"/>
                </a:schemeClr>
              </a:gs>
              <a:gs pos="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2A829C1-7DB2-7F8B-601B-40CAE30F58FC}"/>
              </a:ext>
            </a:extLst>
          </p:cNvPr>
          <p:cNvSpPr txBox="1"/>
          <p:nvPr/>
        </p:nvSpPr>
        <p:spPr>
          <a:xfrm>
            <a:off x="596900" y="2120900"/>
            <a:ext cx="7670800" cy="2677656"/>
          </a:xfrm>
          <a:prstGeom prst="rect">
            <a:avLst/>
          </a:prstGeom>
          <a:noFill/>
        </p:spPr>
        <p:txBody>
          <a:bodyPr wrap="square" rtlCol="0">
            <a:spAutoFit/>
          </a:bodyPr>
          <a:lstStyle/>
          <a:p>
            <a:r>
              <a:rPr lang="en-US" sz="2400" b="1" dirty="0"/>
              <a:t>Over the next collection of slides we will be going over the different types of STI’s – what they are, signs and symptoms, treatment etc.</a:t>
            </a:r>
          </a:p>
          <a:p>
            <a:r>
              <a:rPr lang="en-US" sz="2400" b="1" dirty="0"/>
              <a:t>Some slides will contain graphic images.  </a:t>
            </a:r>
          </a:p>
          <a:p>
            <a:endParaRPr lang="en-US" sz="2400" b="1" dirty="0"/>
          </a:p>
          <a:p>
            <a:r>
              <a:rPr lang="en-US" sz="2400" b="1" dirty="0"/>
              <a:t>Use the information to write your own notes onto pg.20 in your books. </a:t>
            </a:r>
          </a:p>
          <a:p>
            <a:endParaRPr lang="en-US" sz="2400" b="1" dirty="0"/>
          </a:p>
          <a:p>
            <a:r>
              <a:rPr lang="en-US" sz="2400" b="1" dirty="0"/>
              <a:t>This information can be used later to assist you with your assignment. </a:t>
            </a:r>
          </a:p>
        </p:txBody>
      </p:sp>
    </p:spTree>
    <p:extLst>
      <p:ext uri="{BB962C8B-B14F-4D97-AF65-F5344CB8AC3E}">
        <p14:creationId xmlns:p14="http://schemas.microsoft.com/office/powerpoint/2010/main" val="261355492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70A3A-6AA9-CA40-B4B7-B16703ABF9F0}"/>
              </a:ext>
            </a:extLst>
          </p:cNvPr>
          <p:cNvSpPr>
            <a:spLocks noGrp="1"/>
          </p:cNvSpPr>
          <p:nvPr>
            <p:ph type="title"/>
          </p:nvPr>
        </p:nvSpPr>
        <p:spPr>
          <a:xfrm>
            <a:off x="748505" y="558396"/>
            <a:ext cx="7024687" cy="1143000"/>
          </a:xfrm>
        </p:spPr>
        <p:txBody>
          <a:bodyPr rtlCol="0">
            <a:normAutofit/>
          </a:bodyPr>
          <a:lstStyle/>
          <a:p>
            <a:pPr>
              <a:defRPr/>
            </a:pPr>
            <a:r>
              <a:rPr lang="en-US" sz="5400" b="1" dirty="0"/>
              <a:t>Chlamydia </a:t>
            </a:r>
            <a:endParaRPr lang="en-CA" sz="5400" dirty="0"/>
          </a:p>
        </p:txBody>
      </p:sp>
      <p:sp>
        <p:nvSpPr>
          <p:cNvPr id="3" name="Content Placeholder 2">
            <a:extLst>
              <a:ext uri="{FF2B5EF4-FFF2-40B4-BE49-F238E27FC236}">
                <a16:creationId xmlns:a16="http://schemas.microsoft.com/office/drawing/2014/main" id="{A3EAEAF6-A842-D549-81EA-553C3FD5F2C2}"/>
              </a:ext>
            </a:extLst>
          </p:cNvPr>
          <p:cNvSpPr>
            <a:spLocks noGrp="1"/>
          </p:cNvSpPr>
          <p:nvPr>
            <p:ph idx="1"/>
          </p:nvPr>
        </p:nvSpPr>
        <p:spPr>
          <a:xfrm>
            <a:off x="196211" y="1899271"/>
            <a:ext cx="7712113" cy="4647579"/>
          </a:xfrm>
        </p:spPr>
        <p:txBody>
          <a:bodyPr rtlCol="0">
            <a:normAutofit/>
          </a:bodyPr>
          <a:lstStyle/>
          <a:p>
            <a:pPr marL="641350" indent="-571500">
              <a:buFont typeface="Arial" charset="0"/>
              <a:buChar char="•"/>
              <a:defRPr/>
            </a:pPr>
            <a:r>
              <a:rPr lang="en-US" sz="2600" dirty="0"/>
              <a:t>Among the most common bacterial STIs in the world. In WA, most common in people &lt;25 years.</a:t>
            </a:r>
          </a:p>
          <a:p>
            <a:pPr marL="641350" indent="-571500">
              <a:buFont typeface="Arial" charset="0"/>
              <a:buChar char="•"/>
              <a:defRPr/>
            </a:pPr>
            <a:r>
              <a:rPr lang="en-US" sz="2600" dirty="0"/>
              <a:t>Passed by having unprotected oral, anal or vaginal sex.</a:t>
            </a:r>
          </a:p>
          <a:p>
            <a:pPr marL="641350" indent="-571500">
              <a:buFont typeface="Arial" charset="0"/>
              <a:buChar char="•"/>
              <a:defRPr/>
            </a:pPr>
            <a:r>
              <a:rPr lang="en-US" sz="2600" dirty="0"/>
              <a:t>Condoms can help prevent the spread of chlamydia.</a:t>
            </a:r>
            <a:endParaRPr lang="en-US" sz="2600" b="1" dirty="0"/>
          </a:p>
          <a:p>
            <a:pPr marL="641350" indent="-571500">
              <a:buFont typeface="Arial" charset="0"/>
              <a:buChar char="•"/>
              <a:defRPr/>
            </a:pPr>
            <a:r>
              <a:rPr lang="en-US" sz="2600" dirty="0"/>
              <a:t>Most people have no symptoms.</a:t>
            </a:r>
          </a:p>
          <a:p>
            <a:pPr marL="641350" indent="-571500">
              <a:buFont typeface="Arial" charset="0"/>
              <a:buChar char="•"/>
              <a:defRPr/>
            </a:pPr>
            <a:r>
              <a:rPr lang="en-US" sz="2600" dirty="0"/>
              <a:t>The infection can be cured with a single dose of antibiotics.</a:t>
            </a:r>
          </a:p>
          <a:p>
            <a:pPr marL="641350" indent="-571500">
              <a:buFont typeface="Arial" charset="0"/>
              <a:buChar char="•"/>
              <a:defRPr/>
            </a:pPr>
            <a:r>
              <a:rPr lang="en-US" sz="2600" dirty="0"/>
              <a:t>If untreated it can affect the cervix, urethra, uterus, fallopian tubes, </a:t>
            </a:r>
            <a:br>
              <a:rPr lang="en-US" sz="2600" dirty="0"/>
            </a:br>
            <a:r>
              <a:rPr lang="en-US" sz="2600" dirty="0"/>
              <a:t>rectum, throat, eye, and can cause ectopic pregnancy or infertility. </a:t>
            </a:r>
          </a:p>
          <a:p>
            <a:pPr algn="ctr">
              <a:buNone/>
              <a:defRPr/>
            </a:pPr>
            <a:endParaRPr lang="en-US" b="1" dirty="0">
              <a:solidFill>
                <a:schemeClr val="accent6"/>
              </a:solidFill>
            </a:endParaRPr>
          </a:p>
          <a:p>
            <a:pPr marL="69850" indent="0">
              <a:buNone/>
              <a:defRPr/>
            </a:pPr>
            <a:endParaRPr lang="en-US" b="1" dirty="0">
              <a:solidFill>
                <a:schemeClr val="accent6"/>
              </a:solidFill>
            </a:endParaRPr>
          </a:p>
          <a:p>
            <a:pPr>
              <a:defRPr/>
            </a:pPr>
            <a:endParaRPr lang="en-CA" dirty="0"/>
          </a:p>
        </p:txBody>
      </p:sp>
      <p:sp>
        <p:nvSpPr>
          <p:cNvPr id="5" name="TextBox 4">
            <a:extLst>
              <a:ext uri="{FF2B5EF4-FFF2-40B4-BE49-F238E27FC236}">
                <a16:creationId xmlns:a16="http://schemas.microsoft.com/office/drawing/2014/main" id="{8B092FFE-7B13-5449-AC24-5D4676BA01A1}"/>
              </a:ext>
            </a:extLst>
          </p:cNvPr>
          <p:cNvSpPr txBox="1"/>
          <p:nvPr/>
        </p:nvSpPr>
        <p:spPr>
          <a:xfrm>
            <a:off x="7773192" y="5531187"/>
            <a:ext cx="4992688" cy="1015663"/>
          </a:xfrm>
          <a:prstGeom prst="rect">
            <a:avLst/>
          </a:prstGeom>
          <a:noFill/>
        </p:spPr>
        <p:txBody>
          <a:bodyPr wrap="square" rtlCol="0">
            <a:spAutoFit/>
          </a:bodyPr>
          <a:lstStyle/>
          <a:p>
            <a:pPr marL="69850" indent="0" algn="ctr">
              <a:buNone/>
              <a:defRPr/>
            </a:pPr>
            <a:r>
              <a:rPr lang="en-US" sz="2800" b="1" i="1" dirty="0"/>
              <a:t>Remember Chlamydia is </a:t>
            </a:r>
          </a:p>
          <a:p>
            <a:pPr marL="69850" indent="0" algn="ctr">
              <a:buNone/>
              <a:defRPr/>
            </a:pPr>
            <a:r>
              <a:rPr lang="en-US" sz="2800" b="1" i="1" dirty="0"/>
              <a:t>CURABLE</a:t>
            </a:r>
            <a:r>
              <a:rPr lang="en-US" sz="3200" b="1" i="1" dirty="0"/>
              <a:t>!</a:t>
            </a:r>
            <a:endParaRPr lang="en-US" sz="3200" b="1" dirty="0"/>
          </a:p>
        </p:txBody>
      </p:sp>
      <p:pic>
        <p:nvPicPr>
          <p:cNvPr id="6" name="Picture 8">
            <a:extLst>
              <a:ext uri="{FF2B5EF4-FFF2-40B4-BE49-F238E27FC236}">
                <a16:creationId xmlns:a16="http://schemas.microsoft.com/office/drawing/2014/main" id="{F3BFF58F-6759-424E-9D1F-E6B917ACA3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6057" y="2821937"/>
            <a:ext cx="1874853" cy="1664345"/>
          </a:xfrm>
          <a:prstGeom prst="rect">
            <a:avLst/>
          </a:prstGeom>
          <a:noFill/>
          <a:ln w="57150">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7" name="Picture 9">
            <a:extLst>
              <a:ext uri="{FF2B5EF4-FFF2-40B4-BE49-F238E27FC236}">
                <a16:creationId xmlns:a16="http://schemas.microsoft.com/office/drawing/2014/main" id="{09C1524B-23C3-AD40-ACF1-D50E65F8F7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3680" y="5135437"/>
            <a:ext cx="1701922" cy="1627798"/>
          </a:xfrm>
          <a:prstGeom prst="rect">
            <a:avLst/>
          </a:prstGeom>
          <a:noFill/>
          <a:ln w="57150">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53250" name="Picture 2" descr="Chlamydia Symptoms: What to Look for and Where to Get Help | GoHealth  Urgent Care">
            <a:extLst>
              <a:ext uri="{FF2B5EF4-FFF2-40B4-BE49-F238E27FC236}">
                <a16:creationId xmlns:a16="http://schemas.microsoft.com/office/drawing/2014/main" id="{C4390CD7-011A-5C47-BA20-4E7290449B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36675" y="0"/>
            <a:ext cx="3955325" cy="5115869"/>
          </a:xfrm>
          <a:prstGeom prst="rect">
            <a:avLst/>
          </a:prstGeom>
          <a:noFill/>
          <a:ln w="57150">
            <a:solidFill>
              <a:schemeClr val="bg1"/>
            </a:solidFill>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0A3DB-A24F-0D4F-8423-0ED11A163E6F}"/>
              </a:ext>
            </a:extLst>
          </p:cNvPr>
          <p:cNvSpPr>
            <a:spLocks noGrp="1"/>
          </p:cNvSpPr>
          <p:nvPr>
            <p:ph type="title"/>
          </p:nvPr>
        </p:nvSpPr>
        <p:spPr>
          <a:xfrm>
            <a:off x="795339" y="523450"/>
            <a:ext cx="7024687" cy="1143000"/>
          </a:xfrm>
        </p:spPr>
        <p:txBody>
          <a:bodyPr rtlCol="0">
            <a:normAutofit/>
          </a:bodyPr>
          <a:lstStyle/>
          <a:p>
            <a:pPr>
              <a:defRPr/>
            </a:pPr>
            <a:r>
              <a:rPr lang="en-US" sz="5400" b="1" dirty="0"/>
              <a:t>Gonorrhea</a:t>
            </a:r>
            <a:endParaRPr lang="en-CA" sz="5400" dirty="0"/>
          </a:p>
        </p:txBody>
      </p:sp>
      <p:sp>
        <p:nvSpPr>
          <p:cNvPr id="3" name="Content Placeholder 2">
            <a:extLst>
              <a:ext uri="{FF2B5EF4-FFF2-40B4-BE49-F238E27FC236}">
                <a16:creationId xmlns:a16="http://schemas.microsoft.com/office/drawing/2014/main" id="{E881DFBE-3F71-B14D-96BA-474A8C8109B9}"/>
              </a:ext>
            </a:extLst>
          </p:cNvPr>
          <p:cNvSpPr>
            <a:spLocks noGrp="1"/>
          </p:cNvSpPr>
          <p:nvPr>
            <p:ph idx="1"/>
          </p:nvPr>
        </p:nvSpPr>
        <p:spPr>
          <a:xfrm>
            <a:off x="250723" y="1850738"/>
            <a:ext cx="8079640" cy="2902974"/>
          </a:xfrm>
        </p:spPr>
        <p:txBody>
          <a:bodyPr rtlCol="0">
            <a:normAutofit lnSpcReduction="10000"/>
          </a:bodyPr>
          <a:lstStyle/>
          <a:p>
            <a:pPr marL="641350" indent="-571500">
              <a:buFont typeface="Arial" charset="0"/>
              <a:buChar char="•"/>
              <a:defRPr/>
            </a:pPr>
            <a:r>
              <a:rPr lang="en-US" dirty="0"/>
              <a:t>Second most common bacterial infection and is most common in 15-29 year-olds.</a:t>
            </a:r>
          </a:p>
          <a:p>
            <a:pPr marL="641350" indent="-571500">
              <a:buFont typeface="Arial" charset="0"/>
              <a:buChar char="•"/>
              <a:defRPr/>
            </a:pPr>
            <a:r>
              <a:rPr lang="en-US" dirty="0"/>
              <a:t>Passed along by having unprotected oral, anal or vaginal sex.</a:t>
            </a:r>
          </a:p>
          <a:p>
            <a:pPr marL="641350" indent="-571500">
              <a:buFont typeface="Arial" charset="0"/>
              <a:buChar char="•"/>
              <a:defRPr/>
            </a:pPr>
            <a:r>
              <a:rPr lang="en-US" dirty="0"/>
              <a:t>Condoms can help prevent the spread of gonorrhea.</a:t>
            </a:r>
          </a:p>
          <a:p>
            <a:pPr marL="641350" indent="-571500">
              <a:buFont typeface="Arial" charset="0"/>
              <a:buChar char="•"/>
              <a:defRPr/>
            </a:pPr>
            <a:r>
              <a:rPr lang="en-US" dirty="0"/>
              <a:t>Most people have no symptoms, especially in females. </a:t>
            </a:r>
          </a:p>
          <a:p>
            <a:pPr marL="641350" indent="-571500">
              <a:buFont typeface="Arial" charset="0"/>
              <a:buChar char="•"/>
              <a:defRPr/>
            </a:pPr>
            <a:r>
              <a:rPr lang="en-US" dirty="0"/>
              <a:t>The infection can be cured with antibiotics.</a:t>
            </a:r>
          </a:p>
          <a:p>
            <a:pPr marL="641350" indent="-571500">
              <a:buFont typeface="Arial" charset="0"/>
              <a:buChar char="•"/>
              <a:defRPr/>
            </a:pPr>
            <a:endParaRPr lang="en-US" dirty="0"/>
          </a:p>
          <a:p>
            <a:pPr algn="ctr">
              <a:buNone/>
              <a:defRPr/>
            </a:pPr>
            <a:endParaRPr lang="en-US" i="1" dirty="0"/>
          </a:p>
          <a:p>
            <a:pPr algn="ctr">
              <a:buNone/>
              <a:defRPr/>
            </a:pPr>
            <a:endParaRPr lang="en-US" b="1" dirty="0">
              <a:solidFill>
                <a:schemeClr val="accent6"/>
              </a:solidFill>
            </a:endParaRPr>
          </a:p>
          <a:p>
            <a:pPr marL="69850" indent="0">
              <a:buNone/>
              <a:defRPr/>
            </a:pPr>
            <a:endParaRPr lang="en-US" b="1" dirty="0">
              <a:solidFill>
                <a:schemeClr val="accent6"/>
              </a:solidFill>
            </a:endParaRPr>
          </a:p>
          <a:p>
            <a:pPr>
              <a:defRPr/>
            </a:pPr>
            <a:endParaRPr lang="en-CA" dirty="0"/>
          </a:p>
        </p:txBody>
      </p:sp>
      <p:sp>
        <p:nvSpPr>
          <p:cNvPr id="4" name="Rectangle 3">
            <a:extLst>
              <a:ext uri="{FF2B5EF4-FFF2-40B4-BE49-F238E27FC236}">
                <a16:creationId xmlns:a16="http://schemas.microsoft.com/office/drawing/2014/main" id="{8B020AA3-9DF4-CF42-B1FD-8F4CFA523765}"/>
              </a:ext>
            </a:extLst>
          </p:cNvPr>
          <p:cNvSpPr/>
          <p:nvPr/>
        </p:nvSpPr>
        <p:spPr>
          <a:xfrm>
            <a:off x="8351458" y="5657260"/>
            <a:ext cx="3729330" cy="1089529"/>
          </a:xfrm>
          <a:prstGeom prst="rect">
            <a:avLst/>
          </a:prstGeom>
        </p:spPr>
        <p:txBody>
          <a:bodyPr wrap="square">
            <a:spAutoFit/>
          </a:bodyPr>
          <a:lstStyle/>
          <a:p>
            <a:pPr marL="69850" lvl="0" algn="ctr" defTabSz="914400">
              <a:lnSpc>
                <a:spcPct val="90000"/>
              </a:lnSpc>
              <a:spcBef>
                <a:spcPts val="1000"/>
              </a:spcBef>
              <a:defRPr/>
            </a:pPr>
            <a:r>
              <a:rPr lang="en-US" sz="3600" b="1" i="1" dirty="0"/>
              <a:t>Remember Gonorrhea is CURABLE!</a:t>
            </a:r>
            <a:endParaRPr lang="en-US" sz="3600" b="1" dirty="0"/>
          </a:p>
        </p:txBody>
      </p:sp>
      <p:pic>
        <p:nvPicPr>
          <p:cNvPr id="59394" name="Picture 2" descr="Gonorrhea: Signs, Symptoms, and Complications">
            <a:extLst>
              <a:ext uri="{FF2B5EF4-FFF2-40B4-BE49-F238E27FC236}">
                <a16:creationId xmlns:a16="http://schemas.microsoft.com/office/drawing/2014/main" id="{62EE74B1-A556-FE4E-B960-86DA602CEB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5159" y="111211"/>
            <a:ext cx="3385629" cy="5498757"/>
          </a:xfrm>
          <a:prstGeom prst="rect">
            <a:avLst/>
          </a:prstGeom>
          <a:noFill/>
          <a:ln w="57150">
            <a:solidFill>
              <a:schemeClr val="bg1"/>
            </a:solidFill>
          </a:ln>
          <a:extLst>
            <a:ext uri="{909E8E84-426E-40DD-AFC4-6F175D3DCCD1}">
              <a14:hiddenFill xmlns:a14="http://schemas.microsoft.com/office/drawing/2010/main">
                <a:solidFill>
                  <a:srgbClr val="FFFFFF"/>
                </a:solidFill>
              </a14:hiddenFill>
            </a:ext>
          </a:extLst>
        </p:spPr>
      </p:pic>
      <p:pic>
        <p:nvPicPr>
          <p:cNvPr id="8194" name="Picture 2" descr="Gonorrhoea Symptoms Explained — Causes and Treatments">
            <a:extLst>
              <a:ext uri="{FF2B5EF4-FFF2-40B4-BE49-F238E27FC236}">
                <a16:creationId xmlns:a16="http://schemas.microsoft.com/office/drawing/2014/main" id="{6D18FCEE-1996-7D52-143D-5192BE4AAC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1622" y="3508150"/>
            <a:ext cx="2902974" cy="290297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C15414E-7686-D8AE-162E-3FF216B839FA}"/>
              </a:ext>
            </a:extLst>
          </p:cNvPr>
          <p:cNvSpPr txBox="1"/>
          <p:nvPr/>
        </p:nvSpPr>
        <p:spPr>
          <a:xfrm>
            <a:off x="795339" y="4661001"/>
            <a:ext cx="1927654" cy="2031325"/>
          </a:xfrm>
          <a:prstGeom prst="rect">
            <a:avLst/>
          </a:prstGeom>
          <a:noFill/>
        </p:spPr>
        <p:txBody>
          <a:bodyPr wrap="square" rtlCol="0">
            <a:spAutoFit/>
          </a:bodyPr>
          <a:lstStyle/>
          <a:p>
            <a:r>
              <a:rPr lang="en-US" dirty="0"/>
              <a:t>Female:</a:t>
            </a:r>
          </a:p>
          <a:p>
            <a:pPr marL="285750" indent="-285750">
              <a:buFontTx/>
              <a:buChar char="-"/>
            </a:pPr>
            <a:r>
              <a:rPr lang="en-US" dirty="0"/>
              <a:t>Vaginal discharge</a:t>
            </a:r>
          </a:p>
          <a:p>
            <a:pPr marL="285750" indent="-285750">
              <a:buFontTx/>
              <a:buChar char="-"/>
            </a:pPr>
            <a:r>
              <a:rPr lang="en-US" dirty="0"/>
              <a:t>Painful urination</a:t>
            </a:r>
          </a:p>
          <a:p>
            <a:pPr marL="285750" indent="-285750">
              <a:buFontTx/>
              <a:buChar char="-"/>
            </a:pPr>
            <a:r>
              <a:rPr lang="en-US" dirty="0"/>
              <a:t>Bleeding after sex</a:t>
            </a:r>
          </a:p>
          <a:p>
            <a:pPr marL="285750" indent="-285750">
              <a:buFontTx/>
              <a:buChar char="-"/>
            </a:pPr>
            <a:r>
              <a:rPr lang="en-US" dirty="0"/>
              <a:t>Bleeding between periods</a:t>
            </a:r>
          </a:p>
          <a:p>
            <a:pPr marL="285750" indent="-285750">
              <a:buFontTx/>
              <a:buChar char="-"/>
            </a:pPr>
            <a:r>
              <a:rPr lang="en-US" dirty="0"/>
              <a:t>Pain during sex</a:t>
            </a:r>
          </a:p>
          <a:p>
            <a:pPr marL="285750" indent="-285750">
              <a:buFontTx/>
              <a:buChar char="-"/>
            </a:pPr>
            <a:r>
              <a:rPr lang="en-US" dirty="0"/>
              <a:t>Lower abdominal pain</a:t>
            </a:r>
          </a:p>
        </p:txBody>
      </p:sp>
      <p:sp>
        <p:nvSpPr>
          <p:cNvPr id="6" name="TextBox 5">
            <a:extLst>
              <a:ext uri="{FF2B5EF4-FFF2-40B4-BE49-F238E27FC236}">
                <a16:creationId xmlns:a16="http://schemas.microsoft.com/office/drawing/2014/main" id="{074EC1AD-D37B-0217-C8DA-1BABFA1AE1D8}"/>
              </a:ext>
            </a:extLst>
          </p:cNvPr>
          <p:cNvSpPr txBox="1"/>
          <p:nvPr/>
        </p:nvSpPr>
        <p:spPr>
          <a:xfrm>
            <a:off x="2692643" y="4753712"/>
            <a:ext cx="3122116" cy="1754326"/>
          </a:xfrm>
          <a:prstGeom prst="rect">
            <a:avLst/>
          </a:prstGeom>
          <a:noFill/>
        </p:spPr>
        <p:txBody>
          <a:bodyPr wrap="square" rtlCol="0">
            <a:spAutoFit/>
          </a:bodyPr>
          <a:lstStyle/>
          <a:p>
            <a:r>
              <a:rPr lang="en-US" dirty="0"/>
              <a:t>Male:</a:t>
            </a:r>
          </a:p>
          <a:p>
            <a:pPr marL="285750" indent="-285750">
              <a:buFontTx/>
              <a:buChar char="-"/>
            </a:pPr>
            <a:r>
              <a:rPr lang="en-US" dirty="0"/>
              <a:t>Thick, yellowish-green discharge from penis</a:t>
            </a:r>
          </a:p>
          <a:p>
            <a:pPr marL="285750" indent="-285750">
              <a:buFontTx/>
              <a:buChar char="-"/>
            </a:pPr>
            <a:r>
              <a:rPr lang="en-US" dirty="0"/>
              <a:t>Painful urination</a:t>
            </a:r>
          </a:p>
          <a:p>
            <a:pPr marL="285750" indent="-285750">
              <a:buFontTx/>
              <a:buChar char="-"/>
            </a:pPr>
            <a:r>
              <a:rPr lang="en-US" dirty="0"/>
              <a:t>Testicular pain or swelling</a:t>
            </a:r>
          </a:p>
          <a:p>
            <a:pPr marL="285750" indent="-285750">
              <a:buFontTx/>
              <a:buChar char="-"/>
            </a:pPr>
            <a:r>
              <a:rPr lang="en-US" dirty="0"/>
              <a:t>Rectal pain, discharge or itching.</a:t>
            </a:r>
          </a:p>
          <a:p>
            <a:pPr marL="285750" indent="-285750">
              <a:buFontTx/>
              <a:buChar char="-"/>
            </a:pPr>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2883F-EA07-564D-8B2C-3F0473608DFF}"/>
              </a:ext>
            </a:extLst>
          </p:cNvPr>
          <p:cNvSpPr>
            <a:spLocks noGrp="1"/>
          </p:cNvSpPr>
          <p:nvPr>
            <p:ph type="title"/>
          </p:nvPr>
        </p:nvSpPr>
        <p:spPr>
          <a:xfrm>
            <a:off x="838200" y="271850"/>
            <a:ext cx="10515600" cy="1325563"/>
          </a:xfrm>
        </p:spPr>
        <p:txBody>
          <a:bodyPr rtlCol="0">
            <a:normAutofit/>
          </a:bodyPr>
          <a:lstStyle/>
          <a:p>
            <a:pPr>
              <a:defRPr/>
            </a:pPr>
            <a:r>
              <a:rPr lang="en-US" sz="6000" b="1" dirty="0"/>
              <a:t>Syphilis</a:t>
            </a:r>
            <a:endParaRPr lang="en-CA" sz="6000" dirty="0"/>
          </a:p>
        </p:txBody>
      </p:sp>
      <p:sp>
        <p:nvSpPr>
          <p:cNvPr id="3" name="Content Placeholder 2">
            <a:extLst>
              <a:ext uri="{FF2B5EF4-FFF2-40B4-BE49-F238E27FC236}">
                <a16:creationId xmlns:a16="http://schemas.microsoft.com/office/drawing/2014/main" id="{4B76B004-E24D-314D-838E-EFFF2DE268AA}"/>
              </a:ext>
            </a:extLst>
          </p:cNvPr>
          <p:cNvSpPr>
            <a:spLocks noGrp="1"/>
          </p:cNvSpPr>
          <p:nvPr>
            <p:ph sz="half" idx="1"/>
          </p:nvPr>
        </p:nvSpPr>
        <p:spPr/>
        <p:txBody>
          <a:bodyPr rtlCol="0">
            <a:normAutofit fontScale="85000" lnSpcReduction="20000"/>
          </a:bodyPr>
          <a:lstStyle/>
          <a:p>
            <a:pPr marL="412750" indent="-342900">
              <a:defRPr/>
            </a:pPr>
            <a:r>
              <a:rPr lang="en-US" sz="2800" dirty="0"/>
              <a:t>Bacterial infection. </a:t>
            </a:r>
          </a:p>
          <a:p>
            <a:pPr marL="412750" indent="-342900">
              <a:defRPr/>
            </a:pPr>
            <a:r>
              <a:rPr lang="en-US" sz="2800" dirty="0"/>
              <a:t>Can cause serious damage to the body if not cured.</a:t>
            </a:r>
          </a:p>
          <a:p>
            <a:pPr marL="412750" indent="-342900">
              <a:defRPr/>
            </a:pPr>
            <a:r>
              <a:rPr lang="en-US" sz="2800" dirty="0"/>
              <a:t>Passed along by having unprotected oral, anal or vaginal sex.</a:t>
            </a:r>
          </a:p>
          <a:p>
            <a:pPr marL="412750" indent="-342900">
              <a:defRPr/>
            </a:pPr>
            <a:r>
              <a:rPr lang="en-US" sz="2800" dirty="0"/>
              <a:t>Condoms can help prevent the spread of syphilis.</a:t>
            </a:r>
          </a:p>
          <a:p>
            <a:pPr marL="412750" indent="-342900">
              <a:defRPr/>
            </a:pPr>
            <a:r>
              <a:rPr lang="en-US" sz="2800" dirty="0"/>
              <a:t>The infection can be cured with antibiotics.</a:t>
            </a:r>
          </a:p>
          <a:p>
            <a:pPr marL="412750" indent="-342900">
              <a:defRPr/>
            </a:pPr>
            <a:r>
              <a:rPr lang="en-AU" sz="2800" dirty="0"/>
              <a:t>There are 4 stages of syphilis infection: primary, secondary, latent and tertiary.</a:t>
            </a:r>
            <a:endParaRPr lang="en-US" sz="2800" dirty="0"/>
          </a:p>
          <a:p>
            <a:pPr marL="412750" indent="-342900">
              <a:defRPr/>
            </a:pPr>
            <a:r>
              <a:rPr lang="en-AU" sz="2800" dirty="0"/>
              <a:t>Symptoms vary depending on the stage.</a:t>
            </a:r>
          </a:p>
          <a:p>
            <a:pPr marL="412750" indent="-342900">
              <a:defRPr/>
            </a:pPr>
            <a:r>
              <a:rPr lang="en-AU" sz="2800" dirty="0"/>
              <a:t>Some people have no symptoms.</a:t>
            </a:r>
            <a:endParaRPr lang="en-US" sz="2800" dirty="0"/>
          </a:p>
          <a:p>
            <a:pPr marL="641350" indent="-571500">
              <a:buFont typeface="Arial" charset="0"/>
              <a:buChar char="•"/>
              <a:defRPr/>
            </a:pPr>
            <a:endParaRPr lang="en-US" sz="3500" dirty="0"/>
          </a:p>
          <a:p>
            <a:pPr marL="641350" indent="-571500">
              <a:buFont typeface="Arial" charset="0"/>
              <a:buChar char="•"/>
              <a:defRPr/>
            </a:pPr>
            <a:endParaRPr lang="en-US" i="1" dirty="0"/>
          </a:p>
          <a:p>
            <a:pPr algn="ctr">
              <a:buNone/>
              <a:defRPr/>
            </a:pPr>
            <a:endParaRPr lang="en-US" b="1" dirty="0">
              <a:solidFill>
                <a:schemeClr val="accent6"/>
              </a:solidFill>
            </a:endParaRPr>
          </a:p>
          <a:p>
            <a:pPr marL="69850" indent="0">
              <a:buNone/>
              <a:defRPr/>
            </a:pPr>
            <a:endParaRPr lang="en-US" b="1" dirty="0">
              <a:solidFill>
                <a:schemeClr val="accent6"/>
              </a:solidFill>
            </a:endParaRPr>
          </a:p>
          <a:p>
            <a:pPr>
              <a:defRPr/>
            </a:pPr>
            <a:endParaRPr lang="en-CA" dirty="0"/>
          </a:p>
        </p:txBody>
      </p:sp>
      <p:sp>
        <p:nvSpPr>
          <p:cNvPr id="5" name="Content Placeholder 4">
            <a:extLst>
              <a:ext uri="{FF2B5EF4-FFF2-40B4-BE49-F238E27FC236}">
                <a16:creationId xmlns:a16="http://schemas.microsoft.com/office/drawing/2014/main" id="{2CC7895E-A584-FB20-DBFC-29A6C93B206B}"/>
              </a:ext>
            </a:extLst>
          </p:cNvPr>
          <p:cNvSpPr>
            <a:spLocks noGrp="1"/>
          </p:cNvSpPr>
          <p:nvPr>
            <p:ph sz="half" idx="2"/>
          </p:nvPr>
        </p:nvSpPr>
        <p:spPr>
          <a:xfrm>
            <a:off x="6172199" y="1929383"/>
            <a:ext cx="5727357" cy="4656767"/>
          </a:xfrm>
        </p:spPr>
        <p:txBody>
          <a:bodyPr>
            <a:normAutofit fontScale="85000" lnSpcReduction="20000"/>
          </a:bodyPr>
          <a:lstStyle/>
          <a:p>
            <a:r>
              <a:rPr lang="en-AU" sz="3200" dirty="0"/>
              <a:t>Stage 1 = Primary</a:t>
            </a:r>
          </a:p>
          <a:p>
            <a:pPr lvl="1"/>
            <a:r>
              <a:rPr lang="en-AU" dirty="0"/>
              <a:t>Small, painless sores</a:t>
            </a:r>
          </a:p>
          <a:p>
            <a:r>
              <a:rPr lang="en-AU" dirty="0"/>
              <a:t>Stage 2 = Secondary</a:t>
            </a:r>
          </a:p>
          <a:p>
            <a:pPr lvl="1"/>
            <a:r>
              <a:rPr lang="en-AU" dirty="0"/>
              <a:t>Rash, hair loss, feeling sick, weight loss, muscle aches</a:t>
            </a:r>
          </a:p>
          <a:p>
            <a:r>
              <a:rPr lang="en-AU" sz="3200" dirty="0"/>
              <a:t>Stage 3 = Latent</a:t>
            </a:r>
          </a:p>
          <a:p>
            <a:pPr lvl="1"/>
            <a:r>
              <a:rPr lang="en-AU" dirty="0"/>
              <a:t>Lesions or rashes can recur but there may also be no visible signs or symptoms</a:t>
            </a:r>
          </a:p>
          <a:p>
            <a:r>
              <a:rPr lang="en-AU" dirty="0"/>
              <a:t>Stage 4 = Tertiary</a:t>
            </a:r>
          </a:p>
          <a:p>
            <a:pPr lvl="1"/>
            <a:r>
              <a:rPr lang="en-AU" dirty="0"/>
              <a:t>Can affect heart, blood vessels, brain, nervous system</a:t>
            </a:r>
          </a:p>
          <a:p>
            <a:pPr lvl="1"/>
            <a:r>
              <a:rPr lang="en-AU" dirty="0"/>
              <a:t>Would occur 10-30 years after initial infection</a:t>
            </a:r>
          </a:p>
          <a:p>
            <a:pPr lvl="1"/>
            <a:r>
              <a:rPr lang="en-AU" dirty="0"/>
              <a:t>Can result in death</a:t>
            </a:r>
          </a:p>
        </p:txBody>
      </p:sp>
      <p:sp>
        <p:nvSpPr>
          <p:cNvPr id="4" name="Rectangle 3">
            <a:extLst>
              <a:ext uri="{FF2B5EF4-FFF2-40B4-BE49-F238E27FC236}">
                <a16:creationId xmlns:a16="http://schemas.microsoft.com/office/drawing/2014/main" id="{47BF7545-3EF9-674D-9C04-8824EF5170E0}"/>
              </a:ext>
            </a:extLst>
          </p:cNvPr>
          <p:cNvSpPr/>
          <p:nvPr/>
        </p:nvSpPr>
        <p:spPr>
          <a:xfrm>
            <a:off x="740166" y="6158430"/>
            <a:ext cx="3065715" cy="523220"/>
          </a:xfrm>
          <a:prstGeom prst="rect">
            <a:avLst/>
          </a:prstGeom>
        </p:spPr>
        <p:txBody>
          <a:bodyPr wrap="square">
            <a:spAutoFit/>
          </a:bodyPr>
          <a:lstStyle/>
          <a:p>
            <a:pPr marL="69850" indent="0">
              <a:buNone/>
              <a:defRPr/>
            </a:pPr>
            <a:r>
              <a:rPr lang="en-US" sz="2800" b="1" i="1" dirty="0"/>
              <a:t>Remember Syphilis is CURABLE!</a:t>
            </a:r>
            <a:endParaRPr lang="en-US" sz="2800" b="1"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JN+ 在 Twitter 上：&amp;quot;1/2. Syphilis is treatable with antibiotics, especially in  the early stages. It does not resolve without treatment. In this post, we  explain the different stages of syphilis and whether">
            <a:extLst>
              <a:ext uri="{FF2B5EF4-FFF2-40B4-BE49-F238E27FC236}">
                <a16:creationId xmlns:a16="http://schemas.microsoft.com/office/drawing/2014/main" id="{F4825866-E00E-4F41-BCFD-B767856E14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533" y="139647"/>
            <a:ext cx="4803055" cy="4803055"/>
          </a:xfrm>
          <a:prstGeom prst="rect">
            <a:avLst/>
          </a:prstGeom>
          <a:noFill/>
          <a:ln w="57150">
            <a:solidFill>
              <a:schemeClr val="tx1"/>
            </a:solidFill>
          </a:ln>
          <a:extLst>
            <a:ext uri="{909E8E84-426E-40DD-AFC4-6F175D3DCCD1}">
              <a14:hiddenFill xmlns:a14="http://schemas.microsoft.com/office/drawing/2010/main">
                <a:solidFill>
                  <a:srgbClr val="FFFFFF"/>
                </a:solidFill>
              </a14:hiddenFill>
            </a:ext>
          </a:extLst>
        </p:spPr>
      </p:pic>
      <p:pic>
        <p:nvPicPr>
          <p:cNvPr id="69636" name="Picture 4" descr="JN+ no Twitter: &amp;quot;1/2. Syphilis is treatable with antibiotics, especially in  the early stages. It does not resolve without treatment. In this post, we  explain the different stages of syphilis and whether">
            <a:extLst>
              <a:ext uri="{FF2B5EF4-FFF2-40B4-BE49-F238E27FC236}">
                <a16:creationId xmlns:a16="http://schemas.microsoft.com/office/drawing/2014/main" id="{29D41B5F-0088-814A-A289-88310E42D0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8299" y="139646"/>
            <a:ext cx="4803055" cy="4803055"/>
          </a:xfrm>
          <a:prstGeom prst="rect">
            <a:avLst/>
          </a:prstGeom>
          <a:noFill/>
          <a:ln w="57150">
            <a:solidFill>
              <a:schemeClr val="tx1"/>
            </a:solidFill>
          </a:ln>
          <a:extLst>
            <a:ext uri="{909E8E84-426E-40DD-AFC4-6F175D3DCCD1}">
              <a14:hiddenFill xmlns:a14="http://schemas.microsoft.com/office/drawing/2010/main">
                <a:solidFill>
                  <a:srgbClr val="FFFFFF"/>
                </a:solidFill>
              </a14:hiddenFill>
            </a:ext>
          </a:extLst>
        </p:spPr>
      </p:pic>
      <p:pic>
        <p:nvPicPr>
          <p:cNvPr id="3" name="Picture 2" descr="Close-up of a tongue with a bumpy mark&#10;&#10;Description automatically generated">
            <a:extLst>
              <a:ext uri="{FF2B5EF4-FFF2-40B4-BE49-F238E27FC236}">
                <a16:creationId xmlns:a16="http://schemas.microsoft.com/office/drawing/2014/main" id="{83B2A149-DF08-BF43-0231-754E8299B99B}"/>
              </a:ext>
            </a:extLst>
          </p:cNvPr>
          <p:cNvPicPr>
            <a:picLocks noChangeAspect="1"/>
          </p:cNvPicPr>
          <p:nvPr/>
        </p:nvPicPr>
        <p:blipFill>
          <a:blip r:embed="rId5"/>
          <a:stretch>
            <a:fillRect/>
          </a:stretch>
        </p:blipFill>
        <p:spPr>
          <a:xfrm>
            <a:off x="10172385" y="947811"/>
            <a:ext cx="1879082" cy="1293132"/>
          </a:xfrm>
          <a:prstGeom prst="rect">
            <a:avLst/>
          </a:prstGeom>
        </p:spPr>
      </p:pic>
      <p:pic>
        <p:nvPicPr>
          <p:cNvPr id="5" name="Picture 4" descr="A close up of a tongue&#10;&#10;Description automatically generated">
            <a:extLst>
              <a:ext uri="{FF2B5EF4-FFF2-40B4-BE49-F238E27FC236}">
                <a16:creationId xmlns:a16="http://schemas.microsoft.com/office/drawing/2014/main" id="{A8690811-0762-0B61-12CD-FBA118113310}"/>
              </a:ext>
            </a:extLst>
          </p:cNvPr>
          <p:cNvPicPr>
            <a:picLocks noChangeAspect="1"/>
          </p:cNvPicPr>
          <p:nvPr/>
        </p:nvPicPr>
        <p:blipFill>
          <a:blip r:embed="rId6"/>
          <a:stretch>
            <a:fillRect/>
          </a:stretch>
        </p:blipFill>
        <p:spPr>
          <a:xfrm>
            <a:off x="1961504" y="5406251"/>
            <a:ext cx="1758806" cy="1191449"/>
          </a:xfrm>
          <a:prstGeom prst="rect">
            <a:avLst/>
          </a:prstGeom>
        </p:spPr>
      </p:pic>
      <p:pic>
        <p:nvPicPr>
          <p:cNvPr id="7" name="Picture 6" descr="A close-up of a person's hands&#10;&#10;Description automatically generated">
            <a:extLst>
              <a:ext uri="{FF2B5EF4-FFF2-40B4-BE49-F238E27FC236}">
                <a16:creationId xmlns:a16="http://schemas.microsoft.com/office/drawing/2014/main" id="{141EF3C4-FA67-1469-C5C5-3B11D8A3CACE}"/>
              </a:ext>
            </a:extLst>
          </p:cNvPr>
          <p:cNvPicPr>
            <a:picLocks noChangeAspect="1"/>
          </p:cNvPicPr>
          <p:nvPr/>
        </p:nvPicPr>
        <p:blipFill>
          <a:blip r:embed="rId7"/>
          <a:stretch>
            <a:fillRect/>
          </a:stretch>
        </p:blipFill>
        <p:spPr>
          <a:xfrm>
            <a:off x="5604742" y="5406250"/>
            <a:ext cx="1611962" cy="1191450"/>
          </a:xfrm>
          <a:prstGeom prst="rect">
            <a:avLst/>
          </a:prstGeom>
        </p:spPr>
      </p:pic>
      <p:pic>
        <p:nvPicPr>
          <p:cNvPr id="10" name="Picture 9" descr="A close-up of a foot&#10;&#10;Description automatically generated">
            <a:extLst>
              <a:ext uri="{FF2B5EF4-FFF2-40B4-BE49-F238E27FC236}">
                <a16:creationId xmlns:a16="http://schemas.microsoft.com/office/drawing/2014/main" id="{36CEA510-282F-0017-7C77-99D61A134E57}"/>
              </a:ext>
            </a:extLst>
          </p:cNvPr>
          <p:cNvPicPr>
            <a:picLocks noChangeAspect="1"/>
          </p:cNvPicPr>
          <p:nvPr/>
        </p:nvPicPr>
        <p:blipFill>
          <a:blip r:embed="rId8"/>
          <a:stretch>
            <a:fillRect/>
          </a:stretch>
        </p:blipFill>
        <p:spPr>
          <a:xfrm>
            <a:off x="7280165" y="5406249"/>
            <a:ext cx="1611962" cy="1178639"/>
          </a:xfrm>
          <a:prstGeom prst="rect">
            <a:avLst/>
          </a:prstGeom>
        </p:spPr>
      </p:pic>
      <p:pic>
        <p:nvPicPr>
          <p:cNvPr id="12" name="Picture 11" descr="A close-up of a person's chest&#10;&#10;Description automatically generated">
            <a:extLst>
              <a:ext uri="{FF2B5EF4-FFF2-40B4-BE49-F238E27FC236}">
                <a16:creationId xmlns:a16="http://schemas.microsoft.com/office/drawing/2014/main" id="{0B70938B-0110-4E8B-EB1D-FA76C2F66AC6}"/>
              </a:ext>
            </a:extLst>
          </p:cNvPr>
          <p:cNvPicPr>
            <a:picLocks noChangeAspect="1"/>
          </p:cNvPicPr>
          <p:nvPr/>
        </p:nvPicPr>
        <p:blipFill>
          <a:blip r:embed="rId9"/>
          <a:stretch>
            <a:fillRect/>
          </a:stretch>
        </p:blipFill>
        <p:spPr>
          <a:xfrm>
            <a:off x="3783771" y="5406250"/>
            <a:ext cx="1757510" cy="1196603"/>
          </a:xfrm>
          <a:prstGeom prst="rect">
            <a:avLst/>
          </a:prstGeom>
        </p:spPr>
      </p:pic>
      <p:pic>
        <p:nvPicPr>
          <p:cNvPr id="14" name="Picture 13" descr="A close-up of a condom&#10;&#10;Description automatically generated">
            <a:extLst>
              <a:ext uri="{FF2B5EF4-FFF2-40B4-BE49-F238E27FC236}">
                <a16:creationId xmlns:a16="http://schemas.microsoft.com/office/drawing/2014/main" id="{763F93F6-A3C9-C5BA-9179-5AAAFC36E8D1}"/>
              </a:ext>
            </a:extLst>
          </p:cNvPr>
          <p:cNvPicPr>
            <a:picLocks noChangeAspect="1"/>
          </p:cNvPicPr>
          <p:nvPr/>
        </p:nvPicPr>
        <p:blipFill>
          <a:blip r:embed="rId10"/>
          <a:stretch>
            <a:fillRect/>
          </a:stretch>
        </p:blipFill>
        <p:spPr>
          <a:xfrm>
            <a:off x="10172385" y="2325976"/>
            <a:ext cx="1879082" cy="1858657"/>
          </a:xfrm>
          <a:prstGeom prst="rect">
            <a:avLst/>
          </a:prstGeom>
        </p:spPr>
      </p:pic>
      <p:pic>
        <p:nvPicPr>
          <p:cNvPr id="16" name="Picture 15" descr="Close-up of a person's body&#10;&#10;Description automatically generated">
            <a:extLst>
              <a:ext uri="{FF2B5EF4-FFF2-40B4-BE49-F238E27FC236}">
                <a16:creationId xmlns:a16="http://schemas.microsoft.com/office/drawing/2014/main" id="{56693B3A-4A64-AB4B-9163-6BF4408FEF58}"/>
              </a:ext>
            </a:extLst>
          </p:cNvPr>
          <p:cNvPicPr>
            <a:picLocks noChangeAspect="1"/>
          </p:cNvPicPr>
          <p:nvPr/>
        </p:nvPicPr>
        <p:blipFill>
          <a:blip r:embed="rId11"/>
          <a:stretch>
            <a:fillRect/>
          </a:stretch>
        </p:blipFill>
        <p:spPr>
          <a:xfrm>
            <a:off x="10123308" y="4269666"/>
            <a:ext cx="2038517" cy="1409613"/>
          </a:xfrm>
          <a:prstGeom prst="rect">
            <a:avLst/>
          </a:prstGeom>
        </p:spPr>
      </p:pic>
      <p:sp>
        <p:nvSpPr>
          <p:cNvPr id="17" name="TextBox 16">
            <a:extLst>
              <a:ext uri="{FF2B5EF4-FFF2-40B4-BE49-F238E27FC236}">
                <a16:creationId xmlns:a16="http://schemas.microsoft.com/office/drawing/2014/main" id="{2F074EFD-87E1-E65D-6DA6-58F3208D2237}"/>
              </a:ext>
            </a:extLst>
          </p:cNvPr>
          <p:cNvSpPr txBox="1"/>
          <p:nvPr/>
        </p:nvSpPr>
        <p:spPr>
          <a:xfrm>
            <a:off x="10153483" y="363036"/>
            <a:ext cx="3013502" cy="584775"/>
          </a:xfrm>
          <a:prstGeom prst="rect">
            <a:avLst/>
          </a:prstGeom>
          <a:noFill/>
        </p:spPr>
        <p:txBody>
          <a:bodyPr wrap="square" rtlCol="0">
            <a:spAutoFit/>
          </a:bodyPr>
          <a:lstStyle/>
          <a:p>
            <a:r>
              <a:rPr lang="en-US" sz="3200" dirty="0"/>
              <a:t>Primary Stage:</a:t>
            </a:r>
          </a:p>
        </p:txBody>
      </p:sp>
      <p:sp>
        <p:nvSpPr>
          <p:cNvPr id="18" name="TextBox 17">
            <a:extLst>
              <a:ext uri="{FF2B5EF4-FFF2-40B4-BE49-F238E27FC236}">
                <a16:creationId xmlns:a16="http://schemas.microsoft.com/office/drawing/2014/main" id="{76417677-9457-1228-0152-F6D5F79C111C}"/>
              </a:ext>
            </a:extLst>
          </p:cNvPr>
          <p:cNvSpPr txBox="1"/>
          <p:nvPr/>
        </p:nvSpPr>
        <p:spPr>
          <a:xfrm>
            <a:off x="140533" y="5581654"/>
            <a:ext cx="3013502" cy="584775"/>
          </a:xfrm>
          <a:prstGeom prst="rect">
            <a:avLst/>
          </a:prstGeom>
          <a:noFill/>
        </p:spPr>
        <p:txBody>
          <a:bodyPr wrap="square" rtlCol="0">
            <a:spAutoFit/>
          </a:bodyPr>
          <a:lstStyle/>
          <a:p>
            <a:r>
              <a:rPr lang="en-US" sz="3200" dirty="0"/>
              <a:t>Secondary Stage:</a:t>
            </a:r>
          </a:p>
        </p:txBody>
      </p:sp>
    </p:spTree>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0A3DB-A24F-0D4F-8423-0ED11A163E6F}"/>
              </a:ext>
            </a:extLst>
          </p:cNvPr>
          <p:cNvSpPr>
            <a:spLocks noGrp="1"/>
          </p:cNvSpPr>
          <p:nvPr>
            <p:ph type="title"/>
          </p:nvPr>
        </p:nvSpPr>
        <p:spPr/>
        <p:txBody>
          <a:bodyPr rtlCol="0">
            <a:normAutofit/>
          </a:bodyPr>
          <a:lstStyle/>
          <a:p>
            <a:pPr>
              <a:defRPr/>
            </a:pPr>
            <a:r>
              <a:rPr lang="en-US" sz="5400" b="1" dirty="0"/>
              <a:t>Herpes Simplex Virus (HSV 1 + 2)</a:t>
            </a:r>
            <a:endParaRPr lang="en-CA" sz="5400" dirty="0"/>
          </a:p>
        </p:txBody>
      </p:sp>
      <p:sp>
        <p:nvSpPr>
          <p:cNvPr id="3" name="Content Placeholder 2">
            <a:extLst>
              <a:ext uri="{FF2B5EF4-FFF2-40B4-BE49-F238E27FC236}">
                <a16:creationId xmlns:a16="http://schemas.microsoft.com/office/drawing/2014/main" id="{E881DFBE-3F71-B14D-96BA-474A8C8109B9}"/>
              </a:ext>
            </a:extLst>
          </p:cNvPr>
          <p:cNvSpPr>
            <a:spLocks noGrp="1"/>
          </p:cNvSpPr>
          <p:nvPr>
            <p:ph sz="half" idx="1"/>
          </p:nvPr>
        </p:nvSpPr>
        <p:spPr>
          <a:xfrm>
            <a:off x="838200" y="1929383"/>
            <a:ext cx="5181600" cy="4780335"/>
          </a:xfrm>
        </p:spPr>
        <p:txBody>
          <a:bodyPr rtlCol="0">
            <a:normAutofit fontScale="62500" lnSpcReduction="20000"/>
          </a:bodyPr>
          <a:lstStyle/>
          <a:p>
            <a:pPr marL="641350" indent="-571500">
              <a:buFont typeface="Arial" charset="0"/>
              <a:buChar char="•"/>
              <a:defRPr/>
            </a:pPr>
            <a:r>
              <a:rPr lang="en-US" sz="4000" dirty="0"/>
              <a:t>Two types of Herpes Simplex Virus (HSV).</a:t>
            </a:r>
          </a:p>
          <a:p>
            <a:pPr marL="1555750" lvl="2" indent="-571500">
              <a:buFont typeface="+mj-lt"/>
              <a:buAutoNum type="arabicPeriod"/>
              <a:defRPr/>
            </a:pPr>
            <a:r>
              <a:rPr lang="en-US" sz="3200" dirty="0"/>
              <a:t>HSV 1 = causing cold sores</a:t>
            </a:r>
          </a:p>
          <a:p>
            <a:pPr marL="1555750" lvl="2" indent="-571500">
              <a:buFont typeface="+mj-lt"/>
              <a:buAutoNum type="arabicPeriod"/>
              <a:defRPr/>
            </a:pPr>
            <a:r>
              <a:rPr lang="en-US" sz="3200" dirty="0"/>
              <a:t>HSV 2 = causes genital herpes</a:t>
            </a:r>
          </a:p>
          <a:p>
            <a:pPr marL="641350" indent="-571500">
              <a:defRPr/>
            </a:pPr>
            <a:r>
              <a:rPr lang="en-US" sz="4000" dirty="0"/>
              <a:t>Viral infection causing outbreaks of painful sores and blisters.</a:t>
            </a:r>
          </a:p>
          <a:p>
            <a:pPr marL="641350" indent="-571500">
              <a:defRPr/>
            </a:pPr>
            <a:r>
              <a:rPr lang="en-US" sz="4000" dirty="0"/>
              <a:t>Passed along by having unprotected oral, anal or vaginal sex with an infected partner, or kissing.</a:t>
            </a:r>
          </a:p>
          <a:p>
            <a:pPr marL="641350" indent="-571500">
              <a:defRPr/>
            </a:pPr>
            <a:r>
              <a:rPr lang="en-US" sz="4000" dirty="0"/>
              <a:t>There is NO cure.</a:t>
            </a:r>
          </a:p>
          <a:p>
            <a:pPr marL="641350" indent="-571500">
              <a:defRPr/>
            </a:pPr>
            <a:r>
              <a:rPr lang="en-US" sz="4000" dirty="0"/>
              <a:t>Symptoms can be managed with medication. </a:t>
            </a:r>
          </a:p>
          <a:p>
            <a:pPr marL="641350" indent="-571500">
              <a:defRPr/>
            </a:pPr>
            <a:r>
              <a:rPr lang="en-US" sz="4000" dirty="0"/>
              <a:t>Virus can lay dormant in your body and recur at different times</a:t>
            </a:r>
            <a:r>
              <a:rPr lang="en-US" dirty="0"/>
              <a:t>. </a:t>
            </a:r>
          </a:p>
          <a:p>
            <a:pPr marL="641350" indent="-571500">
              <a:defRPr/>
            </a:pPr>
            <a:endParaRPr lang="en-US" dirty="0"/>
          </a:p>
          <a:p>
            <a:pPr marL="641350" indent="-571500">
              <a:defRPr/>
            </a:pPr>
            <a:endParaRPr lang="en-US" dirty="0"/>
          </a:p>
          <a:p>
            <a:pPr marL="641350" indent="-571500">
              <a:buFont typeface="Arial" charset="0"/>
              <a:buChar char="•"/>
              <a:defRPr/>
            </a:pPr>
            <a:endParaRPr lang="en-US" dirty="0"/>
          </a:p>
          <a:p>
            <a:pPr algn="ctr">
              <a:buNone/>
              <a:defRPr/>
            </a:pPr>
            <a:endParaRPr lang="en-US" i="1" dirty="0"/>
          </a:p>
          <a:p>
            <a:pPr algn="ctr">
              <a:buNone/>
              <a:defRPr/>
            </a:pPr>
            <a:endParaRPr lang="en-US" b="1" dirty="0">
              <a:solidFill>
                <a:schemeClr val="accent6"/>
              </a:solidFill>
            </a:endParaRPr>
          </a:p>
          <a:p>
            <a:pPr marL="69850" indent="0">
              <a:buNone/>
              <a:defRPr/>
            </a:pPr>
            <a:endParaRPr lang="en-US" b="1" dirty="0">
              <a:solidFill>
                <a:schemeClr val="accent6"/>
              </a:solidFill>
            </a:endParaRPr>
          </a:p>
          <a:p>
            <a:pPr>
              <a:defRPr/>
            </a:pPr>
            <a:endParaRPr lang="en-CA" dirty="0"/>
          </a:p>
        </p:txBody>
      </p:sp>
      <p:sp>
        <p:nvSpPr>
          <p:cNvPr id="7" name="Content Placeholder 6">
            <a:extLst>
              <a:ext uri="{FF2B5EF4-FFF2-40B4-BE49-F238E27FC236}">
                <a16:creationId xmlns:a16="http://schemas.microsoft.com/office/drawing/2014/main" id="{C3B02118-004F-C47B-DF25-CCB3A2991C7E}"/>
              </a:ext>
            </a:extLst>
          </p:cNvPr>
          <p:cNvSpPr>
            <a:spLocks noGrp="1"/>
          </p:cNvSpPr>
          <p:nvPr>
            <p:ph sz="half" idx="2"/>
          </p:nvPr>
        </p:nvSpPr>
        <p:spPr/>
        <p:txBody>
          <a:bodyPr>
            <a:noAutofit/>
          </a:bodyPr>
          <a:lstStyle/>
          <a:p>
            <a:r>
              <a:rPr lang="en-US" sz="2600" dirty="0"/>
              <a:t>Signs &amp; Symptoms:</a:t>
            </a:r>
          </a:p>
          <a:p>
            <a:pPr lvl="1"/>
            <a:r>
              <a:rPr lang="en-US" altLang="en-US" sz="2600" dirty="0"/>
              <a:t>Prior to an outbreak, the person may feel a tingling or burning sensation where the virus first entered the skin</a:t>
            </a:r>
          </a:p>
          <a:p>
            <a:pPr lvl="1"/>
            <a:r>
              <a:rPr lang="en-US" altLang="en-US" sz="2600" dirty="0"/>
              <a:t>Painful sores (external or internal)</a:t>
            </a:r>
          </a:p>
          <a:p>
            <a:pPr lvl="1"/>
            <a:r>
              <a:rPr lang="en-US" altLang="en-US" sz="2600" dirty="0"/>
              <a:t>Inflammation and redness</a:t>
            </a:r>
          </a:p>
          <a:p>
            <a:pPr lvl="1"/>
            <a:r>
              <a:rPr lang="en-US" altLang="en-US" sz="2600" dirty="0"/>
              <a:t>Fever</a:t>
            </a:r>
          </a:p>
          <a:p>
            <a:pPr lvl="1"/>
            <a:r>
              <a:rPr lang="en-US" altLang="en-US" sz="2600" dirty="0"/>
              <a:t>Muscular pain</a:t>
            </a:r>
          </a:p>
          <a:p>
            <a:pPr lvl="1"/>
            <a:r>
              <a:rPr lang="en-US" altLang="en-US" sz="2600" dirty="0"/>
              <a:t>Tender lymph nodes</a:t>
            </a:r>
            <a:endParaRPr lang="en-US" sz="2600" dirty="0"/>
          </a:p>
        </p:txBody>
      </p:sp>
    </p:spTree>
    <p:extLst>
      <p:ext uri="{BB962C8B-B14F-4D97-AF65-F5344CB8AC3E}">
        <p14:creationId xmlns:p14="http://schemas.microsoft.com/office/powerpoint/2010/main" val="202405959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00D435-CE6E-4476-CAAB-405D39B19EE3}"/>
              </a:ext>
            </a:extLst>
          </p:cNvPr>
          <p:cNvSpPr>
            <a:spLocks noGrp="1"/>
          </p:cNvSpPr>
          <p:nvPr>
            <p:ph sz="half" idx="4294967295"/>
          </p:nvPr>
        </p:nvSpPr>
        <p:spPr>
          <a:xfrm>
            <a:off x="254345" y="456169"/>
            <a:ext cx="5181600" cy="4252912"/>
          </a:xfrm>
        </p:spPr>
        <p:txBody>
          <a:bodyPr>
            <a:normAutofit/>
          </a:bodyPr>
          <a:lstStyle/>
          <a:p>
            <a:pPr marL="0" indent="0">
              <a:buNone/>
            </a:pPr>
            <a:r>
              <a:rPr lang="en-US" sz="4400" dirty="0"/>
              <a:t>HSV 1</a:t>
            </a:r>
          </a:p>
        </p:txBody>
      </p:sp>
      <p:sp>
        <p:nvSpPr>
          <p:cNvPr id="4" name="Content Placeholder 3">
            <a:extLst>
              <a:ext uri="{FF2B5EF4-FFF2-40B4-BE49-F238E27FC236}">
                <a16:creationId xmlns:a16="http://schemas.microsoft.com/office/drawing/2014/main" id="{37445529-82E9-6423-0605-55A0E61E514D}"/>
              </a:ext>
            </a:extLst>
          </p:cNvPr>
          <p:cNvSpPr>
            <a:spLocks noGrp="1"/>
          </p:cNvSpPr>
          <p:nvPr>
            <p:ph sz="half" idx="4294967295"/>
          </p:nvPr>
        </p:nvSpPr>
        <p:spPr>
          <a:xfrm>
            <a:off x="6172200" y="456169"/>
            <a:ext cx="5181600" cy="4252912"/>
          </a:xfrm>
        </p:spPr>
        <p:txBody>
          <a:bodyPr>
            <a:normAutofit/>
          </a:bodyPr>
          <a:lstStyle/>
          <a:p>
            <a:pPr marL="0" indent="0">
              <a:buNone/>
            </a:pPr>
            <a:r>
              <a:rPr lang="en-US" sz="4400" dirty="0"/>
              <a:t>HSV 2 (genital)</a:t>
            </a:r>
          </a:p>
        </p:txBody>
      </p:sp>
      <p:pic>
        <p:nvPicPr>
          <p:cNvPr id="11266" name="Picture 2" descr="How Contagious Is HSV-1 Genitally?">
            <a:hlinkClick r:id="rId2"/>
            <a:extLst>
              <a:ext uri="{FF2B5EF4-FFF2-40B4-BE49-F238E27FC236}">
                <a16:creationId xmlns:a16="http://schemas.microsoft.com/office/drawing/2014/main" id="{EA456343-4274-6F3B-1E9E-4FFD024C24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345" y="1312563"/>
            <a:ext cx="3174655" cy="2116437"/>
          </a:xfrm>
          <a:prstGeom prst="rect">
            <a:avLst/>
          </a:prstGeom>
          <a:noFill/>
          <a:extLst>
            <a:ext uri="{909E8E84-426E-40DD-AFC4-6F175D3DCCD1}">
              <a14:hiddenFill xmlns:a14="http://schemas.microsoft.com/office/drawing/2010/main">
                <a:solidFill>
                  <a:srgbClr val="FFFFFF"/>
                </a:solidFill>
              </a14:hiddenFill>
            </a:ext>
          </a:extLst>
        </p:spPr>
      </p:pic>
      <p:pic>
        <p:nvPicPr>
          <p:cNvPr id="11269" name="Picture 5" descr="HSV-1 and HSV-2: What You Need To Know - PHOENIX | Rise Again">
            <a:extLst>
              <a:ext uri="{FF2B5EF4-FFF2-40B4-BE49-F238E27FC236}">
                <a16:creationId xmlns:a16="http://schemas.microsoft.com/office/drawing/2014/main" id="{A0CDDC89-BE13-D3B6-A530-3D88739A40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6799" y="3793057"/>
            <a:ext cx="3583001" cy="238866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 descr="H:\Clinical services\STD's\pictures\HSV_1.jpg">
            <a:extLst>
              <a:ext uri="{FF2B5EF4-FFF2-40B4-BE49-F238E27FC236}">
                <a16:creationId xmlns:a16="http://schemas.microsoft.com/office/drawing/2014/main" id="{3171F090-E918-3B1D-EFF9-9B673490A9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34099" y="1363899"/>
            <a:ext cx="3734317" cy="2429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7" descr="file:///D:/Sandy%20Duncan/%2300019.jpg">
            <a:extLst>
              <a:ext uri="{FF2B5EF4-FFF2-40B4-BE49-F238E27FC236}">
                <a16:creationId xmlns:a16="http://schemas.microsoft.com/office/drawing/2014/main" id="{AA05E304-8AA6-584C-0A6B-860705459881}"/>
              </a:ext>
            </a:extLst>
          </p:cNvPr>
          <p:cNvPicPr>
            <a:picLocks noChangeAspect="1" noChangeArrowheads="1"/>
          </p:cNvPicPr>
          <p:nvPr/>
        </p:nvPicPr>
        <p:blipFill>
          <a:blip r:embed="rId6" r:link="rId7">
            <a:extLst>
              <a:ext uri="{28A0092B-C50C-407E-A947-70E740481C1C}">
                <a14:useLocalDpi xmlns:a14="http://schemas.microsoft.com/office/drawing/2010/main" val="0"/>
              </a:ext>
            </a:extLst>
          </a:blip>
          <a:srcRect/>
          <a:stretch>
            <a:fillRect/>
          </a:stretch>
        </p:blipFill>
        <p:spPr>
          <a:xfrm>
            <a:off x="7799176" y="4006968"/>
            <a:ext cx="3936398" cy="2593024"/>
          </a:xfrm>
          <a:prstGeom prst="rect">
            <a:avLst/>
          </a:prstGeom>
        </p:spPr>
      </p:pic>
    </p:spTree>
    <p:extLst>
      <p:ext uri="{BB962C8B-B14F-4D97-AF65-F5344CB8AC3E}">
        <p14:creationId xmlns:p14="http://schemas.microsoft.com/office/powerpoint/2010/main" val="910877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2230D-49DB-3B46-B0A3-A8EB17917386}"/>
              </a:ext>
            </a:extLst>
          </p:cNvPr>
          <p:cNvSpPr>
            <a:spLocks noGrp="1"/>
          </p:cNvSpPr>
          <p:nvPr>
            <p:ph type="title"/>
          </p:nvPr>
        </p:nvSpPr>
        <p:spPr/>
        <p:txBody>
          <a:bodyPr/>
          <a:lstStyle/>
          <a:p>
            <a:r>
              <a:rPr lang="en-US" dirty="0"/>
              <a:t>Human </a:t>
            </a:r>
            <a:r>
              <a:rPr lang="en-US" dirty="0" err="1"/>
              <a:t>Papilomavirus</a:t>
            </a:r>
            <a:r>
              <a:rPr lang="en-US" dirty="0"/>
              <a:t> (HPV) / Genital Warts</a:t>
            </a:r>
          </a:p>
        </p:txBody>
      </p:sp>
      <p:sp>
        <p:nvSpPr>
          <p:cNvPr id="3" name="Content Placeholder 2">
            <a:extLst>
              <a:ext uri="{FF2B5EF4-FFF2-40B4-BE49-F238E27FC236}">
                <a16:creationId xmlns:a16="http://schemas.microsoft.com/office/drawing/2014/main" id="{96A59C37-0B16-FD26-53F9-769CD35A9686}"/>
              </a:ext>
            </a:extLst>
          </p:cNvPr>
          <p:cNvSpPr>
            <a:spLocks noGrp="1"/>
          </p:cNvSpPr>
          <p:nvPr>
            <p:ph idx="1"/>
          </p:nvPr>
        </p:nvSpPr>
        <p:spPr/>
        <p:txBody>
          <a:bodyPr/>
          <a:lstStyle/>
          <a:p>
            <a:r>
              <a:rPr lang="en-US" dirty="0"/>
              <a:t>Viral infection.</a:t>
            </a:r>
          </a:p>
          <a:p>
            <a:r>
              <a:rPr lang="en-US" dirty="0"/>
              <a:t>Spread through skin-to–skin contact, even if there are no symptoms, or through unprotected vaginal, anal or oral sex.</a:t>
            </a:r>
          </a:p>
          <a:p>
            <a:r>
              <a:rPr lang="en-US" dirty="0"/>
              <a:t>Can also be passed from mother to baby during childbirth.</a:t>
            </a:r>
          </a:p>
          <a:p>
            <a:r>
              <a:rPr lang="en-US" dirty="0"/>
              <a:t>Many different types – some can cause warts (non-cancerous), and some can cause cancers.</a:t>
            </a:r>
          </a:p>
          <a:p>
            <a:r>
              <a:rPr lang="en-US" dirty="0"/>
              <a:t>Sometimes there are no symptoms, other times it causes genital warts, pain during sex, itchiness or painless warts.</a:t>
            </a:r>
          </a:p>
          <a:p>
            <a:r>
              <a:rPr lang="en-US" dirty="0"/>
              <a:t>Vaccine available.</a:t>
            </a:r>
          </a:p>
          <a:p>
            <a:r>
              <a:rPr lang="en-US" dirty="0"/>
              <a:t>Warts treatment can include freezing, cutting, burning or zapping.</a:t>
            </a:r>
          </a:p>
        </p:txBody>
      </p:sp>
    </p:spTree>
    <p:extLst>
      <p:ext uri="{BB962C8B-B14F-4D97-AF65-F5344CB8AC3E}">
        <p14:creationId xmlns:p14="http://schemas.microsoft.com/office/powerpoint/2010/main" val="8283468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6">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4" name="Rectangle 13">
            <a:extLst>
              <a:ext uri="{FF2B5EF4-FFF2-40B4-BE49-F238E27FC236}">
                <a16:creationId xmlns:a16="http://schemas.microsoft.com/office/drawing/2014/main" id="{B6ECEE03-918F-43ED-A7B3-F1BDE3FCE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32230D-49DB-3B46-B0A3-A8EB17917386}"/>
              </a:ext>
            </a:extLst>
          </p:cNvPr>
          <p:cNvSpPr>
            <a:spLocks noGrp="1"/>
          </p:cNvSpPr>
          <p:nvPr>
            <p:ph type="title"/>
          </p:nvPr>
        </p:nvSpPr>
        <p:spPr>
          <a:xfrm>
            <a:off x="838200" y="400051"/>
            <a:ext cx="10515600" cy="1270232"/>
          </a:xfrm>
        </p:spPr>
        <p:txBody>
          <a:bodyPr vert="horz" lIns="91440" tIns="45720" rIns="91440" bIns="45720" rtlCol="0" anchor="b">
            <a:normAutofit/>
          </a:bodyPr>
          <a:lstStyle/>
          <a:p>
            <a:pPr algn="ctr"/>
            <a:r>
              <a:rPr lang="en-US" sz="6600"/>
              <a:t>Human Papilomavirus (HPV) / Genital Warts</a:t>
            </a:r>
          </a:p>
        </p:txBody>
      </p:sp>
      <p:pic>
        <p:nvPicPr>
          <p:cNvPr id="4" name="Picture 9" descr="D:\Sandy Duncan\#00014.jpg">
            <a:extLst>
              <a:ext uri="{FF2B5EF4-FFF2-40B4-BE49-F238E27FC236}">
                <a16:creationId xmlns:a16="http://schemas.microsoft.com/office/drawing/2014/main" id="{9D7104B5-CD86-4FB5-DCCA-4252F2F3CA37}"/>
              </a:ext>
            </a:extLst>
          </p:cNvPr>
          <p:cNvPicPr>
            <a:picLocks noChangeAspect="1" noChangeArrowheads="1"/>
          </p:cNvPicPr>
          <p:nvPr/>
        </p:nvPicPr>
        <p:blipFill rotWithShape="1">
          <a:blip r:embed="rId3" r:link="rId4">
            <a:extLst>
              <a:ext uri="{28A0092B-C50C-407E-A947-70E740481C1C}">
                <a14:useLocalDpi xmlns:a14="http://schemas.microsoft.com/office/drawing/2010/main" val="0"/>
              </a:ext>
            </a:extLst>
          </a:blip>
          <a:srcRect l="10133" r="26084" b="2"/>
          <a:stretch>
            <a:fillRect/>
          </a:stretch>
        </p:blipFill>
        <p:spPr>
          <a:xfrm>
            <a:off x="510365" y="2604527"/>
            <a:ext cx="3524888" cy="3647338"/>
          </a:xfrm>
          <a:custGeom>
            <a:avLst/>
            <a:gdLst/>
            <a:ahLst/>
            <a:cxnLst/>
            <a:rect l="l" t="t" r="r" b="b"/>
            <a:pathLst>
              <a:path w="3524888" h="3647338">
                <a:moveTo>
                  <a:pt x="887181" y="60"/>
                </a:moveTo>
                <a:cubicBezTo>
                  <a:pt x="945946" y="-443"/>
                  <a:pt x="1004683" y="2214"/>
                  <a:pt x="1063120" y="9535"/>
                </a:cubicBezTo>
                <a:cubicBezTo>
                  <a:pt x="1192553" y="25206"/>
                  <a:pt x="1324035" y="29312"/>
                  <a:pt x="1454772" y="21769"/>
                </a:cubicBezTo>
                <a:cubicBezTo>
                  <a:pt x="1583729" y="15160"/>
                  <a:pt x="1712924" y="14714"/>
                  <a:pt x="1842239" y="16589"/>
                </a:cubicBezTo>
                <a:cubicBezTo>
                  <a:pt x="1958874" y="18285"/>
                  <a:pt x="2075629" y="18018"/>
                  <a:pt x="2192264" y="13196"/>
                </a:cubicBezTo>
                <a:cubicBezTo>
                  <a:pt x="2323253" y="7660"/>
                  <a:pt x="2454242" y="2928"/>
                  <a:pt x="2585114" y="13911"/>
                </a:cubicBezTo>
                <a:cubicBezTo>
                  <a:pt x="2699008" y="24482"/>
                  <a:pt x="2813668" y="29758"/>
                  <a:pt x="2928437" y="29714"/>
                </a:cubicBezTo>
                <a:cubicBezTo>
                  <a:pt x="3080601" y="28464"/>
                  <a:pt x="3232406" y="19625"/>
                  <a:pt x="3384330" y="14536"/>
                </a:cubicBezTo>
                <a:lnTo>
                  <a:pt x="3481468" y="12130"/>
                </a:lnTo>
                <a:lnTo>
                  <a:pt x="3481325" y="16098"/>
                </a:lnTo>
                <a:lnTo>
                  <a:pt x="3493308" y="84630"/>
                </a:lnTo>
                <a:lnTo>
                  <a:pt x="3493318" y="92959"/>
                </a:lnTo>
                <a:cubicBezTo>
                  <a:pt x="3495695" y="161085"/>
                  <a:pt x="3501168" y="229143"/>
                  <a:pt x="3512114" y="297090"/>
                </a:cubicBezTo>
                <a:cubicBezTo>
                  <a:pt x="3519231" y="340796"/>
                  <a:pt x="3524136" y="384681"/>
                  <a:pt x="3524809" y="428543"/>
                </a:cubicBezTo>
                <a:cubicBezTo>
                  <a:pt x="3525482" y="472405"/>
                  <a:pt x="3521924" y="516245"/>
                  <a:pt x="3512114" y="559861"/>
                </a:cubicBezTo>
                <a:cubicBezTo>
                  <a:pt x="3491119" y="656469"/>
                  <a:pt x="3485618" y="754605"/>
                  <a:pt x="3495724" y="852186"/>
                </a:cubicBezTo>
                <a:cubicBezTo>
                  <a:pt x="3504578" y="948437"/>
                  <a:pt x="3505176" y="1044867"/>
                  <a:pt x="3502664" y="1141386"/>
                </a:cubicBezTo>
                <a:cubicBezTo>
                  <a:pt x="3500391" y="1228440"/>
                  <a:pt x="3500750" y="1315584"/>
                  <a:pt x="3507210" y="1402639"/>
                </a:cubicBezTo>
                <a:cubicBezTo>
                  <a:pt x="3514626" y="1500407"/>
                  <a:pt x="3520966" y="1598176"/>
                  <a:pt x="3506252" y="1695857"/>
                </a:cubicBezTo>
                <a:cubicBezTo>
                  <a:pt x="3492089" y="1780866"/>
                  <a:pt x="3485019" y="1866447"/>
                  <a:pt x="3485079" y="1952109"/>
                </a:cubicBezTo>
                <a:cubicBezTo>
                  <a:pt x="3486753" y="2065682"/>
                  <a:pt x="3498595" y="2178986"/>
                  <a:pt x="3505415" y="2292381"/>
                </a:cubicBezTo>
                <a:cubicBezTo>
                  <a:pt x="3514746" y="2447918"/>
                  <a:pt x="3522761" y="2603544"/>
                  <a:pt x="3508406" y="2759171"/>
                </a:cubicBezTo>
                <a:cubicBezTo>
                  <a:pt x="3497997" y="2866762"/>
                  <a:pt x="3488427" y="2974352"/>
                  <a:pt x="3496442" y="3082389"/>
                </a:cubicBezTo>
                <a:cubicBezTo>
                  <a:pt x="3502066" y="3158639"/>
                  <a:pt x="3510200" y="3234980"/>
                  <a:pt x="3504816" y="3311409"/>
                </a:cubicBezTo>
                <a:lnTo>
                  <a:pt x="3500655" y="3407763"/>
                </a:lnTo>
                <a:lnTo>
                  <a:pt x="3500528" y="3407763"/>
                </a:lnTo>
                <a:lnTo>
                  <a:pt x="3500186" y="3418624"/>
                </a:lnTo>
                <a:lnTo>
                  <a:pt x="3498431" y="3459279"/>
                </a:lnTo>
                <a:lnTo>
                  <a:pt x="3498786" y="3476530"/>
                </a:lnTo>
                <a:lnTo>
                  <a:pt x="3500070" y="3476530"/>
                </a:lnTo>
                <a:lnTo>
                  <a:pt x="3504922" y="3592711"/>
                </a:lnTo>
                <a:lnTo>
                  <a:pt x="3504733" y="3642505"/>
                </a:lnTo>
                <a:lnTo>
                  <a:pt x="3344090" y="3645620"/>
                </a:lnTo>
                <a:cubicBezTo>
                  <a:pt x="3179267" y="3652578"/>
                  <a:pt x="3015642" y="3636699"/>
                  <a:pt x="2851776" y="3628492"/>
                </a:cubicBezTo>
                <a:cubicBezTo>
                  <a:pt x="2716167" y="3622675"/>
                  <a:pt x="2580186" y="3623335"/>
                  <a:pt x="2444683" y="3630454"/>
                </a:cubicBezTo>
                <a:cubicBezTo>
                  <a:pt x="2220221" y="3640802"/>
                  <a:pt x="1995758" y="3642229"/>
                  <a:pt x="1771055" y="3636431"/>
                </a:cubicBezTo>
                <a:cubicBezTo>
                  <a:pt x="1659183" y="3633576"/>
                  <a:pt x="1547429" y="3634736"/>
                  <a:pt x="1435676" y="3638305"/>
                </a:cubicBezTo>
                <a:cubicBezTo>
                  <a:pt x="1179420" y="3646601"/>
                  <a:pt x="923403" y="3637323"/>
                  <a:pt x="667265" y="3634558"/>
                </a:cubicBezTo>
                <a:cubicBezTo>
                  <a:pt x="569736" y="3633488"/>
                  <a:pt x="472205" y="3633665"/>
                  <a:pt x="374794" y="3637679"/>
                </a:cubicBezTo>
                <a:cubicBezTo>
                  <a:pt x="264415" y="3642140"/>
                  <a:pt x="154036" y="3643412"/>
                  <a:pt x="43657" y="3642932"/>
                </a:cubicBezTo>
                <a:lnTo>
                  <a:pt x="11965" y="3642429"/>
                </a:lnTo>
                <a:lnTo>
                  <a:pt x="24360" y="3479541"/>
                </a:lnTo>
                <a:cubicBezTo>
                  <a:pt x="26194" y="3423392"/>
                  <a:pt x="25594" y="3367189"/>
                  <a:pt x="22559" y="3311038"/>
                </a:cubicBezTo>
                <a:cubicBezTo>
                  <a:pt x="16343" y="3197955"/>
                  <a:pt x="-628" y="3084971"/>
                  <a:pt x="13594" y="2971689"/>
                </a:cubicBezTo>
                <a:cubicBezTo>
                  <a:pt x="38335" y="2776712"/>
                  <a:pt x="12519" y="2582431"/>
                  <a:pt x="4272" y="2387950"/>
                </a:cubicBezTo>
                <a:cubicBezTo>
                  <a:pt x="-3262" y="2237604"/>
                  <a:pt x="2250" y="2086990"/>
                  <a:pt x="20765" y="1937298"/>
                </a:cubicBezTo>
                <a:cubicBezTo>
                  <a:pt x="38958" y="1790576"/>
                  <a:pt x="37113" y="1642627"/>
                  <a:pt x="15268" y="1496252"/>
                </a:cubicBezTo>
                <a:cubicBezTo>
                  <a:pt x="7718" y="1430798"/>
                  <a:pt x="7400" y="1364898"/>
                  <a:pt x="14311" y="1299395"/>
                </a:cubicBezTo>
                <a:cubicBezTo>
                  <a:pt x="22640" y="1195064"/>
                  <a:pt x="20682" y="1090348"/>
                  <a:pt x="8455" y="986285"/>
                </a:cubicBezTo>
                <a:cubicBezTo>
                  <a:pt x="-8159" y="849535"/>
                  <a:pt x="3794" y="712390"/>
                  <a:pt x="9890" y="575540"/>
                </a:cubicBezTo>
                <a:cubicBezTo>
                  <a:pt x="14432" y="472556"/>
                  <a:pt x="17180" y="369671"/>
                  <a:pt x="12878" y="266688"/>
                </a:cubicBezTo>
                <a:lnTo>
                  <a:pt x="14418" y="21931"/>
                </a:lnTo>
                <a:lnTo>
                  <a:pt x="163536" y="23733"/>
                </a:lnTo>
                <a:cubicBezTo>
                  <a:pt x="346324" y="25875"/>
                  <a:pt x="528992" y="25875"/>
                  <a:pt x="711062" y="9535"/>
                </a:cubicBezTo>
                <a:cubicBezTo>
                  <a:pt x="769619" y="4223"/>
                  <a:pt x="828415" y="562"/>
                  <a:pt x="887181" y="60"/>
                </a:cubicBezTo>
                <a:close/>
              </a:path>
            </a:pathLst>
          </a:custGeom>
        </p:spPr>
      </p:pic>
      <p:pic>
        <p:nvPicPr>
          <p:cNvPr id="7" name="Picture 7" descr="D:\Sandy Duncan\#00012.jpg">
            <a:extLst>
              <a:ext uri="{FF2B5EF4-FFF2-40B4-BE49-F238E27FC236}">
                <a16:creationId xmlns:a16="http://schemas.microsoft.com/office/drawing/2014/main" id="{9031A553-7418-42B9-F48F-66C63122D0E8}"/>
              </a:ext>
            </a:extLst>
          </p:cNvPr>
          <p:cNvPicPr>
            <a:picLocks noChangeAspect="1" noChangeArrowheads="1"/>
          </p:cNvPicPr>
          <p:nvPr/>
        </p:nvPicPr>
        <p:blipFill rotWithShape="1">
          <a:blip r:embed="rId5" r:link="rId6">
            <a:extLst>
              <a:ext uri="{28A0092B-C50C-407E-A947-70E740481C1C}">
                <a14:useLocalDpi xmlns:a14="http://schemas.microsoft.com/office/drawing/2010/main" val="0"/>
              </a:ext>
            </a:extLst>
          </a:blip>
          <a:srcRect l="19412" r="18253"/>
          <a:stretch>
            <a:fillRect/>
          </a:stretch>
        </p:blipFill>
        <p:spPr>
          <a:xfrm>
            <a:off x="4333556" y="2604527"/>
            <a:ext cx="3524888" cy="3647338"/>
          </a:xfrm>
          <a:custGeom>
            <a:avLst/>
            <a:gdLst/>
            <a:ahLst/>
            <a:cxnLst/>
            <a:rect l="l" t="t" r="r" b="b"/>
            <a:pathLst>
              <a:path w="3524888" h="3647338">
                <a:moveTo>
                  <a:pt x="887181" y="60"/>
                </a:moveTo>
                <a:cubicBezTo>
                  <a:pt x="945947" y="-443"/>
                  <a:pt x="1004683" y="2214"/>
                  <a:pt x="1063120" y="9535"/>
                </a:cubicBezTo>
                <a:cubicBezTo>
                  <a:pt x="1192553" y="25206"/>
                  <a:pt x="1324035" y="29312"/>
                  <a:pt x="1454772" y="21769"/>
                </a:cubicBezTo>
                <a:cubicBezTo>
                  <a:pt x="1583729" y="15160"/>
                  <a:pt x="1712924" y="14714"/>
                  <a:pt x="1842239" y="16589"/>
                </a:cubicBezTo>
                <a:cubicBezTo>
                  <a:pt x="1958874" y="18285"/>
                  <a:pt x="2075629" y="18018"/>
                  <a:pt x="2192264" y="13196"/>
                </a:cubicBezTo>
                <a:cubicBezTo>
                  <a:pt x="2323253" y="7660"/>
                  <a:pt x="2454242" y="2928"/>
                  <a:pt x="2585114" y="13911"/>
                </a:cubicBezTo>
                <a:cubicBezTo>
                  <a:pt x="2699008" y="24482"/>
                  <a:pt x="2813669" y="29758"/>
                  <a:pt x="2928437" y="29714"/>
                </a:cubicBezTo>
                <a:cubicBezTo>
                  <a:pt x="3080601" y="28464"/>
                  <a:pt x="3232406" y="19625"/>
                  <a:pt x="3384330" y="14536"/>
                </a:cubicBezTo>
                <a:lnTo>
                  <a:pt x="3481468" y="12130"/>
                </a:lnTo>
                <a:lnTo>
                  <a:pt x="3481325" y="16098"/>
                </a:lnTo>
                <a:lnTo>
                  <a:pt x="3493308" y="84630"/>
                </a:lnTo>
                <a:lnTo>
                  <a:pt x="3493318" y="92959"/>
                </a:lnTo>
                <a:cubicBezTo>
                  <a:pt x="3495695" y="161085"/>
                  <a:pt x="3501169" y="229143"/>
                  <a:pt x="3512114" y="297090"/>
                </a:cubicBezTo>
                <a:cubicBezTo>
                  <a:pt x="3519231" y="340796"/>
                  <a:pt x="3524136" y="384681"/>
                  <a:pt x="3524809" y="428543"/>
                </a:cubicBezTo>
                <a:cubicBezTo>
                  <a:pt x="3525482" y="472405"/>
                  <a:pt x="3521924" y="516245"/>
                  <a:pt x="3512114" y="559861"/>
                </a:cubicBezTo>
                <a:cubicBezTo>
                  <a:pt x="3491119" y="656469"/>
                  <a:pt x="3485618" y="754605"/>
                  <a:pt x="3495724" y="852186"/>
                </a:cubicBezTo>
                <a:cubicBezTo>
                  <a:pt x="3504578" y="948437"/>
                  <a:pt x="3505176" y="1044867"/>
                  <a:pt x="3502664" y="1141386"/>
                </a:cubicBezTo>
                <a:cubicBezTo>
                  <a:pt x="3500391" y="1228440"/>
                  <a:pt x="3500750" y="1315584"/>
                  <a:pt x="3507210" y="1402639"/>
                </a:cubicBezTo>
                <a:cubicBezTo>
                  <a:pt x="3514626" y="1500407"/>
                  <a:pt x="3520966" y="1598176"/>
                  <a:pt x="3506252" y="1695857"/>
                </a:cubicBezTo>
                <a:cubicBezTo>
                  <a:pt x="3492089" y="1780866"/>
                  <a:pt x="3485019" y="1866447"/>
                  <a:pt x="3485079" y="1952109"/>
                </a:cubicBezTo>
                <a:cubicBezTo>
                  <a:pt x="3486753" y="2065682"/>
                  <a:pt x="3498596" y="2178986"/>
                  <a:pt x="3505415" y="2292381"/>
                </a:cubicBezTo>
                <a:cubicBezTo>
                  <a:pt x="3514746" y="2447918"/>
                  <a:pt x="3522761" y="2603544"/>
                  <a:pt x="3508406" y="2759171"/>
                </a:cubicBezTo>
                <a:cubicBezTo>
                  <a:pt x="3497997" y="2866762"/>
                  <a:pt x="3488428" y="2974352"/>
                  <a:pt x="3496442" y="3082389"/>
                </a:cubicBezTo>
                <a:cubicBezTo>
                  <a:pt x="3502066" y="3158639"/>
                  <a:pt x="3510200" y="3234980"/>
                  <a:pt x="3504816" y="3311409"/>
                </a:cubicBezTo>
                <a:lnTo>
                  <a:pt x="3500655" y="3407763"/>
                </a:lnTo>
                <a:lnTo>
                  <a:pt x="3500528" y="3407763"/>
                </a:lnTo>
                <a:lnTo>
                  <a:pt x="3500186" y="3418624"/>
                </a:lnTo>
                <a:lnTo>
                  <a:pt x="3498431" y="3459279"/>
                </a:lnTo>
                <a:lnTo>
                  <a:pt x="3498786" y="3476530"/>
                </a:lnTo>
                <a:lnTo>
                  <a:pt x="3500070" y="3476530"/>
                </a:lnTo>
                <a:lnTo>
                  <a:pt x="3504922" y="3592711"/>
                </a:lnTo>
                <a:lnTo>
                  <a:pt x="3504733" y="3642505"/>
                </a:lnTo>
                <a:lnTo>
                  <a:pt x="3344090" y="3645620"/>
                </a:lnTo>
                <a:cubicBezTo>
                  <a:pt x="3179268" y="3652578"/>
                  <a:pt x="3015642" y="3636699"/>
                  <a:pt x="2851776" y="3628492"/>
                </a:cubicBezTo>
                <a:cubicBezTo>
                  <a:pt x="2716167" y="3622675"/>
                  <a:pt x="2580186" y="3623335"/>
                  <a:pt x="2444683" y="3630454"/>
                </a:cubicBezTo>
                <a:cubicBezTo>
                  <a:pt x="2220221" y="3640802"/>
                  <a:pt x="1995758" y="3642229"/>
                  <a:pt x="1771055" y="3636431"/>
                </a:cubicBezTo>
                <a:cubicBezTo>
                  <a:pt x="1659183" y="3633576"/>
                  <a:pt x="1547429" y="3634736"/>
                  <a:pt x="1435676" y="3638305"/>
                </a:cubicBezTo>
                <a:cubicBezTo>
                  <a:pt x="1179420" y="3646601"/>
                  <a:pt x="923403" y="3637323"/>
                  <a:pt x="667265" y="3634558"/>
                </a:cubicBezTo>
                <a:cubicBezTo>
                  <a:pt x="569736" y="3633488"/>
                  <a:pt x="472205" y="3633665"/>
                  <a:pt x="374794" y="3637679"/>
                </a:cubicBezTo>
                <a:cubicBezTo>
                  <a:pt x="264415" y="3642140"/>
                  <a:pt x="154036" y="3643412"/>
                  <a:pt x="43657" y="3642932"/>
                </a:cubicBezTo>
                <a:lnTo>
                  <a:pt x="11965" y="3642429"/>
                </a:lnTo>
                <a:lnTo>
                  <a:pt x="24360" y="3479541"/>
                </a:lnTo>
                <a:cubicBezTo>
                  <a:pt x="26194" y="3423392"/>
                  <a:pt x="25594" y="3367189"/>
                  <a:pt x="22559" y="3311038"/>
                </a:cubicBezTo>
                <a:cubicBezTo>
                  <a:pt x="16343" y="3197955"/>
                  <a:pt x="-628" y="3084971"/>
                  <a:pt x="13594" y="2971689"/>
                </a:cubicBezTo>
                <a:cubicBezTo>
                  <a:pt x="38335" y="2776712"/>
                  <a:pt x="12519" y="2582431"/>
                  <a:pt x="4272" y="2387950"/>
                </a:cubicBezTo>
                <a:cubicBezTo>
                  <a:pt x="-3262" y="2237604"/>
                  <a:pt x="2250" y="2086990"/>
                  <a:pt x="20765" y="1937298"/>
                </a:cubicBezTo>
                <a:cubicBezTo>
                  <a:pt x="38958" y="1790576"/>
                  <a:pt x="37113" y="1642627"/>
                  <a:pt x="15268" y="1496252"/>
                </a:cubicBezTo>
                <a:cubicBezTo>
                  <a:pt x="7718" y="1430798"/>
                  <a:pt x="7400" y="1364898"/>
                  <a:pt x="14311" y="1299395"/>
                </a:cubicBezTo>
                <a:cubicBezTo>
                  <a:pt x="22640" y="1195064"/>
                  <a:pt x="20682" y="1090348"/>
                  <a:pt x="8455" y="986285"/>
                </a:cubicBezTo>
                <a:cubicBezTo>
                  <a:pt x="-8159" y="849535"/>
                  <a:pt x="3794" y="712390"/>
                  <a:pt x="9890" y="575540"/>
                </a:cubicBezTo>
                <a:cubicBezTo>
                  <a:pt x="14432" y="472556"/>
                  <a:pt x="17180" y="369671"/>
                  <a:pt x="12878" y="266688"/>
                </a:cubicBezTo>
                <a:lnTo>
                  <a:pt x="14418" y="21931"/>
                </a:lnTo>
                <a:lnTo>
                  <a:pt x="163536" y="23733"/>
                </a:lnTo>
                <a:cubicBezTo>
                  <a:pt x="346324" y="25875"/>
                  <a:pt x="528992" y="25875"/>
                  <a:pt x="711062" y="9535"/>
                </a:cubicBezTo>
                <a:cubicBezTo>
                  <a:pt x="769619" y="4223"/>
                  <a:pt x="828415" y="562"/>
                  <a:pt x="887181" y="60"/>
                </a:cubicBezTo>
                <a:close/>
              </a:path>
            </a:pathLst>
          </a:custGeom>
        </p:spPr>
      </p:pic>
      <p:pic>
        <p:nvPicPr>
          <p:cNvPr id="6" name="Picture 7" descr="D:\Sandy Duncan\#00011.jpg">
            <a:extLst>
              <a:ext uri="{FF2B5EF4-FFF2-40B4-BE49-F238E27FC236}">
                <a16:creationId xmlns:a16="http://schemas.microsoft.com/office/drawing/2014/main" id="{EFABF2D7-304E-DB89-1E71-0FAA9A10ACFC}"/>
              </a:ext>
            </a:extLst>
          </p:cNvPr>
          <p:cNvPicPr>
            <a:picLocks noChangeAspect="1" noChangeArrowheads="1"/>
          </p:cNvPicPr>
          <p:nvPr/>
        </p:nvPicPr>
        <p:blipFill rotWithShape="1">
          <a:blip r:embed="rId7" r:link="rId8">
            <a:extLst>
              <a:ext uri="{28A0092B-C50C-407E-A947-70E740481C1C}">
                <a14:useLocalDpi xmlns:a14="http://schemas.microsoft.com/office/drawing/2010/main" val="0"/>
              </a:ext>
            </a:extLst>
          </a:blip>
          <a:srcRect l="26425" r="2783" b="-2"/>
          <a:stretch>
            <a:fillRect/>
          </a:stretch>
        </p:blipFill>
        <p:spPr>
          <a:xfrm>
            <a:off x="8156747" y="2604528"/>
            <a:ext cx="3524888" cy="3647338"/>
          </a:xfrm>
          <a:custGeom>
            <a:avLst/>
            <a:gdLst/>
            <a:ahLst/>
            <a:cxnLst/>
            <a:rect l="l" t="t" r="r" b="b"/>
            <a:pathLst>
              <a:path w="3524888" h="3647338">
                <a:moveTo>
                  <a:pt x="887180" y="60"/>
                </a:moveTo>
                <a:cubicBezTo>
                  <a:pt x="945946" y="-442"/>
                  <a:pt x="1004683" y="2214"/>
                  <a:pt x="1063120" y="9535"/>
                </a:cubicBezTo>
                <a:cubicBezTo>
                  <a:pt x="1192553" y="25206"/>
                  <a:pt x="1324035" y="29312"/>
                  <a:pt x="1454772" y="21769"/>
                </a:cubicBezTo>
                <a:cubicBezTo>
                  <a:pt x="1583729" y="15160"/>
                  <a:pt x="1712924" y="14714"/>
                  <a:pt x="1842239" y="16589"/>
                </a:cubicBezTo>
                <a:cubicBezTo>
                  <a:pt x="1958874" y="18285"/>
                  <a:pt x="2075628" y="18018"/>
                  <a:pt x="2192263" y="13196"/>
                </a:cubicBezTo>
                <a:cubicBezTo>
                  <a:pt x="2323253" y="7660"/>
                  <a:pt x="2454242" y="2928"/>
                  <a:pt x="2585113" y="13911"/>
                </a:cubicBezTo>
                <a:cubicBezTo>
                  <a:pt x="2699008" y="24482"/>
                  <a:pt x="2813668" y="29758"/>
                  <a:pt x="2928437" y="29714"/>
                </a:cubicBezTo>
                <a:cubicBezTo>
                  <a:pt x="3080601" y="28464"/>
                  <a:pt x="3232406" y="19625"/>
                  <a:pt x="3384330" y="14536"/>
                </a:cubicBezTo>
                <a:lnTo>
                  <a:pt x="3481468" y="12130"/>
                </a:lnTo>
                <a:lnTo>
                  <a:pt x="3481325" y="16098"/>
                </a:lnTo>
                <a:lnTo>
                  <a:pt x="3493308" y="84630"/>
                </a:lnTo>
                <a:lnTo>
                  <a:pt x="3493318" y="92959"/>
                </a:lnTo>
                <a:cubicBezTo>
                  <a:pt x="3495694" y="161085"/>
                  <a:pt x="3501168" y="229143"/>
                  <a:pt x="3512114" y="297090"/>
                </a:cubicBezTo>
                <a:cubicBezTo>
                  <a:pt x="3519231" y="340796"/>
                  <a:pt x="3524136" y="384681"/>
                  <a:pt x="3524809" y="428543"/>
                </a:cubicBezTo>
                <a:cubicBezTo>
                  <a:pt x="3525482" y="472405"/>
                  <a:pt x="3521923" y="516245"/>
                  <a:pt x="3512114" y="559861"/>
                </a:cubicBezTo>
                <a:cubicBezTo>
                  <a:pt x="3491119" y="656469"/>
                  <a:pt x="3485617" y="754605"/>
                  <a:pt x="3495724" y="852186"/>
                </a:cubicBezTo>
                <a:cubicBezTo>
                  <a:pt x="3504577" y="948437"/>
                  <a:pt x="3505176" y="1044867"/>
                  <a:pt x="3502664" y="1141386"/>
                </a:cubicBezTo>
                <a:cubicBezTo>
                  <a:pt x="3500391" y="1228440"/>
                  <a:pt x="3500749" y="1315584"/>
                  <a:pt x="3507210" y="1402639"/>
                </a:cubicBezTo>
                <a:cubicBezTo>
                  <a:pt x="3514626" y="1500407"/>
                  <a:pt x="3520966" y="1598176"/>
                  <a:pt x="3506251" y="1695857"/>
                </a:cubicBezTo>
                <a:cubicBezTo>
                  <a:pt x="3492089" y="1780866"/>
                  <a:pt x="3485019" y="1866447"/>
                  <a:pt x="3485079" y="1952109"/>
                </a:cubicBezTo>
                <a:cubicBezTo>
                  <a:pt x="3486753" y="2065682"/>
                  <a:pt x="3498595" y="2178986"/>
                  <a:pt x="3505414" y="2292381"/>
                </a:cubicBezTo>
                <a:cubicBezTo>
                  <a:pt x="3514746" y="2447918"/>
                  <a:pt x="3522760" y="2603544"/>
                  <a:pt x="3508405" y="2759171"/>
                </a:cubicBezTo>
                <a:cubicBezTo>
                  <a:pt x="3497997" y="2866762"/>
                  <a:pt x="3488427" y="2974352"/>
                  <a:pt x="3496442" y="3082389"/>
                </a:cubicBezTo>
                <a:cubicBezTo>
                  <a:pt x="3502065" y="3158639"/>
                  <a:pt x="3510200" y="3234980"/>
                  <a:pt x="3504816" y="3311409"/>
                </a:cubicBezTo>
                <a:lnTo>
                  <a:pt x="3500655" y="3407763"/>
                </a:lnTo>
                <a:lnTo>
                  <a:pt x="3500528" y="3407763"/>
                </a:lnTo>
                <a:lnTo>
                  <a:pt x="3500186" y="3418624"/>
                </a:lnTo>
                <a:lnTo>
                  <a:pt x="3498431" y="3459279"/>
                </a:lnTo>
                <a:lnTo>
                  <a:pt x="3498786" y="3476530"/>
                </a:lnTo>
                <a:lnTo>
                  <a:pt x="3500070" y="3476530"/>
                </a:lnTo>
                <a:lnTo>
                  <a:pt x="3504922" y="3592711"/>
                </a:lnTo>
                <a:lnTo>
                  <a:pt x="3504733" y="3642505"/>
                </a:lnTo>
                <a:lnTo>
                  <a:pt x="3344090" y="3645620"/>
                </a:lnTo>
                <a:cubicBezTo>
                  <a:pt x="3179267" y="3652578"/>
                  <a:pt x="3015642" y="3636699"/>
                  <a:pt x="2851776" y="3628492"/>
                </a:cubicBezTo>
                <a:cubicBezTo>
                  <a:pt x="2716167" y="3622675"/>
                  <a:pt x="2580186" y="3623335"/>
                  <a:pt x="2444683" y="3630454"/>
                </a:cubicBezTo>
                <a:cubicBezTo>
                  <a:pt x="2220221" y="3640802"/>
                  <a:pt x="1995757" y="3642229"/>
                  <a:pt x="1771055" y="3636431"/>
                </a:cubicBezTo>
                <a:cubicBezTo>
                  <a:pt x="1659183" y="3633576"/>
                  <a:pt x="1547429" y="3634736"/>
                  <a:pt x="1435675" y="3638305"/>
                </a:cubicBezTo>
                <a:cubicBezTo>
                  <a:pt x="1179419" y="3646601"/>
                  <a:pt x="923403" y="3637323"/>
                  <a:pt x="667265" y="3634558"/>
                </a:cubicBezTo>
                <a:cubicBezTo>
                  <a:pt x="569736" y="3633488"/>
                  <a:pt x="472205" y="3633665"/>
                  <a:pt x="374793" y="3637679"/>
                </a:cubicBezTo>
                <a:cubicBezTo>
                  <a:pt x="264415" y="3642140"/>
                  <a:pt x="154036" y="3643412"/>
                  <a:pt x="43657" y="3642932"/>
                </a:cubicBezTo>
                <a:lnTo>
                  <a:pt x="11965" y="3642429"/>
                </a:lnTo>
                <a:lnTo>
                  <a:pt x="24360" y="3479541"/>
                </a:lnTo>
                <a:cubicBezTo>
                  <a:pt x="26194" y="3423392"/>
                  <a:pt x="25594" y="3367189"/>
                  <a:pt x="22559" y="3311038"/>
                </a:cubicBezTo>
                <a:cubicBezTo>
                  <a:pt x="16343" y="3197955"/>
                  <a:pt x="-628" y="3084971"/>
                  <a:pt x="13594" y="2971689"/>
                </a:cubicBezTo>
                <a:cubicBezTo>
                  <a:pt x="38335" y="2776712"/>
                  <a:pt x="12519" y="2582431"/>
                  <a:pt x="4272" y="2387950"/>
                </a:cubicBezTo>
                <a:cubicBezTo>
                  <a:pt x="-3262" y="2237604"/>
                  <a:pt x="2250" y="2086990"/>
                  <a:pt x="20765" y="1937298"/>
                </a:cubicBezTo>
                <a:cubicBezTo>
                  <a:pt x="38958" y="1790576"/>
                  <a:pt x="37113" y="1642627"/>
                  <a:pt x="15268" y="1496252"/>
                </a:cubicBezTo>
                <a:cubicBezTo>
                  <a:pt x="7718" y="1430798"/>
                  <a:pt x="7400" y="1364898"/>
                  <a:pt x="14311" y="1299395"/>
                </a:cubicBezTo>
                <a:cubicBezTo>
                  <a:pt x="22640" y="1195064"/>
                  <a:pt x="20682" y="1090348"/>
                  <a:pt x="8455" y="986285"/>
                </a:cubicBezTo>
                <a:cubicBezTo>
                  <a:pt x="-8159" y="849535"/>
                  <a:pt x="3794" y="712390"/>
                  <a:pt x="9890" y="575540"/>
                </a:cubicBezTo>
                <a:cubicBezTo>
                  <a:pt x="14432" y="472556"/>
                  <a:pt x="17180" y="369671"/>
                  <a:pt x="12878" y="266688"/>
                </a:cubicBezTo>
                <a:lnTo>
                  <a:pt x="14418" y="21931"/>
                </a:lnTo>
                <a:lnTo>
                  <a:pt x="163536" y="23733"/>
                </a:lnTo>
                <a:cubicBezTo>
                  <a:pt x="346324" y="25875"/>
                  <a:pt x="528992" y="25875"/>
                  <a:pt x="711061" y="9535"/>
                </a:cubicBezTo>
                <a:cubicBezTo>
                  <a:pt x="769618" y="4223"/>
                  <a:pt x="828414" y="562"/>
                  <a:pt x="887180" y="60"/>
                </a:cubicBezTo>
                <a:close/>
              </a:path>
            </a:pathLst>
          </a:custGeom>
        </p:spPr>
      </p:pic>
    </p:spTree>
    <p:extLst>
      <p:ext uri="{BB962C8B-B14F-4D97-AF65-F5344CB8AC3E}">
        <p14:creationId xmlns:p14="http://schemas.microsoft.com/office/powerpoint/2010/main" val="181327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2FA7E-3DE7-F42A-00B8-A79F0EEBB6AF}"/>
              </a:ext>
            </a:extLst>
          </p:cNvPr>
          <p:cNvSpPr>
            <a:spLocks noGrp="1"/>
          </p:cNvSpPr>
          <p:nvPr>
            <p:ph type="title"/>
          </p:nvPr>
        </p:nvSpPr>
        <p:spPr/>
        <p:txBody>
          <a:bodyPr/>
          <a:lstStyle/>
          <a:p>
            <a:r>
              <a:rPr lang="en-US" dirty="0"/>
              <a:t>HIV / AIDS</a:t>
            </a:r>
          </a:p>
        </p:txBody>
      </p:sp>
      <p:sp>
        <p:nvSpPr>
          <p:cNvPr id="3" name="Content Placeholder 2">
            <a:extLst>
              <a:ext uri="{FF2B5EF4-FFF2-40B4-BE49-F238E27FC236}">
                <a16:creationId xmlns:a16="http://schemas.microsoft.com/office/drawing/2014/main" id="{8650DA2C-FBFD-8998-3FFE-398F85954C72}"/>
              </a:ext>
            </a:extLst>
          </p:cNvPr>
          <p:cNvSpPr>
            <a:spLocks noGrp="1"/>
          </p:cNvSpPr>
          <p:nvPr>
            <p:ph idx="1"/>
          </p:nvPr>
        </p:nvSpPr>
        <p:spPr>
          <a:xfrm>
            <a:off x="838200" y="1929384"/>
            <a:ext cx="11125200" cy="4839716"/>
          </a:xfrm>
        </p:spPr>
        <p:txBody>
          <a:bodyPr>
            <a:normAutofit fontScale="92500" lnSpcReduction="10000"/>
          </a:bodyPr>
          <a:lstStyle/>
          <a:p>
            <a:r>
              <a:rPr lang="en-US" dirty="0"/>
              <a:t>HIV is a viral infection that, over time, leads to the development of AIDS. </a:t>
            </a:r>
          </a:p>
          <a:p>
            <a:pPr lvl="1"/>
            <a:r>
              <a:rPr lang="en-US" dirty="0"/>
              <a:t>HIV = Human Immunodeficiency Virus</a:t>
            </a:r>
          </a:p>
          <a:p>
            <a:pPr lvl="1"/>
            <a:r>
              <a:rPr lang="en-US" dirty="0"/>
              <a:t>AIDS = Acquired Immunodeficiency Syndrome</a:t>
            </a:r>
          </a:p>
          <a:p>
            <a:r>
              <a:rPr lang="en-US" dirty="0"/>
              <a:t>It attacks the immune system. </a:t>
            </a:r>
          </a:p>
          <a:p>
            <a:r>
              <a:rPr lang="en-US" dirty="0"/>
              <a:t>No cure – once acquired, the person has it for life. With proper care, HIV can be controlled.</a:t>
            </a:r>
          </a:p>
          <a:p>
            <a:r>
              <a:rPr lang="en-US" dirty="0"/>
              <a:t>Some people have no symptoms at all, but symptoms can include flu-like symptoms. </a:t>
            </a:r>
          </a:p>
          <a:p>
            <a:r>
              <a:rPr lang="en-US" dirty="0"/>
              <a:t>The only way to know is to get tested. </a:t>
            </a:r>
          </a:p>
          <a:p>
            <a:r>
              <a:rPr lang="en-US" dirty="0"/>
              <a:t>HIV is contained in the blood, semen, vaginal fluid and breast milk of an infected person. </a:t>
            </a:r>
          </a:p>
          <a:p>
            <a:r>
              <a:rPr lang="en-US" dirty="0"/>
              <a:t>Can be spread via unprotected vaginal or anal sex, sharing drug equipment, sharing needles (i.e., tattoos and piercing), transmission from mother to baby, accidental sharps (needle) injuries.</a:t>
            </a:r>
          </a:p>
        </p:txBody>
      </p:sp>
      <p:pic>
        <p:nvPicPr>
          <p:cNvPr id="13314" name="Picture 2" descr="HIV symptoms">
            <a:extLst>
              <a:ext uri="{FF2B5EF4-FFF2-40B4-BE49-F238E27FC236}">
                <a16:creationId xmlns:a16="http://schemas.microsoft.com/office/drawing/2014/main" id="{2C950CB1-82BD-7857-3F26-5C123FB939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5300" y="241300"/>
            <a:ext cx="52324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151262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A44D2-F00F-A536-679B-13FC3500F3E1}"/>
              </a:ext>
            </a:extLst>
          </p:cNvPr>
          <p:cNvSpPr>
            <a:spLocks noGrp="1"/>
          </p:cNvSpPr>
          <p:nvPr>
            <p:ph type="title"/>
          </p:nvPr>
        </p:nvSpPr>
        <p:spPr/>
        <p:txBody>
          <a:bodyPr/>
          <a:lstStyle/>
          <a:p>
            <a:r>
              <a:rPr lang="en-US" dirty="0"/>
              <a:t>Hepatitis B</a:t>
            </a:r>
          </a:p>
        </p:txBody>
      </p:sp>
      <p:sp>
        <p:nvSpPr>
          <p:cNvPr id="3" name="Content Placeholder 2">
            <a:extLst>
              <a:ext uri="{FF2B5EF4-FFF2-40B4-BE49-F238E27FC236}">
                <a16:creationId xmlns:a16="http://schemas.microsoft.com/office/drawing/2014/main" id="{D372B8C9-E600-3850-7B90-D307B70ACC45}"/>
              </a:ext>
            </a:extLst>
          </p:cNvPr>
          <p:cNvSpPr>
            <a:spLocks noGrp="1"/>
          </p:cNvSpPr>
          <p:nvPr>
            <p:ph sz="half" idx="1"/>
          </p:nvPr>
        </p:nvSpPr>
        <p:spPr/>
        <p:txBody>
          <a:bodyPr>
            <a:normAutofit fontScale="92500" lnSpcReduction="20000"/>
          </a:bodyPr>
          <a:lstStyle/>
          <a:p>
            <a:r>
              <a:rPr lang="en-US" altLang="en-US" sz="2800" dirty="0"/>
              <a:t>Hepatitis B is an STI and blood-borne </a:t>
            </a:r>
            <a:r>
              <a:rPr lang="en-US" altLang="en-US" dirty="0"/>
              <a:t>v</a:t>
            </a:r>
            <a:r>
              <a:rPr lang="en-US" altLang="en-US" sz="2800" dirty="0"/>
              <a:t>irus (BBV)</a:t>
            </a:r>
          </a:p>
          <a:p>
            <a:r>
              <a:rPr lang="en-US" altLang="en-US" dirty="0"/>
              <a:t>Can be passed on through unprotected sexual contact or by blood-to-blood contact (i.e., sharing drug use equipment and needles) or from pregnant mother to baby.</a:t>
            </a:r>
          </a:p>
          <a:p>
            <a:r>
              <a:rPr lang="en-US" altLang="en-US" sz="2800" dirty="0"/>
              <a:t>Virus that attacks the liver.</a:t>
            </a:r>
          </a:p>
          <a:p>
            <a:r>
              <a:rPr lang="en-US" altLang="en-US" sz="2800" dirty="0"/>
              <a:t>Symptoms include: fever, fatigue, muscle aches, swollen glands, abdominal pains, jaundice, nausea/vomiting, dark yellow urine, pale or grey poo.</a:t>
            </a:r>
          </a:p>
          <a:p>
            <a:endParaRPr lang="en-US" dirty="0"/>
          </a:p>
        </p:txBody>
      </p:sp>
      <p:sp>
        <p:nvSpPr>
          <p:cNvPr id="4" name="Content Placeholder 3">
            <a:extLst>
              <a:ext uri="{FF2B5EF4-FFF2-40B4-BE49-F238E27FC236}">
                <a16:creationId xmlns:a16="http://schemas.microsoft.com/office/drawing/2014/main" id="{9E095F51-22D3-5537-26D4-A90513E1D782}"/>
              </a:ext>
            </a:extLst>
          </p:cNvPr>
          <p:cNvSpPr>
            <a:spLocks noGrp="1"/>
          </p:cNvSpPr>
          <p:nvPr>
            <p:ph sz="half" idx="2"/>
          </p:nvPr>
        </p:nvSpPr>
        <p:spPr/>
        <p:txBody>
          <a:bodyPr>
            <a:normAutofit fontScale="92500" lnSpcReduction="20000"/>
          </a:bodyPr>
          <a:lstStyle/>
          <a:p>
            <a:r>
              <a:rPr lang="en-US" altLang="en-US" sz="3200" dirty="0"/>
              <a:t>Most infected people (90%) naturally produce antibodies to fight the disease, but some develop chronic HBV and will carry the virus for the rest of their life.</a:t>
            </a:r>
          </a:p>
          <a:p>
            <a:r>
              <a:rPr lang="en-US" altLang="en-US" sz="3200" dirty="0"/>
              <a:t>Chronic infection can lead to liver damage, cirrhosis, and cancer and has no cure.</a:t>
            </a:r>
          </a:p>
          <a:p>
            <a:r>
              <a:rPr lang="en-US" altLang="en-US" dirty="0"/>
              <a:t>Antiviral treatment.</a:t>
            </a:r>
            <a:endParaRPr lang="en-US" altLang="en-US" sz="3200" dirty="0"/>
          </a:p>
          <a:p>
            <a:r>
              <a:rPr lang="en-US" altLang="en-US" sz="3200" dirty="0"/>
              <a:t>Vaccination available. </a:t>
            </a:r>
          </a:p>
        </p:txBody>
      </p:sp>
    </p:spTree>
    <p:extLst>
      <p:ext uri="{BB962C8B-B14F-4D97-AF65-F5344CB8AC3E}">
        <p14:creationId xmlns:p14="http://schemas.microsoft.com/office/powerpoint/2010/main" val="182031193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FFD76116-11F5-E147-A880-8F1E04DD945A}"/>
              </a:ext>
            </a:extLst>
          </p:cNvPr>
          <p:cNvSpPr>
            <a:spLocks noGrp="1" noChangeArrowheads="1"/>
          </p:cNvSpPr>
          <p:nvPr>
            <p:ph type="title"/>
          </p:nvPr>
        </p:nvSpPr>
        <p:spPr>
          <a:xfrm>
            <a:off x="825503" y="530522"/>
            <a:ext cx="7024687" cy="1143000"/>
          </a:xfrm>
        </p:spPr>
        <p:txBody>
          <a:bodyPr rtlCol="0">
            <a:normAutofit/>
          </a:bodyPr>
          <a:lstStyle/>
          <a:p>
            <a:pPr>
              <a:defRPr/>
            </a:pPr>
            <a:r>
              <a:rPr lang="en-US" sz="5400" b="1" dirty="0"/>
              <a:t>Parasitic STI’s</a:t>
            </a:r>
          </a:p>
        </p:txBody>
      </p:sp>
      <p:sp>
        <p:nvSpPr>
          <p:cNvPr id="4" name="Content Placeholder 3">
            <a:extLst>
              <a:ext uri="{FF2B5EF4-FFF2-40B4-BE49-F238E27FC236}">
                <a16:creationId xmlns:a16="http://schemas.microsoft.com/office/drawing/2014/main" id="{37DB3764-6517-D243-99CC-CEF70D16B87F}"/>
              </a:ext>
            </a:extLst>
          </p:cNvPr>
          <p:cNvSpPr>
            <a:spLocks noGrp="1"/>
          </p:cNvSpPr>
          <p:nvPr>
            <p:ph idx="1"/>
          </p:nvPr>
        </p:nvSpPr>
        <p:spPr>
          <a:xfrm>
            <a:off x="825503" y="4883148"/>
            <a:ext cx="2317748" cy="1762123"/>
          </a:xfrm>
        </p:spPr>
        <p:txBody>
          <a:bodyPr rtlCol="0">
            <a:normAutofit/>
          </a:bodyPr>
          <a:lstStyle/>
          <a:p>
            <a:pPr marL="69850" indent="0" algn="ctr">
              <a:buNone/>
              <a:defRPr/>
            </a:pPr>
            <a:r>
              <a:rPr lang="en-US" sz="2400" dirty="0">
                <a:cs typeface="Arial" pitchFamily="34" charset="0"/>
              </a:rPr>
              <a:t>The lice attach their eggs to the pubic hair and feed on human blood</a:t>
            </a:r>
          </a:p>
          <a:p>
            <a:pPr>
              <a:defRPr/>
            </a:pPr>
            <a:endParaRPr lang="en-CA" dirty="0"/>
          </a:p>
        </p:txBody>
      </p:sp>
      <p:pic>
        <p:nvPicPr>
          <p:cNvPr id="7" name="Picture 7">
            <a:extLst>
              <a:ext uri="{FF2B5EF4-FFF2-40B4-BE49-F238E27FC236}">
                <a16:creationId xmlns:a16="http://schemas.microsoft.com/office/drawing/2014/main" id="{66420A45-0ACF-8C4C-B01C-2351585A50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5851" y="2785269"/>
            <a:ext cx="2057400" cy="18870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a:extLst>
              <a:ext uri="{FF2B5EF4-FFF2-40B4-BE49-F238E27FC236}">
                <a16:creationId xmlns:a16="http://schemas.microsoft.com/office/drawing/2014/main" id="{726D7673-4CF3-4244-8400-3E1A4199A4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9824" y="2785269"/>
            <a:ext cx="2024282" cy="18870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a:extLst>
              <a:ext uri="{FF2B5EF4-FFF2-40B4-BE49-F238E27FC236}">
                <a16:creationId xmlns:a16="http://schemas.microsoft.com/office/drawing/2014/main" id="{DB7D5A2A-FD81-BF46-8837-DECA39436D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08747" y="2657679"/>
            <a:ext cx="1887042" cy="18870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a:extLst>
              <a:ext uri="{FF2B5EF4-FFF2-40B4-BE49-F238E27FC236}">
                <a16:creationId xmlns:a16="http://schemas.microsoft.com/office/drawing/2014/main" id="{C6FF8925-ED0A-2841-A1F9-2200D60B953D}"/>
              </a:ext>
            </a:extLst>
          </p:cNvPr>
          <p:cNvSpPr txBox="1"/>
          <p:nvPr/>
        </p:nvSpPr>
        <p:spPr>
          <a:xfrm>
            <a:off x="7932731" y="4755558"/>
            <a:ext cx="3439073" cy="1569660"/>
          </a:xfrm>
          <a:prstGeom prst="rect">
            <a:avLst/>
          </a:prstGeom>
          <a:noFill/>
        </p:spPr>
        <p:txBody>
          <a:bodyPr wrap="square" rtlCol="0">
            <a:spAutoFit/>
          </a:bodyPr>
          <a:lstStyle/>
          <a:p>
            <a:pPr marL="69850" indent="0" algn="ctr">
              <a:buNone/>
            </a:pPr>
            <a:r>
              <a:rPr lang="en-US" altLang="en-US" sz="2400" dirty="0">
                <a:cs typeface="Arial" panose="020B0604020202020204" pitchFamily="34" charset="0"/>
              </a:rPr>
              <a:t>Caused by the itch mite. It burrows just under the skin and lays eggs. Can live for 2-4 days away from the human body; it can be transmitted without sexual contact.</a:t>
            </a:r>
          </a:p>
        </p:txBody>
      </p:sp>
      <p:sp>
        <p:nvSpPr>
          <p:cNvPr id="3" name="Rectangle 2">
            <a:extLst>
              <a:ext uri="{FF2B5EF4-FFF2-40B4-BE49-F238E27FC236}">
                <a16:creationId xmlns:a16="http://schemas.microsoft.com/office/drawing/2014/main" id="{02977287-D348-8D48-87F5-64E821A4580D}"/>
              </a:ext>
            </a:extLst>
          </p:cNvPr>
          <p:cNvSpPr/>
          <p:nvPr/>
        </p:nvSpPr>
        <p:spPr>
          <a:xfrm>
            <a:off x="4272739" y="4883148"/>
            <a:ext cx="3048000" cy="1569660"/>
          </a:xfrm>
          <a:prstGeom prst="rect">
            <a:avLst/>
          </a:prstGeom>
        </p:spPr>
        <p:txBody>
          <a:bodyPr wrap="square">
            <a:spAutoFit/>
          </a:bodyPr>
          <a:lstStyle/>
          <a:p>
            <a:pPr marL="69850" indent="0" algn="ctr">
              <a:buNone/>
            </a:pPr>
            <a:r>
              <a:rPr lang="en-US" altLang="en-US" sz="2400" dirty="0">
                <a:cs typeface="Arial" panose="020B0604020202020204" pitchFamily="34" charset="0"/>
              </a:rPr>
              <a:t>Caused by a parasite that is usually sexually transmitted, but it can survive 24 hours on wet towels and bathing suits</a:t>
            </a:r>
            <a:endParaRPr lang="en-CA" altLang="en-US" sz="2400" dirty="0"/>
          </a:p>
        </p:txBody>
      </p:sp>
      <p:sp>
        <p:nvSpPr>
          <p:cNvPr id="9" name="TextBox 8">
            <a:extLst>
              <a:ext uri="{FF2B5EF4-FFF2-40B4-BE49-F238E27FC236}">
                <a16:creationId xmlns:a16="http://schemas.microsoft.com/office/drawing/2014/main" id="{87F4EB14-BD9D-5942-A623-0AF235B01E25}"/>
              </a:ext>
            </a:extLst>
          </p:cNvPr>
          <p:cNvSpPr txBox="1"/>
          <p:nvPr/>
        </p:nvSpPr>
        <p:spPr>
          <a:xfrm>
            <a:off x="1232150" y="2117408"/>
            <a:ext cx="1911101" cy="523220"/>
          </a:xfrm>
          <a:prstGeom prst="rect">
            <a:avLst/>
          </a:prstGeom>
          <a:noFill/>
        </p:spPr>
        <p:txBody>
          <a:bodyPr wrap="none" rtlCol="0">
            <a:spAutoFit/>
          </a:bodyPr>
          <a:lstStyle/>
          <a:p>
            <a:r>
              <a:rPr lang="en-US" sz="2800" b="1" dirty="0"/>
              <a:t>Pubic Lice</a:t>
            </a:r>
          </a:p>
        </p:txBody>
      </p:sp>
      <p:sp>
        <p:nvSpPr>
          <p:cNvPr id="10" name="TextBox 9">
            <a:extLst>
              <a:ext uri="{FF2B5EF4-FFF2-40B4-BE49-F238E27FC236}">
                <a16:creationId xmlns:a16="http://schemas.microsoft.com/office/drawing/2014/main" id="{D1E23A44-33C2-4042-89A9-BBC8EA6C3206}"/>
              </a:ext>
            </a:extLst>
          </p:cNvPr>
          <p:cNvSpPr txBox="1"/>
          <p:nvPr/>
        </p:nvSpPr>
        <p:spPr>
          <a:xfrm>
            <a:off x="4393345" y="2136433"/>
            <a:ext cx="2667782" cy="523220"/>
          </a:xfrm>
          <a:prstGeom prst="rect">
            <a:avLst/>
          </a:prstGeom>
          <a:noFill/>
        </p:spPr>
        <p:txBody>
          <a:bodyPr wrap="none" rtlCol="0">
            <a:spAutoFit/>
          </a:bodyPr>
          <a:lstStyle/>
          <a:p>
            <a:r>
              <a:rPr lang="en-US" sz="2800" b="1" dirty="0"/>
              <a:t>Trichomoniasis</a:t>
            </a:r>
          </a:p>
        </p:txBody>
      </p:sp>
      <p:sp>
        <p:nvSpPr>
          <p:cNvPr id="11" name="TextBox 10">
            <a:extLst>
              <a:ext uri="{FF2B5EF4-FFF2-40B4-BE49-F238E27FC236}">
                <a16:creationId xmlns:a16="http://schemas.microsoft.com/office/drawing/2014/main" id="{CE72B481-7197-824C-B460-C8DA7D9D32E2}"/>
              </a:ext>
            </a:extLst>
          </p:cNvPr>
          <p:cNvSpPr txBox="1"/>
          <p:nvPr/>
        </p:nvSpPr>
        <p:spPr>
          <a:xfrm>
            <a:off x="8895410" y="2134459"/>
            <a:ext cx="1420582" cy="523220"/>
          </a:xfrm>
          <a:prstGeom prst="rect">
            <a:avLst/>
          </a:prstGeom>
          <a:noFill/>
        </p:spPr>
        <p:txBody>
          <a:bodyPr wrap="none" rtlCol="0">
            <a:spAutoFit/>
          </a:bodyPr>
          <a:lstStyle/>
          <a:p>
            <a:r>
              <a:rPr lang="en-US" sz="2800" b="1" dirty="0"/>
              <a:t>Scabies</a:t>
            </a:r>
          </a:p>
        </p:txBody>
      </p:sp>
    </p:spTree>
  </p:cSld>
  <p:clrMapOvr>
    <a:masterClrMapping/>
  </p:clrMapOvr>
  <p:transition spd="me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230A1-A12D-4343-8D5D-FD11179058F8}"/>
              </a:ext>
            </a:extLst>
          </p:cNvPr>
          <p:cNvSpPr>
            <a:spLocks noGrp="1"/>
          </p:cNvSpPr>
          <p:nvPr>
            <p:ph type="title"/>
          </p:nvPr>
        </p:nvSpPr>
        <p:spPr>
          <a:xfrm>
            <a:off x="825576" y="332965"/>
            <a:ext cx="9144000" cy="1344168"/>
          </a:xfrm>
        </p:spPr>
        <p:txBody>
          <a:bodyPr>
            <a:normAutofit/>
          </a:bodyPr>
          <a:lstStyle/>
          <a:p>
            <a:r>
              <a:rPr lang="en-US" sz="5400" dirty="0"/>
              <a:t>Parasitic STI Symptoms</a:t>
            </a:r>
          </a:p>
        </p:txBody>
      </p:sp>
      <p:pic>
        <p:nvPicPr>
          <p:cNvPr id="105474" name="Picture 2" descr="Trichomoniasis: Signs, Symptoms and Complications">
            <a:extLst>
              <a:ext uri="{FF2B5EF4-FFF2-40B4-BE49-F238E27FC236}">
                <a16:creationId xmlns:a16="http://schemas.microsoft.com/office/drawing/2014/main" id="{E7930091-1D95-7E43-9D9B-024FAF4970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7721" y="1887563"/>
            <a:ext cx="2857555" cy="4281871"/>
          </a:xfrm>
          <a:prstGeom prst="rect">
            <a:avLst/>
          </a:prstGeom>
          <a:noFill/>
          <a:ln w="57150">
            <a:solidFill>
              <a:schemeClr val="tx1"/>
            </a:solidFill>
          </a:ln>
          <a:extLst>
            <a:ext uri="{909E8E84-426E-40DD-AFC4-6F175D3DCCD1}">
              <a14:hiddenFill xmlns:a14="http://schemas.microsoft.com/office/drawing/2010/main">
                <a:solidFill>
                  <a:srgbClr val="FFFFFF"/>
                </a:solidFill>
              </a14:hiddenFill>
            </a:ext>
          </a:extLst>
        </p:spPr>
      </p:pic>
      <p:pic>
        <p:nvPicPr>
          <p:cNvPr id="105476" name="Picture 4" descr="Crab Lice - Risk Factors - Symptoms - Treatment - Prognosis - Prevention">
            <a:extLst>
              <a:ext uri="{FF2B5EF4-FFF2-40B4-BE49-F238E27FC236}">
                <a16:creationId xmlns:a16="http://schemas.microsoft.com/office/drawing/2014/main" id="{8319DCD2-9304-7E41-AE5B-802FAA4CFE0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19366" y="1887564"/>
            <a:ext cx="2752631" cy="4281871"/>
          </a:xfrm>
          <a:prstGeom prst="rect">
            <a:avLst/>
          </a:prstGeom>
          <a:noFill/>
          <a:ln w="57150">
            <a:solidFill>
              <a:schemeClr val="tx1"/>
            </a:solidFill>
          </a:ln>
          <a:extLst>
            <a:ext uri="{909E8E84-426E-40DD-AFC4-6F175D3DCCD1}">
              <a14:hiddenFill xmlns:a14="http://schemas.microsoft.com/office/drawing/2010/main">
                <a:solidFill>
                  <a:srgbClr val="FFFFFF"/>
                </a:solidFill>
              </a14:hiddenFill>
            </a:ext>
          </a:extLst>
        </p:spPr>
      </p:pic>
      <p:pic>
        <p:nvPicPr>
          <p:cNvPr id="105478" name="Picture 6" descr="Scabies: Causes, Symptoms and Treatments | Be Beautiful India">
            <a:extLst>
              <a:ext uri="{FF2B5EF4-FFF2-40B4-BE49-F238E27FC236}">
                <a16:creationId xmlns:a16="http://schemas.microsoft.com/office/drawing/2014/main" id="{8628AA30-74E6-9C43-A330-68DEEDD4AF5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6201"/>
          <a:stretch/>
        </p:blipFill>
        <p:spPr bwMode="auto">
          <a:xfrm>
            <a:off x="8001000" y="1874993"/>
            <a:ext cx="3167823" cy="4292528"/>
          </a:xfrm>
          <a:prstGeom prst="rect">
            <a:avLst/>
          </a:prstGeom>
          <a:noFill/>
          <a:ln w="5715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855984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DDA56-C0AA-0D4A-B51F-CF74551654AB}"/>
              </a:ext>
            </a:extLst>
          </p:cNvPr>
          <p:cNvSpPr>
            <a:spLocks noGrp="1"/>
          </p:cNvSpPr>
          <p:nvPr>
            <p:ph type="title"/>
          </p:nvPr>
        </p:nvSpPr>
        <p:spPr>
          <a:xfrm>
            <a:off x="817182" y="507218"/>
            <a:ext cx="8666162" cy="1143000"/>
          </a:xfrm>
        </p:spPr>
        <p:txBody>
          <a:bodyPr>
            <a:normAutofit/>
          </a:bodyPr>
          <a:lstStyle/>
          <a:p>
            <a:pPr>
              <a:defRPr/>
            </a:pPr>
            <a:r>
              <a:rPr lang="en-CA" b="1" dirty="0"/>
              <a:t>PARASITIC STI Prevention &amp; Treatment</a:t>
            </a:r>
          </a:p>
        </p:txBody>
      </p:sp>
      <p:sp>
        <p:nvSpPr>
          <p:cNvPr id="3" name="Content Placeholder 2">
            <a:extLst>
              <a:ext uri="{FF2B5EF4-FFF2-40B4-BE49-F238E27FC236}">
                <a16:creationId xmlns:a16="http://schemas.microsoft.com/office/drawing/2014/main" id="{B5D6E7C3-0847-4A4B-ADC2-DA6D07B3A3D9}"/>
              </a:ext>
            </a:extLst>
          </p:cNvPr>
          <p:cNvSpPr>
            <a:spLocks noGrp="1"/>
          </p:cNvSpPr>
          <p:nvPr>
            <p:ph idx="1"/>
          </p:nvPr>
        </p:nvSpPr>
        <p:spPr>
          <a:xfrm>
            <a:off x="817182" y="2026492"/>
            <a:ext cx="10392649" cy="4618482"/>
          </a:xfrm>
        </p:spPr>
        <p:txBody>
          <a:bodyPr>
            <a:normAutofit/>
          </a:bodyPr>
          <a:lstStyle/>
          <a:p>
            <a:pPr marL="0" indent="0">
              <a:buNone/>
              <a:defRPr/>
            </a:pPr>
            <a:r>
              <a:rPr lang="en-CA" sz="3200" b="1" dirty="0">
                <a:latin typeface="+mj-lt"/>
                <a:ea typeface="+mj-ea"/>
                <a:cs typeface="+mj-cs"/>
              </a:rPr>
              <a:t>Trichomoniasis</a:t>
            </a:r>
          </a:p>
          <a:p>
            <a:pPr>
              <a:buFont typeface="Arial" charset="0"/>
              <a:buChar char="•"/>
              <a:defRPr/>
            </a:pPr>
            <a:r>
              <a:rPr lang="en-CA" sz="2400" dirty="0"/>
              <a:t>Condoms will help prevent the spread.</a:t>
            </a:r>
          </a:p>
          <a:p>
            <a:pPr>
              <a:buFont typeface="Arial" charset="0"/>
              <a:buChar char="•"/>
              <a:defRPr/>
            </a:pPr>
            <a:r>
              <a:rPr lang="en-CA" sz="2400" dirty="0"/>
              <a:t>Treated with antibiotics.</a:t>
            </a:r>
            <a:endParaRPr lang="en-CA" sz="1200" dirty="0"/>
          </a:p>
          <a:p>
            <a:pPr marL="0" indent="0">
              <a:buNone/>
              <a:defRPr/>
            </a:pPr>
            <a:r>
              <a:rPr lang="en-CA" sz="3200" b="1" dirty="0">
                <a:latin typeface="+mj-lt"/>
                <a:ea typeface="+mj-ea"/>
                <a:cs typeface="+mj-cs"/>
              </a:rPr>
              <a:t>Pubic lice and Scabies</a:t>
            </a:r>
          </a:p>
          <a:p>
            <a:pPr>
              <a:buFont typeface="Arial" charset="0"/>
              <a:buChar char="•"/>
              <a:defRPr/>
            </a:pPr>
            <a:r>
              <a:rPr lang="en-CA" sz="2400" dirty="0"/>
              <a:t>Avoid sharing towels and clothing that have not been washed.</a:t>
            </a:r>
          </a:p>
          <a:p>
            <a:pPr>
              <a:buFont typeface="Arial" charset="0"/>
              <a:buChar char="•"/>
              <a:defRPr/>
            </a:pPr>
            <a:r>
              <a:rPr lang="en-CA" sz="2400" dirty="0"/>
              <a:t>When trying on bathing suits or underwear in the store always wear something underneath.</a:t>
            </a:r>
          </a:p>
          <a:p>
            <a:pPr>
              <a:buFont typeface="Arial" charset="0"/>
              <a:buChar char="•"/>
              <a:defRPr/>
            </a:pPr>
            <a:r>
              <a:rPr lang="en-CA" sz="2400" dirty="0"/>
              <a:t>Treated with shampoo, lotion or ointment.</a:t>
            </a:r>
          </a:p>
          <a:p>
            <a:pPr marL="0" indent="0">
              <a:buNone/>
              <a:defRPr/>
            </a:pPr>
            <a:endParaRPr lang="en-CA" dirty="0"/>
          </a:p>
        </p:txBody>
      </p:sp>
      <p:pic>
        <p:nvPicPr>
          <p:cNvPr id="4" name="Picture 2" descr="Parasitic STIs - Scabies | STD Testing | DTAP Clinic Singapore">
            <a:extLst>
              <a:ext uri="{FF2B5EF4-FFF2-40B4-BE49-F238E27FC236}">
                <a16:creationId xmlns:a16="http://schemas.microsoft.com/office/drawing/2014/main" id="{C18E5254-0F58-54C4-F6F9-D1D33A6E02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25070" y="1837364"/>
            <a:ext cx="2309629" cy="152011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Despite &amp;#39;barely there&amp;#39; trends, pubic lice are here to stay">
            <a:extLst>
              <a:ext uri="{FF2B5EF4-FFF2-40B4-BE49-F238E27FC236}">
                <a16:creationId xmlns:a16="http://schemas.microsoft.com/office/drawing/2014/main" id="{D890B87F-7E5E-A6CB-7D02-B2BF265B4B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28988" y="3420119"/>
            <a:ext cx="2309630" cy="17229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What is trichomoniasis and how can it affect your pregnancy? | BabyCenter">
            <a:extLst>
              <a:ext uri="{FF2B5EF4-FFF2-40B4-BE49-F238E27FC236}">
                <a16:creationId xmlns:a16="http://schemas.microsoft.com/office/drawing/2014/main" id="{B36E914B-CC34-BE38-019F-1B667141628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25070" y="5203517"/>
            <a:ext cx="2329717" cy="13810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E6A207B-97BE-4DE3-B7BA-6EB713664F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862760-00A5-7642-BC28-0F7FC66FC5EB}"/>
              </a:ext>
            </a:extLst>
          </p:cNvPr>
          <p:cNvSpPr>
            <a:spLocks noGrp="1"/>
          </p:cNvSpPr>
          <p:nvPr>
            <p:ph type="title"/>
          </p:nvPr>
        </p:nvSpPr>
        <p:spPr>
          <a:xfrm>
            <a:off x="8129016" y="640080"/>
            <a:ext cx="3432048" cy="1714065"/>
          </a:xfrm>
        </p:spPr>
        <p:txBody>
          <a:bodyPr vert="horz" lIns="91440" tIns="45720" rIns="91440" bIns="45720" rtlCol="0" anchor="b">
            <a:normAutofit/>
          </a:bodyPr>
          <a:lstStyle/>
          <a:p>
            <a:r>
              <a:rPr lang="en-US"/>
              <a:t>Viral STI’s</a:t>
            </a:r>
          </a:p>
        </p:txBody>
      </p:sp>
      <p:sp>
        <p:nvSpPr>
          <p:cNvPr id="12"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9016" y="2529151"/>
            <a:ext cx="3376602" cy="18288"/>
          </a:xfrm>
          <a:custGeom>
            <a:avLst/>
            <a:gdLst>
              <a:gd name="connsiteX0" fmla="*/ 0 w 3376602"/>
              <a:gd name="connsiteY0" fmla="*/ 0 h 18288"/>
              <a:gd name="connsiteX1" fmla="*/ 641554 w 3376602"/>
              <a:gd name="connsiteY1" fmla="*/ 0 h 18288"/>
              <a:gd name="connsiteX2" fmla="*/ 1316875 w 3376602"/>
              <a:gd name="connsiteY2" fmla="*/ 0 h 18288"/>
              <a:gd name="connsiteX3" fmla="*/ 2025961 w 3376602"/>
              <a:gd name="connsiteY3" fmla="*/ 0 h 18288"/>
              <a:gd name="connsiteX4" fmla="*/ 2735048 w 3376602"/>
              <a:gd name="connsiteY4" fmla="*/ 0 h 18288"/>
              <a:gd name="connsiteX5" fmla="*/ 3376602 w 3376602"/>
              <a:gd name="connsiteY5" fmla="*/ 0 h 18288"/>
              <a:gd name="connsiteX6" fmla="*/ 3376602 w 3376602"/>
              <a:gd name="connsiteY6" fmla="*/ 18288 h 18288"/>
              <a:gd name="connsiteX7" fmla="*/ 2633750 w 3376602"/>
              <a:gd name="connsiteY7" fmla="*/ 18288 h 18288"/>
              <a:gd name="connsiteX8" fmla="*/ 1890897 w 3376602"/>
              <a:gd name="connsiteY8" fmla="*/ 18288 h 18288"/>
              <a:gd name="connsiteX9" fmla="*/ 1215577 w 3376602"/>
              <a:gd name="connsiteY9" fmla="*/ 18288 h 18288"/>
              <a:gd name="connsiteX10" fmla="*/ 0 w 3376602"/>
              <a:gd name="connsiteY10" fmla="*/ 18288 h 18288"/>
              <a:gd name="connsiteX11" fmla="*/ 0 w 3376602"/>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76602" h="18288" fill="none" extrusionOk="0">
                <a:moveTo>
                  <a:pt x="0" y="0"/>
                </a:moveTo>
                <a:cubicBezTo>
                  <a:pt x="154337" y="-26787"/>
                  <a:pt x="393692" y="25344"/>
                  <a:pt x="641554" y="0"/>
                </a:cubicBezTo>
                <a:cubicBezTo>
                  <a:pt x="889416" y="-25344"/>
                  <a:pt x="1078313" y="12271"/>
                  <a:pt x="1316875" y="0"/>
                </a:cubicBezTo>
                <a:cubicBezTo>
                  <a:pt x="1555437" y="-12271"/>
                  <a:pt x="1698513" y="30110"/>
                  <a:pt x="2025961" y="0"/>
                </a:cubicBezTo>
                <a:cubicBezTo>
                  <a:pt x="2353409" y="-30110"/>
                  <a:pt x="2474986" y="1722"/>
                  <a:pt x="2735048" y="0"/>
                </a:cubicBezTo>
                <a:cubicBezTo>
                  <a:pt x="2995110" y="-1722"/>
                  <a:pt x="3097437" y="28961"/>
                  <a:pt x="3376602" y="0"/>
                </a:cubicBezTo>
                <a:cubicBezTo>
                  <a:pt x="3375893" y="8157"/>
                  <a:pt x="3376189" y="12125"/>
                  <a:pt x="3376602" y="18288"/>
                </a:cubicBezTo>
                <a:cubicBezTo>
                  <a:pt x="3037458" y="40377"/>
                  <a:pt x="2857195" y="34928"/>
                  <a:pt x="2633750" y="18288"/>
                </a:cubicBezTo>
                <a:cubicBezTo>
                  <a:pt x="2410305" y="1648"/>
                  <a:pt x="2066994" y="17360"/>
                  <a:pt x="1890897" y="18288"/>
                </a:cubicBezTo>
                <a:cubicBezTo>
                  <a:pt x="1714800" y="19216"/>
                  <a:pt x="1521080" y="47858"/>
                  <a:pt x="1215577" y="18288"/>
                </a:cubicBezTo>
                <a:cubicBezTo>
                  <a:pt x="910074" y="-11282"/>
                  <a:pt x="278912" y="61767"/>
                  <a:pt x="0" y="18288"/>
                </a:cubicBezTo>
                <a:cubicBezTo>
                  <a:pt x="-46" y="12483"/>
                  <a:pt x="-203" y="6491"/>
                  <a:pt x="0" y="0"/>
                </a:cubicBezTo>
                <a:close/>
              </a:path>
              <a:path w="3376602" h="18288" stroke="0" extrusionOk="0">
                <a:moveTo>
                  <a:pt x="0" y="0"/>
                </a:moveTo>
                <a:cubicBezTo>
                  <a:pt x="304565" y="-9016"/>
                  <a:pt x="402571" y="29762"/>
                  <a:pt x="641554" y="0"/>
                </a:cubicBezTo>
                <a:cubicBezTo>
                  <a:pt x="880537" y="-29762"/>
                  <a:pt x="963871" y="-12492"/>
                  <a:pt x="1215577" y="0"/>
                </a:cubicBezTo>
                <a:cubicBezTo>
                  <a:pt x="1467283" y="12492"/>
                  <a:pt x="1723274" y="15353"/>
                  <a:pt x="1958429" y="0"/>
                </a:cubicBezTo>
                <a:cubicBezTo>
                  <a:pt x="2193584" y="-15353"/>
                  <a:pt x="2347125" y="7922"/>
                  <a:pt x="2599984" y="0"/>
                </a:cubicBezTo>
                <a:cubicBezTo>
                  <a:pt x="2852843" y="-7922"/>
                  <a:pt x="3186422" y="-30763"/>
                  <a:pt x="3376602" y="0"/>
                </a:cubicBezTo>
                <a:cubicBezTo>
                  <a:pt x="3376338" y="4493"/>
                  <a:pt x="3376986" y="9472"/>
                  <a:pt x="3376602" y="18288"/>
                </a:cubicBezTo>
                <a:cubicBezTo>
                  <a:pt x="3080522" y="-5475"/>
                  <a:pt x="3038559" y="47323"/>
                  <a:pt x="2701282" y="18288"/>
                </a:cubicBezTo>
                <a:cubicBezTo>
                  <a:pt x="2364005" y="-10747"/>
                  <a:pt x="2245031" y="49099"/>
                  <a:pt x="1958429" y="18288"/>
                </a:cubicBezTo>
                <a:cubicBezTo>
                  <a:pt x="1671827" y="-12523"/>
                  <a:pt x="1619741" y="31109"/>
                  <a:pt x="1384407" y="18288"/>
                </a:cubicBezTo>
                <a:cubicBezTo>
                  <a:pt x="1149073" y="5467"/>
                  <a:pt x="947712" y="-11758"/>
                  <a:pt x="709086" y="18288"/>
                </a:cubicBezTo>
                <a:cubicBezTo>
                  <a:pt x="470460" y="48334"/>
                  <a:pt x="186882" y="50183"/>
                  <a:pt x="0" y="18288"/>
                </a:cubicBezTo>
                <a:cubicBezTo>
                  <a:pt x="843" y="9577"/>
                  <a:pt x="371" y="6900"/>
                  <a:pt x="0" y="0"/>
                </a:cubicBezTo>
                <a:close/>
              </a:path>
            </a:pathLst>
          </a:custGeom>
          <a:solidFill>
            <a:srgbClr val="F6A727"/>
          </a:solidFill>
          <a:ln w="38100" cap="rnd">
            <a:solidFill>
              <a:srgbClr val="F6A727"/>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6E362C6-1DF9-1944-B81F-57BE134D6C43}"/>
              </a:ext>
            </a:extLst>
          </p:cNvPr>
          <p:cNvSpPr txBox="1"/>
          <p:nvPr/>
        </p:nvSpPr>
        <p:spPr>
          <a:xfrm>
            <a:off x="8129016" y="2803470"/>
            <a:ext cx="3432048" cy="3414450"/>
          </a:xfrm>
          <a:prstGeom prst="rect">
            <a:avLst/>
          </a:prstGeom>
        </p:spPr>
        <p:txBody>
          <a:bodyPr vert="horz" lIns="91440" tIns="45720" rIns="91440" bIns="45720" rtlCol="0" anchor="t">
            <a:normAutofit/>
          </a:bodyPr>
          <a:lstStyle/>
          <a:p>
            <a:pPr indent="-228600">
              <a:lnSpc>
                <a:spcPct val="110000"/>
              </a:lnSpc>
              <a:spcAft>
                <a:spcPts val="600"/>
              </a:spcAft>
              <a:buFont typeface="Arial" panose="020B0604020202020204" pitchFamily="34" charset="0"/>
              <a:buChar char="•"/>
            </a:pPr>
            <a:r>
              <a:rPr lang="en-US" sz="2400"/>
              <a:t>Herpes</a:t>
            </a:r>
          </a:p>
          <a:p>
            <a:pPr indent="-228600">
              <a:lnSpc>
                <a:spcPct val="110000"/>
              </a:lnSpc>
              <a:spcAft>
                <a:spcPts val="600"/>
              </a:spcAft>
              <a:buFont typeface="Arial" panose="020B0604020202020204" pitchFamily="34" charset="0"/>
              <a:buChar char="•"/>
            </a:pPr>
            <a:r>
              <a:rPr lang="en-US" sz="2400"/>
              <a:t>HPV</a:t>
            </a:r>
          </a:p>
          <a:p>
            <a:pPr indent="-228600">
              <a:lnSpc>
                <a:spcPct val="110000"/>
              </a:lnSpc>
              <a:spcAft>
                <a:spcPts val="600"/>
              </a:spcAft>
              <a:buFont typeface="Arial" panose="020B0604020202020204" pitchFamily="34" charset="0"/>
              <a:buChar char="•"/>
            </a:pPr>
            <a:r>
              <a:rPr lang="en-US" sz="2400"/>
              <a:t>HIV</a:t>
            </a:r>
          </a:p>
        </p:txBody>
      </p:sp>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6436237" y="1971579"/>
              <a:ext cx="360" cy="2160"/>
            </p14:xfrm>
          </p:contentPart>
        </mc:Choice>
        <mc:Fallback xmlns="">
          <p:pic>
            <p:nvPicPr>
              <p:cNvPr id="14" name="Ink 13">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5"/>
              <a:stretch>
                <a:fillRect/>
              </a:stretch>
            </p:blipFill>
            <p:spPr>
              <a:xfrm>
                <a:off x="6418237" y="1956150"/>
                <a:ext cx="36000" cy="32709"/>
              </a:xfrm>
              <a:prstGeom prst="rect">
                <a:avLst/>
              </a:prstGeom>
            </p:spPr>
          </p:pic>
        </mc:Fallback>
      </mc:AlternateContent>
      <p:pic>
        <p:nvPicPr>
          <p:cNvPr id="4" name="Online Media 3" descr="What are Viral STI?">
            <a:hlinkClick r:id="" action="ppaction://media"/>
            <a:extLst>
              <a:ext uri="{FF2B5EF4-FFF2-40B4-BE49-F238E27FC236}">
                <a16:creationId xmlns:a16="http://schemas.microsoft.com/office/drawing/2014/main" id="{0D907298-CABA-1242-A128-21E0FD2428DC}"/>
              </a:ext>
            </a:extLst>
          </p:cNvPr>
          <p:cNvPicPr>
            <a:picLocks noGrp="1" noRot="1" noChangeAspect="1"/>
          </p:cNvPicPr>
          <p:nvPr>
            <p:ph idx="1"/>
            <a:videoFile r:link="rId1"/>
          </p:nvPr>
        </p:nvPicPr>
        <p:blipFill>
          <a:blip r:embed="rId6"/>
          <a:stretch>
            <a:fillRect/>
          </a:stretch>
        </p:blipFill>
        <p:spPr>
          <a:xfrm>
            <a:off x="96018" y="453775"/>
            <a:ext cx="7933934" cy="5950450"/>
          </a:xfrm>
          <a:prstGeom prst="rect">
            <a:avLst/>
          </a:prstGeom>
        </p:spPr>
      </p:pic>
    </p:spTree>
    <p:extLst>
      <p:ext uri="{BB962C8B-B14F-4D97-AF65-F5344CB8AC3E}">
        <p14:creationId xmlns:p14="http://schemas.microsoft.com/office/powerpoint/2010/main" val="3574125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0FDF69-4661-55F8-3E72-1E1FBAAED3D7}"/>
              </a:ext>
            </a:extLst>
          </p:cNvPr>
          <p:cNvSpPr>
            <a:spLocks noGrp="1"/>
          </p:cNvSpPr>
          <p:nvPr>
            <p:ph type="title"/>
          </p:nvPr>
        </p:nvSpPr>
        <p:spPr>
          <a:xfrm>
            <a:off x="5297762" y="329184"/>
            <a:ext cx="6677928" cy="1783080"/>
          </a:xfrm>
        </p:spPr>
        <p:txBody>
          <a:bodyPr anchor="b">
            <a:normAutofit/>
          </a:bodyPr>
          <a:lstStyle/>
          <a:p>
            <a:pPr>
              <a:lnSpc>
                <a:spcPct val="90000"/>
              </a:lnSpc>
            </a:pPr>
            <a:r>
              <a:rPr lang="en-US" sz="6100" dirty="0"/>
              <a:t>STI’s are dangerous because…</a:t>
            </a:r>
          </a:p>
        </p:txBody>
      </p:sp>
      <p:sp>
        <p:nvSpPr>
          <p:cNvPr id="11"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239572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rgbClr val="4BD7FF"/>
          </a:solidFill>
          <a:ln w="38100" cap="rnd">
            <a:solidFill>
              <a:srgbClr val="4BD7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7C9A6C4-7A76-2D46-8321-4ABEA25264A2}"/>
              </a:ext>
            </a:extLst>
          </p:cNvPr>
          <p:cNvSpPr>
            <a:spLocks noGrp="1"/>
          </p:cNvSpPr>
          <p:nvPr>
            <p:ph idx="1"/>
          </p:nvPr>
        </p:nvSpPr>
        <p:spPr>
          <a:xfrm>
            <a:off x="5297762" y="2706624"/>
            <a:ext cx="6251110" cy="3822192"/>
          </a:xfrm>
        </p:spPr>
        <p:txBody>
          <a:bodyPr>
            <a:normAutofit fontScale="92500" lnSpcReduction="10000"/>
          </a:bodyPr>
          <a:lstStyle/>
          <a:p>
            <a:pPr>
              <a:lnSpc>
                <a:spcPct val="100000"/>
              </a:lnSpc>
            </a:pPr>
            <a:r>
              <a:rPr lang="en-US" sz="3200" dirty="0"/>
              <a:t>Common</a:t>
            </a:r>
          </a:p>
          <a:p>
            <a:pPr>
              <a:lnSpc>
                <a:spcPct val="100000"/>
              </a:lnSpc>
            </a:pPr>
            <a:r>
              <a:rPr lang="en-US" sz="3200" dirty="0"/>
              <a:t>Can be serious, particularly if left untreated (discomfort, disease, infertility, death)</a:t>
            </a:r>
          </a:p>
          <a:p>
            <a:pPr>
              <a:lnSpc>
                <a:spcPct val="100000"/>
              </a:lnSpc>
            </a:pPr>
            <a:r>
              <a:rPr lang="en-US" sz="3200" dirty="0"/>
              <a:t>Not many preventative vaccines (only 2)</a:t>
            </a:r>
          </a:p>
          <a:p>
            <a:pPr>
              <a:lnSpc>
                <a:spcPct val="100000"/>
              </a:lnSpc>
            </a:pPr>
            <a:r>
              <a:rPr lang="en-US" sz="3200" dirty="0"/>
              <a:t>Some are incurable</a:t>
            </a:r>
          </a:p>
          <a:p>
            <a:pPr>
              <a:lnSpc>
                <a:spcPct val="100000"/>
              </a:lnSpc>
            </a:pPr>
            <a:r>
              <a:rPr lang="en-US" sz="3200" dirty="0"/>
              <a:t>Many have no signs/symptoms</a:t>
            </a:r>
          </a:p>
          <a:p>
            <a:pPr>
              <a:lnSpc>
                <a:spcPct val="100000"/>
              </a:lnSpc>
            </a:pPr>
            <a:r>
              <a:rPr lang="en-US" sz="3200" dirty="0"/>
              <a:t>Most spread silently</a:t>
            </a:r>
          </a:p>
        </p:txBody>
      </p:sp>
      <p:pic>
        <p:nvPicPr>
          <p:cNvPr id="5" name="Picture 4" descr="A row of samples for medical testing">
            <a:extLst>
              <a:ext uri="{FF2B5EF4-FFF2-40B4-BE49-F238E27FC236}">
                <a16:creationId xmlns:a16="http://schemas.microsoft.com/office/drawing/2014/main" id="{62CC33AB-F738-023E-D094-A4019D793235}"/>
              </a:ext>
            </a:extLst>
          </p:cNvPr>
          <p:cNvPicPr>
            <a:picLocks noChangeAspect="1"/>
          </p:cNvPicPr>
          <p:nvPr/>
        </p:nvPicPr>
        <p:blipFill rotWithShape="1">
          <a:blip r:embed="rId3"/>
          <a:srcRect l="48033" r="1034"/>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Tree>
    <p:extLst>
      <p:ext uri="{BB962C8B-B14F-4D97-AF65-F5344CB8AC3E}">
        <p14:creationId xmlns:p14="http://schemas.microsoft.com/office/powerpoint/2010/main" val="353575425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6">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0" name="Rectangle 9">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1002C1-8CFC-4C31-5E02-AE252C28C0C9}"/>
              </a:ext>
            </a:extLst>
          </p:cNvPr>
          <p:cNvSpPr>
            <a:spLocks noGrp="1"/>
          </p:cNvSpPr>
          <p:nvPr>
            <p:ph type="title"/>
          </p:nvPr>
        </p:nvSpPr>
        <p:spPr>
          <a:xfrm>
            <a:off x="838200" y="451381"/>
            <a:ext cx="6772835" cy="4066540"/>
          </a:xfrm>
        </p:spPr>
        <p:txBody>
          <a:bodyPr vert="horz" lIns="91440" tIns="45720" rIns="91440" bIns="45720" rtlCol="0" anchor="b">
            <a:normAutofit/>
          </a:bodyPr>
          <a:lstStyle/>
          <a:p>
            <a:r>
              <a:rPr lang="en-US" sz="9600" dirty="0">
                <a:solidFill>
                  <a:schemeClr val="accent1"/>
                </a:solidFill>
              </a:rPr>
              <a:t>Optional Activity: Condom Activity </a:t>
            </a:r>
          </a:p>
        </p:txBody>
      </p:sp>
      <p:sp>
        <p:nvSpPr>
          <p:cNvPr id="3" name="Content Placeholder 2">
            <a:extLst>
              <a:ext uri="{FF2B5EF4-FFF2-40B4-BE49-F238E27FC236}">
                <a16:creationId xmlns:a16="http://schemas.microsoft.com/office/drawing/2014/main" id="{2158341A-E2A6-5823-818C-15F12D25A3F1}"/>
              </a:ext>
            </a:extLst>
          </p:cNvPr>
          <p:cNvSpPr>
            <a:spLocks noGrp="1"/>
          </p:cNvSpPr>
          <p:nvPr>
            <p:ph idx="1"/>
          </p:nvPr>
        </p:nvSpPr>
        <p:spPr>
          <a:xfrm>
            <a:off x="838200" y="5119575"/>
            <a:ext cx="9879106" cy="1126680"/>
          </a:xfrm>
        </p:spPr>
        <p:txBody>
          <a:bodyPr vert="horz" lIns="91440" tIns="45720" rIns="91440" bIns="45720" rtlCol="0">
            <a:normAutofit/>
          </a:bodyPr>
          <a:lstStyle/>
          <a:p>
            <a:pPr marL="0" indent="0">
              <a:buNone/>
            </a:pPr>
            <a:r>
              <a:rPr lang="en-US" dirty="0"/>
              <a:t>Using the condom resources, allow students time to practice how to use condoms.  </a:t>
            </a:r>
          </a:p>
        </p:txBody>
      </p:sp>
      <p:sp>
        <p:nvSpPr>
          <p:cNvPr id="12" name="Rectangle 6">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230500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93245F62-CCC4-49E4-B95B-EA6C1E790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rainbow colored splatter&#10;&#10;Description automatically generated">
            <a:extLst>
              <a:ext uri="{FF2B5EF4-FFF2-40B4-BE49-F238E27FC236}">
                <a16:creationId xmlns:a16="http://schemas.microsoft.com/office/drawing/2014/main" id="{EEA83DFB-1DE6-B5DE-A972-635BA2248013}"/>
              </a:ext>
            </a:extLst>
          </p:cNvPr>
          <p:cNvPicPr>
            <a:picLocks noChangeAspect="1"/>
          </p:cNvPicPr>
          <p:nvPr/>
        </p:nvPicPr>
        <p:blipFill rotWithShape="1">
          <a:blip r:embed="rId2"/>
          <a:srcRect t="1747"/>
          <a:stretch/>
        </p:blipFill>
        <p:spPr>
          <a:xfrm>
            <a:off x="1298963" y="266542"/>
            <a:ext cx="9589477" cy="5394065"/>
          </a:xfrm>
          <a:prstGeom prst="rect">
            <a:avLst/>
          </a:prstGeom>
        </p:spPr>
      </p:pic>
      <p:pic>
        <p:nvPicPr>
          <p:cNvPr id="1028" name="Picture 4" descr="Sexually Transmitted Infections and HIV">
            <a:extLst>
              <a:ext uri="{FF2B5EF4-FFF2-40B4-BE49-F238E27FC236}">
                <a16:creationId xmlns:a16="http://schemas.microsoft.com/office/drawing/2014/main" id="{BDCE080E-9344-5EDA-E414-5ED90ABD48C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l="25312" t="22731" r="26524" b="12904"/>
          <a:stretch/>
        </p:blipFill>
        <p:spPr bwMode="auto">
          <a:xfrm>
            <a:off x="9472614" y="266542"/>
            <a:ext cx="2614612" cy="192992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657FBC4-0AFB-ADB7-F057-3A685854992A}"/>
              </a:ext>
            </a:extLst>
          </p:cNvPr>
          <p:cNvSpPr>
            <a:spLocks noGrp="1"/>
          </p:cNvSpPr>
          <p:nvPr>
            <p:ph type="ctrTitle"/>
          </p:nvPr>
        </p:nvSpPr>
        <p:spPr>
          <a:xfrm>
            <a:off x="638882" y="3577456"/>
            <a:ext cx="10909640" cy="1687814"/>
          </a:xfrm>
        </p:spPr>
        <p:txBody>
          <a:bodyPr anchor="b">
            <a:normAutofit/>
          </a:bodyPr>
          <a:lstStyle/>
          <a:p>
            <a:pPr algn="ctr"/>
            <a:r>
              <a:rPr lang="en-US" sz="10000" dirty="0"/>
              <a:t>CONTRACEPTION &amp; STI’s</a:t>
            </a:r>
          </a:p>
        </p:txBody>
      </p:sp>
      <p:sp>
        <p:nvSpPr>
          <p:cNvPr id="3" name="Subtitle 2">
            <a:extLst>
              <a:ext uri="{FF2B5EF4-FFF2-40B4-BE49-F238E27FC236}">
                <a16:creationId xmlns:a16="http://schemas.microsoft.com/office/drawing/2014/main" id="{E0D7FC79-1308-3C8D-6F49-05BF0614DDCD}"/>
              </a:ext>
            </a:extLst>
          </p:cNvPr>
          <p:cNvSpPr>
            <a:spLocks noGrp="1"/>
          </p:cNvSpPr>
          <p:nvPr>
            <p:ph type="subTitle" idx="1"/>
          </p:nvPr>
        </p:nvSpPr>
        <p:spPr>
          <a:xfrm>
            <a:off x="638881" y="5660607"/>
            <a:ext cx="10909643" cy="1060868"/>
          </a:xfrm>
        </p:spPr>
        <p:txBody>
          <a:bodyPr anchor="t">
            <a:normAutofit/>
          </a:bodyPr>
          <a:lstStyle/>
          <a:p>
            <a:pPr algn="ctr"/>
            <a:r>
              <a:rPr lang="en-US" sz="3200" b="1" dirty="0"/>
              <a:t>Year 10 Health 			Lesson 6			Term 2, 2024</a:t>
            </a:r>
          </a:p>
        </p:txBody>
      </p:sp>
      <p:sp>
        <p:nvSpPr>
          <p:cNvPr id="77" name="Rectangle 6">
            <a:extLst>
              <a:ext uri="{FF2B5EF4-FFF2-40B4-BE49-F238E27FC236}">
                <a16:creationId xmlns:a16="http://schemas.microsoft.com/office/drawing/2014/main" id="{E6C0DD6B-6AA3-448F-9B99-8386295BC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27432"/>
          </a:xfrm>
          <a:custGeom>
            <a:avLst/>
            <a:gdLst>
              <a:gd name="connsiteX0" fmla="*/ 0 w 4572000"/>
              <a:gd name="connsiteY0" fmla="*/ 0 h 27432"/>
              <a:gd name="connsiteX1" fmla="*/ 607423 w 4572000"/>
              <a:gd name="connsiteY1" fmla="*/ 0 h 27432"/>
              <a:gd name="connsiteX2" fmla="*/ 1123406 w 4572000"/>
              <a:gd name="connsiteY2" fmla="*/ 0 h 27432"/>
              <a:gd name="connsiteX3" fmla="*/ 1685109 w 4572000"/>
              <a:gd name="connsiteY3" fmla="*/ 0 h 27432"/>
              <a:gd name="connsiteX4" fmla="*/ 2383971 w 4572000"/>
              <a:gd name="connsiteY4" fmla="*/ 0 h 27432"/>
              <a:gd name="connsiteX5" fmla="*/ 2991394 w 4572000"/>
              <a:gd name="connsiteY5" fmla="*/ 0 h 27432"/>
              <a:gd name="connsiteX6" fmla="*/ 3553097 w 4572000"/>
              <a:gd name="connsiteY6" fmla="*/ 0 h 27432"/>
              <a:gd name="connsiteX7" fmla="*/ 4572000 w 4572000"/>
              <a:gd name="connsiteY7" fmla="*/ 0 h 27432"/>
              <a:gd name="connsiteX8" fmla="*/ 4572000 w 4572000"/>
              <a:gd name="connsiteY8" fmla="*/ 27432 h 27432"/>
              <a:gd name="connsiteX9" fmla="*/ 3918857 w 4572000"/>
              <a:gd name="connsiteY9" fmla="*/ 27432 h 27432"/>
              <a:gd name="connsiteX10" fmla="*/ 3357154 w 4572000"/>
              <a:gd name="connsiteY10" fmla="*/ 27432 h 27432"/>
              <a:gd name="connsiteX11" fmla="*/ 2612571 w 4572000"/>
              <a:gd name="connsiteY11" fmla="*/ 27432 h 27432"/>
              <a:gd name="connsiteX12" fmla="*/ 2005149 w 4572000"/>
              <a:gd name="connsiteY12" fmla="*/ 27432 h 27432"/>
              <a:gd name="connsiteX13" fmla="*/ 1489166 w 4572000"/>
              <a:gd name="connsiteY13" fmla="*/ 27432 h 27432"/>
              <a:gd name="connsiteX14" fmla="*/ 790303 w 4572000"/>
              <a:gd name="connsiteY14" fmla="*/ 27432 h 27432"/>
              <a:gd name="connsiteX15" fmla="*/ 0 w 4572000"/>
              <a:gd name="connsiteY15" fmla="*/ 27432 h 27432"/>
              <a:gd name="connsiteX16" fmla="*/ 0 w 457200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27432" fill="none" extrusionOk="0">
                <a:moveTo>
                  <a:pt x="0" y="0"/>
                </a:moveTo>
                <a:cubicBezTo>
                  <a:pt x="150397" y="-23421"/>
                  <a:pt x="474161" y="9174"/>
                  <a:pt x="607423" y="0"/>
                </a:cubicBezTo>
                <a:cubicBezTo>
                  <a:pt x="740685" y="-9174"/>
                  <a:pt x="868821" y="-4258"/>
                  <a:pt x="1123406" y="0"/>
                </a:cubicBezTo>
                <a:cubicBezTo>
                  <a:pt x="1377991" y="4258"/>
                  <a:pt x="1567664" y="-12410"/>
                  <a:pt x="1685109" y="0"/>
                </a:cubicBezTo>
                <a:cubicBezTo>
                  <a:pt x="1802554" y="12410"/>
                  <a:pt x="2193086" y="-14353"/>
                  <a:pt x="2383971" y="0"/>
                </a:cubicBezTo>
                <a:cubicBezTo>
                  <a:pt x="2574856" y="14353"/>
                  <a:pt x="2697477" y="-26142"/>
                  <a:pt x="2991394" y="0"/>
                </a:cubicBezTo>
                <a:cubicBezTo>
                  <a:pt x="3285311" y="26142"/>
                  <a:pt x="3423667" y="26544"/>
                  <a:pt x="3553097" y="0"/>
                </a:cubicBezTo>
                <a:cubicBezTo>
                  <a:pt x="3682527" y="-26544"/>
                  <a:pt x="4344147" y="50350"/>
                  <a:pt x="4572000" y="0"/>
                </a:cubicBezTo>
                <a:cubicBezTo>
                  <a:pt x="4571027" y="8304"/>
                  <a:pt x="4571522" y="21512"/>
                  <a:pt x="4572000" y="27432"/>
                </a:cubicBezTo>
                <a:cubicBezTo>
                  <a:pt x="4438349" y="5490"/>
                  <a:pt x="4090129" y="31231"/>
                  <a:pt x="3918857" y="27432"/>
                </a:cubicBezTo>
                <a:cubicBezTo>
                  <a:pt x="3747585" y="23633"/>
                  <a:pt x="3498826" y="6883"/>
                  <a:pt x="3357154" y="27432"/>
                </a:cubicBezTo>
                <a:cubicBezTo>
                  <a:pt x="3215482" y="47981"/>
                  <a:pt x="2784289" y="56849"/>
                  <a:pt x="2612571" y="27432"/>
                </a:cubicBezTo>
                <a:cubicBezTo>
                  <a:pt x="2440853" y="-1985"/>
                  <a:pt x="2261292" y="25951"/>
                  <a:pt x="2005149" y="27432"/>
                </a:cubicBezTo>
                <a:cubicBezTo>
                  <a:pt x="1749006" y="28913"/>
                  <a:pt x="1700078" y="34342"/>
                  <a:pt x="1489166" y="27432"/>
                </a:cubicBezTo>
                <a:cubicBezTo>
                  <a:pt x="1278254" y="20522"/>
                  <a:pt x="1077188" y="56916"/>
                  <a:pt x="790303" y="27432"/>
                </a:cubicBezTo>
                <a:cubicBezTo>
                  <a:pt x="503418" y="-2052"/>
                  <a:pt x="359168" y="57044"/>
                  <a:pt x="0" y="27432"/>
                </a:cubicBezTo>
                <a:cubicBezTo>
                  <a:pt x="-1048" y="14992"/>
                  <a:pt x="-1120" y="7447"/>
                  <a:pt x="0" y="0"/>
                </a:cubicBezTo>
                <a:close/>
              </a:path>
              <a:path w="4572000" h="27432" stroke="0" extrusionOk="0">
                <a:moveTo>
                  <a:pt x="0" y="0"/>
                </a:moveTo>
                <a:cubicBezTo>
                  <a:pt x="155698" y="6780"/>
                  <a:pt x="465972" y="13197"/>
                  <a:pt x="607423" y="0"/>
                </a:cubicBezTo>
                <a:cubicBezTo>
                  <a:pt x="748874" y="-13197"/>
                  <a:pt x="1014133" y="22994"/>
                  <a:pt x="1123406" y="0"/>
                </a:cubicBezTo>
                <a:cubicBezTo>
                  <a:pt x="1232679" y="-22994"/>
                  <a:pt x="1639431" y="-2997"/>
                  <a:pt x="1867989" y="0"/>
                </a:cubicBezTo>
                <a:cubicBezTo>
                  <a:pt x="2096547" y="2997"/>
                  <a:pt x="2265668" y="29557"/>
                  <a:pt x="2475411" y="0"/>
                </a:cubicBezTo>
                <a:cubicBezTo>
                  <a:pt x="2685154" y="-29557"/>
                  <a:pt x="2951491" y="73"/>
                  <a:pt x="3082834" y="0"/>
                </a:cubicBezTo>
                <a:cubicBezTo>
                  <a:pt x="3214177" y="-73"/>
                  <a:pt x="3641000" y="-33478"/>
                  <a:pt x="3827417" y="0"/>
                </a:cubicBezTo>
                <a:cubicBezTo>
                  <a:pt x="4013834" y="33478"/>
                  <a:pt x="4345917" y="14255"/>
                  <a:pt x="4572000" y="0"/>
                </a:cubicBezTo>
                <a:cubicBezTo>
                  <a:pt x="4572485" y="9333"/>
                  <a:pt x="4573278" y="19699"/>
                  <a:pt x="4572000" y="27432"/>
                </a:cubicBezTo>
                <a:cubicBezTo>
                  <a:pt x="4318030" y="43025"/>
                  <a:pt x="4161104" y="34314"/>
                  <a:pt x="4010297" y="27432"/>
                </a:cubicBezTo>
                <a:cubicBezTo>
                  <a:pt x="3859490" y="20550"/>
                  <a:pt x="3592529" y="6613"/>
                  <a:pt x="3357154" y="27432"/>
                </a:cubicBezTo>
                <a:cubicBezTo>
                  <a:pt x="3121779" y="48251"/>
                  <a:pt x="2884285" y="3780"/>
                  <a:pt x="2704011" y="27432"/>
                </a:cubicBezTo>
                <a:cubicBezTo>
                  <a:pt x="2523737" y="51084"/>
                  <a:pt x="2295944" y="32081"/>
                  <a:pt x="2096589" y="27432"/>
                </a:cubicBezTo>
                <a:cubicBezTo>
                  <a:pt x="1897234" y="22783"/>
                  <a:pt x="1623782" y="52518"/>
                  <a:pt x="1352006" y="27432"/>
                </a:cubicBezTo>
                <a:cubicBezTo>
                  <a:pt x="1080230" y="2346"/>
                  <a:pt x="869959" y="12864"/>
                  <a:pt x="607423" y="27432"/>
                </a:cubicBezTo>
                <a:cubicBezTo>
                  <a:pt x="344887" y="42000"/>
                  <a:pt x="188100" y="40051"/>
                  <a:pt x="0" y="27432"/>
                </a:cubicBezTo>
                <a:cubicBezTo>
                  <a:pt x="211" y="18145"/>
                  <a:pt x="120" y="6480"/>
                  <a:pt x="0" y="0"/>
                </a:cubicBezTo>
                <a:close/>
              </a:path>
            </a:pathLst>
          </a:custGeom>
          <a:solidFill>
            <a:srgbClr val="7EB8FB"/>
          </a:solidFill>
          <a:ln w="38100" cap="rnd">
            <a:solidFill>
              <a:srgbClr val="7EB8FB"/>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Date Placeholder 26">
            <a:extLst>
              <a:ext uri="{FF2B5EF4-FFF2-40B4-BE49-F238E27FC236}">
                <a16:creationId xmlns:a16="http://schemas.microsoft.com/office/drawing/2014/main" id="{F28B82B1-E269-4325-A665-6CFE5DEE5DE5}"/>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81" name="Footer Placeholder 27">
            <a:extLst>
              <a:ext uri="{FF2B5EF4-FFF2-40B4-BE49-F238E27FC236}">
                <a16:creationId xmlns:a16="http://schemas.microsoft.com/office/drawing/2014/main" id="{7C700527-76FD-4DF4-A597-6F5E089CA0C2}"/>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83" name="Slide Number Placeholder 28">
            <a:extLst>
              <a:ext uri="{FF2B5EF4-FFF2-40B4-BE49-F238E27FC236}">
                <a16:creationId xmlns:a16="http://schemas.microsoft.com/office/drawing/2014/main" id="{B5EA49A9-01EB-4D60-A392-7DC9B625D67D}"/>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1016753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41" presetClass="path" presetSubtype="0" accel="50000" decel="50000" fill="hold" nodeType="withEffect">
                                  <p:stCondLst>
                                    <p:cond delay="0"/>
                                  </p:stCondLst>
                                  <p:childTnLst>
                                    <p:animMotion origin="layout" path="M -4.58333E-6 -1.11111E-6 C -0.01679 -0.02407 -0.07395 -0.04745 -0.09492 -0.04745 C -0.22226 -0.04745 -0.35377 0.32408 -0.35377 0.69583 C -0.35377 0.50857 -0.41966 0.32408 -0.48112 0.32408 C -0.547 0.32408 -0.60846 0.51134 -0.60846 0.69583 C -0.60846 0.60347 -0.64114 0.50857 -0.67421 0.50857 C -0.70703 0.50857 -0.74023 0.6007 -0.74023 0.69583 C -0.74023 0.64815 -0.75664 0.60347 -0.77278 0.60347 C -0.78945 0.60347 -0.80546 0.65093 -0.80546 0.69583 C -0.80546 0.67153 -0.81341 0.64815 -0.822 0.64815 C -0.8263 0.64815 -0.83867 0.67222 -0.83867 0.69583 C -0.83867 0.68403 -0.84296 0.67153 -0.84661 0.67153 C -0.84661 0.66898 -0.85468 0.68333 -0.85468 0.69583 C -0.85468 0.68958 -0.85468 0.68403 -0.85898 0.68403 C -0.85898 0.68681 -0.86328 0.69028 -0.86328 0.69583 C -0.86328 0.69306 -0.86328 0.68958 -0.86328 0.68681 C -0.86757 0.68681 -0.86757 0.68958 -0.86757 0.69306 C -0.87187 0.69306 -0.87187 0.69028 -0.87187 0.68681 C -0.87591 0.68681 -0.87591 0.68958 -0.87591 0.69306 " pathEditMode="relative" rAng="0" ptsTypes="AAAAAAAAAAAAAAAAAAA">
                                      <p:cBhvr>
                                        <p:cTn id="9" dur="5000" fill="hold"/>
                                        <p:tgtEl>
                                          <p:spTgt spid="1028"/>
                                        </p:tgtEl>
                                        <p:attrNameLst>
                                          <p:attrName>ppt_x</p:attrName>
                                          <p:attrName>ppt_y</p:attrName>
                                        </p:attrNameLst>
                                      </p:cBhvr>
                                      <p:rCtr x="-43802" y="3240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04FFB5-DE23-4D74-BEF9-CC7D947D357C}"/>
              </a:ext>
            </a:extLst>
          </p:cNvPr>
          <p:cNvSpPr>
            <a:spLocks noGrp="1"/>
          </p:cNvSpPr>
          <p:nvPr>
            <p:ph type="title"/>
          </p:nvPr>
        </p:nvSpPr>
        <p:spPr>
          <a:xfrm>
            <a:off x="640080" y="325369"/>
            <a:ext cx="4368602" cy="1956841"/>
          </a:xfrm>
        </p:spPr>
        <p:txBody>
          <a:bodyPr anchor="b">
            <a:normAutofit/>
          </a:bodyPr>
          <a:lstStyle/>
          <a:p>
            <a:r>
              <a:rPr lang="en-US" sz="6600"/>
              <a:t>Today’s Focus</a:t>
            </a:r>
          </a:p>
        </p:txBody>
      </p:sp>
      <p:sp>
        <p:nvSpPr>
          <p:cNvPr id="28"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093" y="2563839"/>
            <a:ext cx="3931920" cy="27432"/>
          </a:xfrm>
          <a:custGeom>
            <a:avLst/>
            <a:gdLst>
              <a:gd name="connsiteX0" fmla="*/ 0 w 3931920"/>
              <a:gd name="connsiteY0" fmla="*/ 0 h 27432"/>
              <a:gd name="connsiteX1" fmla="*/ 733958 w 3931920"/>
              <a:gd name="connsiteY1" fmla="*/ 0 h 27432"/>
              <a:gd name="connsiteX2" fmla="*/ 1428598 w 3931920"/>
              <a:gd name="connsiteY2" fmla="*/ 0 h 27432"/>
              <a:gd name="connsiteX3" fmla="*/ 2123237 w 3931920"/>
              <a:gd name="connsiteY3" fmla="*/ 0 h 27432"/>
              <a:gd name="connsiteX4" fmla="*/ 2660599 w 3931920"/>
              <a:gd name="connsiteY4" fmla="*/ 0 h 27432"/>
              <a:gd name="connsiteX5" fmla="*/ 3237281 w 3931920"/>
              <a:gd name="connsiteY5" fmla="*/ 0 h 27432"/>
              <a:gd name="connsiteX6" fmla="*/ 3931920 w 3931920"/>
              <a:gd name="connsiteY6" fmla="*/ 0 h 27432"/>
              <a:gd name="connsiteX7" fmla="*/ 3931920 w 3931920"/>
              <a:gd name="connsiteY7" fmla="*/ 27432 h 27432"/>
              <a:gd name="connsiteX8" fmla="*/ 3276600 w 3931920"/>
              <a:gd name="connsiteY8" fmla="*/ 27432 h 27432"/>
              <a:gd name="connsiteX9" fmla="*/ 2739238 w 3931920"/>
              <a:gd name="connsiteY9" fmla="*/ 27432 h 27432"/>
              <a:gd name="connsiteX10" fmla="*/ 2201875 w 3931920"/>
              <a:gd name="connsiteY10" fmla="*/ 27432 h 27432"/>
              <a:gd name="connsiteX11" fmla="*/ 1507236 w 3931920"/>
              <a:gd name="connsiteY11" fmla="*/ 27432 h 27432"/>
              <a:gd name="connsiteX12" fmla="*/ 930554 w 3931920"/>
              <a:gd name="connsiteY12" fmla="*/ 27432 h 27432"/>
              <a:gd name="connsiteX13" fmla="*/ 0 w 3931920"/>
              <a:gd name="connsiteY13" fmla="*/ 27432 h 27432"/>
              <a:gd name="connsiteX14" fmla="*/ 0 w 3931920"/>
              <a:gd name="connsiteY14"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31920" h="27432" fill="none" extrusionOk="0">
                <a:moveTo>
                  <a:pt x="0" y="0"/>
                </a:moveTo>
                <a:cubicBezTo>
                  <a:pt x="245351" y="16874"/>
                  <a:pt x="509174" y="13736"/>
                  <a:pt x="733958" y="0"/>
                </a:cubicBezTo>
                <a:cubicBezTo>
                  <a:pt x="958742" y="-13736"/>
                  <a:pt x="1245406" y="-17215"/>
                  <a:pt x="1428598" y="0"/>
                </a:cubicBezTo>
                <a:cubicBezTo>
                  <a:pt x="1611790" y="17215"/>
                  <a:pt x="1930525" y="20562"/>
                  <a:pt x="2123237" y="0"/>
                </a:cubicBezTo>
                <a:cubicBezTo>
                  <a:pt x="2315949" y="-20562"/>
                  <a:pt x="2485508" y="11332"/>
                  <a:pt x="2660599" y="0"/>
                </a:cubicBezTo>
                <a:cubicBezTo>
                  <a:pt x="2835690" y="-11332"/>
                  <a:pt x="3075198" y="-14809"/>
                  <a:pt x="3237281" y="0"/>
                </a:cubicBezTo>
                <a:cubicBezTo>
                  <a:pt x="3399364" y="14809"/>
                  <a:pt x="3745084" y="-4992"/>
                  <a:pt x="3931920" y="0"/>
                </a:cubicBezTo>
                <a:cubicBezTo>
                  <a:pt x="3930963" y="8431"/>
                  <a:pt x="3931571" y="14612"/>
                  <a:pt x="3931920" y="27432"/>
                </a:cubicBezTo>
                <a:cubicBezTo>
                  <a:pt x="3765435" y="40792"/>
                  <a:pt x="3452398" y="38703"/>
                  <a:pt x="3276600" y="27432"/>
                </a:cubicBezTo>
                <a:cubicBezTo>
                  <a:pt x="3100802" y="16161"/>
                  <a:pt x="2914889" y="26998"/>
                  <a:pt x="2739238" y="27432"/>
                </a:cubicBezTo>
                <a:cubicBezTo>
                  <a:pt x="2563587" y="27866"/>
                  <a:pt x="2395484" y="39154"/>
                  <a:pt x="2201875" y="27432"/>
                </a:cubicBezTo>
                <a:cubicBezTo>
                  <a:pt x="2008266" y="15710"/>
                  <a:pt x="1781367" y="4899"/>
                  <a:pt x="1507236" y="27432"/>
                </a:cubicBezTo>
                <a:cubicBezTo>
                  <a:pt x="1233105" y="49965"/>
                  <a:pt x="1075495" y="47542"/>
                  <a:pt x="930554" y="27432"/>
                </a:cubicBezTo>
                <a:cubicBezTo>
                  <a:pt x="785613" y="7322"/>
                  <a:pt x="268930" y="30433"/>
                  <a:pt x="0" y="27432"/>
                </a:cubicBezTo>
                <a:cubicBezTo>
                  <a:pt x="226" y="18208"/>
                  <a:pt x="-648" y="12891"/>
                  <a:pt x="0" y="0"/>
                </a:cubicBezTo>
                <a:close/>
              </a:path>
              <a:path w="3931920" h="27432" stroke="0" extrusionOk="0">
                <a:moveTo>
                  <a:pt x="0" y="0"/>
                </a:moveTo>
                <a:cubicBezTo>
                  <a:pt x="278269" y="4786"/>
                  <a:pt x="349028" y="-10422"/>
                  <a:pt x="616001" y="0"/>
                </a:cubicBezTo>
                <a:cubicBezTo>
                  <a:pt x="882974" y="10422"/>
                  <a:pt x="931617" y="-15515"/>
                  <a:pt x="1153363" y="0"/>
                </a:cubicBezTo>
                <a:cubicBezTo>
                  <a:pt x="1375109" y="15515"/>
                  <a:pt x="1704089" y="-3631"/>
                  <a:pt x="1887322" y="0"/>
                </a:cubicBezTo>
                <a:cubicBezTo>
                  <a:pt x="2070555" y="3631"/>
                  <a:pt x="2344155" y="2213"/>
                  <a:pt x="2503322" y="0"/>
                </a:cubicBezTo>
                <a:cubicBezTo>
                  <a:pt x="2662489" y="-2213"/>
                  <a:pt x="2976859" y="26691"/>
                  <a:pt x="3119323" y="0"/>
                </a:cubicBezTo>
                <a:cubicBezTo>
                  <a:pt x="3261787" y="-26691"/>
                  <a:pt x="3588171" y="-28651"/>
                  <a:pt x="3931920" y="0"/>
                </a:cubicBezTo>
                <a:cubicBezTo>
                  <a:pt x="3930565" y="9524"/>
                  <a:pt x="3930718" y="13975"/>
                  <a:pt x="3931920" y="27432"/>
                </a:cubicBezTo>
                <a:cubicBezTo>
                  <a:pt x="3664329" y="4021"/>
                  <a:pt x="3437686" y="14511"/>
                  <a:pt x="3276600" y="27432"/>
                </a:cubicBezTo>
                <a:cubicBezTo>
                  <a:pt x="3115514" y="40353"/>
                  <a:pt x="2913592" y="48967"/>
                  <a:pt x="2739238" y="27432"/>
                </a:cubicBezTo>
                <a:cubicBezTo>
                  <a:pt x="2564884" y="5897"/>
                  <a:pt x="2294049" y="39820"/>
                  <a:pt x="2083918" y="27432"/>
                </a:cubicBezTo>
                <a:cubicBezTo>
                  <a:pt x="1873787" y="15044"/>
                  <a:pt x="1718903" y="21388"/>
                  <a:pt x="1428598" y="27432"/>
                </a:cubicBezTo>
                <a:cubicBezTo>
                  <a:pt x="1138293" y="33476"/>
                  <a:pt x="952209" y="50441"/>
                  <a:pt x="812597" y="27432"/>
                </a:cubicBezTo>
                <a:cubicBezTo>
                  <a:pt x="672985" y="4423"/>
                  <a:pt x="305800" y="28240"/>
                  <a:pt x="0" y="27432"/>
                </a:cubicBezTo>
                <a:cubicBezTo>
                  <a:pt x="-800" y="16780"/>
                  <a:pt x="-583" y="12910"/>
                  <a:pt x="0" y="0"/>
                </a:cubicBezTo>
                <a:close/>
              </a:path>
            </a:pathLst>
          </a:custGeom>
          <a:solidFill>
            <a:srgbClr val="E5B399"/>
          </a:solidFill>
          <a:ln w="38100" cap="rnd">
            <a:solidFill>
              <a:srgbClr val="E5B399"/>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A63D7FC-176D-B898-C622-E503B972CD01}"/>
              </a:ext>
            </a:extLst>
          </p:cNvPr>
          <p:cNvSpPr>
            <a:spLocks noGrp="1"/>
          </p:cNvSpPr>
          <p:nvPr>
            <p:ph idx="1"/>
          </p:nvPr>
        </p:nvSpPr>
        <p:spPr>
          <a:xfrm>
            <a:off x="640080" y="2872899"/>
            <a:ext cx="4243589" cy="3320668"/>
          </a:xfrm>
        </p:spPr>
        <p:txBody>
          <a:bodyPr>
            <a:normAutofit/>
          </a:bodyPr>
          <a:lstStyle/>
          <a:p>
            <a:r>
              <a:rPr lang="en-US" dirty="0"/>
              <a:t>Consider your own values regarding your own sexual health.</a:t>
            </a:r>
          </a:p>
          <a:p>
            <a:r>
              <a:rPr lang="en-US" dirty="0"/>
              <a:t>Discuss barriers to getting tested</a:t>
            </a:r>
          </a:p>
          <a:p>
            <a:r>
              <a:rPr lang="en-US" dirty="0"/>
              <a:t>STI’s task – allocate groups and start working</a:t>
            </a:r>
          </a:p>
        </p:txBody>
      </p:sp>
      <p:pic>
        <p:nvPicPr>
          <p:cNvPr id="5" name="Picture 4" descr="Writing an appointment on a paper agenda">
            <a:extLst>
              <a:ext uri="{FF2B5EF4-FFF2-40B4-BE49-F238E27FC236}">
                <a16:creationId xmlns:a16="http://schemas.microsoft.com/office/drawing/2014/main" id="{EDE161DE-AC56-B92C-DAD0-35C65DB94381}"/>
              </a:ext>
            </a:extLst>
          </p:cNvPr>
          <p:cNvPicPr>
            <a:picLocks noChangeAspect="1"/>
          </p:cNvPicPr>
          <p:nvPr/>
        </p:nvPicPr>
        <p:blipFill rotWithShape="1">
          <a:blip r:embed="rId2"/>
          <a:srcRect r="33047"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417492252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47B52-9CFE-A1C6-888B-2A1BFDDFE195}"/>
              </a:ext>
            </a:extLst>
          </p:cNvPr>
          <p:cNvSpPr>
            <a:spLocks noGrp="1"/>
          </p:cNvSpPr>
          <p:nvPr>
            <p:ph type="title"/>
          </p:nvPr>
        </p:nvSpPr>
        <p:spPr/>
        <p:txBody>
          <a:bodyPr/>
          <a:lstStyle/>
          <a:p>
            <a:r>
              <a:rPr lang="en-US" dirty="0"/>
              <a:t>Activity 1: values walk around</a:t>
            </a:r>
          </a:p>
        </p:txBody>
      </p:sp>
      <p:graphicFrame>
        <p:nvGraphicFramePr>
          <p:cNvPr id="5" name="Content Placeholder 2">
            <a:extLst>
              <a:ext uri="{FF2B5EF4-FFF2-40B4-BE49-F238E27FC236}">
                <a16:creationId xmlns:a16="http://schemas.microsoft.com/office/drawing/2014/main" id="{EFCA9B35-2ABC-2F7C-8A69-94EA6A4292C8}"/>
              </a:ext>
            </a:extLst>
          </p:cNvPr>
          <p:cNvGraphicFramePr>
            <a:graphicFrameLocks noGrp="1"/>
          </p:cNvGraphicFramePr>
          <p:nvPr>
            <p:ph idx="1"/>
            <p:extLst>
              <p:ext uri="{D42A27DB-BD31-4B8C-83A1-F6EECF244321}">
                <p14:modId xmlns:p14="http://schemas.microsoft.com/office/powerpoint/2010/main" val="3726785002"/>
              </p:ext>
            </p:extLst>
          </p:nvPr>
        </p:nvGraphicFramePr>
        <p:xfrm>
          <a:off x="838200" y="1929384"/>
          <a:ext cx="10515600" cy="42519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4617873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0D86B-DE8E-EB15-91C9-DB88BB9FF2AE}"/>
              </a:ext>
            </a:extLst>
          </p:cNvPr>
          <p:cNvSpPr>
            <a:spLocks noGrp="1"/>
          </p:cNvSpPr>
          <p:nvPr>
            <p:ph type="title"/>
          </p:nvPr>
        </p:nvSpPr>
        <p:spPr/>
        <p:txBody>
          <a:bodyPr/>
          <a:lstStyle/>
          <a:p>
            <a:r>
              <a:rPr lang="en-US"/>
              <a:t>Values Statements:</a:t>
            </a:r>
          </a:p>
        </p:txBody>
      </p:sp>
      <p:sp>
        <p:nvSpPr>
          <p:cNvPr id="4" name="Rounded Rectangle 3">
            <a:extLst>
              <a:ext uri="{FF2B5EF4-FFF2-40B4-BE49-F238E27FC236}">
                <a16:creationId xmlns:a16="http://schemas.microsoft.com/office/drawing/2014/main" id="{1550ACCC-E950-7858-24B7-6666774620D5}"/>
              </a:ext>
            </a:extLst>
          </p:cNvPr>
          <p:cNvSpPr/>
          <p:nvPr/>
        </p:nvSpPr>
        <p:spPr>
          <a:xfrm>
            <a:off x="596900" y="2163573"/>
            <a:ext cx="3124200" cy="1945386"/>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It is mainly the boy's responsibility to buy condoms</a:t>
            </a:r>
            <a:r>
              <a:rPr lang="en-US" sz="3200" dirty="0">
                <a:solidFill>
                  <a:schemeClr val="tx1"/>
                </a:solidFill>
              </a:rPr>
              <a:t>.</a:t>
            </a:r>
          </a:p>
        </p:txBody>
      </p:sp>
      <p:sp>
        <p:nvSpPr>
          <p:cNvPr id="6" name="Rounded Rectangle 5">
            <a:extLst>
              <a:ext uri="{FF2B5EF4-FFF2-40B4-BE49-F238E27FC236}">
                <a16:creationId xmlns:a16="http://schemas.microsoft.com/office/drawing/2014/main" id="{34D5D47F-2E57-C90D-DF1C-796E22EB3597}"/>
              </a:ext>
            </a:extLst>
          </p:cNvPr>
          <p:cNvSpPr/>
          <p:nvPr/>
        </p:nvSpPr>
        <p:spPr>
          <a:xfrm>
            <a:off x="4578350" y="2125981"/>
            <a:ext cx="3124200" cy="1945386"/>
          </a:xfrm>
          <a:prstGeom prst="roundRect">
            <a:avLst/>
          </a:prstGeom>
          <a:solidFill>
            <a:srgbClr val="00FA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Teens who abstain from sex are less likely to be emotionally harmed. </a:t>
            </a:r>
          </a:p>
        </p:txBody>
      </p:sp>
      <p:sp>
        <p:nvSpPr>
          <p:cNvPr id="7" name="Rounded Rectangle 6">
            <a:extLst>
              <a:ext uri="{FF2B5EF4-FFF2-40B4-BE49-F238E27FC236}">
                <a16:creationId xmlns:a16="http://schemas.microsoft.com/office/drawing/2014/main" id="{BA0C1D9D-5170-33BC-9C7B-63861795386A}"/>
              </a:ext>
            </a:extLst>
          </p:cNvPr>
          <p:cNvSpPr/>
          <p:nvPr/>
        </p:nvSpPr>
        <p:spPr>
          <a:xfrm>
            <a:off x="596900" y="4547489"/>
            <a:ext cx="3124200" cy="1945386"/>
          </a:xfrm>
          <a:prstGeom prst="roundRect">
            <a:avLst/>
          </a:prstGeom>
          <a:solidFill>
            <a:srgbClr val="D883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If you can’t talk with your partner about sex or contraception ahead of time, then you shouldn’t even consider having sex.</a:t>
            </a:r>
          </a:p>
        </p:txBody>
      </p:sp>
      <p:sp>
        <p:nvSpPr>
          <p:cNvPr id="8" name="Rounded Rectangle 7">
            <a:extLst>
              <a:ext uri="{FF2B5EF4-FFF2-40B4-BE49-F238E27FC236}">
                <a16:creationId xmlns:a16="http://schemas.microsoft.com/office/drawing/2014/main" id="{A35FAFB2-45A4-0369-C21C-F3095C6D315F}"/>
              </a:ext>
            </a:extLst>
          </p:cNvPr>
          <p:cNvSpPr/>
          <p:nvPr/>
        </p:nvSpPr>
        <p:spPr>
          <a:xfrm>
            <a:off x="4533900" y="4541329"/>
            <a:ext cx="3124200" cy="1945386"/>
          </a:xfrm>
          <a:prstGeom prst="roundRect">
            <a:avLst/>
          </a:prstGeom>
          <a:solidFill>
            <a:srgbClr val="FF2F9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I would not buy condoms from a store where I might know someone. </a:t>
            </a:r>
          </a:p>
        </p:txBody>
      </p:sp>
      <p:sp>
        <p:nvSpPr>
          <p:cNvPr id="10" name="Rounded Rectangle 9">
            <a:extLst>
              <a:ext uri="{FF2B5EF4-FFF2-40B4-BE49-F238E27FC236}">
                <a16:creationId xmlns:a16="http://schemas.microsoft.com/office/drawing/2014/main" id="{A56C7441-A5F2-A714-B628-3560AECB00DA}"/>
              </a:ext>
            </a:extLst>
          </p:cNvPr>
          <p:cNvSpPr/>
          <p:nvPr/>
        </p:nvSpPr>
        <p:spPr>
          <a:xfrm>
            <a:off x="8559800" y="4541329"/>
            <a:ext cx="3124200" cy="1945386"/>
          </a:xfrm>
          <a:prstGeom prst="roundRect">
            <a:avLst/>
          </a:prstGeom>
          <a:solidFill>
            <a:srgbClr val="FF9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Having sex without using contraception for the first one or two times is OK because the chances of getting pregnant are minimal. </a:t>
            </a:r>
          </a:p>
        </p:txBody>
      </p:sp>
      <p:sp>
        <p:nvSpPr>
          <p:cNvPr id="12" name="Rounded Rectangle 11">
            <a:extLst>
              <a:ext uri="{FF2B5EF4-FFF2-40B4-BE49-F238E27FC236}">
                <a16:creationId xmlns:a16="http://schemas.microsoft.com/office/drawing/2014/main" id="{9F27F1C9-CEE8-7A80-E1E7-3B94FBA800AF}"/>
              </a:ext>
            </a:extLst>
          </p:cNvPr>
          <p:cNvSpPr/>
          <p:nvPr/>
        </p:nvSpPr>
        <p:spPr>
          <a:xfrm>
            <a:off x="8559800" y="2163573"/>
            <a:ext cx="3124200" cy="1945386"/>
          </a:xfrm>
          <a:prstGeom prst="roundRect">
            <a:avLst/>
          </a:prstGeom>
          <a:solidFill>
            <a:srgbClr val="0096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Teens who abstain from sex are less likely to be physically harmed. </a:t>
            </a:r>
          </a:p>
        </p:txBody>
      </p:sp>
    </p:spTree>
    <p:extLst>
      <p:ext uri="{BB962C8B-B14F-4D97-AF65-F5344CB8AC3E}">
        <p14:creationId xmlns:p14="http://schemas.microsoft.com/office/powerpoint/2010/main" val="2040143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par>
                                <p:cTn id="15" presetID="2" presetClass="exit" presetSubtype="4" fill="hold" grpId="1" nodeType="withEffect">
                                  <p:stCondLst>
                                    <p:cond delay="0"/>
                                  </p:stCondLst>
                                  <p:childTnLst>
                                    <p:anim calcmode="lin" valueType="num">
                                      <p:cBhvr additive="base">
                                        <p:cTn id="16" dur="500"/>
                                        <p:tgtEl>
                                          <p:spTgt spid="4"/>
                                        </p:tgtEl>
                                        <p:attrNameLst>
                                          <p:attrName>ppt_x</p:attrName>
                                        </p:attrNameLst>
                                      </p:cBhvr>
                                      <p:tavLst>
                                        <p:tav tm="0">
                                          <p:val>
                                            <p:strVal val="ppt_x"/>
                                          </p:val>
                                        </p:tav>
                                        <p:tav tm="100000">
                                          <p:val>
                                            <p:strVal val="ppt_x"/>
                                          </p:val>
                                        </p:tav>
                                      </p:tavLst>
                                    </p:anim>
                                    <p:anim calcmode="lin" valueType="num">
                                      <p:cBhvr additive="base">
                                        <p:cTn id="17" dur="500"/>
                                        <p:tgtEl>
                                          <p:spTgt spid="4"/>
                                        </p:tgtEl>
                                        <p:attrNameLst>
                                          <p:attrName>ppt_y</p:attrName>
                                        </p:attrNameLst>
                                      </p:cBhvr>
                                      <p:tavLst>
                                        <p:tav tm="0">
                                          <p:val>
                                            <p:strVal val="ppt_y"/>
                                          </p:val>
                                        </p:tav>
                                        <p:tav tm="100000">
                                          <p:val>
                                            <p:strVal val="1+ppt_h/2"/>
                                          </p:val>
                                        </p:tav>
                                      </p:tavLst>
                                    </p:anim>
                                    <p:set>
                                      <p:cBhvr>
                                        <p:cTn id="18" dur="1" fill="hold">
                                          <p:stCondLst>
                                            <p:cond delay="499"/>
                                          </p:stCondLst>
                                        </p:cTn>
                                        <p:tgtEl>
                                          <p:spTgt spid="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par>
                                <p:cTn id="25" presetID="2" presetClass="exit" presetSubtype="4" fill="hold" grpId="1" nodeType="withEffect">
                                  <p:stCondLst>
                                    <p:cond delay="0"/>
                                  </p:stCondLst>
                                  <p:childTnLst>
                                    <p:anim calcmode="lin" valueType="num">
                                      <p:cBhvr additive="base">
                                        <p:cTn id="26" dur="500"/>
                                        <p:tgtEl>
                                          <p:spTgt spid="6"/>
                                        </p:tgtEl>
                                        <p:attrNameLst>
                                          <p:attrName>ppt_x</p:attrName>
                                        </p:attrNameLst>
                                      </p:cBhvr>
                                      <p:tavLst>
                                        <p:tav tm="0">
                                          <p:val>
                                            <p:strVal val="ppt_x"/>
                                          </p:val>
                                        </p:tav>
                                        <p:tav tm="100000">
                                          <p:val>
                                            <p:strVal val="ppt_x"/>
                                          </p:val>
                                        </p:tav>
                                      </p:tavLst>
                                    </p:anim>
                                    <p:anim calcmode="lin" valueType="num">
                                      <p:cBhvr additive="base">
                                        <p:cTn id="27" dur="500"/>
                                        <p:tgtEl>
                                          <p:spTgt spid="6"/>
                                        </p:tgtEl>
                                        <p:attrNameLst>
                                          <p:attrName>ppt_y</p:attrName>
                                        </p:attrNameLst>
                                      </p:cBhvr>
                                      <p:tavLst>
                                        <p:tav tm="0">
                                          <p:val>
                                            <p:strVal val="ppt_y"/>
                                          </p:val>
                                        </p:tav>
                                        <p:tav tm="100000">
                                          <p:val>
                                            <p:strVal val="1+ppt_h/2"/>
                                          </p:val>
                                        </p:tav>
                                      </p:tavLst>
                                    </p:anim>
                                    <p:set>
                                      <p:cBhvr>
                                        <p:cTn id="28" dur="1" fill="hold">
                                          <p:stCondLst>
                                            <p:cond delay="499"/>
                                          </p:stCondLst>
                                        </p:cTn>
                                        <p:tgtEl>
                                          <p:spTgt spid="6"/>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ppt_x"/>
                                          </p:val>
                                        </p:tav>
                                        <p:tav tm="100000">
                                          <p:val>
                                            <p:strVal val="#ppt_x"/>
                                          </p:val>
                                        </p:tav>
                                      </p:tavLst>
                                    </p:anim>
                                    <p:anim calcmode="lin" valueType="num">
                                      <p:cBhvr additive="base">
                                        <p:cTn id="34" dur="500" fill="hold"/>
                                        <p:tgtEl>
                                          <p:spTgt spid="7"/>
                                        </p:tgtEl>
                                        <p:attrNameLst>
                                          <p:attrName>ppt_y</p:attrName>
                                        </p:attrNameLst>
                                      </p:cBhvr>
                                      <p:tavLst>
                                        <p:tav tm="0">
                                          <p:val>
                                            <p:strVal val="1+#ppt_h/2"/>
                                          </p:val>
                                        </p:tav>
                                        <p:tav tm="100000">
                                          <p:val>
                                            <p:strVal val="#ppt_y"/>
                                          </p:val>
                                        </p:tav>
                                      </p:tavLst>
                                    </p:anim>
                                  </p:childTnLst>
                                </p:cTn>
                              </p:par>
                              <p:par>
                                <p:cTn id="35" presetID="2" presetClass="exit" presetSubtype="4" fill="hold" grpId="1" nodeType="withEffect">
                                  <p:stCondLst>
                                    <p:cond delay="0"/>
                                  </p:stCondLst>
                                  <p:childTnLst>
                                    <p:anim calcmode="lin" valueType="num">
                                      <p:cBhvr additive="base">
                                        <p:cTn id="36" dur="500"/>
                                        <p:tgtEl>
                                          <p:spTgt spid="12"/>
                                        </p:tgtEl>
                                        <p:attrNameLst>
                                          <p:attrName>ppt_x</p:attrName>
                                        </p:attrNameLst>
                                      </p:cBhvr>
                                      <p:tavLst>
                                        <p:tav tm="0">
                                          <p:val>
                                            <p:strVal val="ppt_x"/>
                                          </p:val>
                                        </p:tav>
                                        <p:tav tm="100000">
                                          <p:val>
                                            <p:strVal val="ppt_x"/>
                                          </p:val>
                                        </p:tav>
                                      </p:tavLst>
                                    </p:anim>
                                    <p:anim calcmode="lin" valueType="num">
                                      <p:cBhvr additive="base">
                                        <p:cTn id="37" dur="500"/>
                                        <p:tgtEl>
                                          <p:spTgt spid="12"/>
                                        </p:tgtEl>
                                        <p:attrNameLst>
                                          <p:attrName>ppt_y</p:attrName>
                                        </p:attrNameLst>
                                      </p:cBhvr>
                                      <p:tavLst>
                                        <p:tav tm="0">
                                          <p:val>
                                            <p:strVal val="ppt_y"/>
                                          </p:val>
                                        </p:tav>
                                        <p:tav tm="100000">
                                          <p:val>
                                            <p:strVal val="1+ppt_h/2"/>
                                          </p:val>
                                        </p:tav>
                                      </p:tavLst>
                                    </p:anim>
                                    <p:set>
                                      <p:cBhvr>
                                        <p:cTn id="38" dur="1" fill="hold">
                                          <p:stCondLst>
                                            <p:cond delay="499"/>
                                          </p:stCondLst>
                                        </p:cTn>
                                        <p:tgtEl>
                                          <p:spTgt spid="12"/>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additive="base">
                                        <p:cTn id="43" dur="500" fill="hold"/>
                                        <p:tgtEl>
                                          <p:spTgt spid="8"/>
                                        </p:tgtEl>
                                        <p:attrNameLst>
                                          <p:attrName>ppt_x</p:attrName>
                                        </p:attrNameLst>
                                      </p:cBhvr>
                                      <p:tavLst>
                                        <p:tav tm="0">
                                          <p:val>
                                            <p:strVal val="#ppt_x"/>
                                          </p:val>
                                        </p:tav>
                                        <p:tav tm="100000">
                                          <p:val>
                                            <p:strVal val="#ppt_x"/>
                                          </p:val>
                                        </p:tav>
                                      </p:tavLst>
                                    </p:anim>
                                    <p:anim calcmode="lin" valueType="num">
                                      <p:cBhvr additive="base">
                                        <p:cTn id="44" dur="500" fill="hold"/>
                                        <p:tgtEl>
                                          <p:spTgt spid="8"/>
                                        </p:tgtEl>
                                        <p:attrNameLst>
                                          <p:attrName>ppt_y</p:attrName>
                                        </p:attrNameLst>
                                      </p:cBhvr>
                                      <p:tavLst>
                                        <p:tav tm="0">
                                          <p:val>
                                            <p:strVal val="1+#ppt_h/2"/>
                                          </p:val>
                                        </p:tav>
                                        <p:tav tm="100000">
                                          <p:val>
                                            <p:strVal val="#ppt_y"/>
                                          </p:val>
                                        </p:tav>
                                      </p:tavLst>
                                    </p:anim>
                                  </p:childTnLst>
                                </p:cTn>
                              </p:par>
                              <p:par>
                                <p:cTn id="45" presetID="2" presetClass="exit" presetSubtype="4" fill="hold" grpId="1" nodeType="withEffect">
                                  <p:stCondLst>
                                    <p:cond delay="0"/>
                                  </p:stCondLst>
                                  <p:childTnLst>
                                    <p:anim calcmode="lin" valueType="num">
                                      <p:cBhvr additive="base">
                                        <p:cTn id="46" dur="500"/>
                                        <p:tgtEl>
                                          <p:spTgt spid="7"/>
                                        </p:tgtEl>
                                        <p:attrNameLst>
                                          <p:attrName>ppt_x</p:attrName>
                                        </p:attrNameLst>
                                      </p:cBhvr>
                                      <p:tavLst>
                                        <p:tav tm="0">
                                          <p:val>
                                            <p:strVal val="ppt_x"/>
                                          </p:val>
                                        </p:tav>
                                        <p:tav tm="100000">
                                          <p:val>
                                            <p:strVal val="ppt_x"/>
                                          </p:val>
                                        </p:tav>
                                      </p:tavLst>
                                    </p:anim>
                                    <p:anim calcmode="lin" valueType="num">
                                      <p:cBhvr additive="base">
                                        <p:cTn id="47" dur="500"/>
                                        <p:tgtEl>
                                          <p:spTgt spid="7"/>
                                        </p:tgtEl>
                                        <p:attrNameLst>
                                          <p:attrName>ppt_y</p:attrName>
                                        </p:attrNameLst>
                                      </p:cBhvr>
                                      <p:tavLst>
                                        <p:tav tm="0">
                                          <p:val>
                                            <p:strVal val="ppt_y"/>
                                          </p:val>
                                        </p:tav>
                                        <p:tav tm="100000">
                                          <p:val>
                                            <p:strVal val="1+ppt_h/2"/>
                                          </p:val>
                                        </p:tav>
                                      </p:tavLst>
                                    </p:anim>
                                    <p:set>
                                      <p:cBhvr>
                                        <p:cTn id="48" dur="1" fill="hold">
                                          <p:stCondLst>
                                            <p:cond delay="499"/>
                                          </p:stCondLst>
                                        </p:cTn>
                                        <p:tgtEl>
                                          <p:spTgt spid="7"/>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additive="base">
                                        <p:cTn id="53" dur="500" fill="hold"/>
                                        <p:tgtEl>
                                          <p:spTgt spid="10"/>
                                        </p:tgtEl>
                                        <p:attrNameLst>
                                          <p:attrName>ppt_x</p:attrName>
                                        </p:attrNameLst>
                                      </p:cBhvr>
                                      <p:tavLst>
                                        <p:tav tm="0">
                                          <p:val>
                                            <p:strVal val="#ppt_x"/>
                                          </p:val>
                                        </p:tav>
                                        <p:tav tm="100000">
                                          <p:val>
                                            <p:strVal val="#ppt_x"/>
                                          </p:val>
                                        </p:tav>
                                      </p:tavLst>
                                    </p:anim>
                                    <p:anim calcmode="lin" valueType="num">
                                      <p:cBhvr additive="base">
                                        <p:cTn id="54" dur="500" fill="hold"/>
                                        <p:tgtEl>
                                          <p:spTgt spid="10"/>
                                        </p:tgtEl>
                                        <p:attrNameLst>
                                          <p:attrName>ppt_y</p:attrName>
                                        </p:attrNameLst>
                                      </p:cBhvr>
                                      <p:tavLst>
                                        <p:tav tm="0">
                                          <p:val>
                                            <p:strVal val="1+#ppt_h/2"/>
                                          </p:val>
                                        </p:tav>
                                        <p:tav tm="100000">
                                          <p:val>
                                            <p:strVal val="#ppt_y"/>
                                          </p:val>
                                        </p:tav>
                                      </p:tavLst>
                                    </p:anim>
                                  </p:childTnLst>
                                </p:cTn>
                              </p:par>
                              <p:par>
                                <p:cTn id="55" presetID="2" presetClass="exit" presetSubtype="4" fill="hold" grpId="1" nodeType="withEffect">
                                  <p:stCondLst>
                                    <p:cond delay="0"/>
                                  </p:stCondLst>
                                  <p:childTnLst>
                                    <p:anim calcmode="lin" valueType="num">
                                      <p:cBhvr additive="base">
                                        <p:cTn id="56" dur="500"/>
                                        <p:tgtEl>
                                          <p:spTgt spid="8"/>
                                        </p:tgtEl>
                                        <p:attrNameLst>
                                          <p:attrName>ppt_x</p:attrName>
                                        </p:attrNameLst>
                                      </p:cBhvr>
                                      <p:tavLst>
                                        <p:tav tm="0">
                                          <p:val>
                                            <p:strVal val="ppt_x"/>
                                          </p:val>
                                        </p:tav>
                                        <p:tav tm="100000">
                                          <p:val>
                                            <p:strVal val="ppt_x"/>
                                          </p:val>
                                        </p:tav>
                                      </p:tavLst>
                                    </p:anim>
                                    <p:anim calcmode="lin" valueType="num">
                                      <p:cBhvr additive="base">
                                        <p:cTn id="57" dur="500"/>
                                        <p:tgtEl>
                                          <p:spTgt spid="8"/>
                                        </p:tgtEl>
                                        <p:attrNameLst>
                                          <p:attrName>ppt_y</p:attrName>
                                        </p:attrNameLst>
                                      </p:cBhvr>
                                      <p:tavLst>
                                        <p:tav tm="0">
                                          <p:val>
                                            <p:strVal val="ppt_y"/>
                                          </p:val>
                                        </p:tav>
                                        <p:tav tm="100000">
                                          <p:val>
                                            <p:strVal val="1+ppt_h/2"/>
                                          </p:val>
                                        </p:tav>
                                      </p:tavLst>
                                    </p:anim>
                                    <p:set>
                                      <p:cBhvr>
                                        <p:cTn id="58"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6" grpId="0" animBg="1"/>
      <p:bldP spid="6" grpId="1" animBg="1"/>
      <p:bldP spid="7" grpId="0" animBg="1"/>
      <p:bldP spid="7" grpId="1" animBg="1"/>
      <p:bldP spid="8" grpId="0" animBg="1"/>
      <p:bldP spid="8" grpId="1" animBg="1"/>
      <p:bldP spid="10" grpId="0" animBg="1"/>
      <p:bldP spid="12" grpId="0" animBg="1"/>
      <p:bldP spid="12" grpId="1" animBg="1"/>
    </p:bldLst>
  </p:timing>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8EDE85-3CE9-2675-DD33-023F986C38C8}"/>
              </a:ext>
            </a:extLst>
          </p:cNvPr>
          <p:cNvSpPr>
            <a:spLocks noGrp="1"/>
          </p:cNvSpPr>
          <p:nvPr>
            <p:ph type="title"/>
          </p:nvPr>
        </p:nvSpPr>
        <p:spPr>
          <a:xfrm>
            <a:off x="4654296" y="329184"/>
            <a:ext cx="6894576" cy="1783080"/>
          </a:xfrm>
        </p:spPr>
        <p:txBody>
          <a:bodyPr anchor="b">
            <a:normAutofit/>
          </a:bodyPr>
          <a:lstStyle/>
          <a:p>
            <a:r>
              <a:rPr lang="en-US" sz="7200" dirty="0"/>
              <a:t>Prevention (pg. 21)</a:t>
            </a:r>
          </a:p>
        </p:txBody>
      </p:sp>
      <p:pic>
        <p:nvPicPr>
          <p:cNvPr id="4" name="Picture 2" descr="Sexually Transmitted Infections (STIs): Sexually Transmitted Diseases (STDs)">
            <a:extLst>
              <a:ext uri="{FF2B5EF4-FFF2-40B4-BE49-F238E27FC236}">
                <a16:creationId xmlns:a16="http://schemas.microsoft.com/office/drawing/2014/main" id="{C1FA6FB7-8871-372D-592D-6B0E2BD73FB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 r="1" b="6671"/>
          <a:stretch/>
        </p:blipFill>
        <p:spPr bwMode="auto">
          <a:xfrm>
            <a:off x="19" y="1"/>
            <a:ext cx="4386629" cy="6857999"/>
          </a:xfrm>
          <a:custGeom>
            <a:avLst/>
            <a:gdLst/>
            <a:ahLst/>
            <a:cxnLst/>
            <a:rect l="l" t="t" r="r" b="b"/>
            <a:pathLst>
              <a:path w="4052542" h="6858000">
                <a:moveTo>
                  <a:pt x="0" y="0"/>
                </a:moveTo>
                <a:lnTo>
                  <a:pt x="4020923" y="0"/>
                </a:lnTo>
                <a:lnTo>
                  <a:pt x="4022656" y="14697"/>
                </a:lnTo>
                <a:cubicBezTo>
                  <a:pt x="4037606" y="98462"/>
                  <a:pt x="4035072" y="183369"/>
                  <a:pt x="4039126" y="267642"/>
                </a:cubicBezTo>
                <a:cubicBezTo>
                  <a:pt x="4043941" y="370699"/>
                  <a:pt x="4037860" y="474136"/>
                  <a:pt x="4035579" y="577446"/>
                </a:cubicBezTo>
                <a:cubicBezTo>
                  <a:pt x="4033805" y="665399"/>
                  <a:pt x="4025063" y="753226"/>
                  <a:pt x="4027724" y="841306"/>
                </a:cubicBezTo>
                <a:cubicBezTo>
                  <a:pt x="4027914" y="844352"/>
                  <a:pt x="4027914" y="847398"/>
                  <a:pt x="4027724" y="850444"/>
                </a:cubicBezTo>
                <a:cubicBezTo>
                  <a:pt x="4019615" y="947281"/>
                  <a:pt x="4019615" y="1044626"/>
                  <a:pt x="4027724" y="1141464"/>
                </a:cubicBezTo>
                <a:cubicBezTo>
                  <a:pt x="4030296" y="1181772"/>
                  <a:pt x="4029574" y="1222221"/>
                  <a:pt x="4025570" y="1262415"/>
                </a:cubicBezTo>
                <a:cubicBezTo>
                  <a:pt x="4021769" y="1313563"/>
                  <a:pt x="4009606" y="1365472"/>
                  <a:pt x="4018348" y="1416238"/>
                </a:cubicBezTo>
                <a:cubicBezTo>
                  <a:pt x="4024037" y="1458058"/>
                  <a:pt x="4027166" y="1500194"/>
                  <a:pt x="4027724" y="1542394"/>
                </a:cubicBezTo>
                <a:cubicBezTo>
                  <a:pt x="4032158" y="1636820"/>
                  <a:pt x="4027977" y="1731753"/>
                  <a:pt x="4026330" y="1826433"/>
                </a:cubicBezTo>
                <a:cubicBezTo>
                  <a:pt x="4024556" y="1936724"/>
                  <a:pt x="4027344" y="2047015"/>
                  <a:pt x="4018475" y="2157432"/>
                </a:cubicBezTo>
                <a:cubicBezTo>
                  <a:pt x="4013597" y="2246629"/>
                  <a:pt x="4013597" y="2336029"/>
                  <a:pt x="4018475" y="2425226"/>
                </a:cubicBezTo>
                <a:cubicBezTo>
                  <a:pt x="4020882" y="2506961"/>
                  <a:pt x="4033172" y="2587934"/>
                  <a:pt x="4031145" y="2670557"/>
                </a:cubicBezTo>
                <a:cubicBezTo>
                  <a:pt x="4028737" y="2766886"/>
                  <a:pt x="4017335" y="2862962"/>
                  <a:pt x="4020882" y="2959546"/>
                </a:cubicBezTo>
                <a:cubicBezTo>
                  <a:pt x="4022529" y="3005617"/>
                  <a:pt x="4022656" y="3051688"/>
                  <a:pt x="4023543" y="3097758"/>
                </a:cubicBezTo>
                <a:cubicBezTo>
                  <a:pt x="4024683" y="3153221"/>
                  <a:pt x="4034692" y="3208556"/>
                  <a:pt x="4029117" y="3263892"/>
                </a:cubicBezTo>
                <a:cubicBezTo>
                  <a:pt x="4019869" y="3356161"/>
                  <a:pt x="3995923" y="3446906"/>
                  <a:pt x="4010873" y="3541459"/>
                </a:cubicBezTo>
                <a:cubicBezTo>
                  <a:pt x="4019108" y="3593495"/>
                  <a:pt x="4028357" y="3645658"/>
                  <a:pt x="4033172" y="3698201"/>
                </a:cubicBezTo>
                <a:cubicBezTo>
                  <a:pt x="4037353" y="3745160"/>
                  <a:pt x="4047868" y="3792881"/>
                  <a:pt x="4039886" y="3839586"/>
                </a:cubicBezTo>
                <a:cubicBezTo>
                  <a:pt x="4033045" y="3879565"/>
                  <a:pt x="4036592" y="3919544"/>
                  <a:pt x="4031271" y="3959523"/>
                </a:cubicBezTo>
                <a:cubicBezTo>
                  <a:pt x="4024303" y="4011939"/>
                  <a:pt x="4020629" y="4065244"/>
                  <a:pt x="4015308" y="4118042"/>
                </a:cubicBezTo>
                <a:cubicBezTo>
                  <a:pt x="4010620" y="4165889"/>
                  <a:pt x="4006946" y="4213610"/>
                  <a:pt x="4019615" y="4258539"/>
                </a:cubicBezTo>
                <a:cubicBezTo>
                  <a:pt x="4050656" y="4371622"/>
                  <a:pt x="4033679" y="4484070"/>
                  <a:pt x="4022023" y="4596391"/>
                </a:cubicBezTo>
                <a:cubicBezTo>
                  <a:pt x="4016321" y="4650965"/>
                  <a:pt x="4007959" y="4708712"/>
                  <a:pt x="4020629" y="4758718"/>
                </a:cubicBezTo>
                <a:cubicBezTo>
                  <a:pt x="4043941" y="4847432"/>
                  <a:pt x="4025697" y="4931705"/>
                  <a:pt x="4015561" y="5016866"/>
                </a:cubicBezTo>
                <a:cubicBezTo>
                  <a:pt x="4003335" y="5100174"/>
                  <a:pt x="4005096" y="5184929"/>
                  <a:pt x="4020756" y="5267654"/>
                </a:cubicBezTo>
                <a:cubicBezTo>
                  <a:pt x="4033172" y="5326035"/>
                  <a:pt x="4033172" y="5385432"/>
                  <a:pt x="4034692" y="5444194"/>
                </a:cubicBezTo>
                <a:cubicBezTo>
                  <a:pt x="4035579" y="5481001"/>
                  <a:pt x="4022023" y="5518441"/>
                  <a:pt x="4013027" y="5555120"/>
                </a:cubicBezTo>
                <a:cubicBezTo>
                  <a:pt x="3996937" y="5621371"/>
                  <a:pt x="3991109" y="5688636"/>
                  <a:pt x="4013027" y="5753237"/>
                </a:cubicBezTo>
                <a:cubicBezTo>
                  <a:pt x="4043561" y="5842713"/>
                  <a:pt x="4061045" y="5932189"/>
                  <a:pt x="4048375" y="6026870"/>
                </a:cubicBezTo>
                <a:cubicBezTo>
                  <a:pt x="4041027" y="6085251"/>
                  <a:pt x="4039380" y="6144902"/>
                  <a:pt x="4028357" y="6202522"/>
                </a:cubicBezTo>
                <a:cubicBezTo>
                  <a:pt x="4010240" y="6298091"/>
                  <a:pt x="4016701" y="6393024"/>
                  <a:pt x="4031145" y="6487196"/>
                </a:cubicBezTo>
                <a:cubicBezTo>
                  <a:pt x="4041293" y="6565885"/>
                  <a:pt x="4042395" y="6645474"/>
                  <a:pt x="4034439" y="6724403"/>
                </a:cubicBezTo>
                <a:lnTo>
                  <a:pt x="4025206"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11"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39572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rgbClr val="FF6F4B"/>
          </a:solidFill>
          <a:ln w="38100" cap="rnd">
            <a:solidFill>
              <a:srgbClr val="FF6F4B"/>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B139D96-A307-B7A3-EFE6-B8D4644EC40C}"/>
              </a:ext>
            </a:extLst>
          </p:cNvPr>
          <p:cNvSpPr>
            <a:spLocks noGrp="1"/>
          </p:cNvSpPr>
          <p:nvPr>
            <p:ph idx="1"/>
          </p:nvPr>
        </p:nvSpPr>
        <p:spPr>
          <a:xfrm>
            <a:off x="4654296" y="2612713"/>
            <a:ext cx="7208190" cy="3916103"/>
          </a:xfrm>
        </p:spPr>
        <p:txBody>
          <a:bodyPr>
            <a:normAutofit fontScale="85000" lnSpcReduction="20000"/>
          </a:bodyPr>
          <a:lstStyle/>
          <a:p>
            <a:r>
              <a:rPr lang="en-US" dirty="0"/>
              <a:t>STI’s can only be 100% prevented by being abstinent (not engaging in sexual behaviours). </a:t>
            </a:r>
          </a:p>
          <a:p>
            <a:r>
              <a:rPr lang="en-US" dirty="0"/>
              <a:t>The only methods of contraception that protect against STI’s are condoms. But why?</a:t>
            </a:r>
          </a:p>
          <a:p>
            <a:r>
              <a:rPr lang="en-US" dirty="0"/>
              <a:t>Choose sexual partners wisely – the more sexual partners a person has, the higher the risk of contracting an STI. </a:t>
            </a:r>
          </a:p>
          <a:p>
            <a:r>
              <a:rPr lang="en-US" dirty="0"/>
              <a:t>Get tested regularly. </a:t>
            </a:r>
          </a:p>
          <a:p>
            <a:r>
              <a:rPr lang="en-US" dirty="0"/>
              <a:t>Avoid alcohol/drugs when engaging in sexual behaviours so you have a clear mind and can consider all associated risks, and don’t share needles.</a:t>
            </a:r>
          </a:p>
          <a:p>
            <a:r>
              <a:rPr lang="en-US" dirty="0"/>
              <a:t>Learn the signs/symptoms – this can help with early diagnosis and prevent further spread.</a:t>
            </a:r>
          </a:p>
          <a:p>
            <a:r>
              <a:rPr lang="en-US" dirty="0"/>
              <a:t>HPV and Hepatitis have effective vaccines available. </a:t>
            </a:r>
          </a:p>
          <a:p>
            <a:endParaRPr lang="en-US" dirty="0"/>
          </a:p>
        </p:txBody>
      </p:sp>
    </p:spTree>
    <p:extLst>
      <p:ext uri="{BB962C8B-B14F-4D97-AF65-F5344CB8AC3E}">
        <p14:creationId xmlns:p14="http://schemas.microsoft.com/office/powerpoint/2010/main" val="404994771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96ECB-8631-51BA-9921-16BABF4B95C1}"/>
              </a:ext>
            </a:extLst>
          </p:cNvPr>
          <p:cNvSpPr>
            <a:spLocks noGrp="1"/>
          </p:cNvSpPr>
          <p:nvPr>
            <p:ph type="title"/>
          </p:nvPr>
        </p:nvSpPr>
        <p:spPr/>
        <p:txBody>
          <a:bodyPr/>
          <a:lstStyle/>
          <a:p>
            <a:r>
              <a:rPr lang="en-US" dirty="0"/>
              <a:t>Diagnosis &amp; TREATMENT </a:t>
            </a:r>
            <a:r>
              <a:rPr lang="en-US" sz="5400" dirty="0"/>
              <a:t>(pg. 22)</a:t>
            </a:r>
            <a:endParaRPr lang="en-US" dirty="0"/>
          </a:p>
        </p:txBody>
      </p:sp>
      <p:sp>
        <p:nvSpPr>
          <p:cNvPr id="3" name="Content Placeholder 2">
            <a:extLst>
              <a:ext uri="{FF2B5EF4-FFF2-40B4-BE49-F238E27FC236}">
                <a16:creationId xmlns:a16="http://schemas.microsoft.com/office/drawing/2014/main" id="{8BA8E31F-2AA5-684F-31BA-2929C5F42E0D}"/>
              </a:ext>
            </a:extLst>
          </p:cNvPr>
          <p:cNvSpPr>
            <a:spLocks noGrp="1"/>
          </p:cNvSpPr>
          <p:nvPr>
            <p:ph idx="1"/>
          </p:nvPr>
        </p:nvSpPr>
        <p:spPr>
          <a:xfrm>
            <a:off x="838200" y="1929384"/>
            <a:ext cx="10515600" cy="4485054"/>
          </a:xfrm>
        </p:spPr>
        <p:txBody>
          <a:bodyPr>
            <a:normAutofit lnSpcReduction="10000"/>
          </a:bodyPr>
          <a:lstStyle/>
          <a:p>
            <a:r>
              <a:rPr lang="en-US" dirty="0"/>
              <a:t>STI’s can be diagnosed through a variety of methods including:</a:t>
            </a:r>
          </a:p>
          <a:p>
            <a:pPr lvl="1"/>
            <a:r>
              <a:rPr lang="en-US" dirty="0"/>
              <a:t>Urine sample</a:t>
            </a:r>
          </a:p>
          <a:p>
            <a:pPr lvl="1"/>
            <a:r>
              <a:rPr lang="en-US" dirty="0"/>
              <a:t>Blood test </a:t>
            </a:r>
          </a:p>
          <a:p>
            <a:pPr lvl="1"/>
            <a:r>
              <a:rPr lang="en-US" dirty="0"/>
              <a:t>Swab test</a:t>
            </a:r>
          </a:p>
          <a:p>
            <a:r>
              <a:rPr lang="en-US" dirty="0"/>
              <a:t>The type of STI being tested for determines the diagnosis method used. </a:t>
            </a:r>
          </a:p>
          <a:p>
            <a:r>
              <a:rPr lang="en-US" dirty="0"/>
              <a:t>Treatment varies depending on the STI:</a:t>
            </a:r>
          </a:p>
          <a:p>
            <a:pPr lvl="1"/>
            <a:r>
              <a:rPr lang="en-US" dirty="0"/>
              <a:t>Viral – cannot be cured but medication may be available to treat the symptoms.</a:t>
            </a:r>
          </a:p>
          <a:p>
            <a:pPr lvl="1"/>
            <a:r>
              <a:rPr lang="en-US" dirty="0"/>
              <a:t>Bacterial – can be cured/treated with antibiotics. </a:t>
            </a:r>
          </a:p>
          <a:p>
            <a:pPr lvl="1"/>
            <a:r>
              <a:rPr lang="en-US" dirty="0"/>
              <a:t>Parasitic - through medication, creams, shampoos, lotions or ointments.</a:t>
            </a:r>
          </a:p>
        </p:txBody>
      </p:sp>
      <p:sp>
        <p:nvSpPr>
          <p:cNvPr id="4" name="Hexagon 3">
            <a:extLst>
              <a:ext uri="{FF2B5EF4-FFF2-40B4-BE49-F238E27FC236}">
                <a16:creationId xmlns:a16="http://schemas.microsoft.com/office/drawing/2014/main" id="{EAB2B9C3-56F8-2CD6-C714-5EFCCC7441FC}"/>
              </a:ext>
            </a:extLst>
          </p:cNvPr>
          <p:cNvSpPr/>
          <p:nvPr/>
        </p:nvSpPr>
        <p:spPr>
          <a:xfrm>
            <a:off x="7896654" y="300878"/>
            <a:ext cx="3867664" cy="2779620"/>
          </a:xfrm>
          <a:prstGeom prst="hexagon">
            <a:avLst/>
          </a:prstGeom>
          <a:solidFill>
            <a:srgbClr val="FF00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A person should </a:t>
            </a:r>
            <a:r>
              <a:rPr lang="en-US" sz="2800" b="1" u="sng" dirty="0"/>
              <a:t>abstain</a:t>
            </a:r>
            <a:r>
              <a:rPr lang="en-US" sz="2800" b="1" dirty="0"/>
              <a:t> from sexual behaviours if they believe they may have an STI, are currently being treated, or awaiting test results. </a:t>
            </a:r>
          </a:p>
        </p:txBody>
      </p:sp>
      <p:sp>
        <p:nvSpPr>
          <p:cNvPr id="5" name="Hexagon 4">
            <a:extLst>
              <a:ext uri="{FF2B5EF4-FFF2-40B4-BE49-F238E27FC236}">
                <a16:creationId xmlns:a16="http://schemas.microsoft.com/office/drawing/2014/main" id="{976721C2-8478-54A0-3E2A-7EB0F6E10FB4}"/>
              </a:ext>
            </a:extLst>
          </p:cNvPr>
          <p:cNvSpPr/>
          <p:nvPr/>
        </p:nvSpPr>
        <p:spPr>
          <a:xfrm>
            <a:off x="7896654" y="3634818"/>
            <a:ext cx="3867664" cy="2779620"/>
          </a:xfrm>
          <a:prstGeom prst="hexagon">
            <a:avLst/>
          </a:prstGeom>
          <a:solidFill>
            <a:srgbClr val="FF00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If diagnosed with an STI, it is important to inform your sexual partners. </a:t>
            </a:r>
          </a:p>
          <a:p>
            <a:pPr algn="ctr"/>
            <a:r>
              <a:rPr lang="en-US" sz="2800" b="1" dirty="0" err="1"/>
              <a:t>www.letthemknow.org.au</a:t>
            </a:r>
            <a:r>
              <a:rPr lang="en-US" sz="2800" b="1" dirty="0"/>
              <a:t> is an anonymous notification service.</a:t>
            </a:r>
          </a:p>
        </p:txBody>
      </p:sp>
    </p:spTree>
    <p:extLst>
      <p:ext uri="{BB962C8B-B14F-4D97-AF65-F5344CB8AC3E}">
        <p14:creationId xmlns:p14="http://schemas.microsoft.com/office/powerpoint/2010/main" val="231574007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067C5-3E2A-5B58-CD6F-F63628B75230}"/>
              </a:ext>
            </a:extLst>
          </p:cNvPr>
          <p:cNvSpPr>
            <a:spLocks noGrp="1"/>
          </p:cNvSpPr>
          <p:nvPr>
            <p:ph type="title"/>
          </p:nvPr>
        </p:nvSpPr>
        <p:spPr/>
        <p:txBody>
          <a:bodyPr/>
          <a:lstStyle/>
          <a:p>
            <a:r>
              <a:rPr lang="en-US" dirty="0"/>
              <a:t>When should a person Get tested? </a:t>
            </a:r>
            <a:r>
              <a:rPr lang="en-US" sz="5400" dirty="0"/>
              <a:t>(pg. 22)</a:t>
            </a:r>
            <a:endParaRPr lang="en-US" dirty="0"/>
          </a:p>
        </p:txBody>
      </p:sp>
      <p:sp>
        <p:nvSpPr>
          <p:cNvPr id="3" name="Content Placeholder 2">
            <a:extLst>
              <a:ext uri="{FF2B5EF4-FFF2-40B4-BE49-F238E27FC236}">
                <a16:creationId xmlns:a16="http://schemas.microsoft.com/office/drawing/2014/main" id="{B3435F44-4C3D-7F9B-D7B3-8C91B8ACC992}"/>
              </a:ext>
            </a:extLst>
          </p:cNvPr>
          <p:cNvSpPr>
            <a:spLocks noGrp="1"/>
          </p:cNvSpPr>
          <p:nvPr>
            <p:ph idx="1"/>
          </p:nvPr>
        </p:nvSpPr>
        <p:spPr>
          <a:xfrm>
            <a:off x="838200" y="1929384"/>
            <a:ext cx="5599670" cy="4251960"/>
          </a:xfrm>
        </p:spPr>
        <p:txBody>
          <a:bodyPr>
            <a:normAutofit fontScale="92500" lnSpcReduction="10000"/>
          </a:bodyPr>
          <a:lstStyle/>
          <a:p>
            <a:r>
              <a:rPr lang="en-US" dirty="0"/>
              <a:t>Yearly, once becoming sexually active.</a:t>
            </a:r>
          </a:p>
          <a:p>
            <a:r>
              <a:rPr lang="en-US" dirty="0"/>
              <a:t>Have engaged in unprotected sexual intercourse or the condom broke.</a:t>
            </a:r>
          </a:p>
          <a:p>
            <a:r>
              <a:rPr lang="en-US" dirty="0"/>
              <a:t>Partner has an STI.</a:t>
            </a:r>
          </a:p>
          <a:p>
            <a:r>
              <a:rPr lang="en-US" dirty="0"/>
              <a:t>Partner is having sex with someone else. </a:t>
            </a:r>
          </a:p>
          <a:p>
            <a:r>
              <a:rPr lang="en-US" dirty="0"/>
              <a:t>Have ever injected drugs. </a:t>
            </a:r>
          </a:p>
          <a:p>
            <a:r>
              <a:rPr lang="en-US" dirty="0"/>
              <a:t>You or partner have any STI symptoms.</a:t>
            </a:r>
          </a:p>
          <a:p>
            <a:r>
              <a:rPr lang="en-US" dirty="0"/>
              <a:t>Have been a victim of sexual assault (i.e., rape).</a:t>
            </a:r>
          </a:p>
        </p:txBody>
      </p:sp>
      <p:pic>
        <p:nvPicPr>
          <p:cNvPr id="4" name="Picture 2" descr="How STDs Are Diagnosed">
            <a:extLst>
              <a:ext uri="{FF2B5EF4-FFF2-40B4-BE49-F238E27FC236}">
                <a16:creationId xmlns:a16="http://schemas.microsoft.com/office/drawing/2014/main" id="{B7832B76-F0E1-3E26-6D7D-EE979AD8642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96000" y="2226363"/>
            <a:ext cx="5925065" cy="395498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How STDs Are Diagnosed">
            <a:extLst>
              <a:ext uri="{FF2B5EF4-FFF2-40B4-BE49-F238E27FC236}">
                <a16:creationId xmlns:a16="http://schemas.microsoft.com/office/drawing/2014/main" id="{BAC1C658-C153-5E01-881C-4017ADE6732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248400" y="2378763"/>
            <a:ext cx="5925065" cy="3954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379413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7">
            <a:extLst>
              <a:ext uri="{FF2B5EF4-FFF2-40B4-BE49-F238E27FC236}">
                <a16:creationId xmlns:a16="http://schemas.microsoft.com/office/drawing/2014/main" id="{EBDD1931-9E86-4402-9A68-33A2D9EFB1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6" name="Rectangle 15">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DB5B423A-57CC-4C58-AA26-8E2E862B0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5217023"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790BBA3-BB95-1109-3BD5-DA42F01BA804}"/>
              </a:ext>
            </a:extLst>
          </p:cNvPr>
          <p:cNvSpPr>
            <a:spLocks noGrp="1"/>
          </p:cNvSpPr>
          <p:nvPr>
            <p:ph type="title" idx="4294967295"/>
          </p:nvPr>
        </p:nvSpPr>
        <p:spPr>
          <a:xfrm>
            <a:off x="838200" y="673770"/>
            <a:ext cx="3220329" cy="2027227"/>
          </a:xfrm>
        </p:spPr>
        <p:txBody>
          <a:bodyPr vert="horz" lIns="91440" tIns="45720" rIns="91440" bIns="45720" rtlCol="0" anchor="t">
            <a:normAutofit fontScale="90000"/>
          </a:bodyPr>
          <a:lstStyle/>
          <a:p>
            <a:pPr>
              <a:lnSpc>
                <a:spcPct val="90000"/>
              </a:lnSpc>
            </a:pPr>
            <a:r>
              <a:rPr lang="en-US" sz="5600" dirty="0">
                <a:solidFill>
                  <a:schemeClr val="bg1"/>
                </a:solidFill>
              </a:rPr>
              <a:t>Barriers to getting tested:</a:t>
            </a:r>
            <a:br>
              <a:rPr lang="en-US" sz="5600" dirty="0">
                <a:solidFill>
                  <a:schemeClr val="bg1"/>
                </a:solidFill>
              </a:rPr>
            </a:br>
            <a:r>
              <a:rPr lang="en-US" sz="6000" dirty="0"/>
              <a:t>(pg. 23)</a:t>
            </a:r>
            <a:endParaRPr lang="en-US" sz="5600" dirty="0">
              <a:solidFill>
                <a:schemeClr val="bg1"/>
              </a:solidFill>
            </a:endParaRPr>
          </a:p>
        </p:txBody>
      </p:sp>
      <p:sp>
        <p:nvSpPr>
          <p:cNvPr id="3" name="TextBox 2">
            <a:extLst>
              <a:ext uri="{FF2B5EF4-FFF2-40B4-BE49-F238E27FC236}">
                <a16:creationId xmlns:a16="http://schemas.microsoft.com/office/drawing/2014/main" id="{06881C71-D61A-690B-79B0-BE88EA06B31D}"/>
              </a:ext>
            </a:extLst>
          </p:cNvPr>
          <p:cNvSpPr txBox="1"/>
          <p:nvPr/>
        </p:nvSpPr>
        <p:spPr>
          <a:xfrm>
            <a:off x="4058529" y="3539610"/>
            <a:ext cx="7636476" cy="2677656"/>
          </a:xfrm>
          <a:prstGeom prst="rect">
            <a:avLst/>
          </a:prstGeom>
          <a:noFill/>
        </p:spPr>
        <p:txBody>
          <a:bodyPr wrap="square" rtlCol="0">
            <a:spAutoFit/>
          </a:bodyPr>
          <a:lstStyle/>
          <a:p>
            <a:r>
              <a:rPr lang="en-US" sz="2800" dirty="0"/>
              <a:t>Have a group discussion about what you believe would prevent/stop a person from getting tested for an STI.</a:t>
            </a:r>
          </a:p>
          <a:p>
            <a:endParaRPr lang="en-US" sz="2800" dirty="0"/>
          </a:p>
          <a:p>
            <a:r>
              <a:rPr lang="en-US" sz="2800" dirty="0"/>
              <a:t>You have 90 seconds to discuss. </a:t>
            </a:r>
          </a:p>
          <a:p>
            <a:endParaRPr lang="en-US" sz="2800" dirty="0"/>
          </a:p>
          <a:p>
            <a:r>
              <a:rPr lang="en-US" sz="2800" dirty="0"/>
              <a:t>Be prepared to share your thoughts. </a:t>
            </a:r>
          </a:p>
        </p:txBody>
      </p:sp>
      <p:pic>
        <p:nvPicPr>
          <p:cNvPr id="6146" name="Picture 2" descr="Discussion Word Animated GIF Logo Designs">
            <a:extLst>
              <a:ext uri="{FF2B5EF4-FFF2-40B4-BE49-F238E27FC236}">
                <a16:creationId xmlns:a16="http://schemas.microsoft.com/office/drawing/2014/main" id="{C7284BC4-8B71-F8A5-260F-6FEFB489A75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2903"/>
          <a:stretch/>
        </p:blipFill>
        <p:spPr bwMode="auto">
          <a:xfrm>
            <a:off x="4815926" y="-1"/>
            <a:ext cx="7373026" cy="33183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613003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7">
            <a:extLst>
              <a:ext uri="{FF2B5EF4-FFF2-40B4-BE49-F238E27FC236}">
                <a16:creationId xmlns:a16="http://schemas.microsoft.com/office/drawing/2014/main" id="{EBDD1931-9E86-4402-9A68-33A2D9EFB1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6" name="Rectangle 15">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DB5B423A-57CC-4C58-AA26-8E2E862B0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5217023"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790BBA3-BB95-1109-3BD5-DA42F01BA804}"/>
              </a:ext>
            </a:extLst>
          </p:cNvPr>
          <p:cNvSpPr>
            <a:spLocks noGrp="1"/>
          </p:cNvSpPr>
          <p:nvPr>
            <p:ph type="title" idx="4294967295"/>
          </p:nvPr>
        </p:nvSpPr>
        <p:spPr>
          <a:xfrm>
            <a:off x="838200" y="673770"/>
            <a:ext cx="3220329" cy="2274058"/>
          </a:xfrm>
        </p:spPr>
        <p:txBody>
          <a:bodyPr vert="horz" lIns="91440" tIns="45720" rIns="91440" bIns="45720" rtlCol="0" anchor="t">
            <a:normAutofit fontScale="90000"/>
          </a:bodyPr>
          <a:lstStyle/>
          <a:p>
            <a:pPr>
              <a:lnSpc>
                <a:spcPct val="90000"/>
              </a:lnSpc>
            </a:pPr>
            <a:r>
              <a:rPr lang="en-US" sz="5600" dirty="0">
                <a:solidFill>
                  <a:schemeClr val="bg1"/>
                </a:solidFill>
              </a:rPr>
              <a:t>Barriers to getting tested:</a:t>
            </a:r>
            <a:br>
              <a:rPr lang="en-US" sz="5600" dirty="0">
                <a:solidFill>
                  <a:schemeClr val="bg1"/>
                </a:solidFill>
              </a:rPr>
            </a:br>
            <a:r>
              <a:rPr lang="en-US" sz="6000" dirty="0"/>
              <a:t>(pg. 23)</a:t>
            </a:r>
            <a:endParaRPr lang="en-US" sz="5600" dirty="0">
              <a:solidFill>
                <a:schemeClr val="bg1"/>
              </a:solidFill>
            </a:endParaRPr>
          </a:p>
        </p:txBody>
      </p:sp>
      <p:sp>
        <p:nvSpPr>
          <p:cNvPr id="5" name="Oval 4">
            <a:extLst>
              <a:ext uri="{FF2B5EF4-FFF2-40B4-BE49-F238E27FC236}">
                <a16:creationId xmlns:a16="http://schemas.microsoft.com/office/drawing/2014/main" id="{7D883ABD-C7CB-6FFD-419B-D5B8E58BD379}"/>
              </a:ext>
            </a:extLst>
          </p:cNvPr>
          <p:cNvSpPr/>
          <p:nvPr/>
        </p:nvSpPr>
        <p:spPr>
          <a:xfrm>
            <a:off x="4609047" y="2500223"/>
            <a:ext cx="2892351" cy="1228765"/>
          </a:xfrm>
          <a:prstGeom prst="ellipse">
            <a:avLst/>
          </a:prstGeom>
          <a:solidFill>
            <a:srgbClr val="92D050"/>
          </a:solidFill>
          <a:ln w="38100">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spcAft>
                <a:spcPts val="600"/>
              </a:spcAft>
            </a:pPr>
            <a:r>
              <a:rPr lang="en-US" sz="3200" kern="1200" dirty="0">
                <a:ln>
                  <a:solidFill>
                    <a:sysClr val="windowText" lastClr="000000"/>
                  </a:solidFill>
                </a:ln>
                <a:solidFill>
                  <a:schemeClr val="bg1"/>
                </a:solidFill>
                <a:latin typeface="+mn-lt"/>
                <a:ea typeface="+mn-ea"/>
                <a:cs typeface="+mn-cs"/>
              </a:rPr>
              <a:t>Inconvenient.</a:t>
            </a:r>
            <a:endParaRPr lang="en-US" sz="6600" dirty="0">
              <a:ln>
                <a:solidFill>
                  <a:sysClr val="windowText" lastClr="000000"/>
                </a:solidFill>
              </a:ln>
              <a:solidFill>
                <a:schemeClr val="bg1"/>
              </a:solidFill>
            </a:endParaRPr>
          </a:p>
        </p:txBody>
      </p:sp>
      <p:sp>
        <p:nvSpPr>
          <p:cNvPr id="6" name="Oval 5">
            <a:extLst>
              <a:ext uri="{FF2B5EF4-FFF2-40B4-BE49-F238E27FC236}">
                <a16:creationId xmlns:a16="http://schemas.microsoft.com/office/drawing/2014/main" id="{66F984E8-77A9-C2DD-A5D9-8A300E32AB26}"/>
              </a:ext>
            </a:extLst>
          </p:cNvPr>
          <p:cNvSpPr/>
          <p:nvPr/>
        </p:nvSpPr>
        <p:spPr>
          <a:xfrm>
            <a:off x="8977730" y="1383006"/>
            <a:ext cx="2892351" cy="1228765"/>
          </a:xfrm>
          <a:prstGeom prst="ellipse">
            <a:avLst/>
          </a:prstGeom>
          <a:solidFill>
            <a:srgbClr val="92D050"/>
          </a:solidFill>
          <a:ln w="38100">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spcAft>
                <a:spcPts val="600"/>
              </a:spcAft>
            </a:pPr>
            <a:r>
              <a:rPr lang="en-US" sz="2800" kern="1200" dirty="0">
                <a:ln>
                  <a:solidFill>
                    <a:sysClr val="windowText" lastClr="000000"/>
                  </a:solidFill>
                </a:ln>
                <a:solidFill>
                  <a:schemeClr val="bg1"/>
                </a:solidFill>
                <a:latin typeface="+mn-lt"/>
                <a:ea typeface="+mn-ea"/>
                <a:cs typeface="+mn-cs"/>
              </a:rPr>
              <a:t>Costs time and money.</a:t>
            </a:r>
            <a:endParaRPr lang="en-US" sz="6000" dirty="0">
              <a:ln>
                <a:solidFill>
                  <a:sysClr val="windowText" lastClr="000000"/>
                </a:solidFill>
              </a:ln>
              <a:solidFill>
                <a:schemeClr val="bg1"/>
              </a:solidFill>
            </a:endParaRPr>
          </a:p>
        </p:txBody>
      </p:sp>
      <p:sp>
        <p:nvSpPr>
          <p:cNvPr id="7" name="Oval 6">
            <a:extLst>
              <a:ext uri="{FF2B5EF4-FFF2-40B4-BE49-F238E27FC236}">
                <a16:creationId xmlns:a16="http://schemas.microsoft.com/office/drawing/2014/main" id="{C8E26A27-549F-55F8-7E71-8E6B527767E1}"/>
              </a:ext>
            </a:extLst>
          </p:cNvPr>
          <p:cNvSpPr/>
          <p:nvPr/>
        </p:nvSpPr>
        <p:spPr>
          <a:xfrm>
            <a:off x="7986322" y="5233568"/>
            <a:ext cx="2892351" cy="1228765"/>
          </a:xfrm>
          <a:prstGeom prst="ellipse">
            <a:avLst/>
          </a:prstGeom>
          <a:solidFill>
            <a:srgbClr val="92D050"/>
          </a:solidFill>
          <a:ln w="38100">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spcAft>
                <a:spcPts val="600"/>
              </a:spcAft>
            </a:pPr>
            <a:r>
              <a:rPr lang="en-US" sz="2400" kern="1200" dirty="0">
                <a:ln>
                  <a:solidFill>
                    <a:sysClr val="windowText" lastClr="000000"/>
                  </a:solidFill>
                </a:ln>
                <a:solidFill>
                  <a:schemeClr val="bg1"/>
                </a:solidFill>
                <a:latin typeface="+mn-lt"/>
                <a:ea typeface="+mn-ea"/>
                <a:cs typeface="+mn-cs"/>
              </a:rPr>
              <a:t>Associated stigma, embarrassment or shame.</a:t>
            </a:r>
            <a:endParaRPr lang="en-US" sz="5400" dirty="0">
              <a:ln>
                <a:solidFill>
                  <a:sysClr val="windowText" lastClr="000000"/>
                </a:solidFill>
              </a:ln>
              <a:solidFill>
                <a:schemeClr val="bg1"/>
              </a:solidFill>
            </a:endParaRPr>
          </a:p>
        </p:txBody>
      </p:sp>
      <p:sp>
        <p:nvSpPr>
          <p:cNvPr id="8" name="Oval 7">
            <a:extLst>
              <a:ext uri="{FF2B5EF4-FFF2-40B4-BE49-F238E27FC236}">
                <a16:creationId xmlns:a16="http://schemas.microsoft.com/office/drawing/2014/main" id="{F5FF319B-05CD-A2D2-D36E-5E2E1EAA9D72}"/>
              </a:ext>
            </a:extLst>
          </p:cNvPr>
          <p:cNvSpPr/>
          <p:nvPr/>
        </p:nvSpPr>
        <p:spPr>
          <a:xfrm>
            <a:off x="507918" y="5003172"/>
            <a:ext cx="2892351" cy="1228765"/>
          </a:xfrm>
          <a:prstGeom prst="ellipse">
            <a:avLst/>
          </a:prstGeom>
          <a:solidFill>
            <a:srgbClr val="92D050"/>
          </a:solidFill>
          <a:ln w="38100">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spcAft>
                <a:spcPts val="600"/>
              </a:spcAft>
            </a:pPr>
            <a:r>
              <a:rPr lang="en-US" sz="2800" kern="1200" dirty="0">
                <a:ln>
                  <a:solidFill>
                    <a:sysClr val="windowText" lastClr="000000"/>
                  </a:solidFill>
                </a:ln>
                <a:solidFill>
                  <a:schemeClr val="bg1"/>
                </a:solidFill>
                <a:latin typeface="+mn-lt"/>
                <a:ea typeface="+mn-ea"/>
                <a:cs typeface="+mn-cs"/>
              </a:rPr>
              <a:t>Lack of knowledge of signs/symptoms.</a:t>
            </a:r>
            <a:endParaRPr lang="en-US" sz="6000" dirty="0">
              <a:ln>
                <a:solidFill>
                  <a:sysClr val="windowText" lastClr="000000"/>
                </a:solidFill>
              </a:ln>
              <a:solidFill>
                <a:schemeClr val="bg1"/>
              </a:solidFill>
            </a:endParaRPr>
          </a:p>
        </p:txBody>
      </p:sp>
      <p:sp>
        <p:nvSpPr>
          <p:cNvPr id="9" name="Oval 8">
            <a:extLst>
              <a:ext uri="{FF2B5EF4-FFF2-40B4-BE49-F238E27FC236}">
                <a16:creationId xmlns:a16="http://schemas.microsoft.com/office/drawing/2014/main" id="{685AEAB2-8791-9D20-6A50-1788D6D4FA13}"/>
              </a:ext>
            </a:extLst>
          </p:cNvPr>
          <p:cNvSpPr/>
          <p:nvPr/>
        </p:nvSpPr>
        <p:spPr>
          <a:xfrm>
            <a:off x="5810636" y="495927"/>
            <a:ext cx="2892351" cy="1228765"/>
          </a:xfrm>
          <a:prstGeom prst="ellipse">
            <a:avLst/>
          </a:prstGeom>
          <a:solidFill>
            <a:srgbClr val="92D050"/>
          </a:solidFill>
          <a:ln w="38100">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spcAft>
                <a:spcPts val="600"/>
              </a:spcAft>
            </a:pPr>
            <a:r>
              <a:rPr lang="en-US" sz="2800" kern="1200" dirty="0">
                <a:ln>
                  <a:solidFill>
                    <a:sysClr val="windowText" lastClr="000000"/>
                  </a:solidFill>
                </a:ln>
                <a:solidFill>
                  <a:schemeClr val="bg1"/>
                </a:solidFill>
                <a:latin typeface="+mn-lt"/>
                <a:ea typeface="+mn-ea"/>
                <a:cs typeface="+mn-cs"/>
              </a:rPr>
              <a:t>Don’t know where to go for help or testing.</a:t>
            </a:r>
            <a:endParaRPr lang="en-US" sz="6000" dirty="0">
              <a:ln>
                <a:solidFill>
                  <a:sysClr val="windowText" lastClr="000000"/>
                </a:solidFill>
              </a:ln>
              <a:solidFill>
                <a:schemeClr val="bg1"/>
              </a:solidFill>
            </a:endParaRPr>
          </a:p>
        </p:txBody>
      </p:sp>
      <p:sp>
        <p:nvSpPr>
          <p:cNvPr id="12" name="Oval 11">
            <a:extLst>
              <a:ext uri="{FF2B5EF4-FFF2-40B4-BE49-F238E27FC236}">
                <a16:creationId xmlns:a16="http://schemas.microsoft.com/office/drawing/2014/main" id="{837AE01C-B851-CE7D-76BD-4291F0E10CAA}"/>
              </a:ext>
            </a:extLst>
          </p:cNvPr>
          <p:cNvSpPr/>
          <p:nvPr/>
        </p:nvSpPr>
        <p:spPr>
          <a:xfrm>
            <a:off x="4205679" y="4388789"/>
            <a:ext cx="2892351" cy="1228765"/>
          </a:xfrm>
          <a:prstGeom prst="ellipse">
            <a:avLst/>
          </a:prstGeom>
          <a:solidFill>
            <a:srgbClr val="92D050"/>
          </a:solidFill>
          <a:ln w="38100">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spcAft>
                <a:spcPts val="600"/>
              </a:spcAft>
            </a:pPr>
            <a:r>
              <a:rPr lang="en-US" sz="3200" kern="1200" dirty="0">
                <a:ln>
                  <a:solidFill>
                    <a:sysClr val="windowText" lastClr="000000"/>
                  </a:solidFill>
                </a:ln>
                <a:solidFill>
                  <a:schemeClr val="bg1"/>
                </a:solidFill>
                <a:latin typeface="+mn-lt"/>
                <a:ea typeface="+mn-ea"/>
                <a:cs typeface="+mn-cs"/>
              </a:rPr>
              <a:t>Fear of a positive result.</a:t>
            </a:r>
            <a:endParaRPr lang="en-US" sz="6600" dirty="0">
              <a:ln>
                <a:solidFill>
                  <a:sysClr val="windowText" lastClr="000000"/>
                </a:solidFill>
              </a:ln>
              <a:solidFill>
                <a:schemeClr val="bg1"/>
              </a:solidFill>
            </a:endParaRPr>
          </a:p>
        </p:txBody>
      </p:sp>
      <p:sp>
        <p:nvSpPr>
          <p:cNvPr id="13" name="Oval 12">
            <a:extLst>
              <a:ext uri="{FF2B5EF4-FFF2-40B4-BE49-F238E27FC236}">
                <a16:creationId xmlns:a16="http://schemas.microsoft.com/office/drawing/2014/main" id="{4FA9BECF-0952-29BB-8A00-839B30703B3C}"/>
              </a:ext>
            </a:extLst>
          </p:cNvPr>
          <p:cNvSpPr/>
          <p:nvPr/>
        </p:nvSpPr>
        <p:spPr>
          <a:xfrm>
            <a:off x="8318149" y="3335111"/>
            <a:ext cx="2892351" cy="1228765"/>
          </a:xfrm>
          <a:prstGeom prst="ellipse">
            <a:avLst/>
          </a:prstGeom>
          <a:solidFill>
            <a:srgbClr val="92D050"/>
          </a:solidFill>
          <a:ln w="38100">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spcAft>
                <a:spcPts val="600"/>
              </a:spcAft>
            </a:pPr>
            <a:r>
              <a:rPr lang="en-US" sz="2800" kern="1200" dirty="0">
                <a:ln>
                  <a:solidFill>
                    <a:sysClr val="windowText" lastClr="000000"/>
                  </a:solidFill>
                </a:ln>
                <a:solidFill>
                  <a:schemeClr val="bg1"/>
                </a:solidFill>
                <a:latin typeface="+mn-lt"/>
                <a:ea typeface="+mn-ea"/>
                <a:cs typeface="+mn-cs"/>
              </a:rPr>
              <a:t>Perception that it ‘won’t happen to me’.</a:t>
            </a:r>
            <a:endParaRPr lang="en-US" sz="6000" dirty="0">
              <a:ln>
                <a:solidFill>
                  <a:sysClr val="windowText" lastClr="000000"/>
                </a:solidFill>
              </a:ln>
              <a:solidFill>
                <a:schemeClr val="bg1"/>
              </a:solidFill>
            </a:endParaRPr>
          </a:p>
        </p:txBody>
      </p:sp>
    </p:spTree>
    <p:extLst>
      <p:ext uri="{BB962C8B-B14F-4D97-AF65-F5344CB8AC3E}">
        <p14:creationId xmlns:p14="http://schemas.microsoft.com/office/powerpoint/2010/main" val="352452045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6">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1" name="Rectangle 10">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27432"/>
          </a:xfrm>
          <a:custGeom>
            <a:avLst/>
            <a:gdLst>
              <a:gd name="connsiteX0" fmla="*/ 0 w 3255095"/>
              <a:gd name="connsiteY0" fmla="*/ 0 h 27432"/>
              <a:gd name="connsiteX1" fmla="*/ 618468 w 3255095"/>
              <a:gd name="connsiteY1" fmla="*/ 0 h 27432"/>
              <a:gd name="connsiteX2" fmla="*/ 1269487 w 3255095"/>
              <a:gd name="connsiteY2" fmla="*/ 0 h 27432"/>
              <a:gd name="connsiteX3" fmla="*/ 1953057 w 3255095"/>
              <a:gd name="connsiteY3" fmla="*/ 0 h 27432"/>
              <a:gd name="connsiteX4" fmla="*/ 2636627 w 3255095"/>
              <a:gd name="connsiteY4" fmla="*/ 0 h 27432"/>
              <a:gd name="connsiteX5" fmla="*/ 3255095 w 3255095"/>
              <a:gd name="connsiteY5" fmla="*/ 0 h 27432"/>
              <a:gd name="connsiteX6" fmla="*/ 3255095 w 3255095"/>
              <a:gd name="connsiteY6" fmla="*/ 27432 h 27432"/>
              <a:gd name="connsiteX7" fmla="*/ 2538974 w 3255095"/>
              <a:gd name="connsiteY7" fmla="*/ 27432 h 27432"/>
              <a:gd name="connsiteX8" fmla="*/ 1822853 w 3255095"/>
              <a:gd name="connsiteY8" fmla="*/ 27432 h 27432"/>
              <a:gd name="connsiteX9" fmla="*/ 1171834 w 3255095"/>
              <a:gd name="connsiteY9" fmla="*/ 27432 h 27432"/>
              <a:gd name="connsiteX10" fmla="*/ 0 w 3255095"/>
              <a:gd name="connsiteY10" fmla="*/ 27432 h 27432"/>
              <a:gd name="connsiteX11" fmla="*/ 0 w 3255095"/>
              <a:gd name="connsiteY11"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27432"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3929" y="7395"/>
                  <a:pt x="3255140" y="21864"/>
                  <a:pt x="3255095" y="27432"/>
                </a:cubicBezTo>
                <a:cubicBezTo>
                  <a:pt x="3088545" y="32347"/>
                  <a:pt x="2687475" y="16563"/>
                  <a:pt x="2538974" y="27432"/>
                </a:cubicBezTo>
                <a:cubicBezTo>
                  <a:pt x="2390473" y="38301"/>
                  <a:pt x="2137381" y="185"/>
                  <a:pt x="1822853" y="27432"/>
                </a:cubicBezTo>
                <a:cubicBezTo>
                  <a:pt x="1508325" y="54679"/>
                  <a:pt x="1466437" y="29529"/>
                  <a:pt x="1171834" y="27432"/>
                </a:cubicBezTo>
                <a:cubicBezTo>
                  <a:pt x="877231" y="25335"/>
                  <a:pt x="561097" y="46787"/>
                  <a:pt x="0" y="27432"/>
                </a:cubicBezTo>
                <a:cubicBezTo>
                  <a:pt x="-503" y="20663"/>
                  <a:pt x="1168" y="5855"/>
                  <a:pt x="0" y="0"/>
                </a:cubicBezTo>
                <a:close/>
              </a:path>
              <a:path w="3255095" h="27432"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5288" y="12649"/>
                  <a:pt x="3254107" y="17989"/>
                  <a:pt x="3255095" y="27432"/>
                </a:cubicBezTo>
                <a:cubicBezTo>
                  <a:pt x="3120743" y="25834"/>
                  <a:pt x="2759628" y="51606"/>
                  <a:pt x="2604076" y="27432"/>
                </a:cubicBezTo>
                <a:cubicBezTo>
                  <a:pt x="2448524" y="3258"/>
                  <a:pt x="2184336" y="28743"/>
                  <a:pt x="1887955" y="27432"/>
                </a:cubicBezTo>
                <a:cubicBezTo>
                  <a:pt x="1591574" y="26121"/>
                  <a:pt x="1548845" y="16014"/>
                  <a:pt x="1334589" y="27432"/>
                </a:cubicBezTo>
                <a:cubicBezTo>
                  <a:pt x="1120333" y="38850"/>
                  <a:pt x="996014" y="18806"/>
                  <a:pt x="683570" y="27432"/>
                </a:cubicBezTo>
                <a:cubicBezTo>
                  <a:pt x="371126" y="36058"/>
                  <a:pt x="198687" y="25311"/>
                  <a:pt x="0" y="27432"/>
                </a:cubicBezTo>
                <a:cubicBezTo>
                  <a:pt x="1300" y="19678"/>
                  <a:pt x="-86" y="12044"/>
                  <a:pt x="0" y="0"/>
                </a:cubicBezTo>
                <a:close/>
              </a:path>
            </a:pathLst>
          </a:custGeom>
          <a:solidFill>
            <a:srgbClr val="F08A4B"/>
          </a:solidFill>
          <a:ln w="38100" cap="rnd">
            <a:solidFill>
              <a:srgbClr val="F08A4B"/>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E5C5B44E-F44B-74B4-A880-44AB1701A55E}"/>
              </a:ext>
            </a:extLst>
          </p:cNvPr>
          <p:cNvPicPr>
            <a:picLocks noGrp="1" noChangeAspect="1"/>
          </p:cNvPicPr>
          <p:nvPr>
            <p:ph idx="1"/>
          </p:nvPr>
        </p:nvPicPr>
        <p:blipFill>
          <a:blip r:embed="rId3"/>
          <a:stretch>
            <a:fillRect/>
          </a:stretch>
        </p:blipFill>
        <p:spPr>
          <a:xfrm>
            <a:off x="4736573" y="128193"/>
            <a:ext cx="7194872" cy="6702375"/>
          </a:xfrm>
          <a:prstGeom prst="rect">
            <a:avLst/>
          </a:prstGeom>
        </p:spPr>
      </p:pic>
      <p:sp>
        <p:nvSpPr>
          <p:cNvPr id="5" name="TextBox 4">
            <a:extLst>
              <a:ext uri="{FF2B5EF4-FFF2-40B4-BE49-F238E27FC236}">
                <a16:creationId xmlns:a16="http://schemas.microsoft.com/office/drawing/2014/main" id="{9B19E649-6C59-E939-BF72-3D348048E7B6}"/>
              </a:ext>
            </a:extLst>
          </p:cNvPr>
          <p:cNvSpPr txBox="1"/>
          <p:nvPr/>
        </p:nvSpPr>
        <p:spPr>
          <a:xfrm>
            <a:off x="354455" y="974681"/>
            <a:ext cx="4121563" cy="3108543"/>
          </a:xfrm>
          <a:prstGeom prst="rect">
            <a:avLst/>
          </a:prstGeom>
          <a:noFill/>
        </p:spPr>
        <p:txBody>
          <a:bodyPr wrap="square" rtlCol="0">
            <a:spAutoFit/>
          </a:bodyPr>
          <a:lstStyle/>
          <a:p>
            <a:pPr marL="342900" indent="-342900">
              <a:buFont typeface="Arial" panose="020B0604020202020204" pitchFamily="34" charset="0"/>
              <a:buChar char="•"/>
            </a:pPr>
            <a:r>
              <a:rPr lang="en-US" sz="2800" dirty="0"/>
              <a:t>Big spike in no. of Chlamydia notifications from 1999 - 2017. </a:t>
            </a:r>
          </a:p>
          <a:p>
            <a:pPr marL="285750" indent="-285750">
              <a:buFont typeface="Arial" panose="020B0604020202020204" pitchFamily="34" charset="0"/>
              <a:buChar char="•"/>
            </a:pPr>
            <a:r>
              <a:rPr lang="en-US" sz="2800" dirty="0"/>
              <a:t>Steady decline of Hep C.</a:t>
            </a:r>
          </a:p>
          <a:p>
            <a:pPr marL="285750" indent="-285750">
              <a:buFont typeface="Arial" panose="020B0604020202020204" pitchFamily="34" charset="0"/>
              <a:buChar char="•"/>
            </a:pPr>
            <a:r>
              <a:rPr lang="en-US" sz="2800" dirty="0"/>
              <a:t>Hep B remains steady.</a:t>
            </a:r>
          </a:p>
          <a:p>
            <a:pPr marL="285750" indent="-285750">
              <a:buFont typeface="Arial" panose="020B0604020202020204" pitchFamily="34" charset="0"/>
              <a:buChar char="•"/>
            </a:pPr>
            <a:r>
              <a:rPr lang="en-US" sz="2800" dirty="0"/>
              <a:t>HIV has seen no notable increase &lt;1997.</a:t>
            </a:r>
          </a:p>
          <a:p>
            <a:pPr marL="285750" indent="-285750">
              <a:buFont typeface="Arial" panose="020B0604020202020204" pitchFamily="34" charset="0"/>
              <a:buChar char="•"/>
            </a:pPr>
            <a:r>
              <a:rPr lang="en-US" sz="2800" dirty="0"/>
              <a:t>Spike in Gonorrhoea since 2009.</a:t>
            </a:r>
          </a:p>
          <a:p>
            <a:pPr marL="285750" indent="-285750">
              <a:buFont typeface="Arial" panose="020B0604020202020204" pitchFamily="34" charset="0"/>
              <a:buChar char="•"/>
            </a:pPr>
            <a:r>
              <a:rPr lang="en-US" sz="2800" dirty="0"/>
              <a:t>Spike in Syphilis from 2013.</a:t>
            </a:r>
          </a:p>
        </p:txBody>
      </p:sp>
      <p:sp>
        <p:nvSpPr>
          <p:cNvPr id="7" name="TextBox 6">
            <a:extLst>
              <a:ext uri="{FF2B5EF4-FFF2-40B4-BE49-F238E27FC236}">
                <a16:creationId xmlns:a16="http://schemas.microsoft.com/office/drawing/2014/main" id="{E6D5319C-F9E7-5F17-0A2C-3D9C43EF5F79}"/>
              </a:ext>
            </a:extLst>
          </p:cNvPr>
          <p:cNvSpPr txBox="1"/>
          <p:nvPr/>
        </p:nvSpPr>
        <p:spPr>
          <a:xfrm>
            <a:off x="523993" y="4711171"/>
            <a:ext cx="3374380" cy="1754326"/>
          </a:xfrm>
          <a:prstGeom prst="rect">
            <a:avLst/>
          </a:prstGeom>
          <a:noFill/>
        </p:spPr>
        <p:txBody>
          <a:bodyPr wrap="square">
            <a:spAutoFit/>
          </a:bodyPr>
          <a:lstStyle/>
          <a:p>
            <a:r>
              <a:rPr lang="en-US" sz="5400" b="1" dirty="0">
                <a:latin typeface="+mj-lt"/>
              </a:rPr>
              <a:t>What’s trending?</a:t>
            </a:r>
          </a:p>
        </p:txBody>
      </p:sp>
    </p:spTree>
    <p:extLst>
      <p:ext uri="{BB962C8B-B14F-4D97-AF65-F5344CB8AC3E}">
        <p14:creationId xmlns:p14="http://schemas.microsoft.com/office/powerpoint/2010/main" val="3334512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83664-BB50-C041-7D72-DF99A09AAE41}"/>
              </a:ext>
            </a:extLst>
          </p:cNvPr>
          <p:cNvSpPr>
            <a:spLocks noGrp="1"/>
          </p:cNvSpPr>
          <p:nvPr>
            <p:ph type="title"/>
          </p:nvPr>
        </p:nvSpPr>
        <p:spPr/>
        <p:txBody>
          <a:bodyPr>
            <a:normAutofit/>
          </a:bodyPr>
          <a:lstStyle/>
          <a:p>
            <a:r>
              <a:rPr lang="en-US" dirty="0"/>
              <a:t>Statistics:</a:t>
            </a:r>
          </a:p>
        </p:txBody>
      </p:sp>
      <p:sp>
        <p:nvSpPr>
          <p:cNvPr id="3" name="Content Placeholder 2">
            <a:extLst>
              <a:ext uri="{FF2B5EF4-FFF2-40B4-BE49-F238E27FC236}">
                <a16:creationId xmlns:a16="http://schemas.microsoft.com/office/drawing/2014/main" id="{BC06265B-ED10-E31E-404B-6C2A5B8FB900}"/>
              </a:ext>
            </a:extLst>
          </p:cNvPr>
          <p:cNvSpPr>
            <a:spLocks noGrp="1"/>
          </p:cNvSpPr>
          <p:nvPr>
            <p:ph idx="1"/>
          </p:nvPr>
        </p:nvSpPr>
        <p:spPr>
          <a:xfrm>
            <a:off x="838199" y="1929384"/>
            <a:ext cx="11061357" cy="4251960"/>
          </a:xfrm>
        </p:spPr>
        <p:txBody>
          <a:bodyPr>
            <a:normAutofit fontScale="92500" lnSpcReduction="10000"/>
          </a:bodyPr>
          <a:lstStyle/>
          <a:p>
            <a:r>
              <a:rPr lang="en-US" dirty="0"/>
              <a:t>In Australia between approx. 2013-2023:</a:t>
            </a:r>
          </a:p>
          <a:p>
            <a:pPr lvl="1"/>
            <a:r>
              <a:rPr lang="en-US" dirty="0"/>
              <a:t>Gonorrhoea cases have doubled</a:t>
            </a:r>
          </a:p>
          <a:p>
            <a:pPr lvl="1"/>
            <a:r>
              <a:rPr lang="en-US" dirty="0"/>
              <a:t>Syphilis cases have more than tripled</a:t>
            </a:r>
          </a:p>
          <a:p>
            <a:pPr lvl="1"/>
            <a:r>
              <a:rPr lang="en-US" dirty="0"/>
              <a:t>Chlamydia cases have increased 12% since 2013</a:t>
            </a:r>
          </a:p>
          <a:p>
            <a:pPr lvl="1"/>
            <a:endParaRPr lang="en-US" dirty="0"/>
          </a:p>
          <a:p>
            <a:r>
              <a:rPr lang="en-US" dirty="0"/>
              <a:t>In Australia in 2022:</a:t>
            </a:r>
          </a:p>
          <a:p>
            <a:pPr lvl="1"/>
            <a:r>
              <a:rPr lang="en-US" dirty="0"/>
              <a:t>93,777 diagnoses of Chlamydia (still often undiagnosed)</a:t>
            </a:r>
          </a:p>
          <a:p>
            <a:pPr lvl="2"/>
            <a:r>
              <a:rPr lang="en-US" dirty="0"/>
              <a:t>most common STI, with more than 2 in 3 diagnoses occurring in 15-29 year-olds.</a:t>
            </a:r>
          </a:p>
          <a:p>
            <a:pPr lvl="1"/>
            <a:r>
              <a:rPr lang="en-US" dirty="0"/>
              <a:t>32,877 diagnoses of Gonorrhoea</a:t>
            </a:r>
          </a:p>
          <a:p>
            <a:pPr lvl="1"/>
            <a:r>
              <a:rPr lang="en-US" dirty="0"/>
              <a:t>6036 diagnoses of Syphilis</a:t>
            </a:r>
          </a:p>
        </p:txBody>
      </p:sp>
      <p:sp>
        <p:nvSpPr>
          <p:cNvPr id="4" name="TextBox 3">
            <a:extLst>
              <a:ext uri="{FF2B5EF4-FFF2-40B4-BE49-F238E27FC236}">
                <a16:creationId xmlns:a16="http://schemas.microsoft.com/office/drawing/2014/main" id="{B2721D07-FE36-8868-E4F4-2401ECE88B69}"/>
              </a:ext>
            </a:extLst>
          </p:cNvPr>
          <p:cNvSpPr txBox="1"/>
          <p:nvPr/>
        </p:nvSpPr>
        <p:spPr>
          <a:xfrm>
            <a:off x="6236043" y="1874728"/>
            <a:ext cx="5955957" cy="2677656"/>
          </a:xfrm>
          <a:prstGeom prst="rect">
            <a:avLst/>
          </a:prstGeom>
          <a:noFill/>
        </p:spPr>
        <p:txBody>
          <a:bodyPr wrap="square" rtlCol="0">
            <a:spAutoFit/>
          </a:bodyPr>
          <a:lstStyle/>
          <a:p>
            <a:pPr algn="l">
              <a:buFont typeface="Arial" panose="020B0604020202020204" pitchFamily="34" charset="0"/>
              <a:buChar char="•"/>
            </a:pPr>
            <a:r>
              <a:rPr lang="en-AU" sz="2400" dirty="0">
                <a:solidFill>
                  <a:srgbClr val="313131"/>
                </a:solidFill>
              </a:rPr>
              <a:t> A</a:t>
            </a:r>
            <a:r>
              <a:rPr lang="en-AU" sz="2400" b="0" i="0" dirty="0">
                <a:solidFill>
                  <a:srgbClr val="313131"/>
                </a:solidFill>
                <a:effectLst/>
              </a:rPr>
              <a:t>bout 16% of Australians have had an </a:t>
            </a:r>
            <a:r>
              <a:rPr lang="en-AU" sz="2400" b="0" i="0" u="sng" dirty="0">
                <a:solidFill>
                  <a:srgbClr val="006FB0"/>
                </a:solidFill>
                <a:effectLst/>
                <a:hlinkClick r:id="rId3"/>
              </a:rPr>
              <a:t>STI</a:t>
            </a:r>
            <a:r>
              <a:rPr lang="en-AU" sz="2400" b="0" i="0" dirty="0">
                <a:solidFill>
                  <a:srgbClr val="313131"/>
                </a:solidFill>
                <a:effectLst/>
              </a:rPr>
              <a:t> in their lifetime.</a:t>
            </a:r>
          </a:p>
          <a:p>
            <a:pPr algn="l">
              <a:buFont typeface="Arial" panose="020B0604020202020204" pitchFamily="34" charset="0"/>
              <a:buChar char="•"/>
            </a:pPr>
            <a:endParaRPr lang="en-AU" sz="2400" b="0" i="0" dirty="0">
              <a:solidFill>
                <a:srgbClr val="313131"/>
              </a:solidFill>
              <a:effectLst/>
            </a:endParaRPr>
          </a:p>
          <a:p>
            <a:pPr algn="l">
              <a:buFont typeface="Arial" panose="020B0604020202020204" pitchFamily="34" charset="0"/>
              <a:buChar char="•"/>
            </a:pPr>
            <a:r>
              <a:rPr lang="en-AU" sz="2400" dirty="0">
                <a:solidFill>
                  <a:srgbClr val="313131"/>
                </a:solidFill>
              </a:rPr>
              <a:t> I</a:t>
            </a:r>
            <a:r>
              <a:rPr lang="en-AU" sz="2400" b="0" i="0" dirty="0">
                <a:solidFill>
                  <a:srgbClr val="313131"/>
                </a:solidFill>
                <a:effectLst/>
              </a:rPr>
              <a:t>n 2020, more than 29,000 Australians were living with </a:t>
            </a:r>
            <a:r>
              <a:rPr lang="en-AU" sz="2400" b="0" i="0" u="sng" dirty="0">
                <a:solidFill>
                  <a:srgbClr val="006FB0"/>
                </a:solidFill>
                <a:effectLst/>
                <a:hlinkClick r:id="rId4"/>
              </a:rPr>
              <a:t>HIV</a:t>
            </a:r>
            <a:r>
              <a:rPr lang="en-AU" sz="2400" b="0" i="0" dirty="0">
                <a:solidFill>
                  <a:srgbClr val="313131"/>
                </a:solidFill>
                <a:effectLst/>
              </a:rPr>
              <a:t> (an 18% drop of HIV notifications since 2015).</a:t>
            </a:r>
          </a:p>
          <a:p>
            <a:pPr algn="l">
              <a:buFont typeface="Arial" panose="020B0604020202020204" pitchFamily="34" charset="0"/>
              <a:buChar char="•"/>
            </a:pPr>
            <a:endParaRPr lang="en-AU" sz="2400" b="0" i="0" dirty="0">
              <a:solidFill>
                <a:srgbClr val="313131"/>
              </a:solidFill>
              <a:effectLst/>
            </a:endParaRPr>
          </a:p>
          <a:p>
            <a:pPr algn="l">
              <a:buFont typeface="Arial" panose="020B0604020202020204" pitchFamily="34" charset="0"/>
              <a:buChar char="•"/>
            </a:pPr>
            <a:r>
              <a:rPr lang="en-AU" sz="2400" dirty="0">
                <a:solidFill>
                  <a:srgbClr val="313131"/>
                </a:solidFill>
              </a:rPr>
              <a:t> I</a:t>
            </a:r>
            <a:r>
              <a:rPr lang="en-AU" sz="2400" b="0" i="0" dirty="0">
                <a:solidFill>
                  <a:srgbClr val="313131"/>
                </a:solidFill>
                <a:effectLst/>
              </a:rPr>
              <a:t>n 2020, there were about 57,500 new cases of notifiable STI among </a:t>
            </a:r>
            <a:r>
              <a:rPr lang="en-AU" sz="2400" b="0" i="0" u="sng" dirty="0">
                <a:solidFill>
                  <a:srgbClr val="006FB0"/>
                </a:solidFill>
                <a:effectLst/>
                <a:hlinkClick r:id="rId5"/>
              </a:rPr>
              <a:t>females</a:t>
            </a:r>
            <a:r>
              <a:rPr lang="en-AU" sz="2400" b="0" i="0" dirty="0">
                <a:solidFill>
                  <a:srgbClr val="313131"/>
                </a:solidFill>
                <a:effectLst/>
              </a:rPr>
              <a:t> and 67,400 among </a:t>
            </a:r>
            <a:r>
              <a:rPr lang="en-AU" sz="2400" b="0" i="0" u="sng" dirty="0">
                <a:solidFill>
                  <a:srgbClr val="006FB0"/>
                </a:solidFill>
                <a:effectLst/>
                <a:hlinkClick r:id="rId6"/>
              </a:rPr>
              <a:t>males</a:t>
            </a:r>
            <a:endParaRPr lang="en-AU" sz="2400" b="0" i="0" dirty="0">
              <a:solidFill>
                <a:srgbClr val="313131"/>
              </a:solidFill>
              <a:effectLst/>
            </a:endParaRPr>
          </a:p>
        </p:txBody>
      </p:sp>
    </p:spTree>
    <p:extLst>
      <p:ext uri="{BB962C8B-B14F-4D97-AF65-F5344CB8AC3E}">
        <p14:creationId xmlns:p14="http://schemas.microsoft.com/office/powerpoint/2010/main" val="101917470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7">
            <a:extLst>
              <a:ext uri="{FF2B5EF4-FFF2-40B4-BE49-F238E27FC236}">
                <a16:creationId xmlns:a16="http://schemas.microsoft.com/office/drawing/2014/main" id="{EBDD1931-9E86-4402-9A68-33A2D9EFB1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9" name="Rectangle 18">
            <a:extLst>
              <a:ext uri="{FF2B5EF4-FFF2-40B4-BE49-F238E27FC236}">
                <a16:creationId xmlns:a16="http://schemas.microsoft.com/office/drawing/2014/main" id="{247B6BBF-09F2-4A29-AE4E-3771E29248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4A68B5-51F0-06BB-1D85-13FF0CDDA975}"/>
              </a:ext>
            </a:extLst>
          </p:cNvPr>
          <p:cNvSpPr>
            <a:spLocks noGrp="1"/>
          </p:cNvSpPr>
          <p:nvPr>
            <p:ph type="title" idx="4294967295"/>
          </p:nvPr>
        </p:nvSpPr>
        <p:spPr>
          <a:xfrm>
            <a:off x="635000" y="634029"/>
            <a:ext cx="10921640" cy="1314698"/>
          </a:xfrm>
        </p:spPr>
        <p:txBody>
          <a:bodyPr vert="horz" lIns="91440" tIns="45720" rIns="91440" bIns="45720" rtlCol="0" anchor="ctr">
            <a:normAutofit/>
          </a:bodyPr>
          <a:lstStyle/>
          <a:p>
            <a:pPr algn="ctr">
              <a:lnSpc>
                <a:spcPct val="90000"/>
              </a:lnSpc>
            </a:pPr>
            <a:r>
              <a:rPr lang="en-US" sz="4400" dirty="0"/>
              <a:t>Assignments: Task 3</a:t>
            </a:r>
            <a:br>
              <a:rPr lang="en-US" sz="4400" dirty="0"/>
            </a:br>
            <a:r>
              <a:rPr lang="en-US" sz="4400" dirty="0"/>
              <a:t>STI Oral Presentation (pg. 4-6)</a:t>
            </a:r>
          </a:p>
        </p:txBody>
      </p:sp>
      <p:sp>
        <p:nvSpPr>
          <p:cNvPr id="21" name="Rectangle 22">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48305" y="2241737"/>
            <a:ext cx="10900219" cy="18288"/>
          </a:xfrm>
          <a:custGeom>
            <a:avLst/>
            <a:gdLst>
              <a:gd name="connsiteX0" fmla="*/ 0 w 10900219"/>
              <a:gd name="connsiteY0" fmla="*/ 0 h 18288"/>
              <a:gd name="connsiteX1" fmla="*/ 463259 w 10900219"/>
              <a:gd name="connsiteY1" fmla="*/ 0 h 18288"/>
              <a:gd name="connsiteX2" fmla="*/ 1144523 w 10900219"/>
              <a:gd name="connsiteY2" fmla="*/ 0 h 18288"/>
              <a:gd name="connsiteX3" fmla="*/ 1934789 w 10900219"/>
              <a:gd name="connsiteY3" fmla="*/ 0 h 18288"/>
              <a:gd name="connsiteX4" fmla="*/ 2289046 w 10900219"/>
              <a:gd name="connsiteY4" fmla="*/ 0 h 18288"/>
              <a:gd name="connsiteX5" fmla="*/ 2643303 w 10900219"/>
              <a:gd name="connsiteY5" fmla="*/ 0 h 18288"/>
              <a:gd name="connsiteX6" fmla="*/ 3542571 w 10900219"/>
              <a:gd name="connsiteY6" fmla="*/ 0 h 18288"/>
              <a:gd name="connsiteX7" fmla="*/ 4223835 w 10900219"/>
              <a:gd name="connsiteY7" fmla="*/ 0 h 18288"/>
              <a:gd name="connsiteX8" fmla="*/ 4578092 w 10900219"/>
              <a:gd name="connsiteY8" fmla="*/ 0 h 18288"/>
              <a:gd name="connsiteX9" fmla="*/ 5259356 w 10900219"/>
              <a:gd name="connsiteY9" fmla="*/ 0 h 18288"/>
              <a:gd name="connsiteX10" fmla="*/ 6158624 w 10900219"/>
              <a:gd name="connsiteY10" fmla="*/ 0 h 18288"/>
              <a:gd name="connsiteX11" fmla="*/ 6730885 w 10900219"/>
              <a:gd name="connsiteY11" fmla="*/ 0 h 18288"/>
              <a:gd name="connsiteX12" fmla="*/ 7303147 w 10900219"/>
              <a:gd name="connsiteY12" fmla="*/ 0 h 18288"/>
              <a:gd name="connsiteX13" fmla="*/ 7984410 w 10900219"/>
              <a:gd name="connsiteY13" fmla="*/ 0 h 18288"/>
              <a:gd name="connsiteX14" fmla="*/ 8774676 w 10900219"/>
              <a:gd name="connsiteY14" fmla="*/ 0 h 18288"/>
              <a:gd name="connsiteX15" fmla="*/ 9564942 w 10900219"/>
              <a:gd name="connsiteY15" fmla="*/ 0 h 18288"/>
              <a:gd name="connsiteX16" fmla="*/ 10900219 w 10900219"/>
              <a:gd name="connsiteY16" fmla="*/ 0 h 18288"/>
              <a:gd name="connsiteX17" fmla="*/ 10900219 w 10900219"/>
              <a:gd name="connsiteY17" fmla="*/ 18288 h 18288"/>
              <a:gd name="connsiteX18" fmla="*/ 10436960 w 10900219"/>
              <a:gd name="connsiteY18" fmla="*/ 18288 h 18288"/>
              <a:gd name="connsiteX19" fmla="*/ 9537692 w 10900219"/>
              <a:gd name="connsiteY19" fmla="*/ 18288 h 18288"/>
              <a:gd name="connsiteX20" fmla="*/ 8856428 w 10900219"/>
              <a:gd name="connsiteY20" fmla="*/ 18288 h 18288"/>
              <a:gd name="connsiteX21" fmla="*/ 8502171 w 10900219"/>
              <a:gd name="connsiteY21" fmla="*/ 18288 h 18288"/>
              <a:gd name="connsiteX22" fmla="*/ 7820907 w 10900219"/>
              <a:gd name="connsiteY22" fmla="*/ 18288 h 18288"/>
              <a:gd name="connsiteX23" fmla="*/ 7248646 w 10900219"/>
              <a:gd name="connsiteY23" fmla="*/ 18288 h 18288"/>
              <a:gd name="connsiteX24" fmla="*/ 6676384 w 10900219"/>
              <a:gd name="connsiteY24" fmla="*/ 18288 h 18288"/>
              <a:gd name="connsiteX25" fmla="*/ 6104123 w 10900219"/>
              <a:gd name="connsiteY25" fmla="*/ 18288 h 18288"/>
              <a:gd name="connsiteX26" fmla="*/ 5531861 w 10900219"/>
              <a:gd name="connsiteY26" fmla="*/ 18288 h 18288"/>
              <a:gd name="connsiteX27" fmla="*/ 4741595 w 10900219"/>
              <a:gd name="connsiteY27" fmla="*/ 18288 h 18288"/>
              <a:gd name="connsiteX28" fmla="*/ 4060332 w 10900219"/>
              <a:gd name="connsiteY28" fmla="*/ 18288 h 18288"/>
              <a:gd name="connsiteX29" fmla="*/ 3706074 w 10900219"/>
              <a:gd name="connsiteY29" fmla="*/ 18288 h 18288"/>
              <a:gd name="connsiteX30" fmla="*/ 3133813 w 10900219"/>
              <a:gd name="connsiteY30" fmla="*/ 18288 h 18288"/>
              <a:gd name="connsiteX31" fmla="*/ 2343547 w 10900219"/>
              <a:gd name="connsiteY31" fmla="*/ 18288 h 18288"/>
              <a:gd name="connsiteX32" fmla="*/ 1880288 w 10900219"/>
              <a:gd name="connsiteY32" fmla="*/ 18288 h 18288"/>
              <a:gd name="connsiteX33" fmla="*/ 981020 w 10900219"/>
              <a:gd name="connsiteY33" fmla="*/ 18288 h 18288"/>
              <a:gd name="connsiteX34" fmla="*/ 0 w 10900219"/>
              <a:gd name="connsiteY34" fmla="*/ 18288 h 18288"/>
              <a:gd name="connsiteX35" fmla="*/ 0 w 10900219"/>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Content Placeholder 2">
            <a:extLst>
              <a:ext uri="{FF2B5EF4-FFF2-40B4-BE49-F238E27FC236}">
                <a16:creationId xmlns:a16="http://schemas.microsoft.com/office/drawing/2014/main" id="{3A918E20-1CAA-7160-48AD-029F7581A49B}"/>
              </a:ext>
            </a:extLst>
          </p:cNvPr>
          <p:cNvGraphicFramePr>
            <a:graphicFrameLocks noGrp="1"/>
          </p:cNvGraphicFramePr>
          <p:nvPr>
            <p:ph idx="4294967295"/>
            <p:extLst>
              <p:ext uri="{D42A27DB-BD31-4B8C-83A1-F6EECF244321}">
                <p14:modId xmlns:p14="http://schemas.microsoft.com/office/powerpoint/2010/main" val="2214788196"/>
              </p:ext>
            </p:extLst>
          </p:nvPr>
        </p:nvGraphicFramePr>
        <p:xfrm>
          <a:off x="632647" y="2425700"/>
          <a:ext cx="10915869" cy="4229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8894188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D54FC-1C04-6C5C-B1BB-4F98F4E3785D}"/>
              </a:ext>
            </a:extLst>
          </p:cNvPr>
          <p:cNvSpPr>
            <a:spLocks noGrp="1"/>
          </p:cNvSpPr>
          <p:nvPr>
            <p:ph type="title"/>
          </p:nvPr>
        </p:nvSpPr>
        <p:spPr>
          <a:xfrm>
            <a:off x="4397098" y="396503"/>
            <a:ext cx="5157787" cy="1325563"/>
          </a:xfrm>
        </p:spPr>
        <p:txBody>
          <a:bodyPr anchor="b">
            <a:normAutofit/>
          </a:bodyPr>
          <a:lstStyle/>
          <a:p>
            <a:r>
              <a:rPr lang="en-US" sz="7200" dirty="0"/>
              <a:t>Presentation skills:</a:t>
            </a:r>
          </a:p>
        </p:txBody>
      </p:sp>
      <p:sp>
        <p:nvSpPr>
          <p:cNvPr id="6" name="Text Placeholder 5">
            <a:extLst>
              <a:ext uri="{FF2B5EF4-FFF2-40B4-BE49-F238E27FC236}">
                <a16:creationId xmlns:a16="http://schemas.microsoft.com/office/drawing/2014/main" id="{57A911FA-0EA3-3549-6F98-97F8E01DDC7E}"/>
              </a:ext>
            </a:extLst>
          </p:cNvPr>
          <p:cNvSpPr>
            <a:spLocks noGrp="1"/>
          </p:cNvSpPr>
          <p:nvPr>
            <p:ph type="body" sz="quarter" idx="3"/>
          </p:nvPr>
        </p:nvSpPr>
        <p:spPr>
          <a:xfrm>
            <a:off x="4052543" y="2118567"/>
            <a:ext cx="7302846" cy="823912"/>
          </a:xfrm>
        </p:spPr>
        <p:txBody>
          <a:bodyPr>
            <a:normAutofit fontScale="92500" lnSpcReduction="20000"/>
          </a:bodyPr>
          <a:lstStyle/>
          <a:p>
            <a:pPr algn="ctr"/>
            <a:r>
              <a:rPr lang="en-US" sz="2800" dirty="0"/>
              <a:t>Q: What do you like and expect to see and experience when you are watching someone give a presentation?</a:t>
            </a:r>
          </a:p>
        </p:txBody>
      </p:sp>
      <p:sp>
        <p:nvSpPr>
          <p:cNvPr id="7" name="Content Placeholder 6">
            <a:extLst>
              <a:ext uri="{FF2B5EF4-FFF2-40B4-BE49-F238E27FC236}">
                <a16:creationId xmlns:a16="http://schemas.microsoft.com/office/drawing/2014/main" id="{692EE5DD-B7FE-A2F0-22CF-9B2C51926F1E}"/>
              </a:ext>
            </a:extLst>
          </p:cNvPr>
          <p:cNvSpPr>
            <a:spLocks noGrp="1"/>
          </p:cNvSpPr>
          <p:nvPr>
            <p:ph sz="quarter" idx="4"/>
          </p:nvPr>
        </p:nvSpPr>
        <p:spPr>
          <a:xfrm>
            <a:off x="8139460" y="3428841"/>
            <a:ext cx="3389657" cy="3264408"/>
          </a:xfrm>
        </p:spPr>
        <p:txBody>
          <a:bodyPr>
            <a:normAutofit/>
          </a:bodyPr>
          <a:lstStyle/>
          <a:p>
            <a:r>
              <a:rPr lang="en-US" dirty="0"/>
              <a:t>Activities </a:t>
            </a:r>
          </a:p>
          <a:p>
            <a:r>
              <a:rPr lang="en-US" dirty="0"/>
              <a:t>Pictures and/or videos</a:t>
            </a:r>
          </a:p>
          <a:p>
            <a:r>
              <a:rPr lang="en-US" dirty="0"/>
              <a:t>Relevant information </a:t>
            </a:r>
          </a:p>
        </p:txBody>
      </p:sp>
      <p:pic>
        <p:nvPicPr>
          <p:cNvPr id="5" name="Picture 4" descr="A room of colourful chairs">
            <a:extLst>
              <a:ext uri="{FF2B5EF4-FFF2-40B4-BE49-F238E27FC236}">
                <a16:creationId xmlns:a16="http://schemas.microsoft.com/office/drawing/2014/main" id="{8E25603E-E0B7-97CF-9926-0F47CFBBC371}"/>
              </a:ext>
            </a:extLst>
          </p:cNvPr>
          <p:cNvPicPr>
            <a:picLocks noChangeAspect="1"/>
          </p:cNvPicPr>
          <p:nvPr/>
        </p:nvPicPr>
        <p:blipFill rotWithShape="1">
          <a:blip r:embed="rId3"/>
          <a:srcRect l="30098" r="30457" b="-2"/>
          <a:stretch/>
        </p:blipFill>
        <p:spPr>
          <a:xfrm>
            <a:off x="20" y="1"/>
            <a:ext cx="4052522" cy="6858000"/>
          </a:xfrm>
          <a:custGeom>
            <a:avLst/>
            <a:gdLst/>
            <a:ahLst/>
            <a:cxnLst/>
            <a:rect l="l" t="t" r="r" b="b"/>
            <a:pathLst>
              <a:path w="4052542" h="6858000">
                <a:moveTo>
                  <a:pt x="0" y="0"/>
                </a:moveTo>
                <a:lnTo>
                  <a:pt x="4020923" y="0"/>
                </a:lnTo>
                <a:lnTo>
                  <a:pt x="4022656" y="14697"/>
                </a:lnTo>
                <a:cubicBezTo>
                  <a:pt x="4037606" y="98462"/>
                  <a:pt x="4035072" y="183369"/>
                  <a:pt x="4039126" y="267642"/>
                </a:cubicBezTo>
                <a:cubicBezTo>
                  <a:pt x="4043941" y="370699"/>
                  <a:pt x="4037860" y="474136"/>
                  <a:pt x="4035579" y="577446"/>
                </a:cubicBezTo>
                <a:cubicBezTo>
                  <a:pt x="4033805" y="665399"/>
                  <a:pt x="4025063" y="753226"/>
                  <a:pt x="4027724" y="841306"/>
                </a:cubicBezTo>
                <a:cubicBezTo>
                  <a:pt x="4027914" y="844352"/>
                  <a:pt x="4027914" y="847398"/>
                  <a:pt x="4027724" y="850444"/>
                </a:cubicBezTo>
                <a:cubicBezTo>
                  <a:pt x="4019615" y="947281"/>
                  <a:pt x="4019615" y="1044626"/>
                  <a:pt x="4027724" y="1141464"/>
                </a:cubicBezTo>
                <a:cubicBezTo>
                  <a:pt x="4030296" y="1181772"/>
                  <a:pt x="4029574" y="1222221"/>
                  <a:pt x="4025570" y="1262415"/>
                </a:cubicBezTo>
                <a:cubicBezTo>
                  <a:pt x="4021769" y="1313563"/>
                  <a:pt x="4009606" y="1365472"/>
                  <a:pt x="4018348" y="1416238"/>
                </a:cubicBezTo>
                <a:cubicBezTo>
                  <a:pt x="4024037" y="1458058"/>
                  <a:pt x="4027166" y="1500194"/>
                  <a:pt x="4027724" y="1542394"/>
                </a:cubicBezTo>
                <a:cubicBezTo>
                  <a:pt x="4032158" y="1636820"/>
                  <a:pt x="4027977" y="1731753"/>
                  <a:pt x="4026330" y="1826433"/>
                </a:cubicBezTo>
                <a:cubicBezTo>
                  <a:pt x="4024556" y="1936724"/>
                  <a:pt x="4027344" y="2047015"/>
                  <a:pt x="4018475" y="2157432"/>
                </a:cubicBezTo>
                <a:cubicBezTo>
                  <a:pt x="4013597" y="2246629"/>
                  <a:pt x="4013597" y="2336029"/>
                  <a:pt x="4018475" y="2425226"/>
                </a:cubicBezTo>
                <a:cubicBezTo>
                  <a:pt x="4020882" y="2506961"/>
                  <a:pt x="4033172" y="2587934"/>
                  <a:pt x="4031145" y="2670557"/>
                </a:cubicBezTo>
                <a:cubicBezTo>
                  <a:pt x="4028737" y="2766886"/>
                  <a:pt x="4017335" y="2862962"/>
                  <a:pt x="4020882" y="2959546"/>
                </a:cubicBezTo>
                <a:cubicBezTo>
                  <a:pt x="4022529" y="3005617"/>
                  <a:pt x="4022656" y="3051688"/>
                  <a:pt x="4023543" y="3097758"/>
                </a:cubicBezTo>
                <a:cubicBezTo>
                  <a:pt x="4024683" y="3153221"/>
                  <a:pt x="4034692" y="3208556"/>
                  <a:pt x="4029117" y="3263892"/>
                </a:cubicBezTo>
                <a:cubicBezTo>
                  <a:pt x="4019869" y="3356161"/>
                  <a:pt x="3995923" y="3446906"/>
                  <a:pt x="4010873" y="3541459"/>
                </a:cubicBezTo>
                <a:cubicBezTo>
                  <a:pt x="4019108" y="3593495"/>
                  <a:pt x="4028357" y="3645658"/>
                  <a:pt x="4033172" y="3698201"/>
                </a:cubicBezTo>
                <a:cubicBezTo>
                  <a:pt x="4037353" y="3745160"/>
                  <a:pt x="4047868" y="3792881"/>
                  <a:pt x="4039886" y="3839586"/>
                </a:cubicBezTo>
                <a:cubicBezTo>
                  <a:pt x="4033045" y="3879565"/>
                  <a:pt x="4036592" y="3919544"/>
                  <a:pt x="4031271" y="3959523"/>
                </a:cubicBezTo>
                <a:cubicBezTo>
                  <a:pt x="4024303" y="4011939"/>
                  <a:pt x="4020629" y="4065244"/>
                  <a:pt x="4015308" y="4118042"/>
                </a:cubicBezTo>
                <a:cubicBezTo>
                  <a:pt x="4010620" y="4165889"/>
                  <a:pt x="4006946" y="4213610"/>
                  <a:pt x="4019615" y="4258539"/>
                </a:cubicBezTo>
                <a:cubicBezTo>
                  <a:pt x="4050656" y="4371622"/>
                  <a:pt x="4033679" y="4484070"/>
                  <a:pt x="4022023" y="4596391"/>
                </a:cubicBezTo>
                <a:cubicBezTo>
                  <a:pt x="4016321" y="4650965"/>
                  <a:pt x="4007959" y="4708712"/>
                  <a:pt x="4020629" y="4758718"/>
                </a:cubicBezTo>
                <a:cubicBezTo>
                  <a:pt x="4043941" y="4847432"/>
                  <a:pt x="4025697" y="4931705"/>
                  <a:pt x="4015561" y="5016866"/>
                </a:cubicBezTo>
                <a:cubicBezTo>
                  <a:pt x="4003335" y="5100174"/>
                  <a:pt x="4005096" y="5184929"/>
                  <a:pt x="4020756" y="5267654"/>
                </a:cubicBezTo>
                <a:cubicBezTo>
                  <a:pt x="4033172" y="5326035"/>
                  <a:pt x="4033172" y="5385432"/>
                  <a:pt x="4034692" y="5444194"/>
                </a:cubicBezTo>
                <a:cubicBezTo>
                  <a:pt x="4035579" y="5481001"/>
                  <a:pt x="4022023" y="5518441"/>
                  <a:pt x="4013027" y="5555120"/>
                </a:cubicBezTo>
                <a:cubicBezTo>
                  <a:pt x="3996937" y="5621371"/>
                  <a:pt x="3991109" y="5688636"/>
                  <a:pt x="4013027" y="5753237"/>
                </a:cubicBezTo>
                <a:cubicBezTo>
                  <a:pt x="4043561" y="5842713"/>
                  <a:pt x="4061045" y="5932189"/>
                  <a:pt x="4048375" y="6026870"/>
                </a:cubicBezTo>
                <a:cubicBezTo>
                  <a:pt x="4041027" y="6085251"/>
                  <a:pt x="4039380" y="6144902"/>
                  <a:pt x="4028357" y="6202522"/>
                </a:cubicBezTo>
                <a:cubicBezTo>
                  <a:pt x="4010240" y="6298091"/>
                  <a:pt x="4016701" y="6393024"/>
                  <a:pt x="4031145" y="6487196"/>
                </a:cubicBezTo>
                <a:cubicBezTo>
                  <a:pt x="4041293" y="6565885"/>
                  <a:pt x="4042395" y="6645474"/>
                  <a:pt x="4034439" y="6724403"/>
                </a:cubicBezTo>
                <a:lnTo>
                  <a:pt x="4025206" y="6858000"/>
                </a:lnTo>
                <a:lnTo>
                  <a:pt x="0" y="6858000"/>
                </a:lnTo>
                <a:close/>
              </a:path>
            </a:pathLst>
          </a:custGeom>
        </p:spPr>
      </p:pic>
      <p:sp>
        <p:nvSpPr>
          <p:cNvPr id="10" name="Content Placeholder 9">
            <a:extLst>
              <a:ext uri="{FF2B5EF4-FFF2-40B4-BE49-F238E27FC236}">
                <a16:creationId xmlns:a16="http://schemas.microsoft.com/office/drawing/2014/main" id="{27F39E57-977C-D3EB-D7DF-C75ABA9EB82D}"/>
              </a:ext>
            </a:extLst>
          </p:cNvPr>
          <p:cNvSpPr>
            <a:spLocks noGrp="1"/>
          </p:cNvSpPr>
          <p:nvPr>
            <p:ph sz="half" idx="2"/>
          </p:nvPr>
        </p:nvSpPr>
        <p:spPr>
          <a:xfrm>
            <a:off x="5281164" y="3428841"/>
            <a:ext cx="3389657" cy="3264408"/>
          </a:xfrm>
        </p:spPr>
        <p:txBody>
          <a:bodyPr/>
          <a:lstStyle/>
          <a:p>
            <a:r>
              <a:rPr lang="en-US" dirty="0"/>
              <a:t>Eye contact</a:t>
            </a:r>
          </a:p>
          <a:p>
            <a:r>
              <a:rPr lang="en-US" dirty="0"/>
              <a:t>Clearly spoken</a:t>
            </a:r>
          </a:p>
          <a:p>
            <a:r>
              <a:rPr lang="en-US" dirty="0"/>
              <a:t>Engaging tone of voice</a:t>
            </a:r>
          </a:p>
          <a:p>
            <a:r>
              <a:rPr lang="en-US" dirty="0"/>
              <a:t>Engaging content</a:t>
            </a:r>
          </a:p>
        </p:txBody>
      </p:sp>
    </p:spTree>
    <p:extLst>
      <p:ext uri="{BB962C8B-B14F-4D97-AF65-F5344CB8AC3E}">
        <p14:creationId xmlns:p14="http://schemas.microsoft.com/office/powerpoint/2010/main" val="35722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checkerboard(across)">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checkerboard(across)">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checkerboard(across)">
                                      <p:cBhvr>
                                        <p:cTn id="17" dur="5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checkerboard(across)">
                                      <p:cBhvr>
                                        <p:cTn id="22" dur="500"/>
                                        <p:tgtEl>
                                          <p:spTgt spid="10">
                                            <p:txEl>
                                              <p:pRg st="3" end="3"/>
                                            </p:txEl>
                                          </p:spTgt>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Effect transition="in" filter="checkerboard(across)">
                                      <p:cBhvr>
                                        <p:cTn id="25" dur="500"/>
                                        <p:tgtEl>
                                          <p:spTgt spid="7">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5" presetClass="entr" presetSubtype="10" fill="hold" grpId="0" nodeType="clickEffect">
                                  <p:stCondLst>
                                    <p:cond delay="0"/>
                                  </p:stCondLst>
                                  <p:childTnLst>
                                    <p:set>
                                      <p:cBhvr>
                                        <p:cTn id="29" dur="1" fill="hold">
                                          <p:stCondLst>
                                            <p:cond delay="0"/>
                                          </p:stCondLst>
                                        </p:cTn>
                                        <p:tgtEl>
                                          <p:spTgt spid="7">
                                            <p:txEl>
                                              <p:pRg st="1" end="1"/>
                                            </p:txEl>
                                          </p:spTgt>
                                        </p:tgtEl>
                                        <p:attrNameLst>
                                          <p:attrName>style.visibility</p:attrName>
                                        </p:attrNameLst>
                                      </p:cBhvr>
                                      <p:to>
                                        <p:strVal val="visible"/>
                                      </p:to>
                                    </p:set>
                                    <p:animEffect transition="in" filter="checkerboard(across)">
                                      <p:cBhvr>
                                        <p:cTn id="30" dur="500"/>
                                        <p:tgtEl>
                                          <p:spTgt spid="7">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7">
                                            <p:txEl>
                                              <p:pRg st="2" end="2"/>
                                            </p:txEl>
                                          </p:spTgt>
                                        </p:tgtEl>
                                        <p:attrNameLst>
                                          <p:attrName>style.visibility</p:attrName>
                                        </p:attrNameLst>
                                      </p:cBhvr>
                                      <p:to>
                                        <p:strVal val="visible"/>
                                      </p:to>
                                    </p:set>
                                    <p:animEffect transition="in" filter="checkerboard(across)">
                                      <p:cBhvr>
                                        <p:cTn id="35"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10" grpId="0" build="p"/>
    </p:bldLst>
  </p:timing>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7">
            <a:extLst>
              <a:ext uri="{FF2B5EF4-FFF2-40B4-BE49-F238E27FC236}">
                <a16:creationId xmlns:a16="http://schemas.microsoft.com/office/drawing/2014/main" id="{EBDD1931-9E86-4402-9A68-33A2D9EFB1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4" name="Rectangle 13">
            <a:extLst>
              <a:ext uri="{FF2B5EF4-FFF2-40B4-BE49-F238E27FC236}">
                <a16:creationId xmlns:a16="http://schemas.microsoft.com/office/drawing/2014/main" id="{247B6BBF-09F2-4A29-AE4E-3771E29248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DFAEB1-98A0-7AA8-229E-59E1EDB657B0}"/>
              </a:ext>
            </a:extLst>
          </p:cNvPr>
          <p:cNvSpPr>
            <a:spLocks noGrp="1"/>
          </p:cNvSpPr>
          <p:nvPr>
            <p:ph type="title"/>
          </p:nvPr>
        </p:nvSpPr>
        <p:spPr>
          <a:xfrm>
            <a:off x="635000" y="634029"/>
            <a:ext cx="7035800" cy="1314698"/>
          </a:xfrm>
        </p:spPr>
        <p:txBody>
          <a:bodyPr vert="horz" lIns="91440" tIns="45720" rIns="91440" bIns="45720" rtlCol="0" anchor="ctr">
            <a:normAutofit/>
          </a:bodyPr>
          <a:lstStyle/>
          <a:p>
            <a:pPr algn="ctr"/>
            <a:r>
              <a:rPr lang="en-US" sz="7200" dirty="0"/>
              <a:t>Presentation options:</a:t>
            </a:r>
          </a:p>
        </p:txBody>
      </p:sp>
      <p:sp>
        <p:nvSpPr>
          <p:cNvPr id="16" name="Rectangle 22">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48305" y="2241737"/>
            <a:ext cx="10900219" cy="18288"/>
          </a:xfrm>
          <a:custGeom>
            <a:avLst/>
            <a:gdLst>
              <a:gd name="connsiteX0" fmla="*/ 0 w 10900219"/>
              <a:gd name="connsiteY0" fmla="*/ 0 h 18288"/>
              <a:gd name="connsiteX1" fmla="*/ 463259 w 10900219"/>
              <a:gd name="connsiteY1" fmla="*/ 0 h 18288"/>
              <a:gd name="connsiteX2" fmla="*/ 1144523 w 10900219"/>
              <a:gd name="connsiteY2" fmla="*/ 0 h 18288"/>
              <a:gd name="connsiteX3" fmla="*/ 1934789 w 10900219"/>
              <a:gd name="connsiteY3" fmla="*/ 0 h 18288"/>
              <a:gd name="connsiteX4" fmla="*/ 2289046 w 10900219"/>
              <a:gd name="connsiteY4" fmla="*/ 0 h 18288"/>
              <a:gd name="connsiteX5" fmla="*/ 2643303 w 10900219"/>
              <a:gd name="connsiteY5" fmla="*/ 0 h 18288"/>
              <a:gd name="connsiteX6" fmla="*/ 3542571 w 10900219"/>
              <a:gd name="connsiteY6" fmla="*/ 0 h 18288"/>
              <a:gd name="connsiteX7" fmla="*/ 4223835 w 10900219"/>
              <a:gd name="connsiteY7" fmla="*/ 0 h 18288"/>
              <a:gd name="connsiteX8" fmla="*/ 4578092 w 10900219"/>
              <a:gd name="connsiteY8" fmla="*/ 0 h 18288"/>
              <a:gd name="connsiteX9" fmla="*/ 5259356 w 10900219"/>
              <a:gd name="connsiteY9" fmla="*/ 0 h 18288"/>
              <a:gd name="connsiteX10" fmla="*/ 6158624 w 10900219"/>
              <a:gd name="connsiteY10" fmla="*/ 0 h 18288"/>
              <a:gd name="connsiteX11" fmla="*/ 6730885 w 10900219"/>
              <a:gd name="connsiteY11" fmla="*/ 0 h 18288"/>
              <a:gd name="connsiteX12" fmla="*/ 7303147 w 10900219"/>
              <a:gd name="connsiteY12" fmla="*/ 0 h 18288"/>
              <a:gd name="connsiteX13" fmla="*/ 7984410 w 10900219"/>
              <a:gd name="connsiteY13" fmla="*/ 0 h 18288"/>
              <a:gd name="connsiteX14" fmla="*/ 8774676 w 10900219"/>
              <a:gd name="connsiteY14" fmla="*/ 0 h 18288"/>
              <a:gd name="connsiteX15" fmla="*/ 9564942 w 10900219"/>
              <a:gd name="connsiteY15" fmla="*/ 0 h 18288"/>
              <a:gd name="connsiteX16" fmla="*/ 10900219 w 10900219"/>
              <a:gd name="connsiteY16" fmla="*/ 0 h 18288"/>
              <a:gd name="connsiteX17" fmla="*/ 10900219 w 10900219"/>
              <a:gd name="connsiteY17" fmla="*/ 18288 h 18288"/>
              <a:gd name="connsiteX18" fmla="*/ 10436960 w 10900219"/>
              <a:gd name="connsiteY18" fmla="*/ 18288 h 18288"/>
              <a:gd name="connsiteX19" fmla="*/ 9537692 w 10900219"/>
              <a:gd name="connsiteY19" fmla="*/ 18288 h 18288"/>
              <a:gd name="connsiteX20" fmla="*/ 8856428 w 10900219"/>
              <a:gd name="connsiteY20" fmla="*/ 18288 h 18288"/>
              <a:gd name="connsiteX21" fmla="*/ 8502171 w 10900219"/>
              <a:gd name="connsiteY21" fmla="*/ 18288 h 18288"/>
              <a:gd name="connsiteX22" fmla="*/ 7820907 w 10900219"/>
              <a:gd name="connsiteY22" fmla="*/ 18288 h 18288"/>
              <a:gd name="connsiteX23" fmla="*/ 7248646 w 10900219"/>
              <a:gd name="connsiteY23" fmla="*/ 18288 h 18288"/>
              <a:gd name="connsiteX24" fmla="*/ 6676384 w 10900219"/>
              <a:gd name="connsiteY24" fmla="*/ 18288 h 18288"/>
              <a:gd name="connsiteX25" fmla="*/ 6104123 w 10900219"/>
              <a:gd name="connsiteY25" fmla="*/ 18288 h 18288"/>
              <a:gd name="connsiteX26" fmla="*/ 5531861 w 10900219"/>
              <a:gd name="connsiteY26" fmla="*/ 18288 h 18288"/>
              <a:gd name="connsiteX27" fmla="*/ 4741595 w 10900219"/>
              <a:gd name="connsiteY27" fmla="*/ 18288 h 18288"/>
              <a:gd name="connsiteX28" fmla="*/ 4060332 w 10900219"/>
              <a:gd name="connsiteY28" fmla="*/ 18288 h 18288"/>
              <a:gd name="connsiteX29" fmla="*/ 3706074 w 10900219"/>
              <a:gd name="connsiteY29" fmla="*/ 18288 h 18288"/>
              <a:gd name="connsiteX30" fmla="*/ 3133813 w 10900219"/>
              <a:gd name="connsiteY30" fmla="*/ 18288 h 18288"/>
              <a:gd name="connsiteX31" fmla="*/ 2343547 w 10900219"/>
              <a:gd name="connsiteY31" fmla="*/ 18288 h 18288"/>
              <a:gd name="connsiteX32" fmla="*/ 1880288 w 10900219"/>
              <a:gd name="connsiteY32" fmla="*/ 18288 h 18288"/>
              <a:gd name="connsiteX33" fmla="*/ 981020 w 10900219"/>
              <a:gd name="connsiteY33" fmla="*/ 18288 h 18288"/>
              <a:gd name="connsiteX34" fmla="*/ 0 w 10900219"/>
              <a:gd name="connsiteY34" fmla="*/ 18288 h 18288"/>
              <a:gd name="connsiteX35" fmla="*/ 0 w 10900219"/>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A694EED6-DF59-07EB-9B75-9D8986D09364}"/>
              </a:ext>
            </a:extLst>
          </p:cNvPr>
          <p:cNvSpPr>
            <a:spLocks/>
          </p:cNvSpPr>
          <p:nvPr/>
        </p:nvSpPr>
        <p:spPr>
          <a:xfrm>
            <a:off x="838199" y="2672564"/>
            <a:ext cx="4220085" cy="528006"/>
          </a:xfrm>
          <a:prstGeom prst="rect">
            <a:avLst/>
          </a:prstGeom>
        </p:spPr>
        <p:txBody>
          <a:bodyPr>
            <a:normAutofit fontScale="85000" lnSpcReduction="10000"/>
          </a:bodyPr>
          <a:lstStyle/>
          <a:p>
            <a:pPr algn="ctr" defTabSz="740664">
              <a:spcAft>
                <a:spcPts val="600"/>
              </a:spcAft>
            </a:pPr>
            <a:r>
              <a:rPr lang="en-US" sz="3200" b="1" i="1" kern="1200" dirty="0">
                <a:solidFill>
                  <a:schemeClr val="tx1"/>
                </a:solidFill>
                <a:latin typeface="+mn-lt"/>
                <a:ea typeface="+mn-ea"/>
                <a:cs typeface="+mn-cs"/>
              </a:rPr>
              <a:t>How could you present your oral presentation?</a:t>
            </a:r>
            <a:endParaRPr lang="en-US" sz="4000" b="1" i="1" dirty="0"/>
          </a:p>
        </p:txBody>
      </p:sp>
      <p:sp>
        <p:nvSpPr>
          <p:cNvPr id="4" name="Content Placeholder 3">
            <a:extLst>
              <a:ext uri="{FF2B5EF4-FFF2-40B4-BE49-F238E27FC236}">
                <a16:creationId xmlns:a16="http://schemas.microsoft.com/office/drawing/2014/main" id="{73840CFA-1F99-E81A-7663-AA43B725CC4A}"/>
              </a:ext>
            </a:extLst>
          </p:cNvPr>
          <p:cNvSpPr>
            <a:spLocks/>
          </p:cNvSpPr>
          <p:nvPr/>
        </p:nvSpPr>
        <p:spPr>
          <a:xfrm>
            <a:off x="1299426" y="3429000"/>
            <a:ext cx="4220085" cy="2670928"/>
          </a:xfrm>
          <a:prstGeom prst="rect">
            <a:avLst/>
          </a:prstGeom>
        </p:spPr>
        <p:txBody>
          <a:bodyPr/>
          <a:lstStyle/>
          <a:p>
            <a:pPr marL="571500" indent="-571500" defTabSz="740664">
              <a:spcAft>
                <a:spcPts val="600"/>
              </a:spcAft>
              <a:buFont typeface="Arial" panose="020B0604020202020204" pitchFamily="34" charset="0"/>
              <a:buChar char="•"/>
            </a:pPr>
            <a:r>
              <a:rPr lang="en-US" sz="3600" kern="1200" dirty="0">
                <a:solidFill>
                  <a:schemeClr val="tx1"/>
                </a:solidFill>
                <a:latin typeface="+mn-lt"/>
                <a:ea typeface="+mn-ea"/>
                <a:cs typeface="+mn-cs"/>
              </a:rPr>
              <a:t>Speech </a:t>
            </a:r>
          </a:p>
          <a:p>
            <a:pPr marL="571500" indent="-571500" defTabSz="740664">
              <a:spcAft>
                <a:spcPts val="600"/>
              </a:spcAft>
              <a:buFont typeface="Arial" panose="020B0604020202020204" pitchFamily="34" charset="0"/>
              <a:buChar char="•"/>
            </a:pPr>
            <a:r>
              <a:rPr lang="en-US" sz="3600" kern="1200" dirty="0">
                <a:solidFill>
                  <a:schemeClr val="tx1"/>
                </a:solidFill>
                <a:latin typeface="+mn-lt"/>
                <a:ea typeface="+mn-ea"/>
                <a:cs typeface="+mn-cs"/>
              </a:rPr>
              <a:t>Role Play</a:t>
            </a:r>
          </a:p>
          <a:p>
            <a:pPr marL="571500" indent="-571500" defTabSz="740664">
              <a:spcAft>
                <a:spcPts val="600"/>
              </a:spcAft>
              <a:buFont typeface="Arial" panose="020B0604020202020204" pitchFamily="34" charset="0"/>
              <a:buChar char="•"/>
            </a:pPr>
            <a:r>
              <a:rPr lang="en-US" sz="3600" kern="1200" dirty="0">
                <a:solidFill>
                  <a:schemeClr val="tx1"/>
                </a:solidFill>
                <a:latin typeface="+mn-lt"/>
                <a:ea typeface="+mn-ea"/>
                <a:cs typeface="+mn-cs"/>
              </a:rPr>
              <a:t>Rap or song</a:t>
            </a:r>
          </a:p>
          <a:p>
            <a:pPr marL="571500" indent="-571500" defTabSz="740664">
              <a:spcAft>
                <a:spcPts val="600"/>
              </a:spcAft>
              <a:buFont typeface="Arial" panose="020B0604020202020204" pitchFamily="34" charset="0"/>
              <a:buChar char="•"/>
            </a:pPr>
            <a:r>
              <a:rPr lang="en-US" sz="3600" kern="1200" dirty="0">
                <a:solidFill>
                  <a:schemeClr val="tx1"/>
                </a:solidFill>
                <a:latin typeface="+mn-lt"/>
                <a:ea typeface="+mn-ea"/>
                <a:cs typeface="+mn-cs"/>
              </a:rPr>
              <a:t>Videos</a:t>
            </a:r>
          </a:p>
          <a:p>
            <a:pPr defTabSz="740664">
              <a:spcAft>
                <a:spcPts val="600"/>
              </a:spcAft>
            </a:pPr>
            <a:r>
              <a:rPr lang="en-US" sz="3600" kern="1200" dirty="0">
                <a:solidFill>
                  <a:schemeClr val="tx1"/>
                </a:solidFill>
                <a:latin typeface="+mn-lt"/>
                <a:ea typeface="+mn-ea"/>
                <a:cs typeface="+mn-cs"/>
              </a:rPr>
              <a:t>Etc. </a:t>
            </a:r>
            <a:endParaRPr lang="en-US" sz="4400" dirty="0"/>
          </a:p>
        </p:txBody>
      </p:sp>
      <p:sp>
        <p:nvSpPr>
          <p:cNvPr id="5" name="Text Placeholder 4">
            <a:extLst>
              <a:ext uri="{FF2B5EF4-FFF2-40B4-BE49-F238E27FC236}">
                <a16:creationId xmlns:a16="http://schemas.microsoft.com/office/drawing/2014/main" id="{C68CA239-4B1B-6950-E3BA-6AEB0E0F4499}"/>
              </a:ext>
            </a:extLst>
          </p:cNvPr>
          <p:cNvSpPr>
            <a:spLocks/>
          </p:cNvSpPr>
          <p:nvPr/>
        </p:nvSpPr>
        <p:spPr>
          <a:xfrm>
            <a:off x="6094476" y="2525788"/>
            <a:ext cx="5396896" cy="674122"/>
          </a:xfrm>
          <a:prstGeom prst="rect">
            <a:avLst/>
          </a:prstGeom>
        </p:spPr>
        <p:txBody>
          <a:bodyPr>
            <a:noAutofit/>
          </a:bodyPr>
          <a:lstStyle/>
          <a:p>
            <a:pPr algn="ctr" defTabSz="740664">
              <a:spcAft>
                <a:spcPts val="600"/>
              </a:spcAft>
            </a:pPr>
            <a:r>
              <a:rPr lang="en-US" sz="2700" b="1" i="1" kern="1200" dirty="0">
                <a:solidFill>
                  <a:schemeClr val="tx1"/>
                </a:solidFill>
                <a:latin typeface="+mn-lt"/>
                <a:ea typeface="+mn-ea"/>
                <a:cs typeface="+mn-cs"/>
              </a:rPr>
              <a:t>What could you include in your presentation to make it engaging and entertaining?</a:t>
            </a:r>
            <a:endParaRPr lang="en-US" sz="2700" b="1" i="1" dirty="0"/>
          </a:p>
        </p:txBody>
      </p:sp>
      <p:sp>
        <p:nvSpPr>
          <p:cNvPr id="6" name="Content Placeholder 5">
            <a:extLst>
              <a:ext uri="{FF2B5EF4-FFF2-40B4-BE49-F238E27FC236}">
                <a16:creationId xmlns:a16="http://schemas.microsoft.com/office/drawing/2014/main" id="{F9F141C4-043E-84C3-3731-72F5FAFE7B3D}"/>
              </a:ext>
            </a:extLst>
          </p:cNvPr>
          <p:cNvSpPr>
            <a:spLocks/>
          </p:cNvSpPr>
          <p:nvPr/>
        </p:nvSpPr>
        <p:spPr>
          <a:xfrm>
            <a:off x="6672490" y="3490514"/>
            <a:ext cx="4240868" cy="2670928"/>
          </a:xfrm>
          <a:prstGeom prst="rect">
            <a:avLst/>
          </a:prstGeom>
        </p:spPr>
        <p:txBody>
          <a:bodyPr/>
          <a:lstStyle/>
          <a:p>
            <a:pPr marL="571500" indent="-571500" defTabSz="740664">
              <a:spcAft>
                <a:spcPts val="600"/>
              </a:spcAft>
              <a:buFont typeface="Arial" panose="020B0604020202020204" pitchFamily="34" charset="0"/>
              <a:buChar char="•"/>
            </a:pPr>
            <a:r>
              <a:rPr lang="en-US" sz="3600" kern="1200" dirty="0">
                <a:solidFill>
                  <a:schemeClr val="tx1"/>
                </a:solidFill>
                <a:latin typeface="+mn-lt"/>
                <a:ea typeface="+mn-ea"/>
                <a:cs typeface="+mn-cs"/>
              </a:rPr>
              <a:t>Images and videos</a:t>
            </a:r>
          </a:p>
          <a:p>
            <a:pPr marL="571500" indent="-571500" defTabSz="740664">
              <a:spcAft>
                <a:spcPts val="600"/>
              </a:spcAft>
              <a:buFont typeface="Arial" panose="020B0604020202020204" pitchFamily="34" charset="0"/>
              <a:buChar char="•"/>
            </a:pPr>
            <a:r>
              <a:rPr lang="en-US" sz="3600" kern="1200" dirty="0">
                <a:solidFill>
                  <a:schemeClr val="tx1"/>
                </a:solidFill>
                <a:latin typeface="+mn-lt"/>
                <a:ea typeface="+mn-ea"/>
                <a:cs typeface="+mn-cs"/>
              </a:rPr>
              <a:t>Activities</a:t>
            </a:r>
          </a:p>
          <a:p>
            <a:pPr marL="571500" indent="-571500" defTabSz="740664">
              <a:spcAft>
                <a:spcPts val="600"/>
              </a:spcAft>
              <a:buFont typeface="Arial" panose="020B0604020202020204" pitchFamily="34" charset="0"/>
              <a:buChar char="•"/>
            </a:pPr>
            <a:r>
              <a:rPr lang="en-US" sz="3600" kern="1200" dirty="0">
                <a:solidFill>
                  <a:schemeClr val="tx1"/>
                </a:solidFill>
                <a:latin typeface="+mn-lt"/>
                <a:ea typeface="+mn-ea"/>
                <a:cs typeface="+mn-cs"/>
              </a:rPr>
              <a:t>Quizzes</a:t>
            </a:r>
          </a:p>
          <a:p>
            <a:pPr marL="571500" indent="-571500" defTabSz="740664">
              <a:spcAft>
                <a:spcPts val="600"/>
              </a:spcAft>
              <a:buFont typeface="Arial" panose="020B0604020202020204" pitchFamily="34" charset="0"/>
              <a:buChar char="•"/>
            </a:pPr>
            <a:r>
              <a:rPr lang="en-US" sz="3600" kern="1200" dirty="0">
                <a:solidFill>
                  <a:schemeClr val="tx1"/>
                </a:solidFill>
                <a:latin typeface="+mn-lt"/>
                <a:ea typeface="+mn-ea"/>
                <a:cs typeface="+mn-cs"/>
              </a:rPr>
              <a:t>Music</a:t>
            </a:r>
          </a:p>
          <a:p>
            <a:pPr defTabSz="740664">
              <a:spcAft>
                <a:spcPts val="600"/>
              </a:spcAft>
            </a:pPr>
            <a:r>
              <a:rPr lang="en-US" sz="3600" kern="1200" dirty="0">
                <a:solidFill>
                  <a:schemeClr val="tx1"/>
                </a:solidFill>
                <a:latin typeface="+mn-lt"/>
                <a:ea typeface="+mn-ea"/>
                <a:cs typeface="+mn-cs"/>
              </a:rPr>
              <a:t>Etc. </a:t>
            </a:r>
            <a:endParaRPr lang="en-US" sz="3600" dirty="0"/>
          </a:p>
        </p:txBody>
      </p:sp>
      <p:sp>
        <p:nvSpPr>
          <p:cNvPr id="7" name="TextBox 6">
            <a:extLst>
              <a:ext uri="{FF2B5EF4-FFF2-40B4-BE49-F238E27FC236}">
                <a16:creationId xmlns:a16="http://schemas.microsoft.com/office/drawing/2014/main" id="{0B85EE1B-01BC-0ADF-A855-CD6B35F302B9}"/>
              </a:ext>
            </a:extLst>
          </p:cNvPr>
          <p:cNvSpPr txBox="1"/>
          <p:nvPr/>
        </p:nvSpPr>
        <p:spPr>
          <a:xfrm>
            <a:off x="7277100" y="652317"/>
            <a:ext cx="4271424" cy="1200329"/>
          </a:xfrm>
          <a:prstGeom prst="rect">
            <a:avLst/>
          </a:prstGeom>
          <a:noFill/>
        </p:spPr>
        <p:txBody>
          <a:bodyPr wrap="square" rtlCol="0">
            <a:spAutoFit/>
          </a:bodyPr>
          <a:lstStyle/>
          <a:p>
            <a:pPr algn="ctr"/>
            <a:r>
              <a:rPr lang="en-US" sz="2400" dirty="0"/>
              <a:t>You MUST have an oral presentation component in front of the class on the day and each group member is expected to speak. </a:t>
            </a:r>
          </a:p>
        </p:txBody>
      </p:sp>
    </p:spTree>
    <p:extLst>
      <p:ext uri="{BB962C8B-B14F-4D97-AF65-F5344CB8AC3E}">
        <p14:creationId xmlns:p14="http://schemas.microsoft.com/office/powerpoint/2010/main" val="387285187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074FD6A-C350-A4A7-FC68-E3159BD787F4}"/>
              </a:ext>
            </a:extLst>
          </p:cNvPr>
          <p:cNvSpPr>
            <a:spLocks noGrp="1"/>
          </p:cNvSpPr>
          <p:nvPr>
            <p:ph type="title"/>
          </p:nvPr>
        </p:nvSpPr>
        <p:spPr/>
        <p:txBody>
          <a:bodyPr/>
          <a:lstStyle/>
          <a:p>
            <a:r>
              <a:rPr lang="en-US" dirty="0"/>
              <a:t>STI’s:</a:t>
            </a:r>
          </a:p>
        </p:txBody>
      </p:sp>
      <p:sp>
        <p:nvSpPr>
          <p:cNvPr id="8" name="Content Placeholder 7">
            <a:extLst>
              <a:ext uri="{FF2B5EF4-FFF2-40B4-BE49-F238E27FC236}">
                <a16:creationId xmlns:a16="http://schemas.microsoft.com/office/drawing/2014/main" id="{9DEE14C4-51AF-88D1-EC30-E91A19416F51}"/>
              </a:ext>
            </a:extLst>
          </p:cNvPr>
          <p:cNvSpPr>
            <a:spLocks noGrp="1"/>
          </p:cNvSpPr>
          <p:nvPr>
            <p:ph sz="half" idx="1"/>
          </p:nvPr>
        </p:nvSpPr>
        <p:spPr/>
        <p:txBody>
          <a:bodyPr/>
          <a:lstStyle/>
          <a:p>
            <a:r>
              <a:rPr lang="en-US" dirty="0"/>
              <a:t>Chlamydia</a:t>
            </a:r>
          </a:p>
          <a:p>
            <a:r>
              <a:rPr lang="en-US" dirty="0"/>
              <a:t>Syphilis </a:t>
            </a:r>
          </a:p>
          <a:p>
            <a:r>
              <a:rPr lang="en-US" dirty="0"/>
              <a:t>Gonorrhoea</a:t>
            </a:r>
          </a:p>
          <a:p>
            <a:r>
              <a:rPr lang="en-US" dirty="0"/>
              <a:t>Human </a:t>
            </a:r>
            <a:r>
              <a:rPr lang="en-US" dirty="0" err="1"/>
              <a:t>Papilomavirus</a:t>
            </a:r>
            <a:r>
              <a:rPr lang="en-US" dirty="0"/>
              <a:t> (HPV) / Genital Warts</a:t>
            </a:r>
          </a:p>
          <a:p>
            <a:r>
              <a:rPr lang="en-US" dirty="0"/>
              <a:t>Herpes Simplex Virus (HSV) &amp; Genital Herpes</a:t>
            </a:r>
          </a:p>
        </p:txBody>
      </p:sp>
      <p:sp>
        <p:nvSpPr>
          <p:cNvPr id="9" name="Content Placeholder 8">
            <a:extLst>
              <a:ext uri="{FF2B5EF4-FFF2-40B4-BE49-F238E27FC236}">
                <a16:creationId xmlns:a16="http://schemas.microsoft.com/office/drawing/2014/main" id="{D33C14BE-35F0-E97A-A22D-9A7B47D8480F}"/>
              </a:ext>
            </a:extLst>
          </p:cNvPr>
          <p:cNvSpPr>
            <a:spLocks noGrp="1"/>
          </p:cNvSpPr>
          <p:nvPr>
            <p:ph sz="half" idx="2"/>
          </p:nvPr>
        </p:nvSpPr>
        <p:spPr/>
        <p:txBody>
          <a:bodyPr/>
          <a:lstStyle/>
          <a:p>
            <a:r>
              <a:rPr lang="en-US" dirty="0"/>
              <a:t>Scabies/Pubic Lice (crabs)</a:t>
            </a:r>
          </a:p>
          <a:p>
            <a:r>
              <a:rPr lang="en-US" dirty="0"/>
              <a:t>Trichomoniasis</a:t>
            </a:r>
          </a:p>
          <a:p>
            <a:r>
              <a:rPr lang="en-US" dirty="0"/>
              <a:t>Hepatitis A &amp; B</a:t>
            </a:r>
          </a:p>
          <a:p>
            <a:r>
              <a:rPr lang="en-US" dirty="0"/>
              <a:t>HIV/AIDS</a:t>
            </a:r>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203137194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93245F62-CCC4-49E4-B95B-EA6C1E790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rainbow colored splatter&#10;&#10;Description automatically generated">
            <a:extLst>
              <a:ext uri="{FF2B5EF4-FFF2-40B4-BE49-F238E27FC236}">
                <a16:creationId xmlns:a16="http://schemas.microsoft.com/office/drawing/2014/main" id="{EEA83DFB-1DE6-B5DE-A972-635BA2248013}"/>
              </a:ext>
            </a:extLst>
          </p:cNvPr>
          <p:cNvPicPr>
            <a:picLocks noChangeAspect="1"/>
          </p:cNvPicPr>
          <p:nvPr/>
        </p:nvPicPr>
        <p:blipFill rotWithShape="1">
          <a:blip r:embed="rId2"/>
          <a:srcRect t="1747"/>
          <a:stretch/>
        </p:blipFill>
        <p:spPr>
          <a:xfrm>
            <a:off x="1298963" y="266542"/>
            <a:ext cx="9589477" cy="5394065"/>
          </a:xfrm>
          <a:prstGeom prst="rect">
            <a:avLst/>
          </a:prstGeom>
        </p:spPr>
      </p:pic>
      <p:pic>
        <p:nvPicPr>
          <p:cNvPr id="1028" name="Picture 4" descr="Sexually Transmitted Infections and HIV">
            <a:extLst>
              <a:ext uri="{FF2B5EF4-FFF2-40B4-BE49-F238E27FC236}">
                <a16:creationId xmlns:a16="http://schemas.microsoft.com/office/drawing/2014/main" id="{BDCE080E-9344-5EDA-E414-5ED90ABD48C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l="25312" t="22731" r="26524" b="12904"/>
          <a:stretch/>
        </p:blipFill>
        <p:spPr bwMode="auto">
          <a:xfrm>
            <a:off x="9472614" y="266542"/>
            <a:ext cx="2614612" cy="192992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657FBC4-0AFB-ADB7-F057-3A685854992A}"/>
              </a:ext>
            </a:extLst>
          </p:cNvPr>
          <p:cNvSpPr>
            <a:spLocks noGrp="1"/>
          </p:cNvSpPr>
          <p:nvPr>
            <p:ph type="ctrTitle"/>
          </p:nvPr>
        </p:nvSpPr>
        <p:spPr>
          <a:xfrm>
            <a:off x="638882" y="3577456"/>
            <a:ext cx="10909640" cy="1687814"/>
          </a:xfrm>
        </p:spPr>
        <p:txBody>
          <a:bodyPr anchor="b">
            <a:normAutofit/>
          </a:bodyPr>
          <a:lstStyle/>
          <a:p>
            <a:pPr algn="ctr"/>
            <a:r>
              <a:rPr lang="en-US" sz="10000" dirty="0"/>
              <a:t>CONTRACEPTION &amp; STI’s</a:t>
            </a:r>
          </a:p>
        </p:txBody>
      </p:sp>
      <p:sp>
        <p:nvSpPr>
          <p:cNvPr id="3" name="Subtitle 2">
            <a:extLst>
              <a:ext uri="{FF2B5EF4-FFF2-40B4-BE49-F238E27FC236}">
                <a16:creationId xmlns:a16="http://schemas.microsoft.com/office/drawing/2014/main" id="{E0D7FC79-1308-3C8D-6F49-05BF0614DDCD}"/>
              </a:ext>
            </a:extLst>
          </p:cNvPr>
          <p:cNvSpPr>
            <a:spLocks noGrp="1"/>
          </p:cNvSpPr>
          <p:nvPr>
            <p:ph type="subTitle" idx="1"/>
          </p:nvPr>
        </p:nvSpPr>
        <p:spPr>
          <a:xfrm>
            <a:off x="638881" y="5660607"/>
            <a:ext cx="10909643" cy="1060868"/>
          </a:xfrm>
        </p:spPr>
        <p:txBody>
          <a:bodyPr anchor="t">
            <a:normAutofit/>
          </a:bodyPr>
          <a:lstStyle/>
          <a:p>
            <a:pPr algn="ctr"/>
            <a:r>
              <a:rPr lang="en-US" sz="3200" b="1" dirty="0"/>
              <a:t>Year 10 Health 			Lesson 7 + Lesson 8			Term 2, 2024</a:t>
            </a:r>
          </a:p>
        </p:txBody>
      </p:sp>
      <p:sp>
        <p:nvSpPr>
          <p:cNvPr id="77" name="Rectangle 6">
            <a:extLst>
              <a:ext uri="{FF2B5EF4-FFF2-40B4-BE49-F238E27FC236}">
                <a16:creationId xmlns:a16="http://schemas.microsoft.com/office/drawing/2014/main" id="{E6C0DD6B-6AA3-448F-9B99-8386295BC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27432"/>
          </a:xfrm>
          <a:custGeom>
            <a:avLst/>
            <a:gdLst>
              <a:gd name="connsiteX0" fmla="*/ 0 w 4572000"/>
              <a:gd name="connsiteY0" fmla="*/ 0 h 27432"/>
              <a:gd name="connsiteX1" fmla="*/ 607423 w 4572000"/>
              <a:gd name="connsiteY1" fmla="*/ 0 h 27432"/>
              <a:gd name="connsiteX2" fmla="*/ 1123406 w 4572000"/>
              <a:gd name="connsiteY2" fmla="*/ 0 h 27432"/>
              <a:gd name="connsiteX3" fmla="*/ 1685109 w 4572000"/>
              <a:gd name="connsiteY3" fmla="*/ 0 h 27432"/>
              <a:gd name="connsiteX4" fmla="*/ 2383971 w 4572000"/>
              <a:gd name="connsiteY4" fmla="*/ 0 h 27432"/>
              <a:gd name="connsiteX5" fmla="*/ 2991394 w 4572000"/>
              <a:gd name="connsiteY5" fmla="*/ 0 h 27432"/>
              <a:gd name="connsiteX6" fmla="*/ 3553097 w 4572000"/>
              <a:gd name="connsiteY6" fmla="*/ 0 h 27432"/>
              <a:gd name="connsiteX7" fmla="*/ 4572000 w 4572000"/>
              <a:gd name="connsiteY7" fmla="*/ 0 h 27432"/>
              <a:gd name="connsiteX8" fmla="*/ 4572000 w 4572000"/>
              <a:gd name="connsiteY8" fmla="*/ 27432 h 27432"/>
              <a:gd name="connsiteX9" fmla="*/ 3918857 w 4572000"/>
              <a:gd name="connsiteY9" fmla="*/ 27432 h 27432"/>
              <a:gd name="connsiteX10" fmla="*/ 3357154 w 4572000"/>
              <a:gd name="connsiteY10" fmla="*/ 27432 h 27432"/>
              <a:gd name="connsiteX11" fmla="*/ 2612571 w 4572000"/>
              <a:gd name="connsiteY11" fmla="*/ 27432 h 27432"/>
              <a:gd name="connsiteX12" fmla="*/ 2005149 w 4572000"/>
              <a:gd name="connsiteY12" fmla="*/ 27432 h 27432"/>
              <a:gd name="connsiteX13" fmla="*/ 1489166 w 4572000"/>
              <a:gd name="connsiteY13" fmla="*/ 27432 h 27432"/>
              <a:gd name="connsiteX14" fmla="*/ 790303 w 4572000"/>
              <a:gd name="connsiteY14" fmla="*/ 27432 h 27432"/>
              <a:gd name="connsiteX15" fmla="*/ 0 w 4572000"/>
              <a:gd name="connsiteY15" fmla="*/ 27432 h 27432"/>
              <a:gd name="connsiteX16" fmla="*/ 0 w 457200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27432" fill="none" extrusionOk="0">
                <a:moveTo>
                  <a:pt x="0" y="0"/>
                </a:moveTo>
                <a:cubicBezTo>
                  <a:pt x="150397" y="-23421"/>
                  <a:pt x="474161" y="9174"/>
                  <a:pt x="607423" y="0"/>
                </a:cubicBezTo>
                <a:cubicBezTo>
                  <a:pt x="740685" y="-9174"/>
                  <a:pt x="868821" y="-4258"/>
                  <a:pt x="1123406" y="0"/>
                </a:cubicBezTo>
                <a:cubicBezTo>
                  <a:pt x="1377991" y="4258"/>
                  <a:pt x="1567664" y="-12410"/>
                  <a:pt x="1685109" y="0"/>
                </a:cubicBezTo>
                <a:cubicBezTo>
                  <a:pt x="1802554" y="12410"/>
                  <a:pt x="2193086" y="-14353"/>
                  <a:pt x="2383971" y="0"/>
                </a:cubicBezTo>
                <a:cubicBezTo>
                  <a:pt x="2574856" y="14353"/>
                  <a:pt x="2697477" y="-26142"/>
                  <a:pt x="2991394" y="0"/>
                </a:cubicBezTo>
                <a:cubicBezTo>
                  <a:pt x="3285311" y="26142"/>
                  <a:pt x="3423667" y="26544"/>
                  <a:pt x="3553097" y="0"/>
                </a:cubicBezTo>
                <a:cubicBezTo>
                  <a:pt x="3682527" y="-26544"/>
                  <a:pt x="4344147" y="50350"/>
                  <a:pt x="4572000" y="0"/>
                </a:cubicBezTo>
                <a:cubicBezTo>
                  <a:pt x="4571027" y="8304"/>
                  <a:pt x="4571522" y="21512"/>
                  <a:pt x="4572000" y="27432"/>
                </a:cubicBezTo>
                <a:cubicBezTo>
                  <a:pt x="4438349" y="5490"/>
                  <a:pt x="4090129" y="31231"/>
                  <a:pt x="3918857" y="27432"/>
                </a:cubicBezTo>
                <a:cubicBezTo>
                  <a:pt x="3747585" y="23633"/>
                  <a:pt x="3498826" y="6883"/>
                  <a:pt x="3357154" y="27432"/>
                </a:cubicBezTo>
                <a:cubicBezTo>
                  <a:pt x="3215482" y="47981"/>
                  <a:pt x="2784289" y="56849"/>
                  <a:pt x="2612571" y="27432"/>
                </a:cubicBezTo>
                <a:cubicBezTo>
                  <a:pt x="2440853" y="-1985"/>
                  <a:pt x="2261292" y="25951"/>
                  <a:pt x="2005149" y="27432"/>
                </a:cubicBezTo>
                <a:cubicBezTo>
                  <a:pt x="1749006" y="28913"/>
                  <a:pt x="1700078" y="34342"/>
                  <a:pt x="1489166" y="27432"/>
                </a:cubicBezTo>
                <a:cubicBezTo>
                  <a:pt x="1278254" y="20522"/>
                  <a:pt x="1077188" y="56916"/>
                  <a:pt x="790303" y="27432"/>
                </a:cubicBezTo>
                <a:cubicBezTo>
                  <a:pt x="503418" y="-2052"/>
                  <a:pt x="359168" y="57044"/>
                  <a:pt x="0" y="27432"/>
                </a:cubicBezTo>
                <a:cubicBezTo>
                  <a:pt x="-1048" y="14992"/>
                  <a:pt x="-1120" y="7447"/>
                  <a:pt x="0" y="0"/>
                </a:cubicBezTo>
                <a:close/>
              </a:path>
              <a:path w="4572000" h="27432" stroke="0" extrusionOk="0">
                <a:moveTo>
                  <a:pt x="0" y="0"/>
                </a:moveTo>
                <a:cubicBezTo>
                  <a:pt x="155698" y="6780"/>
                  <a:pt x="465972" y="13197"/>
                  <a:pt x="607423" y="0"/>
                </a:cubicBezTo>
                <a:cubicBezTo>
                  <a:pt x="748874" y="-13197"/>
                  <a:pt x="1014133" y="22994"/>
                  <a:pt x="1123406" y="0"/>
                </a:cubicBezTo>
                <a:cubicBezTo>
                  <a:pt x="1232679" y="-22994"/>
                  <a:pt x="1639431" y="-2997"/>
                  <a:pt x="1867989" y="0"/>
                </a:cubicBezTo>
                <a:cubicBezTo>
                  <a:pt x="2096547" y="2997"/>
                  <a:pt x="2265668" y="29557"/>
                  <a:pt x="2475411" y="0"/>
                </a:cubicBezTo>
                <a:cubicBezTo>
                  <a:pt x="2685154" y="-29557"/>
                  <a:pt x="2951491" y="73"/>
                  <a:pt x="3082834" y="0"/>
                </a:cubicBezTo>
                <a:cubicBezTo>
                  <a:pt x="3214177" y="-73"/>
                  <a:pt x="3641000" y="-33478"/>
                  <a:pt x="3827417" y="0"/>
                </a:cubicBezTo>
                <a:cubicBezTo>
                  <a:pt x="4013834" y="33478"/>
                  <a:pt x="4345917" y="14255"/>
                  <a:pt x="4572000" y="0"/>
                </a:cubicBezTo>
                <a:cubicBezTo>
                  <a:pt x="4572485" y="9333"/>
                  <a:pt x="4573278" y="19699"/>
                  <a:pt x="4572000" y="27432"/>
                </a:cubicBezTo>
                <a:cubicBezTo>
                  <a:pt x="4318030" y="43025"/>
                  <a:pt x="4161104" y="34314"/>
                  <a:pt x="4010297" y="27432"/>
                </a:cubicBezTo>
                <a:cubicBezTo>
                  <a:pt x="3859490" y="20550"/>
                  <a:pt x="3592529" y="6613"/>
                  <a:pt x="3357154" y="27432"/>
                </a:cubicBezTo>
                <a:cubicBezTo>
                  <a:pt x="3121779" y="48251"/>
                  <a:pt x="2884285" y="3780"/>
                  <a:pt x="2704011" y="27432"/>
                </a:cubicBezTo>
                <a:cubicBezTo>
                  <a:pt x="2523737" y="51084"/>
                  <a:pt x="2295944" y="32081"/>
                  <a:pt x="2096589" y="27432"/>
                </a:cubicBezTo>
                <a:cubicBezTo>
                  <a:pt x="1897234" y="22783"/>
                  <a:pt x="1623782" y="52518"/>
                  <a:pt x="1352006" y="27432"/>
                </a:cubicBezTo>
                <a:cubicBezTo>
                  <a:pt x="1080230" y="2346"/>
                  <a:pt x="869959" y="12864"/>
                  <a:pt x="607423" y="27432"/>
                </a:cubicBezTo>
                <a:cubicBezTo>
                  <a:pt x="344887" y="42000"/>
                  <a:pt x="188100" y="40051"/>
                  <a:pt x="0" y="27432"/>
                </a:cubicBezTo>
                <a:cubicBezTo>
                  <a:pt x="211" y="18145"/>
                  <a:pt x="120" y="6480"/>
                  <a:pt x="0" y="0"/>
                </a:cubicBezTo>
                <a:close/>
              </a:path>
            </a:pathLst>
          </a:custGeom>
          <a:solidFill>
            <a:srgbClr val="7EB8FB"/>
          </a:solidFill>
          <a:ln w="38100" cap="rnd">
            <a:solidFill>
              <a:srgbClr val="7EB8FB"/>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Date Placeholder 26">
            <a:extLst>
              <a:ext uri="{FF2B5EF4-FFF2-40B4-BE49-F238E27FC236}">
                <a16:creationId xmlns:a16="http://schemas.microsoft.com/office/drawing/2014/main" id="{F28B82B1-E269-4325-A665-6CFE5DEE5DE5}"/>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81" name="Footer Placeholder 27">
            <a:extLst>
              <a:ext uri="{FF2B5EF4-FFF2-40B4-BE49-F238E27FC236}">
                <a16:creationId xmlns:a16="http://schemas.microsoft.com/office/drawing/2014/main" id="{7C700527-76FD-4DF4-A597-6F5E089CA0C2}"/>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83" name="Slide Number Placeholder 28">
            <a:extLst>
              <a:ext uri="{FF2B5EF4-FFF2-40B4-BE49-F238E27FC236}">
                <a16:creationId xmlns:a16="http://schemas.microsoft.com/office/drawing/2014/main" id="{B5EA49A9-01EB-4D60-A392-7DC9B625D67D}"/>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1920109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41" presetClass="path" presetSubtype="0" accel="50000" decel="50000" fill="hold" nodeType="withEffect">
                                  <p:stCondLst>
                                    <p:cond delay="0"/>
                                  </p:stCondLst>
                                  <p:childTnLst>
                                    <p:animMotion origin="layout" path="M -4.58333E-6 -1.11111E-6 C -0.01679 -0.02407 -0.07395 -0.04745 -0.09492 -0.04745 C -0.22226 -0.04745 -0.35377 0.32408 -0.35377 0.69583 C -0.35377 0.50857 -0.41966 0.32408 -0.48112 0.32408 C -0.547 0.32408 -0.60846 0.51134 -0.60846 0.69583 C -0.60846 0.60347 -0.64114 0.50857 -0.67421 0.50857 C -0.70703 0.50857 -0.74023 0.6007 -0.74023 0.69583 C -0.74023 0.64815 -0.75664 0.60347 -0.77278 0.60347 C -0.78945 0.60347 -0.80546 0.65093 -0.80546 0.69583 C -0.80546 0.67153 -0.81341 0.64815 -0.822 0.64815 C -0.8263 0.64815 -0.83867 0.67222 -0.83867 0.69583 C -0.83867 0.68403 -0.84296 0.67153 -0.84661 0.67153 C -0.84661 0.66898 -0.85468 0.68333 -0.85468 0.69583 C -0.85468 0.68958 -0.85468 0.68403 -0.85898 0.68403 C -0.85898 0.68681 -0.86328 0.69028 -0.86328 0.69583 C -0.86328 0.69306 -0.86328 0.68958 -0.86328 0.68681 C -0.86757 0.68681 -0.86757 0.68958 -0.86757 0.69306 C -0.87187 0.69306 -0.87187 0.69028 -0.87187 0.68681 C -0.87591 0.68681 -0.87591 0.68958 -0.87591 0.69306 " pathEditMode="relative" rAng="0" ptsTypes="AAAAAAAAAAAAAAAAAAA">
                                      <p:cBhvr>
                                        <p:cTn id="9" dur="5000" fill="hold"/>
                                        <p:tgtEl>
                                          <p:spTgt spid="1028"/>
                                        </p:tgtEl>
                                        <p:attrNameLst>
                                          <p:attrName>ppt_x</p:attrName>
                                          <p:attrName>ppt_y</p:attrName>
                                        </p:attrNameLst>
                                      </p:cBhvr>
                                      <p:rCtr x="-43802" y="3240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04FFB5-DE23-4D74-BEF9-CC7D947D357C}"/>
              </a:ext>
            </a:extLst>
          </p:cNvPr>
          <p:cNvSpPr>
            <a:spLocks noGrp="1"/>
          </p:cNvSpPr>
          <p:nvPr>
            <p:ph type="title"/>
          </p:nvPr>
        </p:nvSpPr>
        <p:spPr>
          <a:xfrm>
            <a:off x="640080" y="325369"/>
            <a:ext cx="4368602" cy="1956841"/>
          </a:xfrm>
        </p:spPr>
        <p:txBody>
          <a:bodyPr anchor="b">
            <a:normAutofit/>
          </a:bodyPr>
          <a:lstStyle/>
          <a:p>
            <a:r>
              <a:rPr lang="en-US" sz="6600"/>
              <a:t>Today’s Focus</a:t>
            </a:r>
          </a:p>
        </p:txBody>
      </p:sp>
      <p:sp>
        <p:nvSpPr>
          <p:cNvPr id="28"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093" y="2563839"/>
            <a:ext cx="3931920" cy="27432"/>
          </a:xfrm>
          <a:custGeom>
            <a:avLst/>
            <a:gdLst>
              <a:gd name="connsiteX0" fmla="*/ 0 w 3931920"/>
              <a:gd name="connsiteY0" fmla="*/ 0 h 27432"/>
              <a:gd name="connsiteX1" fmla="*/ 733958 w 3931920"/>
              <a:gd name="connsiteY1" fmla="*/ 0 h 27432"/>
              <a:gd name="connsiteX2" fmla="*/ 1428598 w 3931920"/>
              <a:gd name="connsiteY2" fmla="*/ 0 h 27432"/>
              <a:gd name="connsiteX3" fmla="*/ 2123237 w 3931920"/>
              <a:gd name="connsiteY3" fmla="*/ 0 h 27432"/>
              <a:gd name="connsiteX4" fmla="*/ 2660599 w 3931920"/>
              <a:gd name="connsiteY4" fmla="*/ 0 h 27432"/>
              <a:gd name="connsiteX5" fmla="*/ 3237281 w 3931920"/>
              <a:gd name="connsiteY5" fmla="*/ 0 h 27432"/>
              <a:gd name="connsiteX6" fmla="*/ 3931920 w 3931920"/>
              <a:gd name="connsiteY6" fmla="*/ 0 h 27432"/>
              <a:gd name="connsiteX7" fmla="*/ 3931920 w 3931920"/>
              <a:gd name="connsiteY7" fmla="*/ 27432 h 27432"/>
              <a:gd name="connsiteX8" fmla="*/ 3276600 w 3931920"/>
              <a:gd name="connsiteY8" fmla="*/ 27432 h 27432"/>
              <a:gd name="connsiteX9" fmla="*/ 2739238 w 3931920"/>
              <a:gd name="connsiteY9" fmla="*/ 27432 h 27432"/>
              <a:gd name="connsiteX10" fmla="*/ 2201875 w 3931920"/>
              <a:gd name="connsiteY10" fmla="*/ 27432 h 27432"/>
              <a:gd name="connsiteX11" fmla="*/ 1507236 w 3931920"/>
              <a:gd name="connsiteY11" fmla="*/ 27432 h 27432"/>
              <a:gd name="connsiteX12" fmla="*/ 930554 w 3931920"/>
              <a:gd name="connsiteY12" fmla="*/ 27432 h 27432"/>
              <a:gd name="connsiteX13" fmla="*/ 0 w 3931920"/>
              <a:gd name="connsiteY13" fmla="*/ 27432 h 27432"/>
              <a:gd name="connsiteX14" fmla="*/ 0 w 3931920"/>
              <a:gd name="connsiteY14"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31920" h="27432" fill="none" extrusionOk="0">
                <a:moveTo>
                  <a:pt x="0" y="0"/>
                </a:moveTo>
                <a:cubicBezTo>
                  <a:pt x="245351" y="16874"/>
                  <a:pt x="509174" y="13736"/>
                  <a:pt x="733958" y="0"/>
                </a:cubicBezTo>
                <a:cubicBezTo>
                  <a:pt x="958742" y="-13736"/>
                  <a:pt x="1245406" y="-17215"/>
                  <a:pt x="1428598" y="0"/>
                </a:cubicBezTo>
                <a:cubicBezTo>
                  <a:pt x="1611790" y="17215"/>
                  <a:pt x="1930525" y="20562"/>
                  <a:pt x="2123237" y="0"/>
                </a:cubicBezTo>
                <a:cubicBezTo>
                  <a:pt x="2315949" y="-20562"/>
                  <a:pt x="2485508" y="11332"/>
                  <a:pt x="2660599" y="0"/>
                </a:cubicBezTo>
                <a:cubicBezTo>
                  <a:pt x="2835690" y="-11332"/>
                  <a:pt x="3075198" y="-14809"/>
                  <a:pt x="3237281" y="0"/>
                </a:cubicBezTo>
                <a:cubicBezTo>
                  <a:pt x="3399364" y="14809"/>
                  <a:pt x="3745084" y="-4992"/>
                  <a:pt x="3931920" y="0"/>
                </a:cubicBezTo>
                <a:cubicBezTo>
                  <a:pt x="3930963" y="8431"/>
                  <a:pt x="3931571" y="14612"/>
                  <a:pt x="3931920" y="27432"/>
                </a:cubicBezTo>
                <a:cubicBezTo>
                  <a:pt x="3765435" y="40792"/>
                  <a:pt x="3452398" y="38703"/>
                  <a:pt x="3276600" y="27432"/>
                </a:cubicBezTo>
                <a:cubicBezTo>
                  <a:pt x="3100802" y="16161"/>
                  <a:pt x="2914889" y="26998"/>
                  <a:pt x="2739238" y="27432"/>
                </a:cubicBezTo>
                <a:cubicBezTo>
                  <a:pt x="2563587" y="27866"/>
                  <a:pt x="2395484" y="39154"/>
                  <a:pt x="2201875" y="27432"/>
                </a:cubicBezTo>
                <a:cubicBezTo>
                  <a:pt x="2008266" y="15710"/>
                  <a:pt x="1781367" y="4899"/>
                  <a:pt x="1507236" y="27432"/>
                </a:cubicBezTo>
                <a:cubicBezTo>
                  <a:pt x="1233105" y="49965"/>
                  <a:pt x="1075495" y="47542"/>
                  <a:pt x="930554" y="27432"/>
                </a:cubicBezTo>
                <a:cubicBezTo>
                  <a:pt x="785613" y="7322"/>
                  <a:pt x="268930" y="30433"/>
                  <a:pt x="0" y="27432"/>
                </a:cubicBezTo>
                <a:cubicBezTo>
                  <a:pt x="226" y="18208"/>
                  <a:pt x="-648" y="12891"/>
                  <a:pt x="0" y="0"/>
                </a:cubicBezTo>
                <a:close/>
              </a:path>
              <a:path w="3931920" h="27432" stroke="0" extrusionOk="0">
                <a:moveTo>
                  <a:pt x="0" y="0"/>
                </a:moveTo>
                <a:cubicBezTo>
                  <a:pt x="278269" y="4786"/>
                  <a:pt x="349028" y="-10422"/>
                  <a:pt x="616001" y="0"/>
                </a:cubicBezTo>
                <a:cubicBezTo>
                  <a:pt x="882974" y="10422"/>
                  <a:pt x="931617" y="-15515"/>
                  <a:pt x="1153363" y="0"/>
                </a:cubicBezTo>
                <a:cubicBezTo>
                  <a:pt x="1375109" y="15515"/>
                  <a:pt x="1704089" y="-3631"/>
                  <a:pt x="1887322" y="0"/>
                </a:cubicBezTo>
                <a:cubicBezTo>
                  <a:pt x="2070555" y="3631"/>
                  <a:pt x="2344155" y="2213"/>
                  <a:pt x="2503322" y="0"/>
                </a:cubicBezTo>
                <a:cubicBezTo>
                  <a:pt x="2662489" y="-2213"/>
                  <a:pt x="2976859" y="26691"/>
                  <a:pt x="3119323" y="0"/>
                </a:cubicBezTo>
                <a:cubicBezTo>
                  <a:pt x="3261787" y="-26691"/>
                  <a:pt x="3588171" y="-28651"/>
                  <a:pt x="3931920" y="0"/>
                </a:cubicBezTo>
                <a:cubicBezTo>
                  <a:pt x="3930565" y="9524"/>
                  <a:pt x="3930718" y="13975"/>
                  <a:pt x="3931920" y="27432"/>
                </a:cubicBezTo>
                <a:cubicBezTo>
                  <a:pt x="3664329" y="4021"/>
                  <a:pt x="3437686" y="14511"/>
                  <a:pt x="3276600" y="27432"/>
                </a:cubicBezTo>
                <a:cubicBezTo>
                  <a:pt x="3115514" y="40353"/>
                  <a:pt x="2913592" y="48967"/>
                  <a:pt x="2739238" y="27432"/>
                </a:cubicBezTo>
                <a:cubicBezTo>
                  <a:pt x="2564884" y="5897"/>
                  <a:pt x="2294049" y="39820"/>
                  <a:pt x="2083918" y="27432"/>
                </a:cubicBezTo>
                <a:cubicBezTo>
                  <a:pt x="1873787" y="15044"/>
                  <a:pt x="1718903" y="21388"/>
                  <a:pt x="1428598" y="27432"/>
                </a:cubicBezTo>
                <a:cubicBezTo>
                  <a:pt x="1138293" y="33476"/>
                  <a:pt x="952209" y="50441"/>
                  <a:pt x="812597" y="27432"/>
                </a:cubicBezTo>
                <a:cubicBezTo>
                  <a:pt x="672985" y="4423"/>
                  <a:pt x="305800" y="28240"/>
                  <a:pt x="0" y="27432"/>
                </a:cubicBezTo>
                <a:cubicBezTo>
                  <a:pt x="-800" y="16780"/>
                  <a:pt x="-583" y="12910"/>
                  <a:pt x="0" y="0"/>
                </a:cubicBezTo>
                <a:close/>
              </a:path>
            </a:pathLst>
          </a:custGeom>
          <a:solidFill>
            <a:srgbClr val="E5B399"/>
          </a:solidFill>
          <a:ln w="38100" cap="rnd">
            <a:solidFill>
              <a:srgbClr val="E5B399"/>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A63D7FC-176D-B898-C622-E503B972CD01}"/>
              </a:ext>
            </a:extLst>
          </p:cNvPr>
          <p:cNvSpPr>
            <a:spLocks noGrp="1"/>
          </p:cNvSpPr>
          <p:nvPr>
            <p:ph idx="1"/>
          </p:nvPr>
        </p:nvSpPr>
        <p:spPr>
          <a:xfrm>
            <a:off x="640080" y="2872899"/>
            <a:ext cx="4243589" cy="3320668"/>
          </a:xfrm>
        </p:spPr>
        <p:txBody>
          <a:bodyPr>
            <a:normAutofit/>
          </a:bodyPr>
          <a:lstStyle/>
          <a:p>
            <a:r>
              <a:rPr lang="en-US" dirty="0"/>
              <a:t>Complete Task 3: STI Oral Presentation.</a:t>
            </a:r>
          </a:p>
          <a:p>
            <a:endParaRPr lang="en-US" dirty="0"/>
          </a:p>
          <a:p>
            <a:r>
              <a:rPr lang="en-US" dirty="0"/>
              <a:t>**Week 7 = exam break**</a:t>
            </a:r>
          </a:p>
        </p:txBody>
      </p:sp>
      <p:pic>
        <p:nvPicPr>
          <p:cNvPr id="5" name="Picture 4" descr="Writing an appointment on a paper agenda">
            <a:extLst>
              <a:ext uri="{FF2B5EF4-FFF2-40B4-BE49-F238E27FC236}">
                <a16:creationId xmlns:a16="http://schemas.microsoft.com/office/drawing/2014/main" id="{EDE161DE-AC56-B92C-DAD0-35C65DB94381}"/>
              </a:ext>
            </a:extLst>
          </p:cNvPr>
          <p:cNvPicPr>
            <a:picLocks noChangeAspect="1"/>
          </p:cNvPicPr>
          <p:nvPr/>
        </p:nvPicPr>
        <p:blipFill rotWithShape="1">
          <a:blip r:embed="rId2"/>
          <a:srcRect r="33047"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409201480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93245F62-CCC4-49E4-B95B-EA6C1E790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rainbow colored splatter&#10;&#10;Description automatically generated">
            <a:extLst>
              <a:ext uri="{FF2B5EF4-FFF2-40B4-BE49-F238E27FC236}">
                <a16:creationId xmlns:a16="http://schemas.microsoft.com/office/drawing/2014/main" id="{EEA83DFB-1DE6-B5DE-A972-635BA2248013}"/>
              </a:ext>
            </a:extLst>
          </p:cNvPr>
          <p:cNvPicPr>
            <a:picLocks noChangeAspect="1"/>
          </p:cNvPicPr>
          <p:nvPr/>
        </p:nvPicPr>
        <p:blipFill rotWithShape="1">
          <a:blip r:embed="rId2"/>
          <a:srcRect t="1747"/>
          <a:stretch/>
        </p:blipFill>
        <p:spPr>
          <a:xfrm>
            <a:off x="1298963" y="266542"/>
            <a:ext cx="9589477" cy="5394065"/>
          </a:xfrm>
          <a:prstGeom prst="rect">
            <a:avLst/>
          </a:prstGeom>
        </p:spPr>
      </p:pic>
      <p:pic>
        <p:nvPicPr>
          <p:cNvPr id="1028" name="Picture 4" descr="Sexually Transmitted Infections and HIV">
            <a:extLst>
              <a:ext uri="{FF2B5EF4-FFF2-40B4-BE49-F238E27FC236}">
                <a16:creationId xmlns:a16="http://schemas.microsoft.com/office/drawing/2014/main" id="{BDCE080E-9344-5EDA-E414-5ED90ABD48C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l="25312" t="22731" r="26524" b="12904"/>
          <a:stretch/>
        </p:blipFill>
        <p:spPr bwMode="auto">
          <a:xfrm>
            <a:off x="9472614" y="266542"/>
            <a:ext cx="2614612" cy="192992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657FBC4-0AFB-ADB7-F057-3A685854992A}"/>
              </a:ext>
            </a:extLst>
          </p:cNvPr>
          <p:cNvSpPr>
            <a:spLocks noGrp="1"/>
          </p:cNvSpPr>
          <p:nvPr>
            <p:ph type="ctrTitle"/>
          </p:nvPr>
        </p:nvSpPr>
        <p:spPr>
          <a:xfrm>
            <a:off x="638882" y="3577456"/>
            <a:ext cx="10909640" cy="1687814"/>
          </a:xfrm>
        </p:spPr>
        <p:txBody>
          <a:bodyPr anchor="b">
            <a:normAutofit/>
          </a:bodyPr>
          <a:lstStyle/>
          <a:p>
            <a:pPr algn="ctr"/>
            <a:r>
              <a:rPr lang="en-US" sz="10000" dirty="0"/>
              <a:t>CONTRACEPTION &amp; STI’s</a:t>
            </a:r>
          </a:p>
        </p:txBody>
      </p:sp>
      <p:sp>
        <p:nvSpPr>
          <p:cNvPr id="3" name="Subtitle 2">
            <a:extLst>
              <a:ext uri="{FF2B5EF4-FFF2-40B4-BE49-F238E27FC236}">
                <a16:creationId xmlns:a16="http://schemas.microsoft.com/office/drawing/2014/main" id="{E0D7FC79-1308-3C8D-6F49-05BF0614DDCD}"/>
              </a:ext>
            </a:extLst>
          </p:cNvPr>
          <p:cNvSpPr>
            <a:spLocks noGrp="1"/>
          </p:cNvSpPr>
          <p:nvPr>
            <p:ph type="subTitle" idx="1"/>
          </p:nvPr>
        </p:nvSpPr>
        <p:spPr>
          <a:xfrm>
            <a:off x="638881" y="5660607"/>
            <a:ext cx="10909643" cy="1060868"/>
          </a:xfrm>
        </p:spPr>
        <p:txBody>
          <a:bodyPr anchor="t">
            <a:normAutofit/>
          </a:bodyPr>
          <a:lstStyle/>
          <a:p>
            <a:pPr algn="ctr"/>
            <a:r>
              <a:rPr lang="en-US" sz="3200" b="1" dirty="0"/>
              <a:t>Year 10 Health 			Lesson 9			Term 2, 2024</a:t>
            </a:r>
          </a:p>
        </p:txBody>
      </p:sp>
      <p:sp>
        <p:nvSpPr>
          <p:cNvPr id="77" name="Rectangle 6">
            <a:extLst>
              <a:ext uri="{FF2B5EF4-FFF2-40B4-BE49-F238E27FC236}">
                <a16:creationId xmlns:a16="http://schemas.microsoft.com/office/drawing/2014/main" id="{E6C0DD6B-6AA3-448F-9B99-8386295BC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27432"/>
          </a:xfrm>
          <a:custGeom>
            <a:avLst/>
            <a:gdLst>
              <a:gd name="connsiteX0" fmla="*/ 0 w 4572000"/>
              <a:gd name="connsiteY0" fmla="*/ 0 h 27432"/>
              <a:gd name="connsiteX1" fmla="*/ 607423 w 4572000"/>
              <a:gd name="connsiteY1" fmla="*/ 0 h 27432"/>
              <a:gd name="connsiteX2" fmla="*/ 1123406 w 4572000"/>
              <a:gd name="connsiteY2" fmla="*/ 0 h 27432"/>
              <a:gd name="connsiteX3" fmla="*/ 1685109 w 4572000"/>
              <a:gd name="connsiteY3" fmla="*/ 0 h 27432"/>
              <a:gd name="connsiteX4" fmla="*/ 2383971 w 4572000"/>
              <a:gd name="connsiteY4" fmla="*/ 0 h 27432"/>
              <a:gd name="connsiteX5" fmla="*/ 2991394 w 4572000"/>
              <a:gd name="connsiteY5" fmla="*/ 0 h 27432"/>
              <a:gd name="connsiteX6" fmla="*/ 3553097 w 4572000"/>
              <a:gd name="connsiteY6" fmla="*/ 0 h 27432"/>
              <a:gd name="connsiteX7" fmla="*/ 4572000 w 4572000"/>
              <a:gd name="connsiteY7" fmla="*/ 0 h 27432"/>
              <a:gd name="connsiteX8" fmla="*/ 4572000 w 4572000"/>
              <a:gd name="connsiteY8" fmla="*/ 27432 h 27432"/>
              <a:gd name="connsiteX9" fmla="*/ 3918857 w 4572000"/>
              <a:gd name="connsiteY9" fmla="*/ 27432 h 27432"/>
              <a:gd name="connsiteX10" fmla="*/ 3357154 w 4572000"/>
              <a:gd name="connsiteY10" fmla="*/ 27432 h 27432"/>
              <a:gd name="connsiteX11" fmla="*/ 2612571 w 4572000"/>
              <a:gd name="connsiteY11" fmla="*/ 27432 h 27432"/>
              <a:gd name="connsiteX12" fmla="*/ 2005149 w 4572000"/>
              <a:gd name="connsiteY12" fmla="*/ 27432 h 27432"/>
              <a:gd name="connsiteX13" fmla="*/ 1489166 w 4572000"/>
              <a:gd name="connsiteY13" fmla="*/ 27432 h 27432"/>
              <a:gd name="connsiteX14" fmla="*/ 790303 w 4572000"/>
              <a:gd name="connsiteY14" fmla="*/ 27432 h 27432"/>
              <a:gd name="connsiteX15" fmla="*/ 0 w 4572000"/>
              <a:gd name="connsiteY15" fmla="*/ 27432 h 27432"/>
              <a:gd name="connsiteX16" fmla="*/ 0 w 457200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27432" fill="none" extrusionOk="0">
                <a:moveTo>
                  <a:pt x="0" y="0"/>
                </a:moveTo>
                <a:cubicBezTo>
                  <a:pt x="150397" y="-23421"/>
                  <a:pt x="474161" y="9174"/>
                  <a:pt x="607423" y="0"/>
                </a:cubicBezTo>
                <a:cubicBezTo>
                  <a:pt x="740685" y="-9174"/>
                  <a:pt x="868821" y="-4258"/>
                  <a:pt x="1123406" y="0"/>
                </a:cubicBezTo>
                <a:cubicBezTo>
                  <a:pt x="1377991" y="4258"/>
                  <a:pt x="1567664" y="-12410"/>
                  <a:pt x="1685109" y="0"/>
                </a:cubicBezTo>
                <a:cubicBezTo>
                  <a:pt x="1802554" y="12410"/>
                  <a:pt x="2193086" y="-14353"/>
                  <a:pt x="2383971" y="0"/>
                </a:cubicBezTo>
                <a:cubicBezTo>
                  <a:pt x="2574856" y="14353"/>
                  <a:pt x="2697477" y="-26142"/>
                  <a:pt x="2991394" y="0"/>
                </a:cubicBezTo>
                <a:cubicBezTo>
                  <a:pt x="3285311" y="26142"/>
                  <a:pt x="3423667" y="26544"/>
                  <a:pt x="3553097" y="0"/>
                </a:cubicBezTo>
                <a:cubicBezTo>
                  <a:pt x="3682527" y="-26544"/>
                  <a:pt x="4344147" y="50350"/>
                  <a:pt x="4572000" y="0"/>
                </a:cubicBezTo>
                <a:cubicBezTo>
                  <a:pt x="4571027" y="8304"/>
                  <a:pt x="4571522" y="21512"/>
                  <a:pt x="4572000" y="27432"/>
                </a:cubicBezTo>
                <a:cubicBezTo>
                  <a:pt x="4438349" y="5490"/>
                  <a:pt x="4090129" y="31231"/>
                  <a:pt x="3918857" y="27432"/>
                </a:cubicBezTo>
                <a:cubicBezTo>
                  <a:pt x="3747585" y="23633"/>
                  <a:pt x="3498826" y="6883"/>
                  <a:pt x="3357154" y="27432"/>
                </a:cubicBezTo>
                <a:cubicBezTo>
                  <a:pt x="3215482" y="47981"/>
                  <a:pt x="2784289" y="56849"/>
                  <a:pt x="2612571" y="27432"/>
                </a:cubicBezTo>
                <a:cubicBezTo>
                  <a:pt x="2440853" y="-1985"/>
                  <a:pt x="2261292" y="25951"/>
                  <a:pt x="2005149" y="27432"/>
                </a:cubicBezTo>
                <a:cubicBezTo>
                  <a:pt x="1749006" y="28913"/>
                  <a:pt x="1700078" y="34342"/>
                  <a:pt x="1489166" y="27432"/>
                </a:cubicBezTo>
                <a:cubicBezTo>
                  <a:pt x="1278254" y="20522"/>
                  <a:pt x="1077188" y="56916"/>
                  <a:pt x="790303" y="27432"/>
                </a:cubicBezTo>
                <a:cubicBezTo>
                  <a:pt x="503418" y="-2052"/>
                  <a:pt x="359168" y="57044"/>
                  <a:pt x="0" y="27432"/>
                </a:cubicBezTo>
                <a:cubicBezTo>
                  <a:pt x="-1048" y="14992"/>
                  <a:pt x="-1120" y="7447"/>
                  <a:pt x="0" y="0"/>
                </a:cubicBezTo>
                <a:close/>
              </a:path>
              <a:path w="4572000" h="27432" stroke="0" extrusionOk="0">
                <a:moveTo>
                  <a:pt x="0" y="0"/>
                </a:moveTo>
                <a:cubicBezTo>
                  <a:pt x="155698" y="6780"/>
                  <a:pt x="465972" y="13197"/>
                  <a:pt x="607423" y="0"/>
                </a:cubicBezTo>
                <a:cubicBezTo>
                  <a:pt x="748874" y="-13197"/>
                  <a:pt x="1014133" y="22994"/>
                  <a:pt x="1123406" y="0"/>
                </a:cubicBezTo>
                <a:cubicBezTo>
                  <a:pt x="1232679" y="-22994"/>
                  <a:pt x="1639431" y="-2997"/>
                  <a:pt x="1867989" y="0"/>
                </a:cubicBezTo>
                <a:cubicBezTo>
                  <a:pt x="2096547" y="2997"/>
                  <a:pt x="2265668" y="29557"/>
                  <a:pt x="2475411" y="0"/>
                </a:cubicBezTo>
                <a:cubicBezTo>
                  <a:pt x="2685154" y="-29557"/>
                  <a:pt x="2951491" y="73"/>
                  <a:pt x="3082834" y="0"/>
                </a:cubicBezTo>
                <a:cubicBezTo>
                  <a:pt x="3214177" y="-73"/>
                  <a:pt x="3641000" y="-33478"/>
                  <a:pt x="3827417" y="0"/>
                </a:cubicBezTo>
                <a:cubicBezTo>
                  <a:pt x="4013834" y="33478"/>
                  <a:pt x="4345917" y="14255"/>
                  <a:pt x="4572000" y="0"/>
                </a:cubicBezTo>
                <a:cubicBezTo>
                  <a:pt x="4572485" y="9333"/>
                  <a:pt x="4573278" y="19699"/>
                  <a:pt x="4572000" y="27432"/>
                </a:cubicBezTo>
                <a:cubicBezTo>
                  <a:pt x="4318030" y="43025"/>
                  <a:pt x="4161104" y="34314"/>
                  <a:pt x="4010297" y="27432"/>
                </a:cubicBezTo>
                <a:cubicBezTo>
                  <a:pt x="3859490" y="20550"/>
                  <a:pt x="3592529" y="6613"/>
                  <a:pt x="3357154" y="27432"/>
                </a:cubicBezTo>
                <a:cubicBezTo>
                  <a:pt x="3121779" y="48251"/>
                  <a:pt x="2884285" y="3780"/>
                  <a:pt x="2704011" y="27432"/>
                </a:cubicBezTo>
                <a:cubicBezTo>
                  <a:pt x="2523737" y="51084"/>
                  <a:pt x="2295944" y="32081"/>
                  <a:pt x="2096589" y="27432"/>
                </a:cubicBezTo>
                <a:cubicBezTo>
                  <a:pt x="1897234" y="22783"/>
                  <a:pt x="1623782" y="52518"/>
                  <a:pt x="1352006" y="27432"/>
                </a:cubicBezTo>
                <a:cubicBezTo>
                  <a:pt x="1080230" y="2346"/>
                  <a:pt x="869959" y="12864"/>
                  <a:pt x="607423" y="27432"/>
                </a:cubicBezTo>
                <a:cubicBezTo>
                  <a:pt x="344887" y="42000"/>
                  <a:pt x="188100" y="40051"/>
                  <a:pt x="0" y="27432"/>
                </a:cubicBezTo>
                <a:cubicBezTo>
                  <a:pt x="211" y="18145"/>
                  <a:pt x="120" y="6480"/>
                  <a:pt x="0" y="0"/>
                </a:cubicBezTo>
                <a:close/>
              </a:path>
            </a:pathLst>
          </a:custGeom>
          <a:solidFill>
            <a:srgbClr val="7EB8FB"/>
          </a:solidFill>
          <a:ln w="38100" cap="rnd">
            <a:solidFill>
              <a:srgbClr val="7EB8FB"/>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Date Placeholder 26">
            <a:extLst>
              <a:ext uri="{FF2B5EF4-FFF2-40B4-BE49-F238E27FC236}">
                <a16:creationId xmlns:a16="http://schemas.microsoft.com/office/drawing/2014/main" id="{F28B82B1-E269-4325-A665-6CFE5DEE5DE5}"/>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81" name="Footer Placeholder 27">
            <a:extLst>
              <a:ext uri="{FF2B5EF4-FFF2-40B4-BE49-F238E27FC236}">
                <a16:creationId xmlns:a16="http://schemas.microsoft.com/office/drawing/2014/main" id="{7C700527-76FD-4DF4-A597-6F5E089CA0C2}"/>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83" name="Slide Number Placeholder 28">
            <a:extLst>
              <a:ext uri="{FF2B5EF4-FFF2-40B4-BE49-F238E27FC236}">
                <a16:creationId xmlns:a16="http://schemas.microsoft.com/office/drawing/2014/main" id="{B5EA49A9-01EB-4D60-A392-7DC9B625D67D}"/>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878493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41" presetClass="path" presetSubtype="0" accel="50000" decel="50000" fill="hold" nodeType="withEffect">
                                  <p:stCondLst>
                                    <p:cond delay="0"/>
                                  </p:stCondLst>
                                  <p:childTnLst>
                                    <p:animMotion origin="layout" path="M -4.58333E-6 -1.11111E-6 C -0.01679 -0.02407 -0.07395 -0.04745 -0.09492 -0.04745 C -0.22226 -0.04745 -0.35377 0.32408 -0.35377 0.69583 C -0.35377 0.50857 -0.41966 0.32408 -0.48112 0.32408 C -0.547 0.32408 -0.60846 0.51134 -0.60846 0.69583 C -0.60846 0.60347 -0.64114 0.50857 -0.67421 0.50857 C -0.70703 0.50857 -0.74023 0.6007 -0.74023 0.69583 C -0.74023 0.64815 -0.75664 0.60347 -0.77278 0.60347 C -0.78945 0.60347 -0.80546 0.65093 -0.80546 0.69583 C -0.80546 0.67153 -0.81341 0.64815 -0.822 0.64815 C -0.8263 0.64815 -0.83867 0.67222 -0.83867 0.69583 C -0.83867 0.68403 -0.84296 0.67153 -0.84661 0.67153 C -0.84661 0.66898 -0.85468 0.68333 -0.85468 0.69583 C -0.85468 0.68958 -0.85468 0.68403 -0.85898 0.68403 C -0.85898 0.68681 -0.86328 0.69028 -0.86328 0.69583 C -0.86328 0.69306 -0.86328 0.68958 -0.86328 0.68681 C -0.86757 0.68681 -0.86757 0.68958 -0.86757 0.69306 C -0.87187 0.69306 -0.87187 0.69028 -0.87187 0.68681 C -0.87591 0.68681 -0.87591 0.68958 -0.87591 0.69306 " pathEditMode="relative" rAng="0" ptsTypes="AAAAAAAAAAAAAAAAAAA">
                                      <p:cBhvr>
                                        <p:cTn id="9" dur="5000" fill="hold"/>
                                        <p:tgtEl>
                                          <p:spTgt spid="1028"/>
                                        </p:tgtEl>
                                        <p:attrNameLst>
                                          <p:attrName>ppt_x</p:attrName>
                                          <p:attrName>ppt_y</p:attrName>
                                        </p:attrNameLst>
                                      </p:cBhvr>
                                      <p:rCtr x="-43802" y="3240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04FFB5-DE23-4D74-BEF9-CC7D947D357C}"/>
              </a:ext>
            </a:extLst>
          </p:cNvPr>
          <p:cNvSpPr>
            <a:spLocks noGrp="1"/>
          </p:cNvSpPr>
          <p:nvPr>
            <p:ph type="title"/>
          </p:nvPr>
        </p:nvSpPr>
        <p:spPr>
          <a:xfrm>
            <a:off x="640080" y="325369"/>
            <a:ext cx="4368602" cy="1956841"/>
          </a:xfrm>
        </p:spPr>
        <p:txBody>
          <a:bodyPr anchor="b">
            <a:normAutofit/>
          </a:bodyPr>
          <a:lstStyle/>
          <a:p>
            <a:r>
              <a:rPr lang="en-US" sz="6600"/>
              <a:t>Today’s Focus</a:t>
            </a:r>
          </a:p>
        </p:txBody>
      </p:sp>
      <p:sp>
        <p:nvSpPr>
          <p:cNvPr id="28"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093" y="2563839"/>
            <a:ext cx="3931920" cy="27432"/>
          </a:xfrm>
          <a:custGeom>
            <a:avLst/>
            <a:gdLst>
              <a:gd name="connsiteX0" fmla="*/ 0 w 3931920"/>
              <a:gd name="connsiteY0" fmla="*/ 0 h 27432"/>
              <a:gd name="connsiteX1" fmla="*/ 733958 w 3931920"/>
              <a:gd name="connsiteY1" fmla="*/ 0 h 27432"/>
              <a:gd name="connsiteX2" fmla="*/ 1428598 w 3931920"/>
              <a:gd name="connsiteY2" fmla="*/ 0 h 27432"/>
              <a:gd name="connsiteX3" fmla="*/ 2123237 w 3931920"/>
              <a:gd name="connsiteY3" fmla="*/ 0 h 27432"/>
              <a:gd name="connsiteX4" fmla="*/ 2660599 w 3931920"/>
              <a:gd name="connsiteY4" fmla="*/ 0 h 27432"/>
              <a:gd name="connsiteX5" fmla="*/ 3237281 w 3931920"/>
              <a:gd name="connsiteY5" fmla="*/ 0 h 27432"/>
              <a:gd name="connsiteX6" fmla="*/ 3931920 w 3931920"/>
              <a:gd name="connsiteY6" fmla="*/ 0 h 27432"/>
              <a:gd name="connsiteX7" fmla="*/ 3931920 w 3931920"/>
              <a:gd name="connsiteY7" fmla="*/ 27432 h 27432"/>
              <a:gd name="connsiteX8" fmla="*/ 3276600 w 3931920"/>
              <a:gd name="connsiteY8" fmla="*/ 27432 h 27432"/>
              <a:gd name="connsiteX9" fmla="*/ 2739238 w 3931920"/>
              <a:gd name="connsiteY9" fmla="*/ 27432 h 27432"/>
              <a:gd name="connsiteX10" fmla="*/ 2201875 w 3931920"/>
              <a:gd name="connsiteY10" fmla="*/ 27432 h 27432"/>
              <a:gd name="connsiteX11" fmla="*/ 1507236 w 3931920"/>
              <a:gd name="connsiteY11" fmla="*/ 27432 h 27432"/>
              <a:gd name="connsiteX12" fmla="*/ 930554 w 3931920"/>
              <a:gd name="connsiteY12" fmla="*/ 27432 h 27432"/>
              <a:gd name="connsiteX13" fmla="*/ 0 w 3931920"/>
              <a:gd name="connsiteY13" fmla="*/ 27432 h 27432"/>
              <a:gd name="connsiteX14" fmla="*/ 0 w 3931920"/>
              <a:gd name="connsiteY14"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31920" h="27432" fill="none" extrusionOk="0">
                <a:moveTo>
                  <a:pt x="0" y="0"/>
                </a:moveTo>
                <a:cubicBezTo>
                  <a:pt x="245351" y="16874"/>
                  <a:pt x="509174" y="13736"/>
                  <a:pt x="733958" y="0"/>
                </a:cubicBezTo>
                <a:cubicBezTo>
                  <a:pt x="958742" y="-13736"/>
                  <a:pt x="1245406" y="-17215"/>
                  <a:pt x="1428598" y="0"/>
                </a:cubicBezTo>
                <a:cubicBezTo>
                  <a:pt x="1611790" y="17215"/>
                  <a:pt x="1930525" y="20562"/>
                  <a:pt x="2123237" y="0"/>
                </a:cubicBezTo>
                <a:cubicBezTo>
                  <a:pt x="2315949" y="-20562"/>
                  <a:pt x="2485508" y="11332"/>
                  <a:pt x="2660599" y="0"/>
                </a:cubicBezTo>
                <a:cubicBezTo>
                  <a:pt x="2835690" y="-11332"/>
                  <a:pt x="3075198" y="-14809"/>
                  <a:pt x="3237281" y="0"/>
                </a:cubicBezTo>
                <a:cubicBezTo>
                  <a:pt x="3399364" y="14809"/>
                  <a:pt x="3745084" y="-4992"/>
                  <a:pt x="3931920" y="0"/>
                </a:cubicBezTo>
                <a:cubicBezTo>
                  <a:pt x="3930963" y="8431"/>
                  <a:pt x="3931571" y="14612"/>
                  <a:pt x="3931920" y="27432"/>
                </a:cubicBezTo>
                <a:cubicBezTo>
                  <a:pt x="3765435" y="40792"/>
                  <a:pt x="3452398" y="38703"/>
                  <a:pt x="3276600" y="27432"/>
                </a:cubicBezTo>
                <a:cubicBezTo>
                  <a:pt x="3100802" y="16161"/>
                  <a:pt x="2914889" y="26998"/>
                  <a:pt x="2739238" y="27432"/>
                </a:cubicBezTo>
                <a:cubicBezTo>
                  <a:pt x="2563587" y="27866"/>
                  <a:pt x="2395484" y="39154"/>
                  <a:pt x="2201875" y="27432"/>
                </a:cubicBezTo>
                <a:cubicBezTo>
                  <a:pt x="2008266" y="15710"/>
                  <a:pt x="1781367" y="4899"/>
                  <a:pt x="1507236" y="27432"/>
                </a:cubicBezTo>
                <a:cubicBezTo>
                  <a:pt x="1233105" y="49965"/>
                  <a:pt x="1075495" y="47542"/>
                  <a:pt x="930554" y="27432"/>
                </a:cubicBezTo>
                <a:cubicBezTo>
                  <a:pt x="785613" y="7322"/>
                  <a:pt x="268930" y="30433"/>
                  <a:pt x="0" y="27432"/>
                </a:cubicBezTo>
                <a:cubicBezTo>
                  <a:pt x="226" y="18208"/>
                  <a:pt x="-648" y="12891"/>
                  <a:pt x="0" y="0"/>
                </a:cubicBezTo>
                <a:close/>
              </a:path>
              <a:path w="3931920" h="27432" stroke="0" extrusionOk="0">
                <a:moveTo>
                  <a:pt x="0" y="0"/>
                </a:moveTo>
                <a:cubicBezTo>
                  <a:pt x="278269" y="4786"/>
                  <a:pt x="349028" y="-10422"/>
                  <a:pt x="616001" y="0"/>
                </a:cubicBezTo>
                <a:cubicBezTo>
                  <a:pt x="882974" y="10422"/>
                  <a:pt x="931617" y="-15515"/>
                  <a:pt x="1153363" y="0"/>
                </a:cubicBezTo>
                <a:cubicBezTo>
                  <a:pt x="1375109" y="15515"/>
                  <a:pt x="1704089" y="-3631"/>
                  <a:pt x="1887322" y="0"/>
                </a:cubicBezTo>
                <a:cubicBezTo>
                  <a:pt x="2070555" y="3631"/>
                  <a:pt x="2344155" y="2213"/>
                  <a:pt x="2503322" y="0"/>
                </a:cubicBezTo>
                <a:cubicBezTo>
                  <a:pt x="2662489" y="-2213"/>
                  <a:pt x="2976859" y="26691"/>
                  <a:pt x="3119323" y="0"/>
                </a:cubicBezTo>
                <a:cubicBezTo>
                  <a:pt x="3261787" y="-26691"/>
                  <a:pt x="3588171" y="-28651"/>
                  <a:pt x="3931920" y="0"/>
                </a:cubicBezTo>
                <a:cubicBezTo>
                  <a:pt x="3930565" y="9524"/>
                  <a:pt x="3930718" y="13975"/>
                  <a:pt x="3931920" y="27432"/>
                </a:cubicBezTo>
                <a:cubicBezTo>
                  <a:pt x="3664329" y="4021"/>
                  <a:pt x="3437686" y="14511"/>
                  <a:pt x="3276600" y="27432"/>
                </a:cubicBezTo>
                <a:cubicBezTo>
                  <a:pt x="3115514" y="40353"/>
                  <a:pt x="2913592" y="48967"/>
                  <a:pt x="2739238" y="27432"/>
                </a:cubicBezTo>
                <a:cubicBezTo>
                  <a:pt x="2564884" y="5897"/>
                  <a:pt x="2294049" y="39820"/>
                  <a:pt x="2083918" y="27432"/>
                </a:cubicBezTo>
                <a:cubicBezTo>
                  <a:pt x="1873787" y="15044"/>
                  <a:pt x="1718903" y="21388"/>
                  <a:pt x="1428598" y="27432"/>
                </a:cubicBezTo>
                <a:cubicBezTo>
                  <a:pt x="1138293" y="33476"/>
                  <a:pt x="952209" y="50441"/>
                  <a:pt x="812597" y="27432"/>
                </a:cubicBezTo>
                <a:cubicBezTo>
                  <a:pt x="672985" y="4423"/>
                  <a:pt x="305800" y="28240"/>
                  <a:pt x="0" y="27432"/>
                </a:cubicBezTo>
                <a:cubicBezTo>
                  <a:pt x="-800" y="16780"/>
                  <a:pt x="-583" y="12910"/>
                  <a:pt x="0" y="0"/>
                </a:cubicBezTo>
                <a:close/>
              </a:path>
            </a:pathLst>
          </a:custGeom>
          <a:solidFill>
            <a:srgbClr val="E5B399"/>
          </a:solidFill>
          <a:ln w="38100" cap="rnd">
            <a:solidFill>
              <a:srgbClr val="E5B399"/>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A63D7FC-176D-B898-C622-E503B972CD01}"/>
              </a:ext>
            </a:extLst>
          </p:cNvPr>
          <p:cNvSpPr>
            <a:spLocks noGrp="1"/>
          </p:cNvSpPr>
          <p:nvPr>
            <p:ph idx="1"/>
          </p:nvPr>
        </p:nvSpPr>
        <p:spPr>
          <a:xfrm>
            <a:off x="640080" y="2872899"/>
            <a:ext cx="4243589" cy="3320668"/>
          </a:xfrm>
        </p:spPr>
        <p:txBody>
          <a:bodyPr>
            <a:normAutofit/>
          </a:bodyPr>
          <a:lstStyle/>
          <a:p>
            <a:r>
              <a:rPr lang="en-US" dirty="0"/>
              <a:t>Task 3: Presentations - DUE TODAY</a:t>
            </a:r>
          </a:p>
          <a:p>
            <a:endParaRPr lang="en-US" dirty="0"/>
          </a:p>
          <a:p>
            <a:r>
              <a:rPr lang="en-US" dirty="0"/>
              <a:t>+ complete table as listening.</a:t>
            </a:r>
          </a:p>
        </p:txBody>
      </p:sp>
      <p:pic>
        <p:nvPicPr>
          <p:cNvPr id="5" name="Picture 4" descr="Writing an appointment on a paper agenda">
            <a:extLst>
              <a:ext uri="{FF2B5EF4-FFF2-40B4-BE49-F238E27FC236}">
                <a16:creationId xmlns:a16="http://schemas.microsoft.com/office/drawing/2014/main" id="{EDE161DE-AC56-B92C-DAD0-35C65DB94381}"/>
              </a:ext>
            </a:extLst>
          </p:cNvPr>
          <p:cNvPicPr>
            <a:picLocks noChangeAspect="1"/>
          </p:cNvPicPr>
          <p:nvPr/>
        </p:nvPicPr>
        <p:blipFill rotWithShape="1">
          <a:blip r:embed="rId2"/>
          <a:srcRect r="33047"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30852718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E6A207B-97BE-4DE3-B7BA-6EB713664F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E3D224-3E5B-305E-E44A-33D1F29539F1}"/>
              </a:ext>
            </a:extLst>
          </p:cNvPr>
          <p:cNvSpPr>
            <a:spLocks noGrp="1"/>
          </p:cNvSpPr>
          <p:nvPr>
            <p:ph type="title"/>
          </p:nvPr>
        </p:nvSpPr>
        <p:spPr>
          <a:xfrm>
            <a:off x="8129016" y="640080"/>
            <a:ext cx="3432048" cy="1714065"/>
          </a:xfrm>
        </p:spPr>
        <p:txBody>
          <a:bodyPr anchor="b">
            <a:normAutofit fontScale="90000"/>
          </a:bodyPr>
          <a:lstStyle/>
          <a:p>
            <a:r>
              <a:rPr lang="en-US" dirty="0"/>
              <a:t>STI Presentations:</a:t>
            </a:r>
            <a:br>
              <a:rPr lang="en-US" dirty="0"/>
            </a:br>
            <a:r>
              <a:rPr lang="en-US" sz="5400" dirty="0"/>
              <a:t>(pg. </a:t>
            </a:r>
            <a:r>
              <a:rPr lang="en-US" dirty="0"/>
              <a:t>26-27</a:t>
            </a:r>
            <a:r>
              <a:rPr lang="en-US" sz="5400" dirty="0"/>
              <a:t>)</a:t>
            </a:r>
            <a:endParaRPr lang="en-US" dirty="0"/>
          </a:p>
        </p:txBody>
      </p:sp>
      <p:sp>
        <p:nvSpPr>
          <p:cNvPr id="19"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9016" y="2529151"/>
            <a:ext cx="3376602" cy="18288"/>
          </a:xfrm>
          <a:custGeom>
            <a:avLst/>
            <a:gdLst>
              <a:gd name="connsiteX0" fmla="*/ 0 w 3376602"/>
              <a:gd name="connsiteY0" fmla="*/ 0 h 18288"/>
              <a:gd name="connsiteX1" fmla="*/ 641554 w 3376602"/>
              <a:gd name="connsiteY1" fmla="*/ 0 h 18288"/>
              <a:gd name="connsiteX2" fmla="*/ 1316875 w 3376602"/>
              <a:gd name="connsiteY2" fmla="*/ 0 h 18288"/>
              <a:gd name="connsiteX3" fmla="*/ 2025961 w 3376602"/>
              <a:gd name="connsiteY3" fmla="*/ 0 h 18288"/>
              <a:gd name="connsiteX4" fmla="*/ 2735048 w 3376602"/>
              <a:gd name="connsiteY4" fmla="*/ 0 h 18288"/>
              <a:gd name="connsiteX5" fmla="*/ 3376602 w 3376602"/>
              <a:gd name="connsiteY5" fmla="*/ 0 h 18288"/>
              <a:gd name="connsiteX6" fmla="*/ 3376602 w 3376602"/>
              <a:gd name="connsiteY6" fmla="*/ 18288 h 18288"/>
              <a:gd name="connsiteX7" fmla="*/ 2633750 w 3376602"/>
              <a:gd name="connsiteY7" fmla="*/ 18288 h 18288"/>
              <a:gd name="connsiteX8" fmla="*/ 1890897 w 3376602"/>
              <a:gd name="connsiteY8" fmla="*/ 18288 h 18288"/>
              <a:gd name="connsiteX9" fmla="*/ 1215577 w 3376602"/>
              <a:gd name="connsiteY9" fmla="*/ 18288 h 18288"/>
              <a:gd name="connsiteX10" fmla="*/ 0 w 3376602"/>
              <a:gd name="connsiteY10" fmla="*/ 18288 h 18288"/>
              <a:gd name="connsiteX11" fmla="*/ 0 w 3376602"/>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76602" h="18288" fill="none" extrusionOk="0">
                <a:moveTo>
                  <a:pt x="0" y="0"/>
                </a:moveTo>
                <a:cubicBezTo>
                  <a:pt x="154337" y="-26787"/>
                  <a:pt x="393692" y="25344"/>
                  <a:pt x="641554" y="0"/>
                </a:cubicBezTo>
                <a:cubicBezTo>
                  <a:pt x="889416" y="-25344"/>
                  <a:pt x="1078313" y="12271"/>
                  <a:pt x="1316875" y="0"/>
                </a:cubicBezTo>
                <a:cubicBezTo>
                  <a:pt x="1555437" y="-12271"/>
                  <a:pt x="1698513" y="30110"/>
                  <a:pt x="2025961" y="0"/>
                </a:cubicBezTo>
                <a:cubicBezTo>
                  <a:pt x="2353409" y="-30110"/>
                  <a:pt x="2474986" y="1722"/>
                  <a:pt x="2735048" y="0"/>
                </a:cubicBezTo>
                <a:cubicBezTo>
                  <a:pt x="2995110" y="-1722"/>
                  <a:pt x="3097437" y="28961"/>
                  <a:pt x="3376602" y="0"/>
                </a:cubicBezTo>
                <a:cubicBezTo>
                  <a:pt x="3375893" y="8157"/>
                  <a:pt x="3376189" y="12125"/>
                  <a:pt x="3376602" y="18288"/>
                </a:cubicBezTo>
                <a:cubicBezTo>
                  <a:pt x="3037458" y="40377"/>
                  <a:pt x="2857195" y="34928"/>
                  <a:pt x="2633750" y="18288"/>
                </a:cubicBezTo>
                <a:cubicBezTo>
                  <a:pt x="2410305" y="1648"/>
                  <a:pt x="2066994" y="17360"/>
                  <a:pt x="1890897" y="18288"/>
                </a:cubicBezTo>
                <a:cubicBezTo>
                  <a:pt x="1714800" y="19216"/>
                  <a:pt x="1521080" y="47858"/>
                  <a:pt x="1215577" y="18288"/>
                </a:cubicBezTo>
                <a:cubicBezTo>
                  <a:pt x="910074" y="-11282"/>
                  <a:pt x="278912" y="61767"/>
                  <a:pt x="0" y="18288"/>
                </a:cubicBezTo>
                <a:cubicBezTo>
                  <a:pt x="-46" y="12483"/>
                  <a:pt x="-203" y="6491"/>
                  <a:pt x="0" y="0"/>
                </a:cubicBezTo>
                <a:close/>
              </a:path>
              <a:path w="3376602" h="18288" stroke="0" extrusionOk="0">
                <a:moveTo>
                  <a:pt x="0" y="0"/>
                </a:moveTo>
                <a:cubicBezTo>
                  <a:pt x="304565" y="-9016"/>
                  <a:pt x="402571" y="29762"/>
                  <a:pt x="641554" y="0"/>
                </a:cubicBezTo>
                <a:cubicBezTo>
                  <a:pt x="880537" y="-29762"/>
                  <a:pt x="963871" y="-12492"/>
                  <a:pt x="1215577" y="0"/>
                </a:cubicBezTo>
                <a:cubicBezTo>
                  <a:pt x="1467283" y="12492"/>
                  <a:pt x="1723274" y="15353"/>
                  <a:pt x="1958429" y="0"/>
                </a:cubicBezTo>
                <a:cubicBezTo>
                  <a:pt x="2193584" y="-15353"/>
                  <a:pt x="2347125" y="7922"/>
                  <a:pt x="2599984" y="0"/>
                </a:cubicBezTo>
                <a:cubicBezTo>
                  <a:pt x="2852843" y="-7922"/>
                  <a:pt x="3186422" y="-30763"/>
                  <a:pt x="3376602" y="0"/>
                </a:cubicBezTo>
                <a:cubicBezTo>
                  <a:pt x="3376338" y="4493"/>
                  <a:pt x="3376986" y="9472"/>
                  <a:pt x="3376602" y="18288"/>
                </a:cubicBezTo>
                <a:cubicBezTo>
                  <a:pt x="3080522" y="-5475"/>
                  <a:pt x="3038559" y="47323"/>
                  <a:pt x="2701282" y="18288"/>
                </a:cubicBezTo>
                <a:cubicBezTo>
                  <a:pt x="2364005" y="-10747"/>
                  <a:pt x="2245031" y="49099"/>
                  <a:pt x="1958429" y="18288"/>
                </a:cubicBezTo>
                <a:cubicBezTo>
                  <a:pt x="1671827" y="-12523"/>
                  <a:pt x="1619741" y="31109"/>
                  <a:pt x="1384407" y="18288"/>
                </a:cubicBezTo>
                <a:cubicBezTo>
                  <a:pt x="1149073" y="5467"/>
                  <a:pt x="947712" y="-11758"/>
                  <a:pt x="709086" y="18288"/>
                </a:cubicBezTo>
                <a:cubicBezTo>
                  <a:pt x="470460" y="48334"/>
                  <a:pt x="186882" y="50183"/>
                  <a:pt x="0" y="18288"/>
                </a:cubicBezTo>
                <a:cubicBezTo>
                  <a:pt x="843" y="9577"/>
                  <a:pt x="371" y="6900"/>
                  <a:pt x="0" y="0"/>
                </a:cubicBezTo>
                <a:close/>
              </a:path>
            </a:pathLst>
          </a:custGeom>
          <a:solidFill>
            <a:srgbClr val="FF7A59"/>
          </a:solidFill>
          <a:ln w="38100" cap="rnd">
            <a:solidFill>
              <a:srgbClr val="FF7A59"/>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8">
            <a:extLst>
              <a:ext uri="{FF2B5EF4-FFF2-40B4-BE49-F238E27FC236}">
                <a16:creationId xmlns:a16="http://schemas.microsoft.com/office/drawing/2014/main" id="{A8EE0B30-C013-CF27-6FE1-97EE09030F6D}"/>
              </a:ext>
            </a:extLst>
          </p:cNvPr>
          <p:cNvSpPr>
            <a:spLocks noGrp="1"/>
          </p:cNvSpPr>
          <p:nvPr>
            <p:ph idx="1"/>
          </p:nvPr>
        </p:nvSpPr>
        <p:spPr>
          <a:xfrm>
            <a:off x="8129016" y="2803470"/>
            <a:ext cx="3432048" cy="3414450"/>
          </a:xfrm>
        </p:spPr>
        <p:txBody>
          <a:bodyPr anchor="t">
            <a:normAutofit/>
          </a:bodyPr>
          <a:lstStyle/>
          <a:p>
            <a:r>
              <a:rPr lang="en-US" sz="2400" dirty="0"/>
              <a:t>Complete the table in your books while listening to other groups present their work. </a:t>
            </a:r>
          </a:p>
          <a:p>
            <a:endParaRPr lang="en-US" sz="2400" dirty="0"/>
          </a:p>
          <a:p>
            <a:r>
              <a:rPr lang="en-US" sz="2400" dirty="0"/>
              <a:t>By the end of the presentations, you will have collected information different types of STI’s.</a:t>
            </a:r>
          </a:p>
        </p:txBody>
      </p:sp>
      <mc:AlternateContent xmlns:mc="http://schemas.openxmlformats.org/markup-compatibility/2006" xmlns:p14="http://schemas.microsoft.com/office/powerpoint/2010/main">
        <mc:Choice Requires="p14">
          <p:contentPart p14:bwMode="auto" r:id="rId3">
            <p14:nvContentPartPr>
              <p14:cNvPr id="21" name="Ink 20">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6436237" y="1971579"/>
              <a:ext cx="360" cy="2160"/>
            </p14:xfrm>
          </p:contentPart>
        </mc:Choice>
        <mc:Fallback xmlns="">
          <p:pic>
            <p:nvPicPr>
              <p:cNvPr id="21" name="Ink 20">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6418237" y="1956150"/>
                <a:ext cx="36000" cy="32709"/>
              </a:xfrm>
              <a:prstGeom prst="rect">
                <a:avLst/>
              </a:prstGeom>
            </p:spPr>
          </p:pic>
        </mc:Fallback>
      </mc:AlternateContent>
      <p:pic>
        <p:nvPicPr>
          <p:cNvPr id="5" name="Content Placeholder 4" descr="A white rectangular grid with writing on it&#10;&#10;Description automatically generated">
            <a:extLst>
              <a:ext uri="{FF2B5EF4-FFF2-40B4-BE49-F238E27FC236}">
                <a16:creationId xmlns:a16="http://schemas.microsoft.com/office/drawing/2014/main" id="{0D2F9F18-8523-EB70-1A14-C9E648EEA257}"/>
              </a:ext>
            </a:extLst>
          </p:cNvPr>
          <p:cNvPicPr>
            <a:picLocks noChangeAspect="1"/>
          </p:cNvPicPr>
          <p:nvPr/>
        </p:nvPicPr>
        <p:blipFill>
          <a:blip r:embed="rId5"/>
          <a:stretch>
            <a:fillRect/>
          </a:stretch>
        </p:blipFill>
        <p:spPr>
          <a:xfrm>
            <a:off x="262509" y="1304932"/>
            <a:ext cx="7600951" cy="4731590"/>
          </a:xfrm>
          <a:prstGeom prst="rect">
            <a:avLst/>
          </a:prstGeom>
        </p:spPr>
      </p:pic>
    </p:spTree>
    <p:extLst>
      <p:ext uri="{BB962C8B-B14F-4D97-AF65-F5344CB8AC3E}">
        <p14:creationId xmlns:p14="http://schemas.microsoft.com/office/powerpoint/2010/main" val="91253676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93245F62-CCC4-49E4-B95B-EA6C1E790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rainbow colored splatter&#10;&#10;Description automatically generated">
            <a:extLst>
              <a:ext uri="{FF2B5EF4-FFF2-40B4-BE49-F238E27FC236}">
                <a16:creationId xmlns:a16="http://schemas.microsoft.com/office/drawing/2014/main" id="{EEA83DFB-1DE6-B5DE-A972-635BA2248013}"/>
              </a:ext>
            </a:extLst>
          </p:cNvPr>
          <p:cNvPicPr>
            <a:picLocks noChangeAspect="1"/>
          </p:cNvPicPr>
          <p:nvPr/>
        </p:nvPicPr>
        <p:blipFill rotWithShape="1">
          <a:blip r:embed="rId2"/>
          <a:srcRect t="1747"/>
          <a:stretch/>
        </p:blipFill>
        <p:spPr>
          <a:xfrm>
            <a:off x="1298963" y="266542"/>
            <a:ext cx="9589477" cy="5394065"/>
          </a:xfrm>
          <a:prstGeom prst="rect">
            <a:avLst/>
          </a:prstGeom>
        </p:spPr>
      </p:pic>
      <p:pic>
        <p:nvPicPr>
          <p:cNvPr id="1028" name="Picture 4" descr="Sexually Transmitted Infections and HIV">
            <a:extLst>
              <a:ext uri="{FF2B5EF4-FFF2-40B4-BE49-F238E27FC236}">
                <a16:creationId xmlns:a16="http://schemas.microsoft.com/office/drawing/2014/main" id="{BDCE080E-9344-5EDA-E414-5ED90ABD48C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l="25312" t="22731" r="26524" b="12904"/>
          <a:stretch/>
        </p:blipFill>
        <p:spPr bwMode="auto">
          <a:xfrm>
            <a:off x="9472614" y="266542"/>
            <a:ext cx="2614612" cy="192992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657FBC4-0AFB-ADB7-F057-3A685854992A}"/>
              </a:ext>
            </a:extLst>
          </p:cNvPr>
          <p:cNvSpPr>
            <a:spLocks noGrp="1"/>
          </p:cNvSpPr>
          <p:nvPr>
            <p:ph type="ctrTitle"/>
          </p:nvPr>
        </p:nvSpPr>
        <p:spPr>
          <a:xfrm>
            <a:off x="638882" y="3577456"/>
            <a:ext cx="10909640" cy="1687814"/>
          </a:xfrm>
        </p:spPr>
        <p:txBody>
          <a:bodyPr anchor="b">
            <a:normAutofit/>
          </a:bodyPr>
          <a:lstStyle/>
          <a:p>
            <a:pPr algn="ctr"/>
            <a:r>
              <a:rPr lang="en-US" sz="10000" dirty="0"/>
              <a:t>CONTRACEPTION &amp; STI’s</a:t>
            </a:r>
          </a:p>
        </p:txBody>
      </p:sp>
      <p:sp>
        <p:nvSpPr>
          <p:cNvPr id="3" name="Subtitle 2">
            <a:extLst>
              <a:ext uri="{FF2B5EF4-FFF2-40B4-BE49-F238E27FC236}">
                <a16:creationId xmlns:a16="http://schemas.microsoft.com/office/drawing/2014/main" id="{E0D7FC79-1308-3C8D-6F49-05BF0614DDCD}"/>
              </a:ext>
            </a:extLst>
          </p:cNvPr>
          <p:cNvSpPr>
            <a:spLocks noGrp="1"/>
          </p:cNvSpPr>
          <p:nvPr>
            <p:ph type="subTitle" idx="1"/>
          </p:nvPr>
        </p:nvSpPr>
        <p:spPr>
          <a:xfrm>
            <a:off x="638881" y="5660607"/>
            <a:ext cx="10909643" cy="1060868"/>
          </a:xfrm>
        </p:spPr>
        <p:txBody>
          <a:bodyPr anchor="t">
            <a:normAutofit/>
          </a:bodyPr>
          <a:lstStyle/>
          <a:p>
            <a:pPr algn="ctr"/>
            <a:r>
              <a:rPr lang="en-US" sz="3200" b="1" dirty="0"/>
              <a:t>Year 10 Health 			Lesson 10			Term 2, 2024</a:t>
            </a:r>
          </a:p>
        </p:txBody>
      </p:sp>
      <p:sp>
        <p:nvSpPr>
          <p:cNvPr id="77" name="Rectangle 6">
            <a:extLst>
              <a:ext uri="{FF2B5EF4-FFF2-40B4-BE49-F238E27FC236}">
                <a16:creationId xmlns:a16="http://schemas.microsoft.com/office/drawing/2014/main" id="{E6C0DD6B-6AA3-448F-9B99-8386295BC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27432"/>
          </a:xfrm>
          <a:custGeom>
            <a:avLst/>
            <a:gdLst>
              <a:gd name="connsiteX0" fmla="*/ 0 w 4572000"/>
              <a:gd name="connsiteY0" fmla="*/ 0 h 27432"/>
              <a:gd name="connsiteX1" fmla="*/ 607423 w 4572000"/>
              <a:gd name="connsiteY1" fmla="*/ 0 h 27432"/>
              <a:gd name="connsiteX2" fmla="*/ 1123406 w 4572000"/>
              <a:gd name="connsiteY2" fmla="*/ 0 h 27432"/>
              <a:gd name="connsiteX3" fmla="*/ 1685109 w 4572000"/>
              <a:gd name="connsiteY3" fmla="*/ 0 h 27432"/>
              <a:gd name="connsiteX4" fmla="*/ 2383971 w 4572000"/>
              <a:gd name="connsiteY4" fmla="*/ 0 h 27432"/>
              <a:gd name="connsiteX5" fmla="*/ 2991394 w 4572000"/>
              <a:gd name="connsiteY5" fmla="*/ 0 h 27432"/>
              <a:gd name="connsiteX6" fmla="*/ 3553097 w 4572000"/>
              <a:gd name="connsiteY6" fmla="*/ 0 h 27432"/>
              <a:gd name="connsiteX7" fmla="*/ 4572000 w 4572000"/>
              <a:gd name="connsiteY7" fmla="*/ 0 h 27432"/>
              <a:gd name="connsiteX8" fmla="*/ 4572000 w 4572000"/>
              <a:gd name="connsiteY8" fmla="*/ 27432 h 27432"/>
              <a:gd name="connsiteX9" fmla="*/ 3918857 w 4572000"/>
              <a:gd name="connsiteY9" fmla="*/ 27432 h 27432"/>
              <a:gd name="connsiteX10" fmla="*/ 3357154 w 4572000"/>
              <a:gd name="connsiteY10" fmla="*/ 27432 h 27432"/>
              <a:gd name="connsiteX11" fmla="*/ 2612571 w 4572000"/>
              <a:gd name="connsiteY11" fmla="*/ 27432 h 27432"/>
              <a:gd name="connsiteX12" fmla="*/ 2005149 w 4572000"/>
              <a:gd name="connsiteY12" fmla="*/ 27432 h 27432"/>
              <a:gd name="connsiteX13" fmla="*/ 1489166 w 4572000"/>
              <a:gd name="connsiteY13" fmla="*/ 27432 h 27432"/>
              <a:gd name="connsiteX14" fmla="*/ 790303 w 4572000"/>
              <a:gd name="connsiteY14" fmla="*/ 27432 h 27432"/>
              <a:gd name="connsiteX15" fmla="*/ 0 w 4572000"/>
              <a:gd name="connsiteY15" fmla="*/ 27432 h 27432"/>
              <a:gd name="connsiteX16" fmla="*/ 0 w 457200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27432" fill="none" extrusionOk="0">
                <a:moveTo>
                  <a:pt x="0" y="0"/>
                </a:moveTo>
                <a:cubicBezTo>
                  <a:pt x="150397" y="-23421"/>
                  <a:pt x="474161" y="9174"/>
                  <a:pt x="607423" y="0"/>
                </a:cubicBezTo>
                <a:cubicBezTo>
                  <a:pt x="740685" y="-9174"/>
                  <a:pt x="868821" y="-4258"/>
                  <a:pt x="1123406" y="0"/>
                </a:cubicBezTo>
                <a:cubicBezTo>
                  <a:pt x="1377991" y="4258"/>
                  <a:pt x="1567664" y="-12410"/>
                  <a:pt x="1685109" y="0"/>
                </a:cubicBezTo>
                <a:cubicBezTo>
                  <a:pt x="1802554" y="12410"/>
                  <a:pt x="2193086" y="-14353"/>
                  <a:pt x="2383971" y="0"/>
                </a:cubicBezTo>
                <a:cubicBezTo>
                  <a:pt x="2574856" y="14353"/>
                  <a:pt x="2697477" y="-26142"/>
                  <a:pt x="2991394" y="0"/>
                </a:cubicBezTo>
                <a:cubicBezTo>
                  <a:pt x="3285311" y="26142"/>
                  <a:pt x="3423667" y="26544"/>
                  <a:pt x="3553097" y="0"/>
                </a:cubicBezTo>
                <a:cubicBezTo>
                  <a:pt x="3682527" y="-26544"/>
                  <a:pt x="4344147" y="50350"/>
                  <a:pt x="4572000" y="0"/>
                </a:cubicBezTo>
                <a:cubicBezTo>
                  <a:pt x="4571027" y="8304"/>
                  <a:pt x="4571522" y="21512"/>
                  <a:pt x="4572000" y="27432"/>
                </a:cubicBezTo>
                <a:cubicBezTo>
                  <a:pt x="4438349" y="5490"/>
                  <a:pt x="4090129" y="31231"/>
                  <a:pt x="3918857" y="27432"/>
                </a:cubicBezTo>
                <a:cubicBezTo>
                  <a:pt x="3747585" y="23633"/>
                  <a:pt x="3498826" y="6883"/>
                  <a:pt x="3357154" y="27432"/>
                </a:cubicBezTo>
                <a:cubicBezTo>
                  <a:pt x="3215482" y="47981"/>
                  <a:pt x="2784289" y="56849"/>
                  <a:pt x="2612571" y="27432"/>
                </a:cubicBezTo>
                <a:cubicBezTo>
                  <a:pt x="2440853" y="-1985"/>
                  <a:pt x="2261292" y="25951"/>
                  <a:pt x="2005149" y="27432"/>
                </a:cubicBezTo>
                <a:cubicBezTo>
                  <a:pt x="1749006" y="28913"/>
                  <a:pt x="1700078" y="34342"/>
                  <a:pt x="1489166" y="27432"/>
                </a:cubicBezTo>
                <a:cubicBezTo>
                  <a:pt x="1278254" y="20522"/>
                  <a:pt x="1077188" y="56916"/>
                  <a:pt x="790303" y="27432"/>
                </a:cubicBezTo>
                <a:cubicBezTo>
                  <a:pt x="503418" y="-2052"/>
                  <a:pt x="359168" y="57044"/>
                  <a:pt x="0" y="27432"/>
                </a:cubicBezTo>
                <a:cubicBezTo>
                  <a:pt x="-1048" y="14992"/>
                  <a:pt x="-1120" y="7447"/>
                  <a:pt x="0" y="0"/>
                </a:cubicBezTo>
                <a:close/>
              </a:path>
              <a:path w="4572000" h="27432" stroke="0" extrusionOk="0">
                <a:moveTo>
                  <a:pt x="0" y="0"/>
                </a:moveTo>
                <a:cubicBezTo>
                  <a:pt x="155698" y="6780"/>
                  <a:pt x="465972" y="13197"/>
                  <a:pt x="607423" y="0"/>
                </a:cubicBezTo>
                <a:cubicBezTo>
                  <a:pt x="748874" y="-13197"/>
                  <a:pt x="1014133" y="22994"/>
                  <a:pt x="1123406" y="0"/>
                </a:cubicBezTo>
                <a:cubicBezTo>
                  <a:pt x="1232679" y="-22994"/>
                  <a:pt x="1639431" y="-2997"/>
                  <a:pt x="1867989" y="0"/>
                </a:cubicBezTo>
                <a:cubicBezTo>
                  <a:pt x="2096547" y="2997"/>
                  <a:pt x="2265668" y="29557"/>
                  <a:pt x="2475411" y="0"/>
                </a:cubicBezTo>
                <a:cubicBezTo>
                  <a:pt x="2685154" y="-29557"/>
                  <a:pt x="2951491" y="73"/>
                  <a:pt x="3082834" y="0"/>
                </a:cubicBezTo>
                <a:cubicBezTo>
                  <a:pt x="3214177" y="-73"/>
                  <a:pt x="3641000" y="-33478"/>
                  <a:pt x="3827417" y="0"/>
                </a:cubicBezTo>
                <a:cubicBezTo>
                  <a:pt x="4013834" y="33478"/>
                  <a:pt x="4345917" y="14255"/>
                  <a:pt x="4572000" y="0"/>
                </a:cubicBezTo>
                <a:cubicBezTo>
                  <a:pt x="4572485" y="9333"/>
                  <a:pt x="4573278" y="19699"/>
                  <a:pt x="4572000" y="27432"/>
                </a:cubicBezTo>
                <a:cubicBezTo>
                  <a:pt x="4318030" y="43025"/>
                  <a:pt x="4161104" y="34314"/>
                  <a:pt x="4010297" y="27432"/>
                </a:cubicBezTo>
                <a:cubicBezTo>
                  <a:pt x="3859490" y="20550"/>
                  <a:pt x="3592529" y="6613"/>
                  <a:pt x="3357154" y="27432"/>
                </a:cubicBezTo>
                <a:cubicBezTo>
                  <a:pt x="3121779" y="48251"/>
                  <a:pt x="2884285" y="3780"/>
                  <a:pt x="2704011" y="27432"/>
                </a:cubicBezTo>
                <a:cubicBezTo>
                  <a:pt x="2523737" y="51084"/>
                  <a:pt x="2295944" y="32081"/>
                  <a:pt x="2096589" y="27432"/>
                </a:cubicBezTo>
                <a:cubicBezTo>
                  <a:pt x="1897234" y="22783"/>
                  <a:pt x="1623782" y="52518"/>
                  <a:pt x="1352006" y="27432"/>
                </a:cubicBezTo>
                <a:cubicBezTo>
                  <a:pt x="1080230" y="2346"/>
                  <a:pt x="869959" y="12864"/>
                  <a:pt x="607423" y="27432"/>
                </a:cubicBezTo>
                <a:cubicBezTo>
                  <a:pt x="344887" y="42000"/>
                  <a:pt x="188100" y="40051"/>
                  <a:pt x="0" y="27432"/>
                </a:cubicBezTo>
                <a:cubicBezTo>
                  <a:pt x="211" y="18145"/>
                  <a:pt x="120" y="6480"/>
                  <a:pt x="0" y="0"/>
                </a:cubicBezTo>
                <a:close/>
              </a:path>
            </a:pathLst>
          </a:custGeom>
          <a:solidFill>
            <a:srgbClr val="7EB8FB"/>
          </a:solidFill>
          <a:ln w="38100" cap="rnd">
            <a:solidFill>
              <a:srgbClr val="7EB8FB"/>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Date Placeholder 26">
            <a:extLst>
              <a:ext uri="{FF2B5EF4-FFF2-40B4-BE49-F238E27FC236}">
                <a16:creationId xmlns:a16="http://schemas.microsoft.com/office/drawing/2014/main" id="{F28B82B1-E269-4325-A665-6CFE5DEE5DE5}"/>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81" name="Footer Placeholder 27">
            <a:extLst>
              <a:ext uri="{FF2B5EF4-FFF2-40B4-BE49-F238E27FC236}">
                <a16:creationId xmlns:a16="http://schemas.microsoft.com/office/drawing/2014/main" id="{7C700527-76FD-4DF4-A597-6F5E089CA0C2}"/>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83" name="Slide Number Placeholder 28">
            <a:extLst>
              <a:ext uri="{FF2B5EF4-FFF2-40B4-BE49-F238E27FC236}">
                <a16:creationId xmlns:a16="http://schemas.microsoft.com/office/drawing/2014/main" id="{B5EA49A9-01EB-4D60-A392-7DC9B625D67D}"/>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1062480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41" presetClass="path" presetSubtype="0" accel="50000" decel="50000" fill="hold" nodeType="withEffect">
                                  <p:stCondLst>
                                    <p:cond delay="0"/>
                                  </p:stCondLst>
                                  <p:childTnLst>
                                    <p:animMotion origin="layout" path="M -4.58333E-6 -1.11111E-6 C -0.01679 -0.02407 -0.07395 -0.04745 -0.09492 -0.04745 C -0.22226 -0.04745 -0.35377 0.32408 -0.35377 0.69583 C -0.35377 0.50857 -0.41966 0.32408 -0.48112 0.32408 C -0.547 0.32408 -0.60846 0.51134 -0.60846 0.69583 C -0.60846 0.60347 -0.64114 0.50857 -0.67421 0.50857 C -0.70703 0.50857 -0.74023 0.6007 -0.74023 0.69583 C -0.74023 0.64815 -0.75664 0.60347 -0.77278 0.60347 C -0.78945 0.60347 -0.80546 0.65093 -0.80546 0.69583 C -0.80546 0.67153 -0.81341 0.64815 -0.822 0.64815 C -0.8263 0.64815 -0.83867 0.67222 -0.83867 0.69583 C -0.83867 0.68403 -0.84296 0.67153 -0.84661 0.67153 C -0.84661 0.66898 -0.85468 0.68333 -0.85468 0.69583 C -0.85468 0.68958 -0.85468 0.68403 -0.85898 0.68403 C -0.85898 0.68681 -0.86328 0.69028 -0.86328 0.69583 C -0.86328 0.69306 -0.86328 0.68958 -0.86328 0.68681 C -0.86757 0.68681 -0.86757 0.68958 -0.86757 0.69306 C -0.87187 0.69306 -0.87187 0.69028 -0.87187 0.68681 C -0.87591 0.68681 -0.87591 0.68958 -0.87591 0.69306 " pathEditMode="relative" rAng="0" ptsTypes="AAAAAAAAAAAAAAAAAAA">
                                      <p:cBhvr>
                                        <p:cTn id="9" dur="5000" fill="hold"/>
                                        <p:tgtEl>
                                          <p:spTgt spid="1028"/>
                                        </p:tgtEl>
                                        <p:attrNameLst>
                                          <p:attrName>ppt_x</p:attrName>
                                          <p:attrName>ppt_y</p:attrName>
                                        </p:attrNameLst>
                                      </p:cBhvr>
                                      <p:rCtr x="-43802" y="3240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04FFB5-DE23-4D74-BEF9-CC7D947D357C}"/>
              </a:ext>
            </a:extLst>
          </p:cNvPr>
          <p:cNvSpPr>
            <a:spLocks noGrp="1"/>
          </p:cNvSpPr>
          <p:nvPr>
            <p:ph type="title"/>
          </p:nvPr>
        </p:nvSpPr>
        <p:spPr>
          <a:xfrm>
            <a:off x="640080" y="325369"/>
            <a:ext cx="4368602" cy="1956841"/>
          </a:xfrm>
        </p:spPr>
        <p:txBody>
          <a:bodyPr anchor="b">
            <a:normAutofit/>
          </a:bodyPr>
          <a:lstStyle/>
          <a:p>
            <a:r>
              <a:rPr lang="en-US" sz="6600"/>
              <a:t>Today’s Focus</a:t>
            </a:r>
          </a:p>
        </p:txBody>
      </p:sp>
      <p:sp>
        <p:nvSpPr>
          <p:cNvPr id="28"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093" y="2563839"/>
            <a:ext cx="3931920" cy="27432"/>
          </a:xfrm>
          <a:custGeom>
            <a:avLst/>
            <a:gdLst>
              <a:gd name="connsiteX0" fmla="*/ 0 w 3931920"/>
              <a:gd name="connsiteY0" fmla="*/ 0 h 27432"/>
              <a:gd name="connsiteX1" fmla="*/ 733958 w 3931920"/>
              <a:gd name="connsiteY1" fmla="*/ 0 h 27432"/>
              <a:gd name="connsiteX2" fmla="*/ 1428598 w 3931920"/>
              <a:gd name="connsiteY2" fmla="*/ 0 h 27432"/>
              <a:gd name="connsiteX3" fmla="*/ 2123237 w 3931920"/>
              <a:gd name="connsiteY3" fmla="*/ 0 h 27432"/>
              <a:gd name="connsiteX4" fmla="*/ 2660599 w 3931920"/>
              <a:gd name="connsiteY4" fmla="*/ 0 h 27432"/>
              <a:gd name="connsiteX5" fmla="*/ 3237281 w 3931920"/>
              <a:gd name="connsiteY5" fmla="*/ 0 h 27432"/>
              <a:gd name="connsiteX6" fmla="*/ 3931920 w 3931920"/>
              <a:gd name="connsiteY6" fmla="*/ 0 h 27432"/>
              <a:gd name="connsiteX7" fmla="*/ 3931920 w 3931920"/>
              <a:gd name="connsiteY7" fmla="*/ 27432 h 27432"/>
              <a:gd name="connsiteX8" fmla="*/ 3276600 w 3931920"/>
              <a:gd name="connsiteY8" fmla="*/ 27432 h 27432"/>
              <a:gd name="connsiteX9" fmla="*/ 2739238 w 3931920"/>
              <a:gd name="connsiteY9" fmla="*/ 27432 h 27432"/>
              <a:gd name="connsiteX10" fmla="*/ 2201875 w 3931920"/>
              <a:gd name="connsiteY10" fmla="*/ 27432 h 27432"/>
              <a:gd name="connsiteX11" fmla="*/ 1507236 w 3931920"/>
              <a:gd name="connsiteY11" fmla="*/ 27432 h 27432"/>
              <a:gd name="connsiteX12" fmla="*/ 930554 w 3931920"/>
              <a:gd name="connsiteY12" fmla="*/ 27432 h 27432"/>
              <a:gd name="connsiteX13" fmla="*/ 0 w 3931920"/>
              <a:gd name="connsiteY13" fmla="*/ 27432 h 27432"/>
              <a:gd name="connsiteX14" fmla="*/ 0 w 3931920"/>
              <a:gd name="connsiteY14"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31920" h="27432" fill="none" extrusionOk="0">
                <a:moveTo>
                  <a:pt x="0" y="0"/>
                </a:moveTo>
                <a:cubicBezTo>
                  <a:pt x="245351" y="16874"/>
                  <a:pt x="509174" y="13736"/>
                  <a:pt x="733958" y="0"/>
                </a:cubicBezTo>
                <a:cubicBezTo>
                  <a:pt x="958742" y="-13736"/>
                  <a:pt x="1245406" y="-17215"/>
                  <a:pt x="1428598" y="0"/>
                </a:cubicBezTo>
                <a:cubicBezTo>
                  <a:pt x="1611790" y="17215"/>
                  <a:pt x="1930525" y="20562"/>
                  <a:pt x="2123237" y="0"/>
                </a:cubicBezTo>
                <a:cubicBezTo>
                  <a:pt x="2315949" y="-20562"/>
                  <a:pt x="2485508" y="11332"/>
                  <a:pt x="2660599" y="0"/>
                </a:cubicBezTo>
                <a:cubicBezTo>
                  <a:pt x="2835690" y="-11332"/>
                  <a:pt x="3075198" y="-14809"/>
                  <a:pt x="3237281" y="0"/>
                </a:cubicBezTo>
                <a:cubicBezTo>
                  <a:pt x="3399364" y="14809"/>
                  <a:pt x="3745084" y="-4992"/>
                  <a:pt x="3931920" y="0"/>
                </a:cubicBezTo>
                <a:cubicBezTo>
                  <a:pt x="3930963" y="8431"/>
                  <a:pt x="3931571" y="14612"/>
                  <a:pt x="3931920" y="27432"/>
                </a:cubicBezTo>
                <a:cubicBezTo>
                  <a:pt x="3765435" y="40792"/>
                  <a:pt x="3452398" y="38703"/>
                  <a:pt x="3276600" y="27432"/>
                </a:cubicBezTo>
                <a:cubicBezTo>
                  <a:pt x="3100802" y="16161"/>
                  <a:pt x="2914889" y="26998"/>
                  <a:pt x="2739238" y="27432"/>
                </a:cubicBezTo>
                <a:cubicBezTo>
                  <a:pt x="2563587" y="27866"/>
                  <a:pt x="2395484" y="39154"/>
                  <a:pt x="2201875" y="27432"/>
                </a:cubicBezTo>
                <a:cubicBezTo>
                  <a:pt x="2008266" y="15710"/>
                  <a:pt x="1781367" y="4899"/>
                  <a:pt x="1507236" y="27432"/>
                </a:cubicBezTo>
                <a:cubicBezTo>
                  <a:pt x="1233105" y="49965"/>
                  <a:pt x="1075495" y="47542"/>
                  <a:pt x="930554" y="27432"/>
                </a:cubicBezTo>
                <a:cubicBezTo>
                  <a:pt x="785613" y="7322"/>
                  <a:pt x="268930" y="30433"/>
                  <a:pt x="0" y="27432"/>
                </a:cubicBezTo>
                <a:cubicBezTo>
                  <a:pt x="226" y="18208"/>
                  <a:pt x="-648" y="12891"/>
                  <a:pt x="0" y="0"/>
                </a:cubicBezTo>
                <a:close/>
              </a:path>
              <a:path w="3931920" h="27432" stroke="0" extrusionOk="0">
                <a:moveTo>
                  <a:pt x="0" y="0"/>
                </a:moveTo>
                <a:cubicBezTo>
                  <a:pt x="278269" y="4786"/>
                  <a:pt x="349028" y="-10422"/>
                  <a:pt x="616001" y="0"/>
                </a:cubicBezTo>
                <a:cubicBezTo>
                  <a:pt x="882974" y="10422"/>
                  <a:pt x="931617" y="-15515"/>
                  <a:pt x="1153363" y="0"/>
                </a:cubicBezTo>
                <a:cubicBezTo>
                  <a:pt x="1375109" y="15515"/>
                  <a:pt x="1704089" y="-3631"/>
                  <a:pt x="1887322" y="0"/>
                </a:cubicBezTo>
                <a:cubicBezTo>
                  <a:pt x="2070555" y="3631"/>
                  <a:pt x="2344155" y="2213"/>
                  <a:pt x="2503322" y="0"/>
                </a:cubicBezTo>
                <a:cubicBezTo>
                  <a:pt x="2662489" y="-2213"/>
                  <a:pt x="2976859" y="26691"/>
                  <a:pt x="3119323" y="0"/>
                </a:cubicBezTo>
                <a:cubicBezTo>
                  <a:pt x="3261787" y="-26691"/>
                  <a:pt x="3588171" y="-28651"/>
                  <a:pt x="3931920" y="0"/>
                </a:cubicBezTo>
                <a:cubicBezTo>
                  <a:pt x="3930565" y="9524"/>
                  <a:pt x="3930718" y="13975"/>
                  <a:pt x="3931920" y="27432"/>
                </a:cubicBezTo>
                <a:cubicBezTo>
                  <a:pt x="3664329" y="4021"/>
                  <a:pt x="3437686" y="14511"/>
                  <a:pt x="3276600" y="27432"/>
                </a:cubicBezTo>
                <a:cubicBezTo>
                  <a:pt x="3115514" y="40353"/>
                  <a:pt x="2913592" y="48967"/>
                  <a:pt x="2739238" y="27432"/>
                </a:cubicBezTo>
                <a:cubicBezTo>
                  <a:pt x="2564884" y="5897"/>
                  <a:pt x="2294049" y="39820"/>
                  <a:pt x="2083918" y="27432"/>
                </a:cubicBezTo>
                <a:cubicBezTo>
                  <a:pt x="1873787" y="15044"/>
                  <a:pt x="1718903" y="21388"/>
                  <a:pt x="1428598" y="27432"/>
                </a:cubicBezTo>
                <a:cubicBezTo>
                  <a:pt x="1138293" y="33476"/>
                  <a:pt x="952209" y="50441"/>
                  <a:pt x="812597" y="27432"/>
                </a:cubicBezTo>
                <a:cubicBezTo>
                  <a:pt x="672985" y="4423"/>
                  <a:pt x="305800" y="28240"/>
                  <a:pt x="0" y="27432"/>
                </a:cubicBezTo>
                <a:cubicBezTo>
                  <a:pt x="-800" y="16780"/>
                  <a:pt x="-583" y="12910"/>
                  <a:pt x="0" y="0"/>
                </a:cubicBezTo>
                <a:close/>
              </a:path>
            </a:pathLst>
          </a:custGeom>
          <a:solidFill>
            <a:srgbClr val="E5B399"/>
          </a:solidFill>
          <a:ln w="38100" cap="rnd">
            <a:solidFill>
              <a:srgbClr val="E5B399"/>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A63D7FC-176D-B898-C622-E503B972CD01}"/>
              </a:ext>
            </a:extLst>
          </p:cNvPr>
          <p:cNvSpPr>
            <a:spLocks noGrp="1"/>
          </p:cNvSpPr>
          <p:nvPr>
            <p:ph idx="1"/>
          </p:nvPr>
        </p:nvSpPr>
        <p:spPr>
          <a:xfrm>
            <a:off x="640080" y="2872899"/>
            <a:ext cx="4243589" cy="3320668"/>
          </a:xfrm>
        </p:spPr>
        <p:txBody>
          <a:bodyPr>
            <a:normAutofit/>
          </a:bodyPr>
          <a:lstStyle/>
          <a:p>
            <a:r>
              <a:rPr lang="en-US" dirty="0"/>
              <a:t>Task 3: Presentations.</a:t>
            </a:r>
          </a:p>
          <a:p>
            <a:endParaRPr lang="en-US" dirty="0"/>
          </a:p>
          <a:p>
            <a:r>
              <a:rPr lang="en-US" dirty="0"/>
              <a:t>+ complete table as listening.</a:t>
            </a:r>
          </a:p>
        </p:txBody>
      </p:sp>
      <p:pic>
        <p:nvPicPr>
          <p:cNvPr id="5" name="Picture 4" descr="Writing an appointment on a paper agenda">
            <a:extLst>
              <a:ext uri="{FF2B5EF4-FFF2-40B4-BE49-F238E27FC236}">
                <a16:creationId xmlns:a16="http://schemas.microsoft.com/office/drawing/2014/main" id="{EDE161DE-AC56-B92C-DAD0-35C65DB94381}"/>
              </a:ext>
            </a:extLst>
          </p:cNvPr>
          <p:cNvPicPr>
            <a:picLocks noChangeAspect="1"/>
          </p:cNvPicPr>
          <p:nvPr/>
        </p:nvPicPr>
        <p:blipFill rotWithShape="1">
          <a:blip r:embed="rId2"/>
          <a:srcRect r="33047"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58422192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E6A207B-97BE-4DE3-B7BA-6EB713664F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E3D224-3E5B-305E-E44A-33D1F29539F1}"/>
              </a:ext>
            </a:extLst>
          </p:cNvPr>
          <p:cNvSpPr>
            <a:spLocks noGrp="1"/>
          </p:cNvSpPr>
          <p:nvPr>
            <p:ph type="title"/>
          </p:nvPr>
        </p:nvSpPr>
        <p:spPr>
          <a:xfrm>
            <a:off x="8129016" y="640080"/>
            <a:ext cx="3432048" cy="1714065"/>
          </a:xfrm>
        </p:spPr>
        <p:txBody>
          <a:bodyPr anchor="b">
            <a:normAutofit fontScale="90000"/>
          </a:bodyPr>
          <a:lstStyle/>
          <a:p>
            <a:r>
              <a:rPr lang="en-US" dirty="0"/>
              <a:t>STI Presentations:</a:t>
            </a:r>
            <a:br>
              <a:rPr lang="en-US" dirty="0"/>
            </a:br>
            <a:r>
              <a:rPr lang="en-US" sz="5400" dirty="0"/>
              <a:t>(pg. </a:t>
            </a:r>
            <a:r>
              <a:rPr lang="en-US" dirty="0"/>
              <a:t>26-27</a:t>
            </a:r>
            <a:r>
              <a:rPr lang="en-US" sz="5400" dirty="0"/>
              <a:t>)</a:t>
            </a:r>
            <a:endParaRPr lang="en-US" dirty="0"/>
          </a:p>
        </p:txBody>
      </p:sp>
      <p:sp>
        <p:nvSpPr>
          <p:cNvPr id="19"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9016" y="2529151"/>
            <a:ext cx="3376602" cy="18288"/>
          </a:xfrm>
          <a:custGeom>
            <a:avLst/>
            <a:gdLst>
              <a:gd name="connsiteX0" fmla="*/ 0 w 3376602"/>
              <a:gd name="connsiteY0" fmla="*/ 0 h 18288"/>
              <a:gd name="connsiteX1" fmla="*/ 641554 w 3376602"/>
              <a:gd name="connsiteY1" fmla="*/ 0 h 18288"/>
              <a:gd name="connsiteX2" fmla="*/ 1316875 w 3376602"/>
              <a:gd name="connsiteY2" fmla="*/ 0 h 18288"/>
              <a:gd name="connsiteX3" fmla="*/ 2025961 w 3376602"/>
              <a:gd name="connsiteY3" fmla="*/ 0 h 18288"/>
              <a:gd name="connsiteX4" fmla="*/ 2735048 w 3376602"/>
              <a:gd name="connsiteY4" fmla="*/ 0 h 18288"/>
              <a:gd name="connsiteX5" fmla="*/ 3376602 w 3376602"/>
              <a:gd name="connsiteY5" fmla="*/ 0 h 18288"/>
              <a:gd name="connsiteX6" fmla="*/ 3376602 w 3376602"/>
              <a:gd name="connsiteY6" fmla="*/ 18288 h 18288"/>
              <a:gd name="connsiteX7" fmla="*/ 2633750 w 3376602"/>
              <a:gd name="connsiteY7" fmla="*/ 18288 h 18288"/>
              <a:gd name="connsiteX8" fmla="*/ 1890897 w 3376602"/>
              <a:gd name="connsiteY8" fmla="*/ 18288 h 18288"/>
              <a:gd name="connsiteX9" fmla="*/ 1215577 w 3376602"/>
              <a:gd name="connsiteY9" fmla="*/ 18288 h 18288"/>
              <a:gd name="connsiteX10" fmla="*/ 0 w 3376602"/>
              <a:gd name="connsiteY10" fmla="*/ 18288 h 18288"/>
              <a:gd name="connsiteX11" fmla="*/ 0 w 3376602"/>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76602" h="18288" fill="none" extrusionOk="0">
                <a:moveTo>
                  <a:pt x="0" y="0"/>
                </a:moveTo>
                <a:cubicBezTo>
                  <a:pt x="154337" y="-26787"/>
                  <a:pt x="393692" y="25344"/>
                  <a:pt x="641554" y="0"/>
                </a:cubicBezTo>
                <a:cubicBezTo>
                  <a:pt x="889416" y="-25344"/>
                  <a:pt x="1078313" y="12271"/>
                  <a:pt x="1316875" y="0"/>
                </a:cubicBezTo>
                <a:cubicBezTo>
                  <a:pt x="1555437" y="-12271"/>
                  <a:pt x="1698513" y="30110"/>
                  <a:pt x="2025961" y="0"/>
                </a:cubicBezTo>
                <a:cubicBezTo>
                  <a:pt x="2353409" y="-30110"/>
                  <a:pt x="2474986" y="1722"/>
                  <a:pt x="2735048" y="0"/>
                </a:cubicBezTo>
                <a:cubicBezTo>
                  <a:pt x="2995110" y="-1722"/>
                  <a:pt x="3097437" y="28961"/>
                  <a:pt x="3376602" y="0"/>
                </a:cubicBezTo>
                <a:cubicBezTo>
                  <a:pt x="3375893" y="8157"/>
                  <a:pt x="3376189" y="12125"/>
                  <a:pt x="3376602" y="18288"/>
                </a:cubicBezTo>
                <a:cubicBezTo>
                  <a:pt x="3037458" y="40377"/>
                  <a:pt x="2857195" y="34928"/>
                  <a:pt x="2633750" y="18288"/>
                </a:cubicBezTo>
                <a:cubicBezTo>
                  <a:pt x="2410305" y="1648"/>
                  <a:pt x="2066994" y="17360"/>
                  <a:pt x="1890897" y="18288"/>
                </a:cubicBezTo>
                <a:cubicBezTo>
                  <a:pt x="1714800" y="19216"/>
                  <a:pt x="1521080" y="47858"/>
                  <a:pt x="1215577" y="18288"/>
                </a:cubicBezTo>
                <a:cubicBezTo>
                  <a:pt x="910074" y="-11282"/>
                  <a:pt x="278912" y="61767"/>
                  <a:pt x="0" y="18288"/>
                </a:cubicBezTo>
                <a:cubicBezTo>
                  <a:pt x="-46" y="12483"/>
                  <a:pt x="-203" y="6491"/>
                  <a:pt x="0" y="0"/>
                </a:cubicBezTo>
                <a:close/>
              </a:path>
              <a:path w="3376602" h="18288" stroke="0" extrusionOk="0">
                <a:moveTo>
                  <a:pt x="0" y="0"/>
                </a:moveTo>
                <a:cubicBezTo>
                  <a:pt x="304565" y="-9016"/>
                  <a:pt x="402571" y="29762"/>
                  <a:pt x="641554" y="0"/>
                </a:cubicBezTo>
                <a:cubicBezTo>
                  <a:pt x="880537" y="-29762"/>
                  <a:pt x="963871" y="-12492"/>
                  <a:pt x="1215577" y="0"/>
                </a:cubicBezTo>
                <a:cubicBezTo>
                  <a:pt x="1467283" y="12492"/>
                  <a:pt x="1723274" y="15353"/>
                  <a:pt x="1958429" y="0"/>
                </a:cubicBezTo>
                <a:cubicBezTo>
                  <a:pt x="2193584" y="-15353"/>
                  <a:pt x="2347125" y="7922"/>
                  <a:pt x="2599984" y="0"/>
                </a:cubicBezTo>
                <a:cubicBezTo>
                  <a:pt x="2852843" y="-7922"/>
                  <a:pt x="3186422" y="-30763"/>
                  <a:pt x="3376602" y="0"/>
                </a:cubicBezTo>
                <a:cubicBezTo>
                  <a:pt x="3376338" y="4493"/>
                  <a:pt x="3376986" y="9472"/>
                  <a:pt x="3376602" y="18288"/>
                </a:cubicBezTo>
                <a:cubicBezTo>
                  <a:pt x="3080522" y="-5475"/>
                  <a:pt x="3038559" y="47323"/>
                  <a:pt x="2701282" y="18288"/>
                </a:cubicBezTo>
                <a:cubicBezTo>
                  <a:pt x="2364005" y="-10747"/>
                  <a:pt x="2245031" y="49099"/>
                  <a:pt x="1958429" y="18288"/>
                </a:cubicBezTo>
                <a:cubicBezTo>
                  <a:pt x="1671827" y="-12523"/>
                  <a:pt x="1619741" y="31109"/>
                  <a:pt x="1384407" y="18288"/>
                </a:cubicBezTo>
                <a:cubicBezTo>
                  <a:pt x="1149073" y="5467"/>
                  <a:pt x="947712" y="-11758"/>
                  <a:pt x="709086" y="18288"/>
                </a:cubicBezTo>
                <a:cubicBezTo>
                  <a:pt x="470460" y="48334"/>
                  <a:pt x="186882" y="50183"/>
                  <a:pt x="0" y="18288"/>
                </a:cubicBezTo>
                <a:cubicBezTo>
                  <a:pt x="843" y="9577"/>
                  <a:pt x="371" y="6900"/>
                  <a:pt x="0" y="0"/>
                </a:cubicBezTo>
                <a:close/>
              </a:path>
            </a:pathLst>
          </a:custGeom>
          <a:solidFill>
            <a:srgbClr val="FF7A59"/>
          </a:solidFill>
          <a:ln w="38100" cap="rnd">
            <a:solidFill>
              <a:srgbClr val="FF7A59"/>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8">
            <a:extLst>
              <a:ext uri="{FF2B5EF4-FFF2-40B4-BE49-F238E27FC236}">
                <a16:creationId xmlns:a16="http://schemas.microsoft.com/office/drawing/2014/main" id="{A8EE0B30-C013-CF27-6FE1-97EE09030F6D}"/>
              </a:ext>
            </a:extLst>
          </p:cNvPr>
          <p:cNvSpPr>
            <a:spLocks noGrp="1"/>
          </p:cNvSpPr>
          <p:nvPr>
            <p:ph idx="1"/>
          </p:nvPr>
        </p:nvSpPr>
        <p:spPr>
          <a:xfrm>
            <a:off x="8129016" y="2803470"/>
            <a:ext cx="3432048" cy="3414450"/>
          </a:xfrm>
        </p:spPr>
        <p:txBody>
          <a:bodyPr anchor="t">
            <a:normAutofit/>
          </a:bodyPr>
          <a:lstStyle/>
          <a:p>
            <a:r>
              <a:rPr lang="en-US" sz="2400" dirty="0"/>
              <a:t>Complete the table in your books while listening to other groups present their work. </a:t>
            </a:r>
          </a:p>
          <a:p>
            <a:endParaRPr lang="en-US" sz="2400" dirty="0"/>
          </a:p>
          <a:p>
            <a:r>
              <a:rPr lang="en-US" sz="2400" dirty="0"/>
              <a:t>By the end of the presentations, you will have collected information different types of STI’s.</a:t>
            </a:r>
          </a:p>
        </p:txBody>
      </p:sp>
      <mc:AlternateContent xmlns:mc="http://schemas.openxmlformats.org/markup-compatibility/2006" xmlns:p14="http://schemas.microsoft.com/office/powerpoint/2010/main">
        <mc:Choice Requires="p14">
          <p:contentPart p14:bwMode="auto" r:id="rId3">
            <p14:nvContentPartPr>
              <p14:cNvPr id="21" name="Ink 20">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6436237" y="1971579"/>
              <a:ext cx="360" cy="2160"/>
            </p14:xfrm>
          </p:contentPart>
        </mc:Choice>
        <mc:Fallback xmlns="">
          <p:pic>
            <p:nvPicPr>
              <p:cNvPr id="21" name="Ink 20">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6418237" y="1956150"/>
                <a:ext cx="36000" cy="32709"/>
              </a:xfrm>
              <a:prstGeom prst="rect">
                <a:avLst/>
              </a:prstGeom>
            </p:spPr>
          </p:pic>
        </mc:Fallback>
      </mc:AlternateContent>
      <p:pic>
        <p:nvPicPr>
          <p:cNvPr id="5" name="Content Placeholder 4" descr="A white rectangular grid with writing on it&#10;&#10;Description automatically generated">
            <a:extLst>
              <a:ext uri="{FF2B5EF4-FFF2-40B4-BE49-F238E27FC236}">
                <a16:creationId xmlns:a16="http://schemas.microsoft.com/office/drawing/2014/main" id="{0D2F9F18-8523-EB70-1A14-C9E648EEA257}"/>
              </a:ext>
            </a:extLst>
          </p:cNvPr>
          <p:cNvPicPr>
            <a:picLocks noChangeAspect="1"/>
          </p:cNvPicPr>
          <p:nvPr/>
        </p:nvPicPr>
        <p:blipFill>
          <a:blip r:embed="rId5"/>
          <a:stretch>
            <a:fillRect/>
          </a:stretch>
        </p:blipFill>
        <p:spPr>
          <a:xfrm>
            <a:off x="262509" y="1304932"/>
            <a:ext cx="7600951" cy="4731590"/>
          </a:xfrm>
          <a:prstGeom prst="rect">
            <a:avLst/>
          </a:prstGeom>
        </p:spPr>
      </p:pic>
    </p:spTree>
    <p:extLst>
      <p:ext uri="{BB962C8B-B14F-4D97-AF65-F5344CB8AC3E}">
        <p14:creationId xmlns:p14="http://schemas.microsoft.com/office/powerpoint/2010/main" val="44176443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93245F62-CCC4-49E4-B95B-EA6C1E790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rainbow colored splatter&#10;&#10;Description automatically generated">
            <a:extLst>
              <a:ext uri="{FF2B5EF4-FFF2-40B4-BE49-F238E27FC236}">
                <a16:creationId xmlns:a16="http://schemas.microsoft.com/office/drawing/2014/main" id="{EEA83DFB-1DE6-B5DE-A972-635BA2248013}"/>
              </a:ext>
            </a:extLst>
          </p:cNvPr>
          <p:cNvPicPr>
            <a:picLocks noChangeAspect="1"/>
          </p:cNvPicPr>
          <p:nvPr/>
        </p:nvPicPr>
        <p:blipFill rotWithShape="1">
          <a:blip r:embed="rId2"/>
          <a:srcRect t="1747"/>
          <a:stretch/>
        </p:blipFill>
        <p:spPr>
          <a:xfrm>
            <a:off x="1298963" y="266542"/>
            <a:ext cx="9589477" cy="5394065"/>
          </a:xfrm>
          <a:prstGeom prst="rect">
            <a:avLst/>
          </a:prstGeom>
        </p:spPr>
      </p:pic>
      <p:pic>
        <p:nvPicPr>
          <p:cNvPr id="1028" name="Picture 4" descr="Sexually Transmitted Infections and HIV">
            <a:extLst>
              <a:ext uri="{FF2B5EF4-FFF2-40B4-BE49-F238E27FC236}">
                <a16:creationId xmlns:a16="http://schemas.microsoft.com/office/drawing/2014/main" id="{BDCE080E-9344-5EDA-E414-5ED90ABD48C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l="25312" t="22731" r="26524" b="12904"/>
          <a:stretch/>
        </p:blipFill>
        <p:spPr bwMode="auto">
          <a:xfrm>
            <a:off x="9472614" y="266542"/>
            <a:ext cx="2614612" cy="192992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657FBC4-0AFB-ADB7-F057-3A685854992A}"/>
              </a:ext>
            </a:extLst>
          </p:cNvPr>
          <p:cNvSpPr>
            <a:spLocks noGrp="1"/>
          </p:cNvSpPr>
          <p:nvPr>
            <p:ph type="ctrTitle"/>
          </p:nvPr>
        </p:nvSpPr>
        <p:spPr>
          <a:xfrm>
            <a:off x="638882" y="3577456"/>
            <a:ext cx="10909640" cy="1687814"/>
          </a:xfrm>
        </p:spPr>
        <p:txBody>
          <a:bodyPr anchor="b">
            <a:normAutofit/>
          </a:bodyPr>
          <a:lstStyle/>
          <a:p>
            <a:pPr algn="ctr"/>
            <a:r>
              <a:rPr lang="en-US" sz="10000" dirty="0"/>
              <a:t>CONTRACEPTION &amp; STI’s</a:t>
            </a:r>
          </a:p>
        </p:txBody>
      </p:sp>
      <p:sp>
        <p:nvSpPr>
          <p:cNvPr id="3" name="Subtitle 2">
            <a:extLst>
              <a:ext uri="{FF2B5EF4-FFF2-40B4-BE49-F238E27FC236}">
                <a16:creationId xmlns:a16="http://schemas.microsoft.com/office/drawing/2014/main" id="{E0D7FC79-1308-3C8D-6F49-05BF0614DDCD}"/>
              </a:ext>
            </a:extLst>
          </p:cNvPr>
          <p:cNvSpPr>
            <a:spLocks noGrp="1"/>
          </p:cNvSpPr>
          <p:nvPr>
            <p:ph type="subTitle" idx="1"/>
          </p:nvPr>
        </p:nvSpPr>
        <p:spPr>
          <a:xfrm>
            <a:off x="638881" y="5660607"/>
            <a:ext cx="10909643" cy="1060868"/>
          </a:xfrm>
        </p:spPr>
        <p:txBody>
          <a:bodyPr anchor="t">
            <a:normAutofit/>
          </a:bodyPr>
          <a:lstStyle/>
          <a:p>
            <a:pPr algn="ctr"/>
            <a:r>
              <a:rPr lang="en-US" sz="3200" b="1" dirty="0"/>
              <a:t>Year 10 Health 			Lesson 11			Term 2, 2024</a:t>
            </a:r>
          </a:p>
        </p:txBody>
      </p:sp>
      <p:sp>
        <p:nvSpPr>
          <p:cNvPr id="77" name="Rectangle 6">
            <a:extLst>
              <a:ext uri="{FF2B5EF4-FFF2-40B4-BE49-F238E27FC236}">
                <a16:creationId xmlns:a16="http://schemas.microsoft.com/office/drawing/2014/main" id="{E6C0DD6B-6AA3-448F-9B99-8386295BC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27432"/>
          </a:xfrm>
          <a:custGeom>
            <a:avLst/>
            <a:gdLst>
              <a:gd name="connsiteX0" fmla="*/ 0 w 4572000"/>
              <a:gd name="connsiteY0" fmla="*/ 0 h 27432"/>
              <a:gd name="connsiteX1" fmla="*/ 607423 w 4572000"/>
              <a:gd name="connsiteY1" fmla="*/ 0 h 27432"/>
              <a:gd name="connsiteX2" fmla="*/ 1123406 w 4572000"/>
              <a:gd name="connsiteY2" fmla="*/ 0 h 27432"/>
              <a:gd name="connsiteX3" fmla="*/ 1685109 w 4572000"/>
              <a:gd name="connsiteY3" fmla="*/ 0 h 27432"/>
              <a:gd name="connsiteX4" fmla="*/ 2383971 w 4572000"/>
              <a:gd name="connsiteY4" fmla="*/ 0 h 27432"/>
              <a:gd name="connsiteX5" fmla="*/ 2991394 w 4572000"/>
              <a:gd name="connsiteY5" fmla="*/ 0 h 27432"/>
              <a:gd name="connsiteX6" fmla="*/ 3553097 w 4572000"/>
              <a:gd name="connsiteY6" fmla="*/ 0 h 27432"/>
              <a:gd name="connsiteX7" fmla="*/ 4572000 w 4572000"/>
              <a:gd name="connsiteY7" fmla="*/ 0 h 27432"/>
              <a:gd name="connsiteX8" fmla="*/ 4572000 w 4572000"/>
              <a:gd name="connsiteY8" fmla="*/ 27432 h 27432"/>
              <a:gd name="connsiteX9" fmla="*/ 3918857 w 4572000"/>
              <a:gd name="connsiteY9" fmla="*/ 27432 h 27432"/>
              <a:gd name="connsiteX10" fmla="*/ 3357154 w 4572000"/>
              <a:gd name="connsiteY10" fmla="*/ 27432 h 27432"/>
              <a:gd name="connsiteX11" fmla="*/ 2612571 w 4572000"/>
              <a:gd name="connsiteY11" fmla="*/ 27432 h 27432"/>
              <a:gd name="connsiteX12" fmla="*/ 2005149 w 4572000"/>
              <a:gd name="connsiteY12" fmla="*/ 27432 h 27432"/>
              <a:gd name="connsiteX13" fmla="*/ 1489166 w 4572000"/>
              <a:gd name="connsiteY13" fmla="*/ 27432 h 27432"/>
              <a:gd name="connsiteX14" fmla="*/ 790303 w 4572000"/>
              <a:gd name="connsiteY14" fmla="*/ 27432 h 27432"/>
              <a:gd name="connsiteX15" fmla="*/ 0 w 4572000"/>
              <a:gd name="connsiteY15" fmla="*/ 27432 h 27432"/>
              <a:gd name="connsiteX16" fmla="*/ 0 w 457200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27432" fill="none" extrusionOk="0">
                <a:moveTo>
                  <a:pt x="0" y="0"/>
                </a:moveTo>
                <a:cubicBezTo>
                  <a:pt x="150397" y="-23421"/>
                  <a:pt x="474161" y="9174"/>
                  <a:pt x="607423" y="0"/>
                </a:cubicBezTo>
                <a:cubicBezTo>
                  <a:pt x="740685" y="-9174"/>
                  <a:pt x="868821" y="-4258"/>
                  <a:pt x="1123406" y="0"/>
                </a:cubicBezTo>
                <a:cubicBezTo>
                  <a:pt x="1377991" y="4258"/>
                  <a:pt x="1567664" y="-12410"/>
                  <a:pt x="1685109" y="0"/>
                </a:cubicBezTo>
                <a:cubicBezTo>
                  <a:pt x="1802554" y="12410"/>
                  <a:pt x="2193086" y="-14353"/>
                  <a:pt x="2383971" y="0"/>
                </a:cubicBezTo>
                <a:cubicBezTo>
                  <a:pt x="2574856" y="14353"/>
                  <a:pt x="2697477" y="-26142"/>
                  <a:pt x="2991394" y="0"/>
                </a:cubicBezTo>
                <a:cubicBezTo>
                  <a:pt x="3285311" y="26142"/>
                  <a:pt x="3423667" y="26544"/>
                  <a:pt x="3553097" y="0"/>
                </a:cubicBezTo>
                <a:cubicBezTo>
                  <a:pt x="3682527" y="-26544"/>
                  <a:pt x="4344147" y="50350"/>
                  <a:pt x="4572000" y="0"/>
                </a:cubicBezTo>
                <a:cubicBezTo>
                  <a:pt x="4571027" y="8304"/>
                  <a:pt x="4571522" y="21512"/>
                  <a:pt x="4572000" y="27432"/>
                </a:cubicBezTo>
                <a:cubicBezTo>
                  <a:pt x="4438349" y="5490"/>
                  <a:pt x="4090129" y="31231"/>
                  <a:pt x="3918857" y="27432"/>
                </a:cubicBezTo>
                <a:cubicBezTo>
                  <a:pt x="3747585" y="23633"/>
                  <a:pt x="3498826" y="6883"/>
                  <a:pt x="3357154" y="27432"/>
                </a:cubicBezTo>
                <a:cubicBezTo>
                  <a:pt x="3215482" y="47981"/>
                  <a:pt x="2784289" y="56849"/>
                  <a:pt x="2612571" y="27432"/>
                </a:cubicBezTo>
                <a:cubicBezTo>
                  <a:pt x="2440853" y="-1985"/>
                  <a:pt x="2261292" y="25951"/>
                  <a:pt x="2005149" y="27432"/>
                </a:cubicBezTo>
                <a:cubicBezTo>
                  <a:pt x="1749006" y="28913"/>
                  <a:pt x="1700078" y="34342"/>
                  <a:pt x="1489166" y="27432"/>
                </a:cubicBezTo>
                <a:cubicBezTo>
                  <a:pt x="1278254" y="20522"/>
                  <a:pt x="1077188" y="56916"/>
                  <a:pt x="790303" y="27432"/>
                </a:cubicBezTo>
                <a:cubicBezTo>
                  <a:pt x="503418" y="-2052"/>
                  <a:pt x="359168" y="57044"/>
                  <a:pt x="0" y="27432"/>
                </a:cubicBezTo>
                <a:cubicBezTo>
                  <a:pt x="-1048" y="14992"/>
                  <a:pt x="-1120" y="7447"/>
                  <a:pt x="0" y="0"/>
                </a:cubicBezTo>
                <a:close/>
              </a:path>
              <a:path w="4572000" h="27432" stroke="0" extrusionOk="0">
                <a:moveTo>
                  <a:pt x="0" y="0"/>
                </a:moveTo>
                <a:cubicBezTo>
                  <a:pt x="155698" y="6780"/>
                  <a:pt x="465972" y="13197"/>
                  <a:pt x="607423" y="0"/>
                </a:cubicBezTo>
                <a:cubicBezTo>
                  <a:pt x="748874" y="-13197"/>
                  <a:pt x="1014133" y="22994"/>
                  <a:pt x="1123406" y="0"/>
                </a:cubicBezTo>
                <a:cubicBezTo>
                  <a:pt x="1232679" y="-22994"/>
                  <a:pt x="1639431" y="-2997"/>
                  <a:pt x="1867989" y="0"/>
                </a:cubicBezTo>
                <a:cubicBezTo>
                  <a:pt x="2096547" y="2997"/>
                  <a:pt x="2265668" y="29557"/>
                  <a:pt x="2475411" y="0"/>
                </a:cubicBezTo>
                <a:cubicBezTo>
                  <a:pt x="2685154" y="-29557"/>
                  <a:pt x="2951491" y="73"/>
                  <a:pt x="3082834" y="0"/>
                </a:cubicBezTo>
                <a:cubicBezTo>
                  <a:pt x="3214177" y="-73"/>
                  <a:pt x="3641000" y="-33478"/>
                  <a:pt x="3827417" y="0"/>
                </a:cubicBezTo>
                <a:cubicBezTo>
                  <a:pt x="4013834" y="33478"/>
                  <a:pt x="4345917" y="14255"/>
                  <a:pt x="4572000" y="0"/>
                </a:cubicBezTo>
                <a:cubicBezTo>
                  <a:pt x="4572485" y="9333"/>
                  <a:pt x="4573278" y="19699"/>
                  <a:pt x="4572000" y="27432"/>
                </a:cubicBezTo>
                <a:cubicBezTo>
                  <a:pt x="4318030" y="43025"/>
                  <a:pt x="4161104" y="34314"/>
                  <a:pt x="4010297" y="27432"/>
                </a:cubicBezTo>
                <a:cubicBezTo>
                  <a:pt x="3859490" y="20550"/>
                  <a:pt x="3592529" y="6613"/>
                  <a:pt x="3357154" y="27432"/>
                </a:cubicBezTo>
                <a:cubicBezTo>
                  <a:pt x="3121779" y="48251"/>
                  <a:pt x="2884285" y="3780"/>
                  <a:pt x="2704011" y="27432"/>
                </a:cubicBezTo>
                <a:cubicBezTo>
                  <a:pt x="2523737" y="51084"/>
                  <a:pt x="2295944" y="32081"/>
                  <a:pt x="2096589" y="27432"/>
                </a:cubicBezTo>
                <a:cubicBezTo>
                  <a:pt x="1897234" y="22783"/>
                  <a:pt x="1623782" y="52518"/>
                  <a:pt x="1352006" y="27432"/>
                </a:cubicBezTo>
                <a:cubicBezTo>
                  <a:pt x="1080230" y="2346"/>
                  <a:pt x="869959" y="12864"/>
                  <a:pt x="607423" y="27432"/>
                </a:cubicBezTo>
                <a:cubicBezTo>
                  <a:pt x="344887" y="42000"/>
                  <a:pt x="188100" y="40051"/>
                  <a:pt x="0" y="27432"/>
                </a:cubicBezTo>
                <a:cubicBezTo>
                  <a:pt x="211" y="18145"/>
                  <a:pt x="120" y="6480"/>
                  <a:pt x="0" y="0"/>
                </a:cubicBezTo>
                <a:close/>
              </a:path>
            </a:pathLst>
          </a:custGeom>
          <a:solidFill>
            <a:srgbClr val="7EB8FB"/>
          </a:solidFill>
          <a:ln w="38100" cap="rnd">
            <a:solidFill>
              <a:srgbClr val="7EB8FB"/>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Date Placeholder 26">
            <a:extLst>
              <a:ext uri="{FF2B5EF4-FFF2-40B4-BE49-F238E27FC236}">
                <a16:creationId xmlns:a16="http://schemas.microsoft.com/office/drawing/2014/main" id="{F28B82B1-E269-4325-A665-6CFE5DEE5DE5}"/>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81" name="Footer Placeholder 27">
            <a:extLst>
              <a:ext uri="{FF2B5EF4-FFF2-40B4-BE49-F238E27FC236}">
                <a16:creationId xmlns:a16="http://schemas.microsoft.com/office/drawing/2014/main" id="{7C700527-76FD-4DF4-A597-6F5E089CA0C2}"/>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83" name="Slide Number Placeholder 28">
            <a:extLst>
              <a:ext uri="{FF2B5EF4-FFF2-40B4-BE49-F238E27FC236}">
                <a16:creationId xmlns:a16="http://schemas.microsoft.com/office/drawing/2014/main" id="{B5EA49A9-01EB-4D60-A392-7DC9B625D67D}"/>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4097633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41" presetClass="path" presetSubtype="0" accel="50000" decel="50000" fill="hold" nodeType="withEffect">
                                  <p:stCondLst>
                                    <p:cond delay="0"/>
                                  </p:stCondLst>
                                  <p:childTnLst>
                                    <p:animMotion origin="layout" path="M -4.58333E-6 -1.11111E-6 C -0.01679 -0.02407 -0.07395 -0.04745 -0.09492 -0.04745 C -0.22226 -0.04745 -0.35377 0.32408 -0.35377 0.69583 C -0.35377 0.50857 -0.41966 0.32408 -0.48112 0.32408 C -0.547 0.32408 -0.60846 0.51134 -0.60846 0.69583 C -0.60846 0.60347 -0.64114 0.50857 -0.67421 0.50857 C -0.70703 0.50857 -0.74023 0.6007 -0.74023 0.69583 C -0.74023 0.64815 -0.75664 0.60347 -0.77278 0.60347 C -0.78945 0.60347 -0.80546 0.65093 -0.80546 0.69583 C -0.80546 0.67153 -0.81341 0.64815 -0.822 0.64815 C -0.8263 0.64815 -0.83867 0.67222 -0.83867 0.69583 C -0.83867 0.68403 -0.84296 0.67153 -0.84661 0.67153 C -0.84661 0.66898 -0.85468 0.68333 -0.85468 0.69583 C -0.85468 0.68958 -0.85468 0.68403 -0.85898 0.68403 C -0.85898 0.68681 -0.86328 0.69028 -0.86328 0.69583 C -0.86328 0.69306 -0.86328 0.68958 -0.86328 0.68681 C -0.86757 0.68681 -0.86757 0.68958 -0.86757 0.69306 C -0.87187 0.69306 -0.87187 0.69028 -0.87187 0.68681 C -0.87591 0.68681 -0.87591 0.68958 -0.87591 0.69306 " pathEditMode="relative" rAng="0" ptsTypes="AAAAAAAAAAAAAAAAAAA">
                                      <p:cBhvr>
                                        <p:cTn id="9" dur="5000" fill="hold"/>
                                        <p:tgtEl>
                                          <p:spTgt spid="1028"/>
                                        </p:tgtEl>
                                        <p:attrNameLst>
                                          <p:attrName>ppt_x</p:attrName>
                                          <p:attrName>ppt_y</p:attrName>
                                        </p:attrNameLst>
                                      </p:cBhvr>
                                      <p:rCtr x="-43802" y="3240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04FFB5-DE23-4D74-BEF9-CC7D947D357C}"/>
              </a:ext>
            </a:extLst>
          </p:cNvPr>
          <p:cNvSpPr>
            <a:spLocks noGrp="1"/>
          </p:cNvSpPr>
          <p:nvPr>
            <p:ph type="title"/>
          </p:nvPr>
        </p:nvSpPr>
        <p:spPr>
          <a:xfrm>
            <a:off x="640080" y="325369"/>
            <a:ext cx="4368602" cy="1956841"/>
          </a:xfrm>
        </p:spPr>
        <p:txBody>
          <a:bodyPr anchor="b">
            <a:normAutofit/>
          </a:bodyPr>
          <a:lstStyle/>
          <a:p>
            <a:r>
              <a:rPr lang="en-US" sz="6600"/>
              <a:t>Today’s Focus</a:t>
            </a:r>
          </a:p>
        </p:txBody>
      </p:sp>
      <p:sp>
        <p:nvSpPr>
          <p:cNvPr id="28"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093" y="2563839"/>
            <a:ext cx="3931920" cy="27432"/>
          </a:xfrm>
          <a:custGeom>
            <a:avLst/>
            <a:gdLst>
              <a:gd name="connsiteX0" fmla="*/ 0 w 3931920"/>
              <a:gd name="connsiteY0" fmla="*/ 0 h 27432"/>
              <a:gd name="connsiteX1" fmla="*/ 733958 w 3931920"/>
              <a:gd name="connsiteY1" fmla="*/ 0 h 27432"/>
              <a:gd name="connsiteX2" fmla="*/ 1428598 w 3931920"/>
              <a:gd name="connsiteY2" fmla="*/ 0 h 27432"/>
              <a:gd name="connsiteX3" fmla="*/ 2123237 w 3931920"/>
              <a:gd name="connsiteY3" fmla="*/ 0 h 27432"/>
              <a:gd name="connsiteX4" fmla="*/ 2660599 w 3931920"/>
              <a:gd name="connsiteY4" fmla="*/ 0 h 27432"/>
              <a:gd name="connsiteX5" fmla="*/ 3237281 w 3931920"/>
              <a:gd name="connsiteY5" fmla="*/ 0 h 27432"/>
              <a:gd name="connsiteX6" fmla="*/ 3931920 w 3931920"/>
              <a:gd name="connsiteY6" fmla="*/ 0 h 27432"/>
              <a:gd name="connsiteX7" fmla="*/ 3931920 w 3931920"/>
              <a:gd name="connsiteY7" fmla="*/ 27432 h 27432"/>
              <a:gd name="connsiteX8" fmla="*/ 3276600 w 3931920"/>
              <a:gd name="connsiteY8" fmla="*/ 27432 h 27432"/>
              <a:gd name="connsiteX9" fmla="*/ 2739238 w 3931920"/>
              <a:gd name="connsiteY9" fmla="*/ 27432 h 27432"/>
              <a:gd name="connsiteX10" fmla="*/ 2201875 w 3931920"/>
              <a:gd name="connsiteY10" fmla="*/ 27432 h 27432"/>
              <a:gd name="connsiteX11" fmla="*/ 1507236 w 3931920"/>
              <a:gd name="connsiteY11" fmla="*/ 27432 h 27432"/>
              <a:gd name="connsiteX12" fmla="*/ 930554 w 3931920"/>
              <a:gd name="connsiteY12" fmla="*/ 27432 h 27432"/>
              <a:gd name="connsiteX13" fmla="*/ 0 w 3931920"/>
              <a:gd name="connsiteY13" fmla="*/ 27432 h 27432"/>
              <a:gd name="connsiteX14" fmla="*/ 0 w 3931920"/>
              <a:gd name="connsiteY14"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31920" h="27432" fill="none" extrusionOk="0">
                <a:moveTo>
                  <a:pt x="0" y="0"/>
                </a:moveTo>
                <a:cubicBezTo>
                  <a:pt x="245351" y="16874"/>
                  <a:pt x="509174" y="13736"/>
                  <a:pt x="733958" y="0"/>
                </a:cubicBezTo>
                <a:cubicBezTo>
                  <a:pt x="958742" y="-13736"/>
                  <a:pt x="1245406" y="-17215"/>
                  <a:pt x="1428598" y="0"/>
                </a:cubicBezTo>
                <a:cubicBezTo>
                  <a:pt x="1611790" y="17215"/>
                  <a:pt x="1930525" y="20562"/>
                  <a:pt x="2123237" y="0"/>
                </a:cubicBezTo>
                <a:cubicBezTo>
                  <a:pt x="2315949" y="-20562"/>
                  <a:pt x="2485508" y="11332"/>
                  <a:pt x="2660599" y="0"/>
                </a:cubicBezTo>
                <a:cubicBezTo>
                  <a:pt x="2835690" y="-11332"/>
                  <a:pt x="3075198" y="-14809"/>
                  <a:pt x="3237281" y="0"/>
                </a:cubicBezTo>
                <a:cubicBezTo>
                  <a:pt x="3399364" y="14809"/>
                  <a:pt x="3745084" y="-4992"/>
                  <a:pt x="3931920" y="0"/>
                </a:cubicBezTo>
                <a:cubicBezTo>
                  <a:pt x="3930963" y="8431"/>
                  <a:pt x="3931571" y="14612"/>
                  <a:pt x="3931920" y="27432"/>
                </a:cubicBezTo>
                <a:cubicBezTo>
                  <a:pt x="3765435" y="40792"/>
                  <a:pt x="3452398" y="38703"/>
                  <a:pt x="3276600" y="27432"/>
                </a:cubicBezTo>
                <a:cubicBezTo>
                  <a:pt x="3100802" y="16161"/>
                  <a:pt x="2914889" y="26998"/>
                  <a:pt x="2739238" y="27432"/>
                </a:cubicBezTo>
                <a:cubicBezTo>
                  <a:pt x="2563587" y="27866"/>
                  <a:pt x="2395484" y="39154"/>
                  <a:pt x="2201875" y="27432"/>
                </a:cubicBezTo>
                <a:cubicBezTo>
                  <a:pt x="2008266" y="15710"/>
                  <a:pt x="1781367" y="4899"/>
                  <a:pt x="1507236" y="27432"/>
                </a:cubicBezTo>
                <a:cubicBezTo>
                  <a:pt x="1233105" y="49965"/>
                  <a:pt x="1075495" y="47542"/>
                  <a:pt x="930554" y="27432"/>
                </a:cubicBezTo>
                <a:cubicBezTo>
                  <a:pt x="785613" y="7322"/>
                  <a:pt x="268930" y="30433"/>
                  <a:pt x="0" y="27432"/>
                </a:cubicBezTo>
                <a:cubicBezTo>
                  <a:pt x="226" y="18208"/>
                  <a:pt x="-648" y="12891"/>
                  <a:pt x="0" y="0"/>
                </a:cubicBezTo>
                <a:close/>
              </a:path>
              <a:path w="3931920" h="27432" stroke="0" extrusionOk="0">
                <a:moveTo>
                  <a:pt x="0" y="0"/>
                </a:moveTo>
                <a:cubicBezTo>
                  <a:pt x="278269" y="4786"/>
                  <a:pt x="349028" y="-10422"/>
                  <a:pt x="616001" y="0"/>
                </a:cubicBezTo>
                <a:cubicBezTo>
                  <a:pt x="882974" y="10422"/>
                  <a:pt x="931617" y="-15515"/>
                  <a:pt x="1153363" y="0"/>
                </a:cubicBezTo>
                <a:cubicBezTo>
                  <a:pt x="1375109" y="15515"/>
                  <a:pt x="1704089" y="-3631"/>
                  <a:pt x="1887322" y="0"/>
                </a:cubicBezTo>
                <a:cubicBezTo>
                  <a:pt x="2070555" y="3631"/>
                  <a:pt x="2344155" y="2213"/>
                  <a:pt x="2503322" y="0"/>
                </a:cubicBezTo>
                <a:cubicBezTo>
                  <a:pt x="2662489" y="-2213"/>
                  <a:pt x="2976859" y="26691"/>
                  <a:pt x="3119323" y="0"/>
                </a:cubicBezTo>
                <a:cubicBezTo>
                  <a:pt x="3261787" y="-26691"/>
                  <a:pt x="3588171" y="-28651"/>
                  <a:pt x="3931920" y="0"/>
                </a:cubicBezTo>
                <a:cubicBezTo>
                  <a:pt x="3930565" y="9524"/>
                  <a:pt x="3930718" y="13975"/>
                  <a:pt x="3931920" y="27432"/>
                </a:cubicBezTo>
                <a:cubicBezTo>
                  <a:pt x="3664329" y="4021"/>
                  <a:pt x="3437686" y="14511"/>
                  <a:pt x="3276600" y="27432"/>
                </a:cubicBezTo>
                <a:cubicBezTo>
                  <a:pt x="3115514" y="40353"/>
                  <a:pt x="2913592" y="48967"/>
                  <a:pt x="2739238" y="27432"/>
                </a:cubicBezTo>
                <a:cubicBezTo>
                  <a:pt x="2564884" y="5897"/>
                  <a:pt x="2294049" y="39820"/>
                  <a:pt x="2083918" y="27432"/>
                </a:cubicBezTo>
                <a:cubicBezTo>
                  <a:pt x="1873787" y="15044"/>
                  <a:pt x="1718903" y="21388"/>
                  <a:pt x="1428598" y="27432"/>
                </a:cubicBezTo>
                <a:cubicBezTo>
                  <a:pt x="1138293" y="33476"/>
                  <a:pt x="952209" y="50441"/>
                  <a:pt x="812597" y="27432"/>
                </a:cubicBezTo>
                <a:cubicBezTo>
                  <a:pt x="672985" y="4423"/>
                  <a:pt x="305800" y="28240"/>
                  <a:pt x="0" y="27432"/>
                </a:cubicBezTo>
                <a:cubicBezTo>
                  <a:pt x="-800" y="16780"/>
                  <a:pt x="-583" y="12910"/>
                  <a:pt x="0" y="0"/>
                </a:cubicBezTo>
                <a:close/>
              </a:path>
            </a:pathLst>
          </a:custGeom>
          <a:solidFill>
            <a:srgbClr val="E5B399"/>
          </a:solidFill>
          <a:ln w="38100" cap="rnd">
            <a:solidFill>
              <a:srgbClr val="E5B399"/>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A63D7FC-176D-B898-C622-E503B972CD01}"/>
              </a:ext>
            </a:extLst>
          </p:cNvPr>
          <p:cNvSpPr>
            <a:spLocks noGrp="1"/>
          </p:cNvSpPr>
          <p:nvPr>
            <p:ph idx="1"/>
          </p:nvPr>
        </p:nvSpPr>
        <p:spPr>
          <a:xfrm>
            <a:off x="640080" y="2872899"/>
            <a:ext cx="4243589" cy="3320668"/>
          </a:xfrm>
        </p:spPr>
        <p:txBody>
          <a:bodyPr>
            <a:normAutofit/>
          </a:bodyPr>
          <a:lstStyle/>
          <a:p>
            <a:r>
              <a:rPr lang="en-US" dirty="0"/>
              <a:t>Task 3: Presentations.</a:t>
            </a:r>
          </a:p>
          <a:p>
            <a:r>
              <a:rPr lang="en-US" dirty="0"/>
              <a:t>+ complete table as listening.</a:t>
            </a:r>
          </a:p>
          <a:p>
            <a:r>
              <a:rPr lang="en-US" dirty="0"/>
              <a:t>Investigate online help seeking resources. </a:t>
            </a:r>
          </a:p>
          <a:p>
            <a:r>
              <a:rPr lang="en-US" dirty="0"/>
              <a:t>Review content learned throughout term 2.</a:t>
            </a:r>
          </a:p>
          <a:p>
            <a:endParaRPr lang="en-US" dirty="0"/>
          </a:p>
          <a:p>
            <a:endParaRPr lang="en-US" dirty="0"/>
          </a:p>
        </p:txBody>
      </p:sp>
      <p:pic>
        <p:nvPicPr>
          <p:cNvPr id="5" name="Picture 4" descr="Writing an appointment on a paper agenda">
            <a:extLst>
              <a:ext uri="{FF2B5EF4-FFF2-40B4-BE49-F238E27FC236}">
                <a16:creationId xmlns:a16="http://schemas.microsoft.com/office/drawing/2014/main" id="{EDE161DE-AC56-B92C-DAD0-35C65DB94381}"/>
              </a:ext>
            </a:extLst>
          </p:cNvPr>
          <p:cNvPicPr>
            <a:picLocks noChangeAspect="1"/>
          </p:cNvPicPr>
          <p:nvPr/>
        </p:nvPicPr>
        <p:blipFill rotWithShape="1">
          <a:blip r:embed="rId2"/>
          <a:srcRect r="33047"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92159667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E6A207B-97BE-4DE3-B7BA-6EB713664F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E3D224-3E5B-305E-E44A-33D1F29539F1}"/>
              </a:ext>
            </a:extLst>
          </p:cNvPr>
          <p:cNvSpPr>
            <a:spLocks noGrp="1"/>
          </p:cNvSpPr>
          <p:nvPr>
            <p:ph type="title"/>
          </p:nvPr>
        </p:nvSpPr>
        <p:spPr>
          <a:xfrm>
            <a:off x="8129016" y="640080"/>
            <a:ext cx="3432048" cy="1714065"/>
          </a:xfrm>
        </p:spPr>
        <p:txBody>
          <a:bodyPr anchor="b">
            <a:normAutofit fontScale="90000"/>
          </a:bodyPr>
          <a:lstStyle/>
          <a:p>
            <a:r>
              <a:rPr lang="en-US" dirty="0"/>
              <a:t>STI Presentations:</a:t>
            </a:r>
            <a:br>
              <a:rPr lang="en-US" dirty="0"/>
            </a:br>
            <a:r>
              <a:rPr lang="en-US" sz="5400" dirty="0"/>
              <a:t>(pg. </a:t>
            </a:r>
            <a:r>
              <a:rPr lang="en-US" dirty="0"/>
              <a:t>26-27</a:t>
            </a:r>
            <a:r>
              <a:rPr lang="en-US" sz="5400" dirty="0"/>
              <a:t>)</a:t>
            </a:r>
            <a:endParaRPr lang="en-US" dirty="0"/>
          </a:p>
        </p:txBody>
      </p:sp>
      <p:sp>
        <p:nvSpPr>
          <p:cNvPr id="19"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9016" y="2529151"/>
            <a:ext cx="3376602" cy="18288"/>
          </a:xfrm>
          <a:custGeom>
            <a:avLst/>
            <a:gdLst>
              <a:gd name="connsiteX0" fmla="*/ 0 w 3376602"/>
              <a:gd name="connsiteY0" fmla="*/ 0 h 18288"/>
              <a:gd name="connsiteX1" fmla="*/ 641554 w 3376602"/>
              <a:gd name="connsiteY1" fmla="*/ 0 h 18288"/>
              <a:gd name="connsiteX2" fmla="*/ 1316875 w 3376602"/>
              <a:gd name="connsiteY2" fmla="*/ 0 h 18288"/>
              <a:gd name="connsiteX3" fmla="*/ 2025961 w 3376602"/>
              <a:gd name="connsiteY3" fmla="*/ 0 h 18288"/>
              <a:gd name="connsiteX4" fmla="*/ 2735048 w 3376602"/>
              <a:gd name="connsiteY4" fmla="*/ 0 h 18288"/>
              <a:gd name="connsiteX5" fmla="*/ 3376602 w 3376602"/>
              <a:gd name="connsiteY5" fmla="*/ 0 h 18288"/>
              <a:gd name="connsiteX6" fmla="*/ 3376602 w 3376602"/>
              <a:gd name="connsiteY6" fmla="*/ 18288 h 18288"/>
              <a:gd name="connsiteX7" fmla="*/ 2633750 w 3376602"/>
              <a:gd name="connsiteY7" fmla="*/ 18288 h 18288"/>
              <a:gd name="connsiteX8" fmla="*/ 1890897 w 3376602"/>
              <a:gd name="connsiteY8" fmla="*/ 18288 h 18288"/>
              <a:gd name="connsiteX9" fmla="*/ 1215577 w 3376602"/>
              <a:gd name="connsiteY9" fmla="*/ 18288 h 18288"/>
              <a:gd name="connsiteX10" fmla="*/ 0 w 3376602"/>
              <a:gd name="connsiteY10" fmla="*/ 18288 h 18288"/>
              <a:gd name="connsiteX11" fmla="*/ 0 w 3376602"/>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76602" h="18288" fill="none" extrusionOk="0">
                <a:moveTo>
                  <a:pt x="0" y="0"/>
                </a:moveTo>
                <a:cubicBezTo>
                  <a:pt x="154337" y="-26787"/>
                  <a:pt x="393692" y="25344"/>
                  <a:pt x="641554" y="0"/>
                </a:cubicBezTo>
                <a:cubicBezTo>
                  <a:pt x="889416" y="-25344"/>
                  <a:pt x="1078313" y="12271"/>
                  <a:pt x="1316875" y="0"/>
                </a:cubicBezTo>
                <a:cubicBezTo>
                  <a:pt x="1555437" y="-12271"/>
                  <a:pt x="1698513" y="30110"/>
                  <a:pt x="2025961" y="0"/>
                </a:cubicBezTo>
                <a:cubicBezTo>
                  <a:pt x="2353409" y="-30110"/>
                  <a:pt x="2474986" y="1722"/>
                  <a:pt x="2735048" y="0"/>
                </a:cubicBezTo>
                <a:cubicBezTo>
                  <a:pt x="2995110" y="-1722"/>
                  <a:pt x="3097437" y="28961"/>
                  <a:pt x="3376602" y="0"/>
                </a:cubicBezTo>
                <a:cubicBezTo>
                  <a:pt x="3375893" y="8157"/>
                  <a:pt x="3376189" y="12125"/>
                  <a:pt x="3376602" y="18288"/>
                </a:cubicBezTo>
                <a:cubicBezTo>
                  <a:pt x="3037458" y="40377"/>
                  <a:pt x="2857195" y="34928"/>
                  <a:pt x="2633750" y="18288"/>
                </a:cubicBezTo>
                <a:cubicBezTo>
                  <a:pt x="2410305" y="1648"/>
                  <a:pt x="2066994" y="17360"/>
                  <a:pt x="1890897" y="18288"/>
                </a:cubicBezTo>
                <a:cubicBezTo>
                  <a:pt x="1714800" y="19216"/>
                  <a:pt x="1521080" y="47858"/>
                  <a:pt x="1215577" y="18288"/>
                </a:cubicBezTo>
                <a:cubicBezTo>
                  <a:pt x="910074" y="-11282"/>
                  <a:pt x="278912" y="61767"/>
                  <a:pt x="0" y="18288"/>
                </a:cubicBezTo>
                <a:cubicBezTo>
                  <a:pt x="-46" y="12483"/>
                  <a:pt x="-203" y="6491"/>
                  <a:pt x="0" y="0"/>
                </a:cubicBezTo>
                <a:close/>
              </a:path>
              <a:path w="3376602" h="18288" stroke="0" extrusionOk="0">
                <a:moveTo>
                  <a:pt x="0" y="0"/>
                </a:moveTo>
                <a:cubicBezTo>
                  <a:pt x="304565" y="-9016"/>
                  <a:pt x="402571" y="29762"/>
                  <a:pt x="641554" y="0"/>
                </a:cubicBezTo>
                <a:cubicBezTo>
                  <a:pt x="880537" y="-29762"/>
                  <a:pt x="963871" y="-12492"/>
                  <a:pt x="1215577" y="0"/>
                </a:cubicBezTo>
                <a:cubicBezTo>
                  <a:pt x="1467283" y="12492"/>
                  <a:pt x="1723274" y="15353"/>
                  <a:pt x="1958429" y="0"/>
                </a:cubicBezTo>
                <a:cubicBezTo>
                  <a:pt x="2193584" y="-15353"/>
                  <a:pt x="2347125" y="7922"/>
                  <a:pt x="2599984" y="0"/>
                </a:cubicBezTo>
                <a:cubicBezTo>
                  <a:pt x="2852843" y="-7922"/>
                  <a:pt x="3186422" y="-30763"/>
                  <a:pt x="3376602" y="0"/>
                </a:cubicBezTo>
                <a:cubicBezTo>
                  <a:pt x="3376338" y="4493"/>
                  <a:pt x="3376986" y="9472"/>
                  <a:pt x="3376602" y="18288"/>
                </a:cubicBezTo>
                <a:cubicBezTo>
                  <a:pt x="3080522" y="-5475"/>
                  <a:pt x="3038559" y="47323"/>
                  <a:pt x="2701282" y="18288"/>
                </a:cubicBezTo>
                <a:cubicBezTo>
                  <a:pt x="2364005" y="-10747"/>
                  <a:pt x="2245031" y="49099"/>
                  <a:pt x="1958429" y="18288"/>
                </a:cubicBezTo>
                <a:cubicBezTo>
                  <a:pt x="1671827" y="-12523"/>
                  <a:pt x="1619741" y="31109"/>
                  <a:pt x="1384407" y="18288"/>
                </a:cubicBezTo>
                <a:cubicBezTo>
                  <a:pt x="1149073" y="5467"/>
                  <a:pt x="947712" y="-11758"/>
                  <a:pt x="709086" y="18288"/>
                </a:cubicBezTo>
                <a:cubicBezTo>
                  <a:pt x="470460" y="48334"/>
                  <a:pt x="186882" y="50183"/>
                  <a:pt x="0" y="18288"/>
                </a:cubicBezTo>
                <a:cubicBezTo>
                  <a:pt x="843" y="9577"/>
                  <a:pt x="371" y="6900"/>
                  <a:pt x="0" y="0"/>
                </a:cubicBezTo>
                <a:close/>
              </a:path>
            </a:pathLst>
          </a:custGeom>
          <a:solidFill>
            <a:srgbClr val="FF7A59"/>
          </a:solidFill>
          <a:ln w="38100" cap="rnd">
            <a:solidFill>
              <a:srgbClr val="FF7A59"/>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8">
            <a:extLst>
              <a:ext uri="{FF2B5EF4-FFF2-40B4-BE49-F238E27FC236}">
                <a16:creationId xmlns:a16="http://schemas.microsoft.com/office/drawing/2014/main" id="{A8EE0B30-C013-CF27-6FE1-97EE09030F6D}"/>
              </a:ext>
            </a:extLst>
          </p:cNvPr>
          <p:cNvSpPr>
            <a:spLocks noGrp="1"/>
          </p:cNvSpPr>
          <p:nvPr>
            <p:ph idx="1"/>
          </p:nvPr>
        </p:nvSpPr>
        <p:spPr>
          <a:xfrm>
            <a:off x="8129016" y="2803470"/>
            <a:ext cx="3432048" cy="3414450"/>
          </a:xfrm>
        </p:spPr>
        <p:txBody>
          <a:bodyPr anchor="t">
            <a:normAutofit/>
          </a:bodyPr>
          <a:lstStyle/>
          <a:p>
            <a:r>
              <a:rPr lang="en-US" sz="2400" dirty="0"/>
              <a:t>Complete the table in your books while listening to other groups present their work. </a:t>
            </a:r>
          </a:p>
          <a:p>
            <a:endParaRPr lang="en-US" sz="2400" dirty="0"/>
          </a:p>
          <a:p>
            <a:r>
              <a:rPr lang="en-US" sz="2400" dirty="0"/>
              <a:t>By the end of the presentations, you will have collected information different types of STI’s.</a:t>
            </a:r>
          </a:p>
        </p:txBody>
      </p:sp>
      <mc:AlternateContent xmlns:mc="http://schemas.openxmlformats.org/markup-compatibility/2006" xmlns:p14="http://schemas.microsoft.com/office/powerpoint/2010/main">
        <mc:Choice Requires="p14">
          <p:contentPart p14:bwMode="auto" r:id="rId3">
            <p14:nvContentPartPr>
              <p14:cNvPr id="21" name="Ink 20">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6436237" y="1971579"/>
              <a:ext cx="360" cy="2160"/>
            </p14:xfrm>
          </p:contentPart>
        </mc:Choice>
        <mc:Fallback xmlns="">
          <p:pic>
            <p:nvPicPr>
              <p:cNvPr id="21" name="Ink 20">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6418237" y="1956150"/>
                <a:ext cx="36000" cy="32709"/>
              </a:xfrm>
              <a:prstGeom prst="rect">
                <a:avLst/>
              </a:prstGeom>
            </p:spPr>
          </p:pic>
        </mc:Fallback>
      </mc:AlternateContent>
      <p:pic>
        <p:nvPicPr>
          <p:cNvPr id="5" name="Content Placeholder 4" descr="A white rectangular grid with writing on it&#10;&#10;Description automatically generated">
            <a:extLst>
              <a:ext uri="{FF2B5EF4-FFF2-40B4-BE49-F238E27FC236}">
                <a16:creationId xmlns:a16="http://schemas.microsoft.com/office/drawing/2014/main" id="{0D2F9F18-8523-EB70-1A14-C9E648EEA257}"/>
              </a:ext>
            </a:extLst>
          </p:cNvPr>
          <p:cNvPicPr>
            <a:picLocks noChangeAspect="1"/>
          </p:cNvPicPr>
          <p:nvPr/>
        </p:nvPicPr>
        <p:blipFill>
          <a:blip r:embed="rId5"/>
          <a:stretch>
            <a:fillRect/>
          </a:stretch>
        </p:blipFill>
        <p:spPr>
          <a:xfrm>
            <a:off x="262509" y="1304932"/>
            <a:ext cx="7600951" cy="4731590"/>
          </a:xfrm>
          <a:prstGeom prst="rect">
            <a:avLst/>
          </a:prstGeom>
        </p:spPr>
      </p:pic>
    </p:spTree>
    <p:extLst>
      <p:ext uri="{BB962C8B-B14F-4D97-AF65-F5344CB8AC3E}">
        <p14:creationId xmlns:p14="http://schemas.microsoft.com/office/powerpoint/2010/main" val="178618120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8AD30-FC98-9ACE-C953-507DEC2C180F}"/>
              </a:ext>
            </a:extLst>
          </p:cNvPr>
          <p:cNvSpPr>
            <a:spLocks noGrp="1"/>
          </p:cNvSpPr>
          <p:nvPr>
            <p:ph type="title"/>
          </p:nvPr>
        </p:nvSpPr>
        <p:spPr>
          <a:xfrm>
            <a:off x="838200" y="365125"/>
            <a:ext cx="10871200" cy="1325563"/>
          </a:xfrm>
        </p:spPr>
        <p:txBody>
          <a:bodyPr>
            <a:normAutofit fontScale="90000"/>
          </a:bodyPr>
          <a:lstStyle/>
          <a:p>
            <a:r>
              <a:rPr lang="en-US" dirty="0"/>
              <a:t>Activity 1: Sexual Health – Where to go for help? (pg. 24-25)</a:t>
            </a:r>
          </a:p>
        </p:txBody>
      </p:sp>
      <p:sp>
        <p:nvSpPr>
          <p:cNvPr id="3" name="Content Placeholder 2">
            <a:extLst>
              <a:ext uri="{FF2B5EF4-FFF2-40B4-BE49-F238E27FC236}">
                <a16:creationId xmlns:a16="http://schemas.microsoft.com/office/drawing/2014/main" id="{86A0A7C9-DCEE-9529-02ED-7F406EB507D6}"/>
              </a:ext>
            </a:extLst>
          </p:cNvPr>
          <p:cNvSpPr>
            <a:spLocks noGrp="1"/>
          </p:cNvSpPr>
          <p:nvPr>
            <p:ph idx="1"/>
          </p:nvPr>
        </p:nvSpPr>
        <p:spPr>
          <a:xfrm>
            <a:off x="228600" y="2696936"/>
            <a:ext cx="11658600" cy="4014216"/>
          </a:xfrm>
        </p:spPr>
        <p:txBody>
          <a:bodyPr>
            <a:normAutofit/>
          </a:bodyPr>
          <a:lstStyle/>
          <a:p>
            <a:r>
              <a:rPr lang="en-US" dirty="0"/>
              <a:t>Working in small groups of no more than 4. </a:t>
            </a:r>
          </a:p>
          <a:p>
            <a:r>
              <a:rPr lang="en-US" dirty="0"/>
              <a:t>Each person is to choose a different website or resource from the list below. </a:t>
            </a:r>
          </a:p>
          <a:p>
            <a:r>
              <a:rPr lang="en-US" dirty="0"/>
              <a:t>Investigate the different websites you can visit for sexual health and STI advice. </a:t>
            </a:r>
          </a:p>
          <a:p>
            <a:r>
              <a:rPr lang="en-US" dirty="0"/>
              <a:t>Each person in your group investigates a different source. </a:t>
            </a:r>
          </a:p>
          <a:p>
            <a:r>
              <a:rPr lang="en-US" dirty="0"/>
              <a:t>You will have 6 minutes to research and complete the table in your book. </a:t>
            </a:r>
          </a:p>
          <a:p>
            <a:r>
              <a:rPr lang="en-US" dirty="0"/>
              <a:t>You will then present and share your research with your group members and everyone else will fill in your information into their books. </a:t>
            </a:r>
          </a:p>
        </p:txBody>
      </p:sp>
      <p:sp>
        <p:nvSpPr>
          <p:cNvPr id="5" name="TextBox 4">
            <a:extLst>
              <a:ext uri="{FF2B5EF4-FFF2-40B4-BE49-F238E27FC236}">
                <a16:creationId xmlns:a16="http://schemas.microsoft.com/office/drawing/2014/main" id="{7318834F-C9AB-DCAD-7C76-2AD232739045}"/>
              </a:ext>
            </a:extLst>
          </p:cNvPr>
          <p:cNvSpPr txBox="1"/>
          <p:nvPr/>
        </p:nvSpPr>
        <p:spPr>
          <a:xfrm>
            <a:off x="838200" y="1893270"/>
            <a:ext cx="10515600" cy="954107"/>
          </a:xfrm>
          <a:prstGeom prst="rect">
            <a:avLst/>
          </a:prstGeom>
          <a:noFill/>
        </p:spPr>
        <p:txBody>
          <a:bodyPr wrap="square">
            <a:spAutoFit/>
          </a:bodyPr>
          <a:lstStyle/>
          <a:p>
            <a:pPr marL="0" indent="0" algn="ctr">
              <a:buNone/>
            </a:pPr>
            <a:r>
              <a:rPr lang="en-US" sz="2800" b="1" i="1" dirty="0"/>
              <a:t>By the end of this activity, you will come away with information on 4 different websites or locations you can go to for sexual health advice.</a:t>
            </a:r>
          </a:p>
        </p:txBody>
      </p:sp>
      <p:pic>
        <p:nvPicPr>
          <p:cNvPr id="1026" name="Picture 2" descr="Teamwork GIFs - Get the best gif on GIFER">
            <a:extLst>
              <a:ext uri="{FF2B5EF4-FFF2-40B4-BE49-F238E27FC236}">
                <a16:creationId xmlns:a16="http://schemas.microsoft.com/office/drawing/2014/main" id="{0E9FF250-E8E6-8527-AFC2-FBF61391F8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6584" y="2696936"/>
            <a:ext cx="4087316" cy="36331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386761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ED9CA-F939-3D20-7EE9-21A877A20478}"/>
              </a:ext>
            </a:extLst>
          </p:cNvPr>
          <p:cNvSpPr>
            <a:spLocks noGrp="1"/>
          </p:cNvSpPr>
          <p:nvPr>
            <p:ph type="title"/>
          </p:nvPr>
        </p:nvSpPr>
        <p:spPr/>
        <p:txBody>
          <a:bodyPr/>
          <a:lstStyle/>
          <a:p>
            <a:r>
              <a:rPr lang="en-US" dirty="0"/>
              <a:t>ACTIVITY 1: HELP RESOURCES (pg. 24-25)</a:t>
            </a:r>
          </a:p>
        </p:txBody>
      </p:sp>
      <p:sp>
        <p:nvSpPr>
          <p:cNvPr id="3" name="Content Placeholder 2">
            <a:extLst>
              <a:ext uri="{FF2B5EF4-FFF2-40B4-BE49-F238E27FC236}">
                <a16:creationId xmlns:a16="http://schemas.microsoft.com/office/drawing/2014/main" id="{F394C895-1756-74EB-DCBF-3608F73726BA}"/>
              </a:ext>
            </a:extLst>
          </p:cNvPr>
          <p:cNvSpPr>
            <a:spLocks noGrp="1"/>
          </p:cNvSpPr>
          <p:nvPr>
            <p:ph idx="1"/>
          </p:nvPr>
        </p:nvSpPr>
        <p:spPr>
          <a:xfrm>
            <a:off x="238812" y="1929384"/>
            <a:ext cx="11114988" cy="4251960"/>
          </a:xfrm>
        </p:spPr>
        <p:txBody>
          <a:bodyPr>
            <a:normAutofit/>
          </a:bodyPr>
          <a:lstStyle/>
          <a:p>
            <a:r>
              <a:rPr lang="en-US" dirty="0"/>
              <a:t>WA Gov: Healthy Sexual – </a:t>
            </a:r>
            <a:r>
              <a:rPr lang="en-US" dirty="0">
                <a:hlinkClick r:id="rId3"/>
              </a:rPr>
              <a:t>https://healthysexual.com.au/</a:t>
            </a:r>
            <a:endParaRPr lang="en-US" dirty="0"/>
          </a:p>
          <a:p>
            <a:r>
              <a:rPr lang="en-US" dirty="0"/>
              <a:t>Sexual Health Quarters – </a:t>
            </a:r>
            <a:r>
              <a:rPr lang="en-US" dirty="0">
                <a:hlinkClick r:id="rId4"/>
              </a:rPr>
              <a:t>https://shq.org.au/helpline/</a:t>
            </a:r>
            <a:r>
              <a:rPr lang="en-US" dirty="0"/>
              <a:t> </a:t>
            </a:r>
          </a:p>
          <a:p>
            <a:r>
              <a:rPr lang="en-US" dirty="0"/>
              <a:t>Get The Facts – </a:t>
            </a:r>
            <a:r>
              <a:rPr lang="en-US" dirty="0">
                <a:hlinkClick r:id="rId5"/>
              </a:rPr>
              <a:t>https://www.getthefacts.health.wa.gov.au/</a:t>
            </a:r>
            <a:r>
              <a:rPr lang="en-US" dirty="0"/>
              <a:t> </a:t>
            </a:r>
          </a:p>
          <a:p>
            <a:r>
              <a:rPr lang="en-US" dirty="0"/>
              <a:t>Could I Have It? – </a:t>
            </a:r>
            <a:r>
              <a:rPr lang="en-US" dirty="0">
                <a:hlinkClick r:id="rId6"/>
              </a:rPr>
              <a:t>https://www.couldihaveit.com.au/home</a:t>
            </a:r>
            <a:r>
              <a:rPr lang="en-US" dirty="0"/>
              <a:t> </a:t>
            </a:r>
          </a:p>
          <a:p>
            <a:r>
              <a:rPr lang="en-US" dirty="0"/>
              <a:t>Sexual Assault Resource Centre (SARC) – </a:t>
            </a:r>
            <a:r>
              <a:rPr lang="en-US" dirty="0">
                <a:hlinkClick r:id="rId7"/>
              </a:rPr>
              <a:t>https://www.kemh.health.wa.gov.au/Other-Services/SARC</a:t>
            </a:r>
            <a:r>
              <a:rPr lang="en-US" dirty="0"/>
              <a:t> </a:t>
            </a:r>
          </a:p>
          <a:p>
            <a:r>
              <a:rPr lang="en-US" dirty="0"/>
              <a:t>Healthy WA STI Factsheets – </a:t>
            </a:r>
            <a:r>
              <a:rPr lang="en-US" dirty="0">
                <a:hlinkClick r:id="rId8"/>
              </a:rPr>
              <a:t>https://www.healthywa.wa.gov.au/Articles/A_E/About-sexually-transmissible-infections-STIs</a:t>
            </a:r>
            <a:r>
              <a:rPr lang="en-US" dirty="0"/>
              <a:t> </a:t>
            </a:r>
          </a:p>
          <a:p>
            <a:r>
              <a:rPr lang="en-US" dirty="0"/>
              <a:t>Western Australian Aids Council (WAAC) – </a:t>
            </a:r>
            <a:r>
              <a:rPr lang="en-US" dirty="0">
                <a:hlinkClick r:id="rId9"/>
              </a:rPr>
              <a:t>https://www.waac.com.au/</a:t>
            </a:r>
            <a:r>
              <a:rPr lang="en-US" dirty="0"/>
              <a:t> </a:t>
            </a:r>
          </a:p>
        </p:txBody>
      </p:sp>
      <p:pic>
        <p:nvPicPr>
          <p:cNvPr id="4" name="Picture 3" descr="A yellow and blue sign with white text&#10;&#10;Description automatically generated">
            <a:extLst>
              <a:ext uri="{FF2B5EF4-FFF2-40B4-BE49-F238E27FC236}">
                <a16:creationId xmlns:a16="http://schemas.microsoft.com/office/drawing/2014/main" id="{00E1897B-527A-AADA-555F-18A904895E66}"/>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376961" y="473832"/>
            <a:ext cx="2576227" cy="554074"/>
          </a:xfrm>
          <a:prstGeom prst="rect">
            <a:avLst/>
          </a:prstGeom>
        </p:spPr>
      </p:pic>
      <p:pic>
        <p:nvPicPr>
          <p:cNvPr id="5" name="Picture 4" descr="A colorful rectangular sign with black text&#10;&#10;Description automatically generated">
            <a:extLst>
              <a:ext uri="{FF2B5EF4-FFF2-40B4-BE49-F238E27FC236}">
                <a16:creationId xmlns:a16="http://schemas.microsoft.com/office/drawing/2014/main" id="{9FA60C0A-0A18-7A1C-53CA-BDB0AB750B8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668192" y="1211441"/>
            <a:ext cx="1371216" cy="954490"/>
          </a:xfrm>
          <a:prstGeom prst="rect">
            <a:avLst/>
          </a:prstGeom>
        </p:spPr>
      </p:pic>
      <p:pic>
        <p:nvPicPr>
          <p:cNvPr id="6" name="Picture 5" descr="A red text on a white background&#10;&#10;Description automatically generated">
            <a:extLst>
              <a:ext uri="{FF2B5EF4-FFF2-40B4-BE49-F238E27FC236}">
                <a16:creationId xmlns:a16="http://schemas.microsoft.com/office/drawing/2014/main" id="{6B0E650D-D59D-340D-0329-B74814DF6D20}"/>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9518732" y="2457070"/>
            <a:ext cx="2434456" cy="486695"/>
          </a:xfrm>
          <a:prstGeom prst="rect">
            <a:avLst/>
          </a:prstGeom>
        </p:spPr>
      </p:pic>
      <p:pic>
        <p:nvPicPr>
          <p:cNvPr id="7" name="Picture 6" descr="A logo with black and green letters&#10;&#10;Description automatically generated with medium confidence">
            <a:extLst>
              <a:ext uri="{FF2B5EF4-FFF2-40B4-BE49-F238E27FC236}">
                <a16:creationId xmlns:a16="http://schemas.microsoft.com/office/drawing/2014/main" id="{2229B6B0-BAA6-BE3F-D46F-FA03C04CEDB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113718" y="3165995"/>
            <a:ext cx="1839470" cy="630844"/>
          </a:xfrm>
          <a:prstGeom prst="rect">
            <a:avLst/>
          </a:prstGeom>
        </p:spPr>
      </p:pic>
      <p:pic>
        <p:nvPicPr>
          <p:cNvPr id="8" name="Picture 7" descr="Funding boost to sexual assault services | Simone McGurk | State Member for  Fremantle">
            <a:extLst>
              <a:ext uri="{FF2B5EF4-FFF2-40B4-BE49-F238E27FC236}">
                <a16:creationId xmlns:a16="http://schemas.microsoft.com/office/drawing/2014/main" id="{3E43581B-5E61-2132-FEC2-AECF7FE09DCC}"/>
              </a:ext>
            </a:extLst>
          </p:cNvPr>
          <p:cNvPicPr>
            <a:picLocks noChangeAspect="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9147174" y="1258447"/>
            <a:ext cx="1371216" cy="962409"/>
          </a:xfrm>
          <a:prstGeom prst="rect">
            <a:avLst/>
          </a:prstGeom>
          <a:noFill/>
          <a:ln>
            <a:noFill/>
          </a:ln>
        </p:spPr>
      </p:pic>
      <p:pic>
        <p:nvPicPr>
          <p:cNvPr id="9" name="Picture 8" descr="A close-up of a logo&#10;&#10;Description automatically generated">
            <a:extLst>
              <a:ext uri="{FF2B5EF4-FFF2-40B4-BE49-F238E27FC236}">
                <a16:creationId xmlns:a16="http://schemas.microsoft.com/office/drawing/2014/main" id="{80EA12FB-A89B-108C-935C-950A2470E40B}"/>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9746313" y="4032482"/>
            <a:ext cx="2206875" cy="619482"/>
          </a:xfrm>
          <a:prstGeom prst="rect">
            <a:avLst/>
          </a:prstGeom>
        </p:spPr>
      </p:pic>
      <p:pic>
        <p:nvPicPr>
          <p:cNvPr id="10" name="Picture 9" descr="WAAC: Healthy, Included, Connected | WAAC">
            <a:extLst>
              <a:ext uri="{FF2B5EF4-FFF2-40B4-BE49-F238E27FC236}">
                <a16:creationId xmlns:a16="http://schemas.microsoft.com/office/drawing/2014/main" id="{33FCF5BF-EDB9-582B-0A4E-815E489C20D8}"/>
              </a:ext>
            </a:extLst>
          </p:cNvPr>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a:off x="10518390" y="5599553"/>
            <a:ext cx="1236837" cy="760800"/>
          </a:xfrm>
          <a:prstGeom prst="rect">
            <a:avLst/>
          </a:prstGeom>
          <a:noFill/>
          <a:ln>
            <a:noFill/>
          </a:ln>
        </p:spPr>
      </p:pic>
    </p:spTree>
    <p:extLst>
      <p:ext uri="{BB962C8B-B14F-4D97-AF65-F5344CB8AC3E}">
        <p14:creationId xmlns:p14="http://schemas.microsoft.com/office/powerpoint/2010/main" val="231405449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9B934-A462-B631-D67C-89C82643BE40}"/>
              </a:ext>
            </a:extLst>
          </p:cNvPr>
          <p:cNvSpPr>
            <a:spLocks noGrp="1"/>
          </p:cNvSpPr>
          <p:nvPr>
            <p:ph type="title"/>
          </p:nvPr>
        </p:nvSpPr>
        <p:spPr/>
        <p:txBody>
          <a:bodyPr>
            <a:normAutofit/>
          </a:bodyPr>
          <a:lstStyle/>
          <a:p>
            <a:r>
              <a:rPr lang="en-US" dirty="0"/>
              <a:t>Activity 2: Review – Contraception &amp; STI’s KWL (pg. 9)</a:t>
            </a:r>
          </a:p>
        </p:txBody>
      </p:sp>
      <p:sp>
        <p:nvSpPr>
          <p:cNvPr id="3" name="Content Placeholder 2">
            <a:extLst>
              <a:ext uri="{FF2B5EF4-FFF2-40B4-BE49-F238E27FC236}">
                <a16:creationId xmlns:a16="http://schemas.microsoft.com/office/drawing/2014/main" id="{4482C02E-BA78-1CAF-15ED-54A47782BF32}"/>
              </a:ext>
            </a:extLst>
          </p:cNvPr>
          <p:cNvSpPr>
            <a:spLocks noGrp="1"/>
          </p:cNvSpPr>
          <p:nvPr>
            <p:ph idx="1"/>
          </p:nvPr>
        </p:nvSpPr>
        <p:spPr>
          <a:xfrm>
            <a:off x="405114" y="1929383"/>
            <a:ext cx="11512066" cy="4563491"/>
          </a:xfrm>
        </p:spPr>
        <p:txBody>
          <a:bodyPr>
            <a:normAutofit/>
          </a:bodyPr>
          <a:lstStyle/>
          <a:p>
            <a:r>
              <a:rPr lang="en-US" dirty="0"/>
              <a:t>This term we have learnt about contraception and Sexually Transmitted Infections (STI’s).</a:t>
            </a:r>
          </a:p>
          <a:p>
            <a:r>
              <a:rPr lang="en-US" dirty="0"/>
              <a:t>In week 1 you completed the first two columns of the KWL: </a:t>
            </a:r>
          </a:p>
          <a:p>
            <a:pPr lvl="1"/>
            <a:r>
              <a:rPr lang="en-US" sz="2600" dirty="0"/>
              <a:t>What do you already </a:t>
            </a:r>
            <a:r>
              <a:rPr lang="en-US" sz="2600" b="1" dirty="0">
                <a:solidFill>
                  <a:srgbClr val="FF0000"/>
                </a:solidFill>
              </a:rPr>
              <a:t>KNOW</a:t>
            </a:r>
            <a:r>
              <a:rPr lang="en-US" sz="2600" dirty="0"/>
              <a:t> about contraception and STI’s?</a:t>
            </a:r>
          </a:p>
          <a:p>
            <a:pPr lvl="1"/>
            <a:r>
              <a:rPr lang="en-US" sz="2600" dirty="0"/>
              <a:t>What do you </a:t>
            </a:r>
            <a:r>
              <a:rPr lang="en-US" sz="2600" b="1" dirty="0">
                <a:solidFill>
                  <a:srgbClr val="FFC000"/>
                </a:solidFill>
              </a:rPr>
              <a:t>WANT</a:t>
            </a:r>
            <a:r>
              <a:rPr lang="en-US" sz="2600" dirty="0"/>
              <a:t> to know about contraception and STI’s?</a:t>
            </a:r>
          </a:p>
          <a:p>
            <a:pPr lvl="1"/>
            <a:endParaRPr lang="en-US" sz="2600" dirty="0"/>
          </a:p>
          <a:p>
            <a:r>
              <a:rPr lang="en-US" sz="3000" dirty="0"/>
              <a:t>In week 11 it is now time to complete the third column of the KWL:</a:t>
            </a:r>
          </a:p>
          <a:p>
            <a:pPr lvl="1"/>
            <a:r>
              <a:rPr lang="en-US" sz="3000" dirty="0"/>
              <a:t>What have you </a:t>
            </a:r>
            <a:r>
              <a:rPr lang="en-US" sz="3000" b="1" dirty="0">
                <a:solidFill>
                  <a:srgbClr val="00B0F0"/>
                </a:solidFill>
              </a:rPr>
              <a:t>LEARNED</a:t>
            </a:r>
            <a:r>
              <a:rPr lang="en-US" sz="3000" dirty="0"/>
              <a:t> about contraception and STI’s?</a:t>
            </a:r>
          </a:p>
        </p:txBody>
      </p:sp>
      <p:sp>
        <p:nvSpPr>
          <p:cNvPr id="5" name="TextBox 4">
            <a:extLst>
              <a:ext uri="{FF2B5EF4-FFF2-40B4-BE49-F238E27FC236}">
                <a16:creationId xmlns:a16="http://schemas.microsoft.com/office/drawing/2014/main" id="{78273306-B8BB-0B5E-6541-747BA235A28B}"/>
              </a:ext>
            </a:extLst>
          </p:cNvPr>
          <p:cNvSpPr txBox="1"/>
          <p:nvPr/>
        </p:nvSpPr>
        <p:spPr>
          <a:xfrm>
            <a:off x="2474124" y="5908099"/>
            <a:ext cx="2363082" cy="584775"/>
          </a:xfrm>
          <a:prstGeom prst="rect">
            <a:avLst/>
          </a:prstGeom>
          <a:noFill/>
          <a:ln w="38100">
            <a:solidFill>
              <a:schemeClr val="accent6">
                <a:lumMod val="60000"/>
                <a:lumOff val="40000"/>
              </a:schemeClr>
            </a:solidFill>
          </a:ln>
        </p:spPr>
        <p:txBody>
          <a:bodyPr wrap="square" rtlCol="0">
            <a:spAutoFit/>
          </a:bodyPr>
          <a:lstStyle/>
          <a:p>
            <a:r>
              <a:rPr lang="en-US" sz="3200" b="1" dirty="0"/>
              <a:t>4 minutes to complete</a:t>
            </a:r>
          </a:p>
        </p:txBody>
      </p:sp>
      <p:pic>
        <p:nvPicPr>
          <p:cNvPr id="7" name="Picture 6" descr="A white rectangular box with black text&#10;&#10;Description automatically generated">
            <a:extLst>
              <a:ext uri="{FF2B5EF4-FFF2-40B4-BE49-F238E27FC236}">
                <a16:creationId xmlns:a16="http://schemas.microsoft.com/office/drawing/2014/main" id="{5B467BE3-B6E6-E789-34AB-FA982B05D82C}"/>
              </a:ext>
            </a:extLst>
          </p:cNvPr>
          <p:cNvPicPr>
            <a:picLocks noChangeAspect="1"/>
          </p:cNvPicPr>
          <p:nvPr/>
        </p:nvPicPr>
        <p:blipFill>
          <a:blip r:embed="rId3"/>
          <a:stretch>
            <a:fillRect/>
          </a:stretch>
        </p:blipFill>
        <p:spPr>
          <a:xfrm>
            <a:off x="7010401" y="2698749"/>
            <a:ext cx="4495034" cy="1802357"/>
          </a:xfrm>
          <a:prstGeom prst="rect">
            <a:avLst/>
          </a:prstGeom>
          <a:ln w="28575">
            <a:solidFill>
              <a:srgbClr val="7030A0"/>
            </a:solidFill>
          </a:ln>
        </p:spPr>
      </p:pic>
      <p:cxnSp>
        <p:nvCxnSpPr>
          <p:cNvPr id="9" name="Straight Arrow Connector 8">
            <a:extLst>
              <a:ext uri="{FF2B5EF4-FFF2-40B4-BE49-F238E27FC236}">
                <a16:creationId xmlns:a16="http://schemas.microsoft.com/office/drawing/2014/main" id="{61516A30-78BE-DACF-14F8-087E4455A769}"/>
              </a:ext>
            </a:extLst>
          </p:cNvPr>
          <p:cNvCxnSpPr/>
          <p:nvPr/>
        </p:nvCxnSpPr>
        <p:spPr>
          <a:xfrm flipV="1">
            <a:off x="6553200" y="4211128"/>
            <a:ext cx="4025900" cy="1275272"/>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974778833"/>
      </p:ext>
    </p:extLst>
  </p:cSld>
  <p:clrMapOvr>
    <a:masterClrMapping/>
  </p:clrMapOvr>
</p:sld>
</file>

<file path=ppt/theme/theme1.xml><?xml version="1.0" encoding="utf-8"?>
<a:theme xmlns:a="http://schemas.openxmlformats.org/drawingml/2006/main" name="SketchyVTI">
  <a:themeElements>
    <a:clrScheme name="SketchyVTI">
      <a:dk1>
        <a:sysClr val="windowText" lastClr="000000"/>
      </a:dk1>
      <a:lt1>
        <a:sysClr val="window" lastClr="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Custom 2">
      <a:majorFont>
        <a:latin typeface="The Serif Hand Black"/>
        <a:ea typeface=""/>
        <a:cs typeface=""/>
      </a:majorFont>
      <a:minorFont>
        <a:latin typeface="The Hand Bol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3044</TotalTime>
  <Words>10039</Words>
  <Application>Microsoft Macintosh PowerPoint</Application>
  <PresentationFormat>Widescreen</PresentationFormat>
  <Paragraphs>1121</Paragraphs>
  <Slides>123</Slides>
  <Notes>68</Notes>
  <HiddenSlides>0</HiddenSlides>
  <MMClips>5</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123</vt:i4>
      </vt:variant>
    </vt:vector>
  </HeadingPairs>
  <TitlesOfParts>
    <vt:vector size="134" baseType="lpstr">
      <vt:lpstr>Aptos</vt:lpstr>
      <vt:lpstr>Arial</vt:lpstr>
      <vt:lpstr>Century Gothic</vt:lpstr>
      <vt:lpstr>Jumble</vt:lpstr>
      <vt:lpstr>Monotype Sorts</vt:lpstr>
      <vt:lpstr>The Hand Bold</vt:lpstr>
      <vt:lpstr>The Serif Hand Black</vt:lpstr>
      <vt:lpstr>Times New Roman</vt:lpstr>
      <vt:lpstr>Univers</vt:lpstr>
      <vt:lpstr>Wingdings</vt:lpstr>
      <vt:lpstr>SketchyVTI</vt:lpstr>
      <vt:lpstr>CONTRACEPTION &amp; STI’s</vt:lpstr>
      <vt:lpstr>Term 2: Program &amp; Assessments</vt:lpstr>
      <vt:lpstr>Today’s Focus</vt:lpstr>
      <vt:lpstr>ACTIVITY 1: CONSENT REVIEW – BRAINSTORM (pg. 8)</vt:lpstr>
      <vt:lpstr>REVIEW: What is Consent? (pg. 8)</vt:lpstr>
      <vt:lpstr>REVIEW: Consent (pg. 8)</vt:lpstr>
      <vt:lpstr>REVIEW: Consent – freedom and capacity (pg. 8)</vt:lpstr>
      <vt:lpstr>Activity 2: Consent Scenario’s – IS this Consent?</vt:lpstr>
      <vt:lpstr>Question Box</vt:lpstr>
      <vt:lpstr>Contraception &amp; STI’s BRAIN DUMP + KWL: (pg. 9)</vt:lpstr>
      <vt:lpstr>POST IT SLAM – what is contraception?</vt:lpstr>
      <vt:lpstr>What is Contraception? (pg. 10)</vt:lpstr>
      <vt:lpstr>SPIT FIRE ROUND: What are examples of contraception?</vt:lpstr>
      <vt:lpstr>ACTIVITY 3: Contraception Types (pg. 10)</vt:lpstr>
      <vt:lpstr>Activity 4: (pg. 11) Why do people choose to use/not use contraception?</vt:lpstr>
      <vt:lpstr>Activity 4: Answers</vt:lpstr>
      <vt:lpstr>GLOSSARY: (pg. 7)</vt:lpstr>
      <vt:lpstr>REFLECTION: How to say no… (pg. 11)</vt:lpstr>
      <vt:lpstr>CONTRACEPTION &amp; STI’s</vt:lpstr>
      <vt:lpstr>Today’s Focus</vt:lpstr>
      <vt:lpstr>OPTIONAL HOOK: TRUE OR FALSE (pg. 12)</vt:lpstr>
      <vt:lpstr>OPTIONAL Hook: (pg. 13) Reasons to Postpone Sex</vt:lpstr>
      <vt:lpstr>Types of Contraception (pg. 14)</vt:lpstr>
      <vt:lpstr>PowerPoint Presentation</vt:lpstr>
      <vt:lpstr>Activity 2: Methods of Contraception (pg. 14-16)</vt:lpstr>
      <vt:lpstr>Activity 2: METHODS OF CONTRACEPTION (pg. 14-16)</vt:lpstr>
      <vt:lpstr>IMPORTANT!</vt:lpstr>
      <vt:lpstr>BARRIER METHODS:</vt:lpstr>
      <vt:lpstr>Male Condom</vt:lpstr>
      <vt:lpstr>FEMALE CONDOM</vt:lpstr>
      <vt:lpstr>What you need to know about Condoms:</vt:lpstr>
      <vt:lpstr>DIAPHRAGM &amp; Cervical Cap</vt:lpstr>
      <vt:lpstr>SPERMICIDE</vt:lpstr>
      <vt:lpstr>HORMONAL METHODS:</vt:lpstr>
      <vt:lpstr>Copper IUD</vt:lpstr>
      <vt:lpstr>Hormonal/Plastic IUD</vt:lpstr>
      <vt:lpstr>PowerPoint Presentation</vt:lpstr>
      <vt:lpstr>Patch</vt:lpstr>
      <vt:lpstr>IMPLANON (ROD)</vt:lpstr>
      <vt:lpstr>INJECTION (DEPO-PROVERA)</vt:lpstr>
      <vt:lpstr>VAGINAL RING</vt:lpstr>
      <vt:lpstr>COMBINED PILL &amp; Mini Pill</vt:lpstr>
      <vt:lpstr>GLOSSARY: (pg. 8)</vt:lpstr>
      <vt:lpstr>NATURAL METHODS:</vt:lpstr>
      <vt:lpstr>Natural Methods</vt:lpstr>
      <vt:lpstr>Rhythm Method</vt:lpstr>
      <vt:lpstr>PowerPoint Presentation</vt:lpstr>
      <vt:lpstr>Withdrawal</vt:lpstr>
      <vt:lpstr>PowerPoint Presentation</vt:lpstr>
      <vt:lpstr>ABSTINENCE</vt:lpstr>
      <vt:lpstr>EMERGENCY METHODS:</vt:lpstr>
      <vt:lpstr>EMERGENCY CONTRACEPTIVE PILL / PLAN B </vt:lpstr>
      <vt:lpstr>Copper IUD - RECAP</vt:lpstr>
      <vt:lpstr>SURGICAL METHODS:</vt:lpstr>
      <vt:lpstr>Tubal Ligation </vt:lpstr>
      <vt:lpstr>Vasectomy</vt:lpstr>
      <vt:lpstr>Activity 3: contraception scenario’s Which is best and why? (pg. 17)</vt:lpstr>
      <vt:lpstr>Optional Activity 4: Contraception Kit</vt:lpstr>
      <vt:lpstr>Optional Activity 5:  Contraception Matching activity</vt:lpstr>
      <vt:lpstr>REMINDER:  TOPIC TEST NEXT WEEK</vt:lpstr>
      <vt:lpstr>REMINDER!</vt:lpstr>
      <vt:lpstr>CONTRACEPTION &amp; STI’s</vt:lpstr>
      <vt:lpstr>Today’s Focus</vt:lpstr>
      <vt:lpstr>Test CONDITIONS:</vt:lpstr>
      <vt:lpstr>CONTRACEPTION &amp; STI’s</vt:lpstr>
      <vt:lpstr>Term Timeline:</vt:lpstr>
      <vt:lpstr>Today’s Focus</vt:lpstr>
      <vt:lpstr>OPTIONAL:</vt:lpstr>
      <vt:lpstr>Activity 1: Handshake Activity</vt:lpstr>
      <vt:lpstr>PowerPoint Presentation</vt:lpstr>
      <vt:lpstr>SPIT FIRE:  Types of STI’s</vt:lpstr>
      <vt:lpstr>GLOSSARY: (pg. 7)</vt:lpstr>
      <vt:lpstr>What are sexually transmitted infections? (pg. 18)</vt:lpstr>
      <vt:lpstr>Body fluids – which one’s are considered infectious? </vt:lpstr>
      <vt:lpstr>METHODS OF TRANSMISSION: Low Risk or No Risk</vt:lpstr>
      <vt:lpstr>METHODS OF TRANSMISSION: High-Risk (pg. 18)</vt:lpstr>
      <vt:lpstr>TYPES of STI’s: (pg. 19)</vt:lpstr>
      <vt:lpstr>WARNING: GRAPHIC CONTENT </vt:lpstr>
      <vt:lpstr>Chlamydia </vt:lpstr>
      <vt:lpstr>Gonorrhea</vt:lpstr>
      <vt:lpstr>Syphilis</vt:lpstr>
      <vt:lpstr>PowerPoint Presentation</vt:lpstr>
      <vt:lpstr>Herpes Simplex Virus (HSV 1 + 2)</vt:lpstr>
      <vt:lpstr>PowerPoint Presentation</vt:lpstr>
      <vt:lpstr>Human Papilomavirus (HPV) / Genital Warts</vt:lpstr>
      <vt:lpstr>Human Papilomavirus (HPV) / Genital Warts</vt:lpstr>
      <vt:lpstr>HIV / AIDS</vt:lpstr>
      <vt:lpstr>Hepatitis B</vt:lpstr>
      <vt:lpstr>Parasitic STI’s</vt:lpstr>
      <vt:lpstr>Parasitic STI Symptoms</vt:lpstr>
      <vt:lpstr>PARASITIC STI Prevention &amp; Treatment</vt:lpstr>
      <vt:lpstr>Viral STI’s</vt:lpstr>
      <vt:lpstr>STI’s are dangerous because…</vt:lpstr>
      <vt:lpstr>Optional Activity: Condom Activity </vt:lpstr>
      <vt:lpstr>CONTRACEPTION &amp; STI’s</vt:lpstr>
      <vt:lpstr>Today’s Focus</vt:lpstr>
      <vt:lpstr>Activity 1: values walk around</vt:lpstr>
      <vt:lpstr>Values Statements:</vt:lpstr>
      <vt:lpstr>Prevention (pg. 21)</vt:lpstr>
      <vt:lpstr>Diagnosis &amp; TREATMENT (pg. 22)</vt:lpstr>
      <vt:lpstr>When should a person Get tested? (pg. 22)</vt:lpstr>
      <vt:lpstr>Barriers to getting tested: (pg. 23)</vt:lpstr>
      <vt:lpstr>Barriers to getting tested: (pg. 23)</vt:lpstr>
      <vt:lpstr>PowerPoint Presentation</vt:lpstr>
      <vt:lpstr>Statistics:</vt:lpstr>
      <vt:lpstr>Assignments: Task 3 STI Oral Presentation (pg. 4-6)</vt:lpstr>
      <vt:lpstr>Presentation skills:</vt:lpstr>
      <vt:lpstr>Presentation options:</vt:lpstr>
      <vt:lpstr>STI’s:</vt:lpstr>
      <vt:lpstr>CONTRACEPTION &amp; STI’s</vt:lpstr>
      <vt:lpstr>Today’s Focus</vt:lpstr>
      <vt:lpstr>CONTRACEPTION &amp; STI’s</vt:lpstr>
      <vt:lpstr>Today’s Focus</vt:lpstr>
      <vt:lpstr>STI Presentations: (pg. 26-27)</vt:lpstr>
      <vt:lpstr>CONTRACEPTION &amp; STI’s</vt:lpstr>
      <vt:lpstr>Today’s Focus</vt:lpstr>
      <vt:lpstr>STI Presentations: (pg. 26-27)</vt:lpstr>
      <vt:lpstr>CONTRACEPTION &amp; STI’s</vt:lpstr>
      <vt:lpstr>Today’s Focus</vt:lpstr>
      <vt:lpstr>STI Presentations: (pg. 26-27)</vt:lpstr>
      <vt:lpstr>Activity 1: Sexual Health – Where to go for help? (pg. 24-25)</vt:lpstr>
      <vt:lpstr>ACTIVITY 1: HELP RESOURCES (pg. 24-25)</vt:lpstr>
      <vt:lpstr>Activity 2: Review – Contraception &amp; STI’s KWL (pg.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CONTRACEPTION &amp; STI’s</dc:title>
  <dc:creator>HILLMAN Alissa [Willetton Senior High School]</dc:creator>
  <cp:lastModifiedBy>HILLMAN Alissa [Willetton Senior High School]</cp:lastModifiedBy>
  <cp:revision>30</cp:revision>
  <dcterms:created xsi:type="dcterms:W3CDTF">2024-02-21T07:14:50Z</dcterms:created>
  <dcterms:modified xsi:type="dcterms:W3CDTF">2024-03-04T05:15:25Z</dcterms:modified>
</cp:coreProperties>
</file>