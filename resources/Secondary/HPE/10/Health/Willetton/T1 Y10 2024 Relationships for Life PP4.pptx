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558" r:id="rId2"/>
    <p:sldId id="559" r:id="rId3"/>
    <p:sldId id="588" r:id="rId4"/>
    <p:sldId id="577" r:id="rId5"/>
    <p:sldId id="453" r:id="rId6"/>
    <p:sldId id="409" r:id="rId7"/>
    <p:sldId id="408" r:id="rId8"/>
    <p:sldId id="578" r:id="rId9"/>
    <p:sldId id="580" r:id="rId10"/>
    <p:sldId id="581" r:id="rId11"/>
    <p:sldId id="582" r:id="rId12"/>
    <p:sldId id="598" r:id="rId13"/>
    <p:sldId id="583" r:id="rId14"/>
    <p:sldId id="584" r:id="rId15"/>
    <p:sldId id="585" r:id="rId16"/>
    <p:sldId id="586" r:id="rId17"/>
    <p:sldId id="597" r:id="rId18"/>
    <p:sldId id="593" r:id="rId19"/>
    <p:sldId id="589" r:id="rId20"/>
    <p:sldId id="59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59C"/>
    <a:srgbClr val="EE6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059800-54A3-A94B-89F8-74BCD7FBF4D8}" v="107" dt="2023-11-06T14:43:09.641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35" autoAdjust="0"/>
    <p:restoredTop sz="80514" autoAdjust="0"/>
  </p:normalViewPr>
  <p:slideViewPr>
    <p:cSldViewPr snapToGrid="0" snapToObjects="1">
      <p:cViewPr varScale="1">
        <p:scale>
          <a:sx n="88" d="100"/>
          <a:sy n="88" d="100"/>
        </p:scale>
        <p:origin x="64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C7484E-D834-4BFB-A5A0-82ED0EF151CD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1B1A479-0991-4E48-97E0-BF5E02BED415}">
      <dgm:prSet custT="1"/>
      <dgm:spPr/>
      <dgm:t>
        <a:bodyPr/>
        <a:lstStyle/>
        <a:p>
          <a:r>
            <a:rPr lang="en-US" sz="1800" dirty="0"/>
            <a:t>Listen to what your friend has to say. Believe them.</a:t>
          </a:r>
        </a:p>
      </dgm:t>
    </dgm:pt>
    <dgm:pt modelId="{119CE71B-5A67-4E75-9BE5-4E1475454EA6}" type="parTrans" cxnId="{A90B932C-2AF5-44AF-A81B-26F350A829D9}">
      <dgm:prSet/>
      <dgm:spPr/>
      <dgm:t>
        <a:bodyPr/>
        <a:lstStyle/>
        <a:p>
          <a:endParaRPr lang="en-US"/>
        </a:p>
      </dgm:t>
    </dgm:pt>
    <dgm:pt modelId="{DE0B81BB-3ABD-4DD1-8C55-F0187D65A3B4}" type="sibTrans" cxnId="{A90B932C-2AF5-44AF-A81B-26F350A829D9}">
      <dgm:prSet/>
      <dgm:spPr/>
      <dgm:t>
        <a:bodyPr/>
        <a:lstStyle/>
        <a:p>
          <a:endParaRPr lang="en-US"/>
        </a:p>
      </dgm:t>
    </dgm:pt>
    <dgm:pt modelId="{1BA79670-26CC-436C-9E38-8502A89044D2}">
      <dgm:prSet custT="1"/>
      <dgm:spPr/>
      <dgm:t>
        <a:bodyPr/>
        <a:lstStyle/>
        <a:p>
          <a:r>
            <a:rPr lang="en-AU" sz="1800" dirty="0"/>
            <a:t>Be supportive, encouraging, open and honest.</a:t>
          </a:r>
          <a:endParaRPr lang="en-US" sz="1600" dirty="0"/>
        </a:p>
      </dgm:t>
    </dgm:pt>
    <dgm:pt modelId="{5288873F-A498-40D6-98D5-89E0306FF0A9}" type="parTrans" cxnId="{C0EEF86F-6D54-41EC-97F1-26248990190D}">
      <dgm:prSet/>
      <dgm:spPr/>
      <dgm:t>
        <a:bodyPr/>
        <a:lstStyle/>
        <a:p>
          <a:endParaRPr lang="en-US"/>
        </a:p>
      </dgm:t>
    </dgm:pt>
    <dgm:pt modelId="{E2BE426F-DE6B-4FA1-B735-03628D99082C}" type="sibTrans" cxnId="{C0EEF86F-6D54-41EC-97F1-26248990190D}">
      <dgm:prSet/>
      <dgm:spPr/>
      <dgm:t>
        <a:bodyPr/>
        <a:lstStyle/>
        <a:p>
          <a:endParaRPr lang="en-US"/>
        </a:p>
      </dgm:t>
    </dgm:pt>
    <dgm:pt modelId="{991927B3-E489-4422-BAAE-9B5423FD1417}">
      <dgm:prSet custT="1"/>
      <dgm:spPr/>
      <dgm:t>
        <a:bodyPr/>
        <a:lstStyle/>
        <a:p>
          <a:r>
            <a:rPr lang="en-US" sz="1800" dirty="0"/>
            <a:t>Listen without judging, be supportive, encouraging, open and honest.</a:t>
          </a:r>
        </a:p>
      </dgm:t>
    </dgm:pt>
    <dgm:pt modelId="{E80921B2-03FB-4E22-8FE2-8F3C572E8D4A}" type="parTrans" cxnId="{D8428F87-8A2B-4FA8-812B-889FAE5C45C4}">
      <dgm:prSet/>
      <dgm:spPr/>
      <dgm:t>
        <a:bodyPr/>
        <a:lstStyle/>
        <a:p>
          <a:endParaRPr lang="en-US"/>
        </a:p>
      </dgm:t>
    </dgm:pt>
    <dgm:pt modelId="{8055B99F-8255-4C24-9319-E3C0B98F8ED6}" type="sibTrans" cxnId="{D8428F87-8A2B-4FA8-812B-889FAE5C45C4}">
      <dgm:prSet/>
      <dgm:spPr/>
      <dgm:t>
        <a:bodyPr/>
        <a:lstStyle/>
        <a:p>
          <a:endParaRPr lang="en-US"/>
        </a:p>
      </dgm:t>
    </dgm:pt>
    <dgm:pt modelId="{73DBEE92-6D60-444C-BBF9-2A3E0E61A3B0}">
      <dgm:prSet/>
      <dgm:spPr/>
      <dgm:t>
        <a:bodyPr/>
        <a:lstStyle/>
        <a:p>
          <a:r>
            <a:rPr lang="en-US" dirty="0"/>
            <a:t>Ask if they need help from a support service, and/or help create a safety plan.</a:t>
          </a:r>
        </a:p>
      </dgm:t>
    </dgm:pt>
    <dgm:pt modelId="{CD0D9FFA-DCD6-4A34-B8DA-DBDE154C8596}" type="parTrans" cxnId="{3849D3F1-91B7-474B-A100-1DB68D8154DF}">
      <dgm:prSet/>
      <dgm:spPr/>
      <dgm:t>
        <a:bodyPr/>
        <a:lstStyle/>
        <a:p>
          <a:endParaRPr lang="en-US"/>
        </a:p>
      </dgm:t>
    </dgm:pt>
    <dgm:pt modelId="{56CF101F-DEF7-4E5C-87E7-0AE6A12EDA33}" type="sibTrans" cxnId="{3849D3F1-91B7-474B-A100-1DB68D8154DF}">
      <dgm:prSet/>
      <dgm:spPr/>
      <dgm:t>
        <a:bodyPr/>
        <a:lstStyle/>
        <a:p>
          <a:endParaRPr lang="en-US"/>
        </a:p>
      </dgm:t>
    </dgm:pt>
    <dgm:pt modelId="{5819D32D-7490-4A88-97D9-E2DAD65A8B26}">
      <dgm:prSet custT="1"/>
      <dgm:spPr/>
      <dgm:t>
        <a:bodyPr/>
        <a:lstStyle/>
        <a:p>
          <a:r>
            <a:rPr lang="en-US" sz="1800" dirty="0"/>
            <a:t>Help them to get advice and support (i.e., 1800 RESPECT etc.)</a:t>
          </a:r>
        </a:p>
      </dgm:t>
    </dgm:pt>
    <dgm:pt modelId="{EB7A5A20-31D1-4E00-8BE6-64E4D15F6AE3}" type="parTrans" cxnId="{9D15A536-BBB8-4381-B040-B6E9054DB172}">
      <dgm:prSet/>
      <dgm:spPr/>
      <dgm:t>
        <a:bodyPr/>
        <a:lstStyle/>
        <a:p>
          <a:endParaRPr lang="en-US"/>
        </a:p>
      </dgm:t>
    </dgm:pt>
    <dgm:pt modelId="{2C510D40-BD63-4E80-98EA-CC3A58D053CC}" type="sibTrans" cxnId="{9D15A536-BBB8-4381-B040-B6E9054DB172}">
      <dgm:prSet/>
      <dgm:spPr/>
      <dgm:t>
        <a:bodyPr/>
        <a:lstStyle/>
        <a:p>
          <a:endParaRPr lang="en-US"/>
        </a:p>
      </dgm:t>
    </dgm:pt>
    <dgm:pt modelId="{3626AE4C-7DCC-44E0-BFC0-C03B18412EFA}">
      <dgm:prSet custT="1"/>
      <dgm:spPr/>
      <dgm:t>
        <a:bodyPr/>
        <a:lstStyle/>
        <a:p>
          <a:r>
            <a:rPr lang="en-US" sz="1800" dirty="0"/>
            <a:t>You access help yourself to get support on how to help someone.</a:t>
          </a:r>
        </a:p>
      </dgm:t>
    </dgm:pt>
    <dgm:pt modelId="{E0100D85-04DF-4C66-8673-AC3FC8E90E34}" type="parTrans" cxnId="{D87E58CD-A0A8-4DD8-AAE3-E731434CB9F1}">
      <dgm:prSet/>
      <dgm:spPr/>
      <dgm:t>
        <a:bodyPr/>
        <a:lstStyle/>
        <a:p>
          <a:endParaRPr lang="en-US"/>
        </a:p>
      </dgm:t>
    </dgm:pt>
    <dgm:pt modelId="{4F59B8D6-EDC5-40C3-B67F-59B6276AB446}" type="sibTrans" cxnId="{D87E58CD-A0A8-4DD8-AAE3-E731434CB9F1}">
      <dgm:prSet/>
      <dgm:spPr/>
      <dgm:t>
        <a:bodyPr/>
        <a:lstStyle/>
        <a:p>
          <a:endParaRPr lang="en-US"/>
        </a:p>
      </dgm:t>
    </dgm:pt>
    <dgm:pt modelId="{067B113E-25C8-4927-9B94-566E8087EA18}">
      <dgm:prSet custT="1"/>
      <dgm:spPr/>
      <dgm:t>
        <a:bodyPr/>
        <a:lstStyle/>
        <a:p>
          <a:r>
            <a:rPr lang="en-US" sz="1800" dirty="0"/>
            <a:t>Offer to go with them if they meet with a support service.</a:t>
          </a:r>
        </a:p>
      </dgm:t>
    </dgm:pt>
    <dgm:pt modelId="{49F2568E-E0B9-4BB3-A7D5-1F6F7AA35708}" type="parTrans" cxnId="{3CA19F69-CFA0-4F22-AACE-9FEE6C44212D}">
      <dgm:prSet/>
      <dgm:spPr/>
      <dgm:t>
        <a:bodyPr/>
        <a:lstStyle/>
        <a:p>
          <a:endParaRPr lang="en-US"/>
        </a:p>
      </dgm:t>
    </dgm:pt>
    <dgm:pt modelId="{DC054F36-FB4A-455A-8938-C065EFFF6E35}" type="sibTrans" cxnId="{3CA19F69-CFA0-4F22-AACE-9FEE6C44212D}">
      <dgm:prSet/>
      <dgm:spPr/>
      <dgm:t>
        <a:bodyPr/>
        <a:lstStyle/>
        <a:p>
          <a:endParaRPr lang="en-US"/>
        </a:p>
      </dgm:t>
    </dgm:pt>
    <dgm:pt modelId="{27984EAB-518A-4B9D-BDAF-8FEEC3694249}">
      <dgm:prSet custT="1"/>
      <dgm:spPr/>
      <dgm:t>
        <a:bodyPr/>
        <a:lstStyle/>
        <a:p>
          <a:r>
            <a:rPr lang="en-US" sz="2000" dirty="0"/>
            <a:t>Remind your friend it is not their fault.</a:t>
          </a:r>
        </a:p>
      </dgm:t>
    </dgm:pt>
    <dgm:pt modelId="{63816936-1368-4C1E-906C-B4CD55734BC6}" type="parTrans" cxnId="{1F3AAD77-EE4A-49D3-AC17-13DF3E7D45EB}">
      <dgm:prSet/>
      <dgm:spPr/>
      <dgm:t>
        <a:bodyPr/>
        <a:lstStyle/>
        <a:p>
          <a:endParaRPr lang="en-US"/>
        </a:p>
      </dgm:t>
    </dgm:pt>
    <dgm:pt modelId="{6DE444D3-19B9-484B-B14A-9C30710B236B}" type="sibTrans" cxnId="{1F3AAD77-EE4A-49D3-AC17-13DF3E7D45EB}">
      <dgm:prSet/>
      <dgm:spPr/>
      <dgm:t>
        <a:bodyPr/>
        <a:lstStyle/>
        <a:p>
          <a:endParaRPr lang="en-US"/>
        </a:p>
      </dgm:t>
    </dgm:pt>
    <dgm:pt modelId="{40EBCFAC-864E-8F40-B335-5501BD25DBF2}">
      <dgm:prSet custT="1"/>
      <dgm:spPr/>
      <dgm:t>
        <a:bodyPr/>
        <a:lstStyle/>
        <a:p>
          <a:r>
            <a:rPr lang="en-US" sz="1800" dirty="0"/>
            <a:t>Continue to be a friend even when you feel frustrated by their decisions or actions. </a:t>
          </a:r>
          <a:br>
            <a:rPr lang="en-US" sz="1600" dirty="0"/>
          </a:br>
          <a:endParaRPr lang="en-US" sz="1600" dirty="0"/>
        </a:p>
      </dgm:t>
    </dgm:pt>
    <dgm:pt modelId="{CAF85815-F18E-8042-B964-ED30770EC864}" type="parTrans" cxnId="{80EC7955-D42C-7144-823D-15293D194FAE}">
      <dgm:prSet/>
      <dgm:spPr/>
      <dgm:t>
        <a:bodyPr/>
        <a:lstStyle/>
        <a:p>
          <a:endParaRPr lang="en-GB"/>
        </a:p>
      </dgm:t>
    </dgm:pt>
    <dgm:pt modelId="{29A23935-34B1-0E4A-8719-EFFF873F2D24}" type="sibTrans" cxnId="{80EC7955-D42C-7144-823D-15293D194FAE}">
      <dgm:prSet/>
      <dgm:spPr/>
      <dgm:t>
        <a:bodyPr/>
        <a:lstStyle/>
        <a:p>
          <a:endParaRPr lang="en-GB"/>
        </a:p>
      </dgm:t>
    </dgm:pt>
    <dgm:pt modelId="{EE76F495-2123-DD4D-99B1-0A15DE506FC2}" type="pres">
      <dgm:prSet presAssocID="{79C7484E-D834-4BFB-A5A0-82ED0EF151CD}" presName="Name0" presStyleCnt="0">
        <dgm:presLayoutVars>
          <dgm:dir/>
          <dgm:resizeHandles val="exact"/>
        </dgm:presLayoutVars>
      </dgm:prSet>
      <dgm:spPr/>
    </dgm:pt>
    <dgm:pt modelId="{E2AD5110-32A7-3946-AEA4-B446974E0C31}" type="pres">
      <dgm:prSet presAssocID="{51B1A479-0991-4E48-97E0-BF5E02BED415}" presName="node" presStyleLbl="node1" presStyleIdx="0" presStyleCnt="9">
        <dgm:presLayoutVars>
          <dgm:bulletEnabled val="1"/>
        </dgm:presLayoutVars>
      </dgm:prSet>
      <dgm:spPr/>
    </dgm:pt>
    <dgm:pt modelId="{DC3980AE-17F0-194A-B766-9912BED73A63}" type="pres">
      <dgm:prSet presAssocID="{DE0B81BB-3ABD-4DD1-8C55-F0187D65A3B4}" presName="sibTrans" presStyleLbl="sibTrans1D1" presStyleIdx="0" presStyleCnt="8"/>
      <dgm:spPr/>
    </dgm:pt>
    <dgm:pt modelId="{8809174C-88B1-6E4D-B85A-DF24FFA8FDF8}" type="pres">
      <dgm:prSet presAssocID="{DE0B81BB-3ABD-4DD1-8C55-F0187D65A3B4}" presName="connectorText" presStyleLbl="sibTrans1D1" presStyleIdx="0" presStyleCnt="8"/>
      <dgm:spPr/>
    </dgm:pt>
    <dgm:pt modelId="{4788A494-B29D-B444-A2C3-CE5812E5D1CA}" type="pres">
      <dgm:prSet presAssocID="{1BA79670-26CC-436C-9E38-8502A89044D2}" presName="node" presStyleLbl="node1" presStyleIdx="1" presStyleCnt="9">
        <dgm:presLayoutVars>
          <dgm:bulletEnabled val="1"/>
        </dgm:presLayoutVars>
      </dgm:prSet>
      <dgm:spPr/>
    </dgm:pt>
    <dgm:pt modelId="{81411C4D-E2F6-E249-B3E2-859AD4FD2590}" type="pres">
      <dgm:prSet presAssocID="{E2BE426F-DE6B-4FA1-B735-03628D99082C}" presName="sibTrans" presStyleLbl="sibTrans1D1" presStyleIdx="1" presStyleCnt="8"/>
      <dgm:spPr/>
    </dgm:pt>
    <dgm:pt modelId="{9EDCC378-0B39-F042-B9CA-7801D95961AD}" type="pres">
      <dgm:prSet presAssocID="{E2BE426F-DE6B-4FA1-B735-03628D99082C}" presName="connectorText" presStyleLbl="sibTrans1D1" presStyleIdx="1" presStyleCnt="8"/>
      <dgm:spPr/>
    </dgm:pt>
    <dgm:pt modelId="{CEF625C5-2DC8-804C-BF97-415DEE09AB3F}" type="pres">
      <dgm:prSet presAssocID="{991927B3-E489-4422-BAAE-9B5423FD1417}" presName="node" presStyleLbl="node1" presStyleIdx="2" presStyleCnt="9">
        <dgm:presLayoutVars>
          <dgm:bulletEnabled val="1"/>
        </dgm:presLayoutVars>
      </dgm:prSet>
      <dgm:spPr/>
    </dgm:pt>
    <dgm:pt modelId="{E0398995-9460-854E-AD3E-1D8F933C89E6}" type="pres">
      <dgm:prSet presAssocID="{8055B99F-8255-4C24-9319-E3C0B98F8ED6}" presName="sibTrans" presStyleLbl="sibTrans1D1" presStyleIdx="2" presStyleCnt="8"/>
      <dgm:spPr/>
    </dgm:pt>
    <dgm:pt modelId="{B31BA208-96FF-7C44-9DEC-E9C65B0AE900}" type="pres">
      <dgm:prSet presAssocID="{8055B99F-8255-4C24-9319-E3C0B98F8ED6}" presName="connectorText" presStyleLbl="sibTrans1D1" presStyleIdx="2" presStyleCnt="8"/>
      <dgm:spPr/>
    </dgm:pt>
    <dgm:pt modelId="{B4F8A450-2C6D-C448-9473-74BA22A0C52A}" type="pres">
      <dgm:prSet presAssocID="{73DBEE92-6D60-444C-BBF9-2A3E0E61A3B0}" presName="node" presStyleLbl="node1" presStyleIdx="3" presStyleCnt="9">
        <dgm:presLayoutVars>
          <dgm:bulletEnabled val="1"/>
        </dgm:presLayoutVars>
      </dgm:prSet>
      <dgm:spPr/>
    </dgm:pt>
    <dgm:pt modelId="{4B1430C0-EB67-734A-8756-635289AD5C0A}" type="pres">
      <dgm:prSet presAssocID="{56CF101F-DEF7-4E5C-87E7-0AE6A12EDA33}" presName="sibTrans" presStyleLbl="sibTrans1D1" presStyleIdx="3" presStyleCnt="8"/>
      <dgm:spPr/>
    </dgm:pt>
    <dgm:pt modelId="{61FDAC3B-84E8-364A-90B2-2ABCCF6BB75B}" type="pres">
      <dgm:prSet presAssocID="{56CF101F-DEF7-4E5C-87E7-0AE6A12EDA33}" presName="connectorText" presStyleLbl="sibTrans1D1" presStyleIdx="3" presStyleCnt="8"/>
      <dgm:spPr/>
    </dgm:pt>
    <dgm:pt modelId="{A56A774A-51C0-2A4B-8913-2163883D2777}" type="pres">
      <dgm:prSet presAssocID="{5819D32D-7490-4A88-97D9-E2DAD65A8B26}" presName="node" presStyleLbl="node1" presStyleIdx="4" presStyleCnt="9">
        <dgm:presLayoutVars>
          <dgm:bulletEnabled val="1"/>
        </dgm:presLayoutVars>
      </dgm:prSet>
      <dgm:spPr/>
    </dgm:pt>
    <dgm:pt modelId="{900B9065-2592-1640-BBBD-98163E394552}" type="pres">
      <dgm:prSet presAssocID="{2C510D40-BD63-4E80-98EA-CC3A58D053CC}" presName="sibTrans" presStyleLbl="sibTrans1D1" presStyleIdx="4" presStyleCnt="8"/>
      <dgm:spPr/>
    </dgm:pt>
    <dgm:pt modelId="{C9D79D52-6C43-9B42-A3E3-70CF172BDDF9}" type="pres">
      <dgm:prSet presAssocID="{2C510D40-BD63-4E80-98EA-CC3A58D053CC}" presName="connectorText" presStyleLbl="sibTrans1D1" presStyleIdx="4" presStyleCnt="8"/>
      <dgm:spPr/>
    </dgm:pt>
    <dgm:pt modelId="{E9C8CF64-C7B3-764C-8685-C5A4E4729369}" type="pres">
      <dgm:prSet presAssocID="{3626AE4C-7DCC-44E0-BFC0-C03B18412EFA}" presName="node" presStyleLbl="node1" presStyleIdx="5" presStyleCnt="9">
        <dgm:presLayoutVars>
          <dgm:bulletEnabled val="1"/>
        </dgm:presLayoutVars>
      </dgm:prSet>
      <dgm:spPr/>
    </dgm:pt>
    <dgm:pt modelId="{FC0375A2-BCCD-CF47-A4BD-E3229DC90F85}" type="pres">
      <dgm:prSet presAssocID="{4F59B8D6-EDC5-40C3-B67F-59B6276AB446}" presName="sibTrans" presStyleLbl="sibTrans1D1" presStyleIdx="5" presStyleCnt="8"/>
      <dgm:spPr/>
    </dgm:pt>
    <dgm:pt modelId="{55130FF0-6E86-C14A-912A-9D92247CA83F}" type="pres">
      <dgm:prSet presAssocID="{4F59B8D6-EDC5-40C3-B67F-59B6276AB446}" presName="connectorText" presStyleLbl="sibTrans1D1" presStyleIdx="5" presStyleCnt="8"/>
      <dgm:spPr/>
    </dgm:pt>
    <dgm:pt modelId="{F3F695C5-3B0F-484F-A27B-9AC3DC4D9F38}" type="pres">
      <dgm:prSet presAssocID="{067B113E-25C8-4927-9B94-566E8087EA18}" presName="node" presStyleLbl="node1" presStyleIdx="6" presStyleCnt="9">
        <dgm:presLayoutVars>
          <dgm:bulletEnabled val="1"/>
        </dgm:presLayoutVars>
      </dgm:prSet>
      <dgm:spPr/>
    </dgm:pt>
    <dgm:pt modelId="{1C9044DA-ABE4-7048-A047-9EDA1347DA0B}" type="pres">
      <dgm:prSet presAssocID="{DC054F36-FB4A-455A-8938-C065EFFF6E35}" presName="sibTrans" presStyleLbl="sibTrans1D1" presStyleIdx="6" presStyleCnt="8"/>
      <dgm:spPr/>
    </dgm:pt>
    <dgm:pt modelId="{EEC645CD-0CF5-9342-AB9C-0EE1A1C4C26C}" type="pres">
      <dgm:prSet presAssocID="{DC054F36-FB4A-455A-8938-C065EFFF6E35}" presName="connectorText" presStyleLbl="sibTrans1D1" presStyleIdx="6" presStyleCnt="8"/>
      <dgm:spPr/>
    </dgm:pt>
    <dgm:pt modelId="{EFD47176-8D48-8641-84D3-D34E1ED1E40D}" type="pres">
      <dgm:prSet presAssocID="{27984EAB-518A-4B9D-BDAF-8FEEC3694249}" presName="node" presStyleLbl="node1" presStyleIdx="7" presStyleCnt="9">
        <dgm:presLayoutVars>
          <dgm:bulletEnabled val="1"/>
        </dgm:presLayoutVars>
      </dgm:prSet>
      <dgm:spPr/>
    </dgm:pt>
    <dgm:pt modelId="{EBB59166-CD8A-F742-A30B-DEF5BB801624}" type="pres">
      <dgm:prSet presAssocID="{6DE444D3-19B9-484B-B14A-9C30710B236B}" presName="sibTrans" presStyleLbl="sibTrans1D1" presStyleIdx="7" presStyleCnt="8"/>
      <dgm:spPr/>
    </dgm:pt>
    <dgm:pt modelId="{3DDD35C7-2CF3-7C4E-B4F5-42A91456E1E6}" type="pres">
      <dgm:prSet presAssocID="{6DE444D3-19B9-484B-B14A-9C30710B236B}" presName="connectorText" presStyleLbl="sibTrans1D1" presStyleIdx="7" presStyleCnt="8"/>
      <dgm:spPr/>
    </dgm:pt>
    <dgm:pt modelId="{55F29D81-D118-5A49-93C2-C30A9C74852B}" type="pres">
      <dgm:prSet presAssocID="{40EBCFAC-864E-8F40-B335-5501BD25DBF2}" presName="node" presStyleLbl="node1" presStyleIdx="8" presStyleCnt="9">
        <dgm:presLayoutVars>
          <dgm:bulletEnabled val="1"/>
        </dgm:presLayoutVars>
      </dgm:prSet>
      <dgm:spPr/>
    </dgm:pt>
  </dgm:ptLst>
  <dgm:cxnLst>
    <dgm:cxn modelId="{D757A210-556E-BE42-9BFE-12CC3C82C04B}" type="presOf" srcId="{E2BE426F-DE6B-4FA1-B735-03628D99082C}" destId="{9EDCC378-0B39-F042-B9CA-7801D95961AD}" srcOrd="1" destOrd="0" presId="urn:microsoft.com/office/officeart/2016/7/layout/RepeatingBendingProcessNew"/>
    <dgm:cxn modelId="{42FF4929-30F2-B548-AA1A-7720D6567F19}" type="presOf" srcId="{6DE444D3-19B9-484B-B14A-9C30710B236B}" destId="{3DDD35C7-2CF3-7C4E-B4F5-42A91456E1E6}" srcOrd="1" destOrd="0" presId="urn:microsoft.com/office/officeart/2016/7/layout/RepeatingBendingProcessNew"/>
    <dgm:cxn modelId="{A90B932C-2AF5-44AF-A81B-26F350A829D9}" srcId="{79C7484E-D834-4BFB-A5A0-82ED0EF151CD}" destId="{51B1A479-0991-4E48-97E0-BF5E02BED415}" srcOrd="0" destOrd="0" parTransId="{119CE71B-5A67-4E75-9BE5-4E1475454EA6}" sibTransId="{DE0B81BB-3ABD-4DD1-8C55-F0187D65A3B4}"/>
    <dgm:cxn modelId="{9D15A536-BBB8-4381-B040-B6E9054DB172}" srcId="{79C7484E-D834-4BFB-A5A0-82ED0EF151CD}" destId="{5819D32D-7490-4A88-97D9-E2DAD65A8B26}" srcOrd="4" destOrd="0" parTransId="{EB7A5A20-31D1-4E00-8BE6-64E4D15F6AE3}" sibTransId="{2C510D40-BD63-4E80-98EA-CC3A58D053CC}"/>
    <dgm:cxn modelId="{D6F3563F-B274-8842-BEE4-C1EE13C912D8}" type="presOf" srcId="{6DE444D3-19B9-484B-B14A-9C30710B236B}" destId="{EBB59166-CD8A-F742-A30B-DEF5BB801624}" srcOrd="0" destOrd="0" presId="urn:microsoft.com/office/officeart/2016/7/layout/RepeatingBendingProcessNew"/>
    <dgm:cxn modelId="{84B08E43-3799-1644-9313-9503DBCF9B07}" type="presOf" srcId="{79C7484E-D834-4BFB-A5A0-82ED0EF151CD}" destId="{EE76F495-2123-DD4D-99B1-0A15DE506FC2}" srcOrd="0" destOrd="0" presId="urn:microsoft.com/office/officeart/2016/7/layout/RepeatingBendingProcessNew"/>
    <dgm:cxn modelId="{C75C6F64-0ADC-FD40-970C-EDF624D45D7E}" type="presOf" srcId="{DC054F36-FB4A-455A-8938-C065EFFF6E35}" destId="{EEC645CD-0CF5-9342-AB9C-0EE1A1C4C26C}" srcOrd="1" destOrd="0" presId="urn:microsoft.com/office/officeart/2016/7/layout/RepeatingBendingProcessNew"/>
    <dgm:cxn modelId="{C0B08967-8B9F-0847-8FB6-86136014AC85}" type="presOf" srcId="{DE0B81BB-3ABD-4DD1-8C55-F0187D65A3B4}" destId="{8809174C-88B1-6E4D-B85A-DF24FFA8FDF8}" srcOrd="1" destOrd="0" presId="urn:microsoft.com/office/officeart/2016/7/layout/RepeatingBendingProcessNew"/>
    <dgm:cxn modelId="{3CA19F69-CFA0-4F22-AACE-9FEE6C44212D}" srcId="{79C7484E-D834-4BFB-A5A0-82ED0EF151CD}" destId="{067B113E-25C8-4927-9B94-566E8087EA18}" srcOrd="6" destOrd="0" parTransId="{49F2568E-E0B9-4BB3-A7D5-1F6F7AA35708}" sibTransId="{DC054F36-FB4A-455A-8938-C065EFFF6E35}"/>
    <dgm:cxn modelId="{7EB9264A-8E3B-B04D-BA59-F3B87ABC108C}" type="presOf" srcId="{56CF101F-DEF7-4E5C-87E7-0AE6A12EDA33}" destId="{4B1430C0-EB67-734A-8756-635289AD5C0A}" srcOrd="0" destOrd="0" presId="urn:microsoft.com/office/officeart/2016/7/layout/RepeatingBendingProcessNew"/>
    <dgm:cxn modelId="{30C1444B-7012-B04F-B5ED-795BA560F89B}" type="presOf" srcId="{4F59B8D6-EDC5-40C3-B67F-59B6276AB446}" destId="{FC0375A2-BCCD-CF47-A4BD-E3229DC90F85}" srcOrd="0" destOrd="0" presId="urn:microsoft.com/office/officeart/2016/7/layout/RepeatingBendingProcessNew"/>
    <dgm:cxn modelId="{194FFA6B-1FF9-1F41-9D1B-8BC4C9CCC705}" type="presOf" srcId="{4F59B8D6-EDC5-40C3-B67F-59B6276AB446}" destId="{55130FF0-6E86-C14A-912A-9D92247CA83F}" srcOrd="1" destOrd="0" presId="urn:microsoft.com/office/officeart/2016/7/layout/RepeatingBendingProcessNew"/>
    <dgm:cxn modelId="{C0EEF86F-6D54-41EC-97F1-26248990190D}" srcId="{79C7484E-D834-4BFB-A5A0-82ED0EF151CD}" destId="{1BA79670-26CC-436C-9E38-8502A89044D2}" srcOrd="1" destOrd="0" parTransId="{5288873F-A498-40D6-98D5-89E0306FF0A9}" sibTransId="{E2BE426F-DE6B-4FA1-B735-03628D99082C}"/>
    <dgm:cxn modelId="{54811654-8A2D-754C-8E40-8F40AD7B6591}" type="presOf" srcId="{40EBCFAC-864E-8F40-B335-5501BD25DBF2}" destId="{55F29D81-D118-5A49-93C2-C30A9C74852B}" srcOrd="0" destOrd="0" presId="urn:microsoft.com/office/officeart/2016/7/layout/RepeatingBendingProcessNew"/>
    <dgm:cxn modelId="{4E712174-F086-8B4B-8DE9-05E4F6D9FF65}" type="presOf" srcId="{2C510D40-BD63-4E80-98EA-CC3A58D053CC}" destId="{900B9065-2592-1640-BBBD-98163E394552}" srcOrd="0" destOrd="0" presId="urn:microsoft.com/office/officeart/2016/7/layout/RepeatingBendingProcessNew"/>
    <dgm:cxn modelId="{386A0855-2465-8B49-AD82-66F1B4613B2B}" type="presOf" srcId="{1BA79670-26CC-436C-9E38-8502A89044D2}" destId="{4788A494-B29D-B444-A2C3-CE5812E5D1CA}" srcOrd="0" destOrd="0" presId="urn:microsoft.com/office/officeart/2016/7/layout/RepeatingBendingProcessNew"/>
    <dgm:cxn modelId="{80EC7955-D42C-7144-823D-15293D194FAE}" srcId="{79C7484E-D834-4BFB-A5A0-82ED0EF151CD}" destId="{40EBCFAC-864E-8F40-B335-5501BD25DBF2}" srcOrd="8" destOrd="0" parTransId="{CAF85815-F18E-8042-B964-ED30770EC864}" sibTransId="{29A23935-34B1-0E4A-8719-EFFF873F2D24}"/>
    <dgm:cxn modelId="{1F3AAD77-EE4A-49D3-AC17-13DF3E7D45EB}" srcId="{79C7484E-D834-4BFB-A5A0-82ED0EF151CD}" destId="{27984EAB-518A-4B9D-BDAF-8FEEC3694249}" srcOrd="7" destOrd="0" parTransId="{63816936-1368-4C1E-906C-B4CD55734BC6}" sibTransId="{6DE444D3-19B9-484B-B14A-9C30710B236B}"/>
    <dgm:cxn modelId="{EF76087E-0A32-A143-AC1D-545A5B492E6A}" type="presOf" srcId="{2C510D40-BD63-4E80-98EA-CC3A58D053CC}" destId="{C9D79D52-6C43-9B42-A3E3-70CF172BDDF9}" srcOrd="1" destOrd="0" presId="urn:microsoft.com/office/officeart/2016/7/layout/RepeatingBendingProcessNew"/>
    <dgm:cxn modelId="{FB61B681-29EF-7242-9219-2B9A58B62F55}" type="presOf" srcId="{8055B99F-8255-4C24-9319-E3C0B98F8ED6}" destId="{E0398995-9460-854E-AD3E-1D8F933C89E6}" srcOrd="0" destOrd="0" presId="urn:microsoft.com/office/officeart/2016/7/layout/RepeatingBendingProcessNew"/>
    <dgm:cxn modelId="{D8428F87-8A2B-4FA8-812B-889FAE5C45C4}" srcId="{79C7484E-D834-4BFB-A5A0-82ED0EF151CD}" destId="{991927B3-E489-4422-BAAE-9B5423FD1417}" srcOrd="2" destOrd="0" parTransId="{E80921B2-03FB-4E22-8FE2-8F3C572E8D4A}" sibTransId="{8055B99F-8255-4C24-9319-E3C0B98F8ED6}"/>
    <dgm:cxn modelId="{A7F75088-A753-1B42-99CC-B52C89224ED0}" type="presOf" srcId="{067B113E-25C8-4927-9B94-566E8087EA18}" destId="{F3F695C5-3B0F-484F-A27B-9AC3DC4D9F38}" srcOrd="0" destOrd="0" presId="urn:microsoft.com/office/officeart/2016/7/layout/RepeatingBendingProcessNew"/>
    <dgm:cxn modelId="{C81DFB88-580D-A746-BBD0-612CACC48397}" type="presOf" srcId="{DC054F36-FB4A-455A-8938-C065EFFF6E35}" destId="{1C9044DA-ABE4-7048-A047-9EDA1347DA0B}" srcOrd="0" destOrd="0" presId="urn:microsoft.com/office/officeart/2016/7/layout/RepeatingBendingProcessNew"/>
    <dgm:cxn modelId="{0E906B89-273A-AE49-860D-B304A2811237}" type="presOf" srcId="{DE0B81BB-3ABD-4DD1-8C55-F0187D65A3B4}" destId="{DC3980AE-17F0-194A-B766-9912BED73A63}" srcOrd="0" destOrd="0" presId="urn:microsoft.com/office/officeart/2016/7/layout/RepeatingBendingProcessNew"/>
    <dgm:cxn modelId="{17B6C58F-79DC-1245-B2E7-4A7E23288503}" type="presOf" srcId="{27984EAB-518A-4B9D-BDAF-8FEEC3694249}" destId="{EFD47176-8D48-8641-84D3-D34E1ED1E40D}" srcOrd="0" destOrd="0" presId="urn:microsoft.com/office/officeart/2016/7/layout/RepeatingBendingProcessNew"/>
    <dgm:cxn modelId="{6253FC9D-DEC9-3844-8A2B-C344DD0744B1}" type="presOf" srcId="{991927B3-E489-4422-BAAE-9B5423FD1417}" destId="{CEF625C5-2DC8-804C-BF97-415DEE09AB3F}" srcOrd="0" destOrd="0" presId="urn:microsoft.com/office/officeart/2016/7/layout/RepeatingBendingProcessNew"/>
    <dgm:cxn modelId="{134257A1-512E-0746-B8D6-E9CD57654359}" type="presOf" srcId="{5819D32D-7490-4A88-97D9-E2DAD65A8B26}" destId="{A56A774A-51C0-2A4B-8913-2163883D2777}" srcOrd="0" destOrd="0" presId="urn:microsoft.com/office/officeart/2016/7/layout/RepeatingBendingProcessNew"/>
    <dgm:cxn modelId="{76CD66A7-5BFE-864D-A207-C13999A3507C}" type="presOf" srcId="{51B1A479-0991-4E48-97E0-BF5E02BED415}" destId="{E2AD5110-32A7-3946-AEA4-B446974E0C31}" srcOrd="0" destOrd="0" presId="urn:microsoft.com/office/officeart/2016/7/layout/RepeatingBendingProcessNew"/>
    <dgm:cxn modelId="{D87E58CD-A0A8-4DD8-AAE3-E731434CB9F1}" srcId="{79C7484E-D834-4BFB-A5A0-82ED0EF151CD}" destId="{3626AE4C-7DCC-44E0-BFC0-C03B18412EFA}" srcOrd="5" destOrd="0" parTransId="{E0100D85-04DF-4C66-8673-AC3FC8E90E34}" sibTransId="{4F59B8D6-EDC5-40C3-B67F-59B6276AB446}"/>
    <dgm:cxn modelId="{AC034FCF-2C78-2C40-8313-594808454E5A}" type="presOf" srcId="{73DBEE92-6D60-444C-BBF9-2A3E0E61A3B0}" destId="{B4F8A450-2C6D-C448-9473-74BA22A0C52A}" srcOrd="0" destOrd="0" presId="urn:microsoft.com/office/officeart/2016/7/layout/RepeatingBendingProcessNew"/>
    <dgm:cxn modelId="{06E1A8E1-3991-8148-A5B5-A5118FE4C7A8}" type="presOf" srcId="{E2BE426F-DE6B-4FA1-B735-03628D99082C}" destId="{81411C4D-E2F6-E249-B3E2-859AD4FD2590}" srcOrd="0" destOrd="0" presId="urn:microsoft.com/office/officeart/2016/7/layout/RepeatingBendingProcessNew"/>
    <dgm:cxn modelId="{437250EF-E9CE-6349-9FA7-6B0AC738834B}" type="presOf" srcId="{8055B99F-8255-4C24-9319-E3C0B98F8ED6}" destId="{B31BA208-96FF-7C44-9DEC-E9C65B0AE900}" srcOrd="1" destOrd="0" presId="urn:microsoft.com/office/officeart/2016/7/layout/RepeatingBendingProcessNew"/>
    <dgm:cxn modelId="{871BBFEF-5D19-2549-B936-F6C77496765C}" type="presOf" srcId="{56CF101F-DEF7-4E5C-87E7-0AE6A12EDA33}" destId="{61FDAC3B-84E8-364A-90B2-2ABCCF6BB75B}" srcOrd="1" destOrd="0" presId="urn:microsoft.com/office/officeart/2016/7/layout/RepeatingBendingProcessNew"/>
    <dgm:cxn modelId="{3849D3F1-91B7-474B-A100-1DB68D8154DF}" srcId="{79C7484E-D834-4BFB-A5A0-82ED0EF151CD}" destId="{73DBEE92-6D60-444C-BBF9-2A3E0E61A3B0}" srcOrd="3" destOrd="0" parTransId="{CD0D9FFA-DCD6-4A34-B8DA-DBDE154C8596}" sibTransId="{56CF101F-DEF7-4E5C-87E7-0AE6A12EDA33}"/>
    <dgm:cxn modelId="{B2EB2BF6-DD03-714F-B5C3-5A274EFC4F3C}" type="presOf" srcId="{3626AE4C-7DCC-44E0-BFC0-C03B18412EFA}" destId="{E9C8CF64-C7B3-764C-8685-C5A4E4729369}" srcOrd="0" destOrd="0" presId="urn:microsoft.com/office/officeart/2016/7/layout/RepeatingBendingProcessNew"/>
    <dgm:cxn modelId="{666774B8-4575-BD42-8E8B-CDD5026CE646}" type="presParOf" srcId="{EE76F495-2123-DD4D-99B1-0A15DE506FC2}" destId="{E2AD5110-32A7-3946-AEA4-B446974E0C31}" srcOrd="0" destOrd="0" presId="urn:microsoft.com/office/officeart/2016/7/layout/RepeatingBendingProcessNew"/>
    <dgm:cxn modelId="{FD99BAE0-14EA-364D-B540-2B349060F6C0}" type="presParOf" srcId="{EE76F495-2123-DD4D-99B1-0A15DE506FC2}" destId="{DC3980AE-17F0-194A-B766-9912BED73A63}" srcOrd="1" destOrd="0" presId="urn:microsoft.com/office/officeart/2016/7/layout/RepeatingBendingProcessNew"/>
    <dgm:cxn modelId="{CF679601-4EA0-CD49-B809-9184054E9A16}" type="presParOf" srcId="{DC3980AE-17F0-194A-B766-9912BED73A63}" destId="{8809174C-88B1-6E4D-B85A-DF24FFA8FDF8}" srcOrd="0" destOrd="0" presId="urn:microsoft.com/office/officeart/2016/7/layout/RepeatingBendingProcessNew"/>
    <dgm:cxn modelId="{B546F268-826A-C740-A1EE-2C91518A9B0A}" type="presParOf" srcId="{EE76F495-2123-DD4D-99B1-0A15DE506FC2}" destId="{4788A494-B29D-B444-A2C3-CE5812E5D1CA}" srcOrd="2" destOrd="0" presId="urn:microsoft.com/office/officeart/2016/7/layout/RepeatingBendingProcessNew"/>
    <dgm:cxn modelId="{ABF9396D-5CAB-6F4C-9479-2315AE8DE652}" type="presParOf" srcId="{EE76F495-2123-DD4D-99B1-0A15DE506FC2}" destId="{81411C4D-E2F6-E249-B3E2-859AD4FD2590}" srcOrd="3" destOrd="0" presId="urn:microsoft.com/office/officeart/2016/7/layout/RepeatingBendingProcessNew"/>
    <dgm:cxn modelId="{29EFC012-7D0A-EB46-B04E-33520D4058F4}" type="presParOf" srcId="{81411C4D-E2F6-E249-B3E2-859AD4FD2590}" destId="{9EDCC378-0B39-F042-B9CA-7801D95961AD}" srcOrd="0" destOrd="0" presId="urn:microsoft.com/office/officeart/2016/7/layout/RepeatingBendingProcessNew"/>
    <dgm:cxn modelId="{62CE83B1-B84C-9B4C-AA49-751203C7DCBD}" type="presParOf" srcId="{EE76F495-2123-DD4D-99B1-0A15DE506FC2}" destId="{CEF625C5-2DC8-804C-BF97-415DEE09AB3F}" srcOrd="4" destOrd="0" presId="urn:microsoft.com/office/officeart/2016/7/layout/RepeatingBendingProcessNew"/>
    <dgm:cxn modelId="{55BAD1B5-6902-8F40-8355-53A71E0F5C15}" type="presParOf" srcId="{EE76F495-2123-DD4D-99B1-0A15DE506FC2}" destId="{E0398995-9460-854E-AD3E-1D8F933C89E6}" srcOrd="5" destOrd="0" presId="urn:microsoft.com/office/officeart/2016/7/layout/RepeatingBendingProcessNew"/>
    <dgm:cxn modelId="{2416BB2E-4F92-6D4F-8739-225EDBD5B98C}" type="presParOf" srcId="{E0398995-9460-854E-AD3E-1D8F933C89E6}" destId="{B31BA208-96FF-7C44-9DEC-E9C65B0AE900}" srcOrd="0" destOrd="0" presId="urn:microsoft.com/office/officeart/2016/7/layout/RepeatingBendingProcessNew"/>
    <dgm:cxn modelId="{2EA3F369-9F87-5C44-9ED6-037E78D1EE88}" type="presParOf" srcId="{EE76F495-2123-DD4D-99B1-0A15DE506FC2}" destId="{B4F8A450-2C6D-C448-9473-74BA22A0C52A}" srcOrd="6" destOrd="0" presId="urn:microsoft.com/office/officeart/2016/7/layout/RepeatingBendingProcessNew"/>
    <dgm:cxn modelId="{4BF36A59-6176-2642-AB15-DA402364549A}" type="presParOf" srcId="{EE76F495-2123-DD4D-99B1-0A15DE506FC2}" destId="{4B1430C0-EB67-734A-8756-635289AD5C0A}" srcOrd="7" destOrd="0" presId="urn:microsoft.com/office/officeart/2016/7/layout/RepeatingBendingProcessNew"/>
    <dgm:cxn modelId="{C9A0F4B6-7F83-E943-A164-EA0B75CA428B}" type="presParOf" srcId="{4B1430C0-EB67-734A-8756-635289AD5C0A}" destId="{61FDAC3B-84E8-364A-90B2-2ABCCF6BB75B}" srcOrd="0" destOrd="0" presId="urn:microsoft.com/office/officeart/2016/7/layout/RepeatingBendingProcessNew"/>
    <dgm:cxn modelId="{F3764AC9-F9DB-0041-95DD-C8C7F99F1F6B}" type="presParOf" srcId="{EE76F495-2123-DD4D-99B1-0A15DE506FC2}" destId="{A56A774A-51C0-2A4B-8913-2163883D2777}" srcOrd="8" destOrd="0" presId="urn:microsoft.com/office/officeart/2016/7/layout/RepeatingBendingProcessNew"/>
    <dgm:cxn modelId="{C8333E25-665B-0B48-97AA-8CC304ABCE64}" type="presParOf" srcId="{EE76F495-2123-DD4D-99B1-0A15DE506FC2}" destId="{900B9065-2592-1640-BBBD-98163E394552}" srcOrd="9" destOrd="0" presId="urn:microsoft.com/office/officeart/2016/7/layout/RepeatingBendingProcessNew"/>
    <dgm:cxn modelId="{0BE85CF5-A244-2841-9F30-CD257E17F9E8}" type="presParOf" srcId="{900B9065-2592-1640-BBBD-98163E394552}" destId="{C9D79D52-6C43-9B42-A3E3-70CF172BDDF9}" srcOrd="0" destOrd="0" presId="urn:microsoft.com/office/officeart/2016/7/layout/RepeatingBendingProcessNew"/>
    <dgm:cxn modelId="{790E45B7-7390-574E-9DA7-83EDCE2F184B}" type="presParOf" srcId="{EE76F495-2123-DD4D-99B1-0A15DE506FC2}" destId="{E9C8CF64-C7B3-764C-8685-C5A4E4729369}" srcOrd="10" destOrd="0" presId="urn:microsoft.com/office/officeart/2016/7/layout/RepeatingBendingProcessNew"/>
    <dgm:cxn modelId="{2838C8AB-97DD-204F-9D5E-AD60FC9F58AD}" type="presParOf" srcId="{EE76F495-2123-DD4D-99B1-0A15DE506FC2}" destId="{FC0375A2-BCCD-CF47-A4BD-E3229DC90F85}" srcOrd="11" destOrd="0" presId="urn:microsoft.com/office/officeart/2016/7/layout/RepeatingBendingProcessNew"/>
    <dgm:cxn modelId="{7531B65D-DDC3-4D47-910D-2ADC3A7D4994}" type="presParOf" srcId="{FC0375A2-BCCD-CF47-A4BD-E3229DC90F85}" destId="{55130FF0-6E86-C14A-912A-9D92247CA83F}" srcOrd="0" destOrd="0" presId="urn:microsoft.com/office/officeart/2016/7/layout/RepeatingBendingProcessNew"/>
    <dgm:cxn modelId="{B9900ED9-E6A4-044B-BC90-CDBCDDFB097E}" type="presParOf" srcId="{EE76F495-2123-DD4D-99B1-0A15DE506FC2}" destId="{F3F695C5-3B0F-484F-A27B-9AC3DC4D9F38}" srcOrd="12" destOrd="0" presId="urn:microsoft.com/office/officeart/2016/7/layout/RepeatingBendingProcessNew"/>
    <dgm:cxn modelId="{7E16A319-8AC4-E849-8D4B-0D6DC477B7A1}" type="presParOf" srcId="{EE76F495-2123-DD4D-99B1-0A15DE506FC2}" destId="{1C9044DA-ABE4-7048-A047-9EDA1347DA0B}" srcOrd="13" destOrd="0" presId="urn:microsoft.com/office/officeart/2016/7/layout/RepeatingBendingProcessNew"/>
    <dgm:cxn modelId="{B5FAB7F6-2F48-D743-9D15-D9441F5E3860}" type="presParOf" srcId="{1C9044DA-ABE4-7048-A047-9EDA1347DA0B}" destId="{EEC645CD-0CF5-9342-AB9C-0EE1A1C4C26C}" srcOrd="0" destOrd="0" presId="urn:microsoft.com/office/officeart/2016/7/layout/RepeatingBendingProcessNew"/>
    <dgm:cxn modelId="{D14BF9EE-C3F5-914B-90F0-B7E9629E9C8F}" type="presParOf" srcId="{EE76F495-2123-DD4D-99B1-0A15DE506FC2}" destId="{EFD47176-8D48-8641-84D3-D34E1ED1E40D}" srcOrd="14" destOrd="0" presId="urn:microsoft.com/office/officeart/2016/7/layout/RepeatingBendingProcessNew"/>
    <dgm:cxn modelId="{0DA08EF6-5B31-4B4D-9375-B10016D85022}" type="presParOf" srcId="{EE76F495-2123-DD4D-99B1-0A15DE506FC2}" destId="{EBB59166-CD8A-F742-A30B-DEF5BB801624}" srcOrd="15" destOrd="0" presId="urn:microsoft.com/office/officeart/2016/7/layout/RepeatingBendingProcessNew"/>
    <dgm:cxn modelId="{673379EE-C234-2844-94F9-CA4831C07C73}" type="presParOf" srcId="{EBB59166-CD8A-F742-A30B-DEF5BB801624}" destId="{3DDD35C7-2CF3-7C4E-B4F5-42A91456E1E6}" srcOrd="0" destOrd="0" presId="urn:microsoft.com/office/officeart/2016/7/layout/RepeatingBendingProcessNew"/>
    <dgm:cxn modelId="{406E37DD-3C1D-384E-A87B-1CA626FC20E6}" type="presParOf" srcId="{EE76F495-2123-DD4D-99B1-0A15DE506FC2}" destId="{55F29D81-D118-5A49-93C2-C30A9C74852B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980AE-17F0-194A-B766-9912BED73A63}">
      <dsp:nvSpPr>
        <dsp:cNvPr id="0" name=""/>
        <dsp:cNvSpPr/>
      </dsp:nvSpPr>
      <dsp:spPr>
        <a:xfrm>
          <a:off x="2356666" y="1434226"/>
          <a:ext cx="5094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9497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97912" y="1477243"/>
        <a:ext cx="27004" cy="5406"/>
      </dsp:txXfrm>
    </dsp:sp>
    <dsp:sp modelId="{E2AD5110-32A7-3946-AEA4-B446974E0C31}">
      <dsp:nvSpPr>
        <dsp:cNvPr id="0" name=""/>
        <dsp:cNvSpPr/>
      </dsp:nvSpPr>
      <dsp:spPr>
        <a:xfrm>
          <a:off x="10215" y="775471"/>
          <a:ext cx="2348250" cy="140895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5066" tIns="120782" rIns="115066" bIns="12078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Listen to what your friend has to say. Believe them.</a:t>
          </a:r>
        </a:p>
      </dsp:txBody>
      <dsp:txXfrm>
        <a:off x="10215" y="775471"/>
        <a:ext cx="2348250" cy="1408950"/>
      </dsp:txXfrm>
    </dsp:sp>
    <dsp:sp modelId="{81411C4D-E2F6-E249-B3E2-859AD4FD2590}">
      <dsp:nvSpPr>
        <dsp:cNvPr id="0" name=""/>
        <dsp:cNvSpPr/>
      </dsp:nvSpPr>
      <dsp:spPr>
        <a:xfrm>
          <a:off x="5245014" y="1434226"/>
          <a:ext cx="5094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9497" y="45720"/>
              </a:lnTo>
            </a:path>
          </a:pathLst>
        </a:custGeom>
        <a:noFill/>
        <a:ln w="6350" cap="flat" cmpd="sng" algn="ctr">
          <a:solidFill>
            <a:schemeClr val="accent5">
              <a:hueOff val="-965506"/>
              <a:satOff val="-2488"/>
              <a:lumOff val="-16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86261" y="1477243"/>
        <a:ext cx="27004" cy="5406"/>
      </dsp:txXfrm>
    </dsp:sp>
    <dsp:sp modelId="{4788A494-B29D-B444-A2C3-CE5812E5D1CA}">
      <dsp:nvSpPr>
        <dsp:cNvPr id="0" name=""/>
        <dsp:cNvSpPr/>
      </dsp:nvSpPr>
      <dsp:spPr>
        <a:xfrm>
          <a:off x="2898564" y="775471"/>
          <a:ext cx="2348250" cy="1408950"/>
        </a:xfrm>
        <a:prstGeom prst="rect">
          <a:avLst/>
        </a:prstGeom>
        <a:gradFill rotWithShape="0">
          <a:gsLst>
            <a:gs pos="0">
              <a:schemeClr val="accent5">
                <a:hueOff val="-844818"/>
                <a:satOff val="-2177"/>
                <a:lumOff val="-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44818"/>
                <a:satOff val="-2177"/>
                <a:lumOff val="-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44818"/>
                <a:satOff val="-2177"/>
                <a:lumOff val="-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5066" tIns="120782" rIns="115066" bIns="12078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/>
            <a:t>Be supportive, encouraging, open and honest.</a:t>
          </a:r>
          <a:endParaRPr lang="en-US" sz="1600" kern="1200" dirty="0"/>
        </a:p>
      </dsp:txBody>
      <dsp:txXfrm>
        <a:off x="2898564" y="775471"/>
        <a:ext cx="2348250" cy="1408950"/>
      </dsp:txXfrm>
    </dsp:sp>
    <dsp:sp modelId="{E0398995-9460-854E-AD3E-1D8F933C89E6}">
      <dsp:nvSpPr>
        <dsp:cNvPr id="0" name=""/>
        <dsp:cNvSpPr/>
      </dsp:nvSpPr>
      <dsp:spPr>
        <a:xfrm>
          <a:off x="1184340" y="2182622"/>
          <a:ext cx="5776697" cy="509497"/>
        </a:xfrm>
        <a:custGeom>
          <a:avLst/>
          <a:gdLst/>
          <a:ahLst/>
          <a:cxnLst/>
          <a:rect l="0" t="0" r="0" b="0"/>
          <a:pathLst>
            <a:path>
              <a:moveTo>
                <a:pt x="5776697" y="0"/>
              </a:moveTo>
              <a:lnTo>
                <a:pt x="5776697" y="271848"/>
              </a:lnTo>
              <a:lnTo>
                <a:pt x="0" y="271848"/>
              </a:lnTo>
              <a:lnTo>
                <a:pt x="0" y="509497"/>
              </a:lnTo>
            </a:path>
          </a:pathLst>
        </a:custGeom>
        <a:noFill/>
        <a:ln w="6350" cap="flat" cmpd="sng" algn="ctr">
          <a:solidFill>
            <a:schemeClr val="accent5">
              <a:hueOff val="-1931012"/>
              <a:satOff val="-4977"/>
              <a:lumOff val="-33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27642" y="2434667"/>
        <a:ext cx="290094" cy="5406"/>
      </dsp:txXfrm>
    </dsp:sp>
    <dsp:sp modelId="{CEF625C5-2DC8-804C-BF97-415DEE09AB3F}">
      <dsp:nvSpPr>
        <dsp:cNvPr id="0" name=""/>
        <dsp:cNvSpPr/>
      </dsp:nvSpPr>
      <dsp:spPr>
        <a:xfrm>
          <a:off x="5786912" y="775471"/>
          <a:ext cx="2348250" cy="1408950"/>
        </a:xfrm>
        <a:prstGeom prst="rect">
          <a:avLst/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5066" tIns="120782" rIns="115066" bIns="12078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Listen without judging, be supportive, encouraging, open and honest.</a:t>
          </a:r>
        </a:p>
      </dsp:txBody>
      <dsp:txXfrm>
        <a:off x="5786912" y="775471"/>
        <a:ext cx="2348250" cy="1408950"/>
      </dsp:txXfrm>
    </dsp:sp>
    <dsp:sp modelId="{4B1430C0-EB67-734A-8756-635289AD5C0A}">
      <dsp:nvSpPr>
        <dsp:cNvPr id="0" name=""/>
        <dsp:cNvSpPr/>
      </dsp:nvSpPr>
      <dsp:spPr>
        <a:xfrm>
          <a:off x="2356666" y="3383275"/>
          <a:ext cx="5094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9497" y="45720"/>
              </a:lnTo>
            </a:path>
          </a:pathLst>
        </a:custGeom>
        <a:noFill/>
        <a:ln w="6350" cap="flat" cmpd="sng" algn="ctr">
          <a:solidFill>
            <a:schemeClr val="accent5">
              <a:hueOff val="-2896518"/>
              <a:satOff val="-7465"/>
              <a:lumOff val="-504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97912" y="3426291"/>
        <a:ext cx="27004" cy="5406"/>
      </dsp:txXfrm>
    </dsp:sp>
    <dsp:sp modelId="{B4F8A450-2C6D-C448-9473-74BA22A0C52A}">
      <dsp:nvSpPr>
        <dsp:cNvPr id="0" name=""/>
        <dsp:cNvSpPr/>
      </dsp:nvSpPr>
      <dsp:spPr>
        <a:xfrm>
          <a:off x="10215" y="2724519"/>
          <a:ext cx="2348250" cy="1408950"/>
        </a:xfrm>
        <a:prstGeom prst="rect">
          <a:avLst/>
        </a:prstGeom>
        <a:gradFill rotWithShape="0">
          <a:gsLst>
            <a:gs pos="0">
              <a:schemeClr val="accent5">
                <a:hueOff val="-2534453"/>
                <a:satOff val="-6532"/>
                <a:lumOff val="-441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534453"/>
                <a:satOff val="-6532"/>
                <a:lumOff val="-441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534453"/>
                <a:satOff val="-6532"/>
                <a:lumOff val="-441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5066" tIns="120782" rIns="115066" bIns="12078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Ask if they need help from a support service, and/or help create a safety plan.</a:t>
          </a:r>
        </a:p>
      </dsp:txBody>
      <dsp:txXfrm>
        <a:off x="10215" y="2724519"/>
        <a:ext cx="2348250" cy="1408950"/>
      </dsp:txXfrm>
    </dsp:sp>
    <dsp:sp modelId="{900B9065-2592-1640-BBBD-98163E394552}">
      <dsp:nvSpPr>
        <dsp:cNvPr id="0" name=""/>
        <dsp:cNvSpPr/>
      </dsp:nvSpPr>
      <dsp:spPr>
        <a:xfrm>
          <a:off x="5245014" y="3383275"/>
          <a:ext cx="5094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9497" y="45720"/>
              </a:lnTo>
            </a:path>
          </a:pathLst>
        </a:custGeom>
        <a:noFill/>
        <a:ln w="6350" cap="flat" cmpd="sng" algn="ctr">
          <a:solidFill>
            <a:schemeClr val="accent5">
              <a:hueOff val="-3862025"/>
              <a:satOff val="-9954"/>
              <a:lumOff val="-672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86261" y="3426291"/>
        <a:ext cx="27004" cy="5406"/>
      </dsp:txXfrm>
    </dsp:sp>
    <dsp:sp modelId="{A56A774A-51C0-2A4B-8913-2163883D2777}">
      <dsp:nvSpPr>
        <dsp:cNvPr id="0" name=""/>
        <dsp:cNvSpPr/>
      </dsp:nvSpPr>
      <dsp:spPr>
        <a:xfrm>
          <a:off x="2898564" y="2724519"/>
          <a:ext cx="2348250" cy="1408950"/>
        </a:xfrm>
        <a:prstGeom prst="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5066" tIns="120782" rIns="115066" bIns="12078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Help them to get advice and support (i.e., 1800 RESPECT etc.)</a:t>
          </a:r>
        </a:p>
      </dsp:txBody>
      <dsp:txXfrm>
        <a:off x="2898564" y="2724519"/>
        <a:ext cx="2348250" cy="1408950"/>
      </dsp:txXfrm>
    </dsp:sp>
    <dsp:sp modelId="{FC0375A2-BCCD-CF47-A4BD-E3229DC90F85}">
      <dsp:nvSpPr>
        <dsp:cNvPr id="0" name=""/>
        <dsp:cNvSpPr/>
      </dsp:nvSpPr>
      <dsp:spPr>
        <a:xfrm>
          <a:off x="1184340" y="4131670"/>
          <a:ext cx="5776697" cy="509497"/>
        </a:xfrm>
        <a:custGeom>
          <a:avLst/>
          <a:gdLst/>
          <a:ahLst/>
          <a:cxnLst/>
          <a:rect l="0" t="0" r="0" b="0"/>
          <a:pathLst>
            <a:path>
              <a:moveTo>
                <a:pt x="5776697" y="0"/>
              </a:moveTo>
              <a:lnTo>
                <a:pt x="5776697" y="271848"/>
              </a:lnTo>
              <a:lnTo>
                <a:pt x="0" y="271848"/>
              </a:lnTo>
              <a:lnTo>
                <a:pt x="0" y="509497"/>
              </a:lnTo>
            </a:path>
          </a:pathLst>
        </a:custGeom>
        <a:noFill/>
        <a:ln w="6350" cap="flat" cmpd="sng" algn="ctr">
          <a:solidFill>
            <a:schemeClr val="accent5">
              <a:hueOff val="-4827531"/>
              <a:satOff val="-12442"/>
              <a:lumOff val="-840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27642" y="4383716"/>
        <a:ext cx="290094" cy="5406"/>
      </dsp:txXfrm>
    </dsp:sp>
    <dsp:sp modelId="{E9C8CF64-C7B3-764C-8685-C5A4E4729369}">
      <dsp:nvSpPr>
        <dsp:cNvPr id="0" name=""/>
        <dsp:cNvSpPr/>
      </dsp:nvSpPr>
      <dsp:spPr>
        <a:xfrm>
          <a:off x="5786912" y="2724519"/>
          <a:ext cx="2348250" cy="1408950"/>
        </a:xfrm>
        <a:prstGeom prst="rect">
          <a:avLst/>
        </a:prstGeom>
        <a:gradFill rotWithShape="0">
          <a:gsLst>
            <a:gs pos="0">
              <a:schemeClr val="accent5">
                <a:hueOff val="-4224089"/>
                <a:satOff val="-10887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224089"/>
                <a:satOff val="-10887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224089"/>
                <a:satOff val="-10887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5066" tIns="120782" rIns="115066" bIns="12078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You access help yourself to get support on how to help someone.</a:t>
          </a:r>
        </a:p>
      </dsp:txBody>
      <dsp:txXfrm>
        <a:off x="5786912" y="2724519"/>
        <a:ext cx="2348250" cy="1408950"/>
      </dsp:txXfrm>
    </dsp:sp>
    <dsp:sp modelId="{1C9044DA-ABE4-7048-A047-9EDA1347DA0B}">
      <dsp:nvSpPr>
        <dsp:cNvPr id="0" name=""/>
        <dsp:cNvSpPr/>
      </dsp:nvSpPr>
      <dsp:spPr>
        <a:xfrm>
          <a:off x="2356666" y="5332323"/>
          <a:ext cx="5094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9497" y="45720"/>
              </a:lnTo>
            </a:path>
          </a:pathLst>
        </a:custGeom>
        <a:noFill/>
        <a:ln w="6350" cap="flat" cmpd="sng" algn="ctr">
          <a:solidFill>
            <a:schemeClr val="accent5">
              <a:hueOff val="-5793037"/>
              <a:satOff val="-14931"/>
              <a:lumOff val="-1008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97912" y="5375340"/>
        <a:ext cx="27004" cy="5406"/>
      </dsp:txXfrm>
    </dsp:sp>
    <dsp:sp modelId="{F3F695C5-3B0F-484F-A27B-9AC3DC4D9F38}">
      <dsp:nvSpPr>
        <dsp:cNvPr id="0" name=""/>
        <dsp:cNvSpPr/>
      </dsp:nvSpPr>
      <dsp:spPr>
        <a:xfrm>
          <a:off x="10215" y="4673567"/>
          <a:ext cx="2348250" cy="1408950"/>
        </a:xfrm>
        <a:prstGeom prst="rect">
          <a:avLst/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5066" tIns="120782" rIns="115066" bIns="12078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Offer to go with them if they meet with a support service.</a:t>
          </a:r>
        </a:p>
      </dsp:txBody>
      <dsp:txXfrm>
        <a:off x="10215" y="4673567"/>
        <a:ext cx="2348250" cy="1408950"/>
      </dsp:txXfrm>
    </dsp:sp>
    <dsp:sp modelId="{EBB59166-CD8A-F742-A30B-DEF5BB801624}">
      <dsp:nvSpPr>
        <dsp:cNvPr id="0" name=""/>
        <dsp:cNvSpPr/>
      </dsp:nvSpPr>
      <dsp:spPr>
        <a:xfrm>
          <a:off x="5245014" y="5332323"/>
          <a:ext cx="5094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9497" y="45720"/>
              </a:lnTo>
            </a:path>
          </a:pathLst>
        </a:custGeom>
        <a:noFill/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86261" y="5375340"/>
        <a:ext cx="27004" cy="5406"/>
      </dsp:txXfrm>
    </dsp:sp>
    <dsp:sp modelId="{EFD47176-8D48-8641-84D3-D34E1ED1E40D}">
      <dsp:nvSpPr>
        <dsp:cNvPr id="0" name=""/>
        <dsp:cNvSpPr/>
      </dsp:nvSpPr>
      <dsp:spPr>
        <a:xfrm>
          <a:off x="2898564" y="4673567"/>
          <a:ext cx="2348250" cy="1408950"/>
        </a:xfrm>
        <a:prstGeom prst="rect">
          <a:avLst/>
        </a:prstGeom>
        <a:gradFill rotWithShape="0">
          <a:gsLst>
            <a:gs pos="0">
              <a:schemeClr val="accent5">
                <a:hueOff val="-5913725"/>
                <a:satOff val="-15242"/>
                <a:lumOff val="-10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913725"/>
                <a:satOff val="-15242"/>
                <a:lumOff val="-10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913725"/>
                <a:satOff val="-15242"/>
                <a:lumOff val="-10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5066" tIns="120782" rIns="115066" bIns="12078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Remind your friend it is not their fault.</a:t>
          </a:r>
        </a:p>
      </dsp:txBody>
      <dsp:txXfrm>
        <a:off x="2898564" y="4673567"/>
        <a:ext cx="2348250" cy="1408950"/>
      </dsp:txXfrm>
    </dsp:sp>
    <dsp:sp modelId="{55F29D81-D118-5A49-93C2-C30A9C74852B}">
      <dsp:nvSpPr>
        <dsp:cNvPr id="0" name=""/>
        <dsp:cNvSpPr/>
      </dsp:nvSpPr>
      <dsp:spPr>
        <a:xfrm>
          <a:off x="5786912" y="4673567"/>
          <a:ext cx="2348250" cy="1408950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5066" tIns="120782" rIns="115066" bIns="12078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Continue to be a friend even when you feel frustrated by their decisions or actions. </a:t>
          </a:r>
          <a:br>
            <a:rPr lang="en-US" sz="1600" kern="1200" dirty="0"/>
          </a:br>
          <a:endParaRPr lang="en-US" sz="1600" kern="1200" dirty="0"/>
        </a:p>
      </dsp:txBody>
      <dsp:txXfrm>
        <a:off x="5786912" y="4673567"/>
        <a:ext cx="2348250" cy="14089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1D8AB0-823E-BC43-B6E2-654A40F2AE32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A5B9A-3C2C-634F-8582-DEDD16CFA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84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tv/CbE4P9fD9cd/?utm_medium=copy_link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time remaining at the end of the lesson can be spent doing revision.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07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Students will have to go back through their book to pg.19. Activity is at the top of the page – ‘Healthy or Unhealthy – what do you see?’ (above relationship expectations).</a:t>
            </a:r>
          </a:p>
          <a:p>
            <a:endParaRPr lang="en-AU" dirty="0"/>
          </a:p>
          <a:p>
            <a:r>
              <a:rPr lang="en-AU" dirty="0"/>
              <a:t>TW: physical and emotional abuse is shown in the first video. If this is a problem for your class, you can skip this activity. </a:t>
            </a:r>
          </a:p>
          <a:p>
            <a:endParaRPr lang="en-AU" dirty="0"/>
          </a:p>
          <a:p>
            <a:r>
              <a:rPr lang="en-AU" dirty="0"/>
              <a:t>Alternative – watch the ‘Monica and Chandler’ video and identify the positives followed by a class discussion about how that situation could have been different if they shared an unhealthy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46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scene is from the movie ‘Safe Haven’ (M). It shows how she is trying to escape from her abusive ex-partner and in doing so, she has moved to another town and changed her name and her appearance. She is experiencing a flashback of how he was abusive to her.</a:t>
            </a:r>
          </a:p>
          <a:p>
            <a:r>
              <a:rPr lang="en-AU" dirty="0"/>
              <a:t>(3:02min)</a:t>
            </a:r>
          </a:p>
          <a:p>
            <a:endParaRPr lang="en-AU" dirty="0"/>
          </a:p>
          <a:p>
            <a:r>
              <a:rPr lang="en-AU" dirty="0"/>
              <a:t>TW: physical and emotional abuse is shown in this video. If this is a problem for your class, you can skip this activity. </a:t>
            </a:r>
          </a:p>
          <a:p>
            <a:endParaRPr lang="en-AU" dirty="0"/>
          </a:p>
          <a:p>
            <a:r>
              <a:rPr lang="en-AU" b="1" dirty="0"/>
              <a:t>Alternative</a:t>
            </a:r>
            <a:r>
              <a:rPr lang="en-AU" dirty="0"/>
              <a:t> – watch the ‘Monica and Chandler’ video and identify the positives followed by a class discussion about how that situation could have been different if they shared an unhealthy relationship.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30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scene is from an episode of ‘Friends’, after Monica and Chandler have had a fight. They show signs of a healthy relationship through communication, compassion, and love. </a:t>
            </a:r>
          </a:p>
          <a:p>
            <a:endParaRPr lang="en-A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Alternative – watch the ‘Monica and Chandler’ video and identify the positives followed by a class discussion about how that situation could have been different if they shared an unhealthy relationship.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20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Relevant to test – students need to be able to draw it and describe it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95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97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Relevant to test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2517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Discuss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86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Relevant to test</a:t>
            </a:r>
          </a:p>
          <a:p>
            <a:r>
              <a:rPr lang="en-US" dirty="0"/>
              <a:t>Fill in the blanks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45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Relevant to test.</a:t>
            </a:r>
          </a:p>
          <a:p>
            <a:r>
              <a:rPr lang="en-AU" b="0" dirty="0"/>
              <a:t>2 ways to do activity – choose what best suits your class and time. </a:t>
            </a:r>
          </a:p>
          <a:p>
            <a:endParaRPr lang="en-AU" b="0" dirty="0"/>
          </a:p>
          <a:p>
            <a:r>
              <a:rPr lang="en-AU" b="0" dirty="0"/>
              <a:t>Option 1: Choose one video and answer together as a class and allow students to complete the questions for the second video individually.</a:t>
            </a:r>
          </a:p>
          <a:p>
            <a:r>
              <a:rPr lang="en-AU" b="0" dirty="0"/>
              <a:t>Option 2: Students answer the questions for both videos individually.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05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Click on the link to view the video.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hlinkClick r:id="rId3"/>
              </a:rPr>
              <a:t>Mayor of London, Sadiq Khan on Instagram: "Male violence against women and girls starts with words. If you see it happening, have a word with yourself—then your mates. #HaveAWord”</a:t>
            </a:r>
            <a:endParaRPr lang="en-A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72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Hand out revision</a:t>
            </a:r>
          </a:p>
          <a:p>
            <a:r>
              <a:rPr lang="en-US" dirty="0"/>
              <a:t>Any time remaining at the end of the lesson can be spent doing revision.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A5B9A-3C2C-634F-8582-DEDD16CFA49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73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9AA1A-D8B1-B642-B5FA-034749F00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48208-7E1A-2842-9604-D48C8115B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D32A0-8103-2F47-908B-7AC7ADBC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2523C-BF98-5C47-949E-8CDF6A7D9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FB279-DBA7-D543-9D04-0ECEA4E4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31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80EA1-A710-F147-9824-FB42D2C9D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99643-CDF0-E34C-B40B-9434A83A5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F9938-6456-8F4B-9B08-7488A5CF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4C054-08B0-5B44-9711-9BB0C76B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AAB5F-5A0F-AA4F-8FD6-F2EE01931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73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0EFE-F65D-6F4C-8C4C-DC15EF29C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FE3DD-78E9-D249-943F-5E4AEEE50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B39EF-E1B2-B64F-AAD4-20D3914D3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99ED9-2095-0A41-AB8D-90D47260E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8ADEF-2CEE-B841-96FC-F8D9104E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48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E1E26-37BA-E549-BD51-98C7135C0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D16B1-A7DE-884E-95DC-E8EC2F2F2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E544C-6FF8-9E4D-BAE4-1A2FC7E52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11BE4-852C-3746-9893-BA9B2652F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8825C-06C9-A148-A71C-379F8483F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F2281-33C0-3849-B726-A8E450A4C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7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06A-1FC2-9344-B2F0-D934AA48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FE8CD-C22E-5647-B94D-33B7F3186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0C789A-EFDA-564A-98F3-5BD3F16ED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AC524-F52B-A344-87EF-A1FEF99F9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1ABD3-34ED-A644-A137-CEDDB1CD3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D7F7FB-B51D-8C49-B148-318DED999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5E6BCA-80FE-854D-A627-CB445E9F1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B53A1-E6B2-1D46-9449-75F09ADD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69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4BC2-E1E3-4A47-8E88-D0FAAF02E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FE690-8409-C742-8F18-F5AE6D23D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EF96A-3236-3845-9EA2-6CD6A1E72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07D1B-E98B-4F40-9B4D-517191D63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02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270B5-9A5A-694A-B974-09018805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8DD51E-F58F-B046-A91A-D16B3D916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2B5AE-A52D-A649-BD4D-793CC9E99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98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27A4-AAA9-B64A-83F5-4DD4CBE5C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1413B-299C-724C-BAD9-DEA48B1EC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F122A-EECE-BE40-AE9F-E05D37648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62703-E69F-E747-97CA-DD322AAD1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8D0EC-2AAA-D248-B725-13A0BA30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E50A9-9718-AF49-A12A-099EEB54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0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30E7E-3AAD-8640-8E0A-9FCACF793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C49A7A-C6D8-4D49-821A-67652640A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0C745-8D8F-F841-AA14-AFA13EFB6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06B88-47F5-5848-A203-CCB8D6050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27A69-2FC3-C347-BEA2-747DA72D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0AA35-18F3-A74C-9C84-999E18D5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92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4BE7B-E8E3-C544-9C83-408A67C9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9654D-3051-1343-8CAA-1F241AD08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3C3A0-CADC-6344-8A5D-0765713FC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C358-F5F0-BE49-8F7F-9101BC176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B55-F420-0C4A-B017-46666B4E8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5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3FB6C5-D359-6143-9E99-2EB8B86CBF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CD439-AC10-3F49-A649-8741A63D4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84498-23F1-FB47-AEA2-BB246838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59AE7-6904-2D45-9FAB-ED6CA66A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6B0AF-B5D8-D041-8BB1-0FEEC92A1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81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6B43D-F0C7-FF42-BDE7-EA5B8850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F1A2C-2AC7-4847-8D14-9896AD45D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E72F5-7135-7942-B0F0-FD85E1119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E862B-DCF5-3D49-BDE7-145C8C175210}" type="datetimeFigureOut">
              <a:rPr lang="en-US" smtClean="0"/>
              <a:t>11/10/2023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21C71-EAA6-0E40-ABD1-5AA76963D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FDDCD-3762-3A43-A576-339DC3E37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EDAD0-5C73-0347-AD99-7654E3306D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5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cp.wa.gov.au/CrisisAndEmergency/Pages/Women's-Domestic-Violence-Helpline.aspx" TargetMode="External"/><Relationship Id="rId7" Type="http://schemas.openxmlformats.org/officeDocument/2006/relationships/hyperlink" Target="https://www.mensline.org.au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kidshelpline.com.au/" TargetMode="External"/><Relationship Id="rId5" Type="http://schemas.openxmlformats.org/officeDocument/2006/relationships/hyperlink" Target="https://www.lifeline.org.au/" TargetMode="External"/><Relationship Id="rId4" Type="http://schemas.openxmlformats.org/officeDocument/2006/relationships/hyperlink" Target="http://www.dcp.wa.gov.au/CrisisAndEmergency/Pages/Men's-Domestic-Violence-Helpline.aspx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tv/CbE4P9fD9cd/?utm_medium=copy_link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ow to build closer relationships |">
            <a:extLst>
              <a:ext uri="{FF2B5EF4-FFF2-40B4-BE49-F238E27FC236}">
                <a16:creationId xmlns:a16="http://schemas.microsoft.com/office/drawing/2014/main" id="{993A6699-BC9B-511F-3E60-ABF0D8FB83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6" b="473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BD0C3AA-FE2A-B1FA-AAE1-86525DFA0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en-AU" sz="11500" i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Relationships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1600534-E8EC-062C-BAE6-7252BE062A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en-AU" sz="2000" dirty="0"/>
              <a:t>Year 10 Health 2024</a:t>
            </a:r>
          </a:p>
          <a:p>
            <a:pPr algn="l"/>
            <a:endParaRPr lang="en-AU" sz="2000" dirty="0"/>
          </a:p>
          <a:p>
            <a:pPr algn="l"/>
            <a:r>
              <a:rPr lang="en-AU" sz="2000" dirty="0"/>
              <a:t>Lesson 4</a:t>
            </a:r>
          </a:p>
        </p:txBody>
      </p:sp>
    </p:spTree>
    <p:extLst>
      <p:ext uri="{BB962C8B-B14F-4D97-AF65-F5344CB8AC3E}">
        <p14:creationId xmlns:p14="http://schemas.microsoft.com/office/powerpoint/2010/main" val="1137742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4840D-1C6F-CE4F-9326-77D4E899D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n-US" sz="4300" b="1" dirty="0"/>
              <a:t>Todays Focus: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bout a Relationship | Humans">
            <a:extLst>
              <a:ext uri="{FF2B5EF4-FFF2-40B4-BE49-F238E27FC236}">
                <a16:creationId xmlns:a16="http://schemas.microsoft.com/office/drawing/2014/main" id="{96FABFFB-E460-7943-9DB7-118103F51A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5" r="13374" b="-2"/>
          <a:stretch/>
        </p:blipFill>
        <p:spPr bwMode="auto"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1F4BF-2934-5D4F-827E-B5276B218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990818"/>
            <a:ext cx="4928445" cy="2913872"/>
          </a:xfrm>
        </p:spPr>
        <p:txBody>
          <a:bodyPr anchor="t">
            <a:normAutofit/>
          </a:bodyPr>
          <a:lstStyle/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Outline the cycle of abuse.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Find resources to access help and help someone else. 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Analyse media to identify healthy, unhealthy and abusive characteristics in relationships.</a:t>
            </a:r>
          </a:p>
        </p:txBody>
      </p:sp>
      <p:sp>
        <p:nvSpPr>
          <p:cNvPr id="79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81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788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ubble sheet test paper and pencil">
            <a:extLst>
              <a:ext uri="{FF2B5EF4-FFF2-40B4-BE49-F238E27FC236}">
                <a16:creationId xmlns:a16="http://schemas.microsoft.com/office/drawing/2014/main" id="{E8B5B8A4-AEDE-65F9-FCF1-1E4FD5EF8E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462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E237C8-4809-6F69-ABC9-644C86F1F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TOPIC TEST NEXT WEEK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21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 amt="35000"/>
          </a:blip>
          <a:srcRect l="4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1825625"/>
            <a:ext cx="80957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FFFFFF"/>
                </a:solidFill>
              </a:rPr>
              <a:t>In the following slides we will be watching and discussing topics that may be sensitive. If something upsets you, please let the teacher know.</a:t>
            </a:r>
          </a:p>
        </p:txBody>
      </p:sp>
    </p:spTree>
    <p:extLst>
      <p:ext uri="{BB962C8B-B14F-4D97-AF65-F5344CB8AC3E}">
        <p14:creationId xmlns:p14="http://schemas.microsoft.com/office/powerpoint/2010/main" val="2273683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E6FE3-4963-FC46-8777-A419E1159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Optional Hook: What do you see? </a:t>
            </a:r>
            <a:r>
              <a:rPr lang="en-AU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(pg.19)</a:t>
            </a:r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2" descr="An Online Wheel Spinner for Every Occasion • TechNotes Blog">
            <a:extLst>
              <a:ext uri="{FF2B5EF4-FFF2-40B4-BE49-F238E27FC236}">
                <a16:creationId xmlns:a16="http://schemas.microsoft.com/office/drawing/2014/main" id="{67E0AE35-AFF4-D64F-A74E-D2E9A7400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000" b="93667" l="1384" r="91696">
                        <a14:foregroundMark x1="8651" y1="36667" x2="8997" y2="62333"/>
                        <a14:foregroundMark x1="8997" y1="62333" x2="26644" y2="82333"/>
                        <a14:foregroundMark x1="26644" y1="82333" x2="37716" y2="89333"/>
                        <a14:foregroundMark x1="37716" y1="89333" x2="50865" y2="92333"/>
                        <a14:foregroundMark x1="50865" y1="92333" x2="63322" y2="86667"/>
                        <a14:foregroundMark x1="63322" y1="86667" x2="80623" y2="67333"/>
                        <a14:foregroundMark x1="80623" y1="67333" x2="86505" y2="55000"/>
                        <a14:foregroundMark x1="86505" y1="55000" x2="86851" y2="42000"/>
                        <a14:foregroundMark x1="86851" y1="42000" x2="82007" y2="29667"/>
                        <a14:foregroundMark x1="82007" y1="29667" x2="69896" y2="21667"/>
                        <a14:foregroundMark x1="69896" y1="21667" x2="42215" y2="18000"/>
                        <a14:foregroundMark x1="42215" y1="18000" x2="29412" y2="20333"/>
                        <a14:foregroundMark x1="29412" y1="20333" x2="10035" y2="36333"/>
                        <a14:foregroundMark x1="25606" y1="20333" x2="37716" y2="35333"/>
                        <a14:foregroundMark x1="37370" y1="14000" x2="41522" y2="26333"/>
                        <a14:foregroundMark x1="41522" y1="26333" x2="45329" y2="31667"/>
                        <a14:foregroundMark x1="55709" y1="13667" x2="54671" y2="27333"/>
                        <a14:foregroundMark x1="54671" y1="27333" x2="48443" y2="41333"/>
                        <a14:foregroundMark x1="69550" y1="22667" x2="62630" y2="34000"/>
                        <a14:foregroundMark x1="62630" y1="34000" x2="62284" y2="34333"/>
                        <a14:foregroundMark x1="78547" y1="35667" x2="69204" y2="38667"/>
                        <a14:foregroundMark x1="86159" y1="50000" x2="65052" y2="50333"/>
                        <a14:foregroundMark x1="78547" y1="46667" x2="74740" y2="64333"/>
                        <a14:foregroundMark x1="85121" y1="65333" x2="82353" y2="63000"/>
                        <a14:foregroundMark x1="74394" y1="61333" x2="75087" y2="59333"/>
                        <a14:foregroundMark x1="78547" y1="59333" x2="74740" y2="62333"/>
                        <a14:foregroundMark x1="83737" y1="58667" x2="78547" y2="62667"/>
                        <a14:foregroundMark x1="65744" y1="66333" x2="77509" y2="77667"/>
                        <a14:foregroundMark x1="56055" y1="71000" x2="60208" y2="83000"/>
                        <a14:foregroundMark x1="60208" y1="83000" x2="64014" y2="88000"/>
                        <a14:foregroundMark x1="64014" y1="87667" x2="61246" y2="81333"/>
                        <a14:foregroundMark x1="37370" y1="73000" x2="32872" y2="84000"/>
                        <a14:foregroundMark x1="48097" y1="76667" x2="49481" y2="89000"/>
                        <a14:foregroundMark x1="17301" y1="76667" x2="28028" y2="67667"/>
                        <a14:foregroundMark x1="28028" y1="67667" x2="30796" y2="66333"/>
                        <a14:foregroundMark x1="8997" y1="62000" x2="22145" y2="59000"/>
                        <a14:foregroundMark x1="4152" y1="46000" x2="30796" y2="49667"/>
                        <a14:foregroundMark x1="30796" y1="49667" x2="31142" y2="49333"/>
                        <a14:foregroundMark x1="11419" y1="31667" x2="29412" y2="41333"/>
                        <a14:foregroundMark x1="39446" y1="13667" x2="40138" y2="17000"/>
                        <a14:foregroundMark x1="43198" y1="11526" x2="49135" y2="8667"/>
                        <a14:foregroundMark x1="41522" y1="12333" x2="43113" y2="11567"/>
                        <a14:foregroundMark x1="77855" y1="45000" x2="89965" y2="49333"/>
                        <a14:foregroundMark x1="89965" y1="49333" x2="91349" y2="50667"/>
                        <a14:foregroundMark x1="47405" y1="4667" x2="47405" y2="4667"/>
                        <a14:foregroundMark x1="45587" y1="3014" x2="48097" y2="4333"/>
                        <a14:foregroundMark x1="13495" y1="72000" x2="32180" y2="89667"/>
                        <a14:foregroundMark x1="32180" y1="89667" x2="44983" y2="93333"/>
                        <a14:foregroundMark x1="44983" y1="93333" x2="58131" y2="92667"/>
                        <a14:foregroundMark x1="58131" y1="92667" x2="66436" y2="87667"/>
                        <a14:foregroundMark x1="60554" y1="87000" x2="74048" y2="85667"/>
                        <a14:foregroundMark x1="74048" y1="85667" x2="83391" y2="76333"/>
                        <a14:foregroundMark x1="83391" y1="76333" x2="91696" y2="51333"/>
                        <a14:foregroundMark x1="91696" y1="51333" x2="89965" y2="39000"/>
                        <a14:foregroundMark x1="89965" y1="39000" x2="89273" y2="38000"/>
                        <a14:foregroundMark x1="7612" y1="56333" x2="16955" y2="80000"/>
                        <a14:foregroundMark x1="16955" y1="80000" x2="26644" y2="88667"/>
                        <a14:foregroundMark x1="26644" y1="88667" x2="42907" y2="93667"/>
                        <a14:backgroundMark x1="45747" y1="6759" x2="46713" y2="7000"/>
                        <a14:backgroundMark x1="37370" y1="4667" x2="41122" y2="5604"/>
                        <a14:backgroundMark x1="39792" y1="5000" x2="44291" y2="2000"/>
                        <a14:backgroundMark x1="40138" y1="2667" x2="46021" y2="2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864518"/>
            <a:ext cx="4777381" cy="495922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2384F-4DF4-A547-8810-5D74DA916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US" dirty="0"/>
              <a:t>Watch the following clips.</a:t>
            </a:r>
          </a:p>
          <a:p>
            <a:endParaRPr lang="en-US" dirty="0"/>
          </a:p>
          <a:p>
            <a:r>
              <a:rPr lang="en-US" dirty="0"/>
              <a:t>Take note of the characteristics of healthy or unhealthy relationships that you see in each one.</a:t>
            </a:r>
          </a:p>
          <a:p>
            <a:endParaRPr lang="en-US" dirty="0"/>
          </a:p>
          <a:p>
            <a:r>
              <a:rPr lang="en-US" dirty="0"/>
              <a:t>Be prepared to share your thoughts as names will be drawn at random.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76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'Safe Haven' (M) - Abusive Relationship Scene">
            <a:hlinkClick r:id="" action="ppaction://media"/>
            <a:extLst>
              <a:ext uri="{FF2B5EF4-FFF2-40B4-BE49-F238E27FC236}">
                <a16:creationId xmlns:a16="http://schemas.microsoft.com/office/drawing/2014/main" id="{60D089BB-61D9-92C9-69A0-EFC67AFC742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2799" y="457200"/>
            <a:ext cx="105664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3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24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Monica &amp; Chandler - Healthy Relationships Argument Scene">
            <a:hlinkClick r:id="" action="ppaction://media"/>
            <a:extLst>
              <a:ext uri="{FF2B5EF4-FFF2-40B4-BE49-F238E27FC236}">
                <a16:creationId xmlns:a16="http://schemas.microsoft.com/office/drawing/2014/main" id="{DC83CB1A-12BB-C3F9-EC00-9869DBD18DE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2799" y="457200"/>
            <a:ext cx="105664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4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1AD14-A689-F5DF-ACE4-412145753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 fontScale="90000"/>
          </a:bodyPr>
          <a:lstStyle/>
          <a:p>
            <a:r>
              <a:rPr lang="en-US" sz="3700" dirty="0"/>
              <a:t>Activity 1: </a:t>
            </a:r>
            <a:r>
              <a:rPr lang="en-AU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(pg.23)</a:t>
            </a:r>
            <a:r>
              <a:rPr lang="en-US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br>
              <a:rPr lang="en-US" sz="3700" dirty="0"/>
            </a:br>
            <a:r>
              <a:rPr lang="en-US" sz="3700" dirty="0"/>
              <a:t>Cycle of Abuse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49BCD-EF28-6BA2-F5A8-5062AEBE9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 cycle of abuse represents the pattern that abuse may occur in. It is made up of 3 components:</a:t>
            </a:r>
          </a:p>
          <a:p>
            <a:pPr lvl="1"/>
            <a:r>
              <a:rPr lang="en-US" sz="2000" dirty="0"/>
              <a:t>Honeymoon Period</a:t>
            </a:r>
          </a:p>
          <a:p>
            <a:pPr lvl="1"/>
            <a:r>
              <a:rPr lang="en-US" sz="2000" dirty="0"/>
              <a:t>Tension Building</a:t>
            </a:r>
          </a:p>
          <a:p>
            <a:pPr lvl="1"/>
            <a:r>
              <a:rPr lang="en-US" sz="2000" dirty="0"/>
              <a:t>Explosion</a:t>
            </a:r>
          </a:p>
          <a:p>
            <a:pPr lvl="1"/>
            <a:endParaRPr lang="en-US" sz="2000" dirty="0"/>
          </a:p>
          <a:p>
            <a:r>
              <a:rPr lang="en-US" sz="2000" dirty="0"/>
              <a:t>Use the following slides to fill in the missing information in your books.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http://1.bp.blogspot.com/--OSzJs9blDw/Tg7ihq7JBVI/AAAAAAAAARg/wJJhzC3L_f4/s320/cycle_of_abuse.jpg">
            <a:extLst>
              <a:ext uri="{FF2B5EF4-FFF2-40B4-BE49-F238E27FC236}">
                <a16:creationId xmlns:a16="http://schemas.microsoft.com/office/drawing/2014/main" id="{6232E0EE-6C48-EFAE-65DC-DF54028138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b="2727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2299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1AD14-A689-F5DF-ACE4-412145753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AU" sz="3700" dirty="0"/>
              <a:t>Honeymoon Period</a:t>
            </a:r>
            <a:endParaRPr lang="en-US" sz="37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49BCD-EF28-6BA2-F5A8-5062AEBE9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927765" cy="3979585"/>
          </a:xfrm>
        </p:spPr>
        <p:txBody>
          <a:bodyPr anchor="ctr">
            <a:normAutofit fontScale="85000" lnSpcReduction="10000"/>
          </a:bodyPr>
          <a:lstStyle/>
          <a:p>
            <a:r>
              <a:rPr lang="en-AU" sz="2000" dirty="0"/>
              <a:t>Occurs right after an instance of physical, sexual, or emotional abuse. </a:t>
            </a:r>
          </a:p>
          <a:p>
            <a:r>
              <a:rPr lang="en-AU" sz="2000" dirty="0"/>
              <a:t>During this time, an abuser will apologize for their behaviour while showing sorrow and promising that the abuse will never happen again. </a:t>
            </a:r>
          </a:p>
          <a:p>
            <a:r>
              <a:rPr lang="en-AU" sz="2000" dirty="0"/>
              <a:t>They may also place blame on the victim for the episode of abuse or act like the abuse never happened. </a:t>
            </a:r>
          </a:p>
          <a:p>
            <a:r>
              <a:rPr lang="en-AU" sz="2000" dirty="0"/>
              <a:t>An abuser may express love through gifts and statements during the honeymoon period. </a:t>
            </a:r>
          </a:p>
          <a:p>
            <a:r>
              <a:rPr lang="en-AU" sz="2000" dirty="0"/>
              <a:t>Both the abuser and the victim may believe that their relationship is now stable and safe, that all abuse is over and will never happen again. </a:t>
            </a:r>
          </a:p>
          <a:p>
            <a:r>
              <a:rPr lang="en-AU" sz="2000" dirty="0"/>
              <a:t>This part of the cycle of abuse can make it more difficult for a victim to leave the relationship.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http://1.bp.blogspot.com/--OSzJs9blDw/Tg7ihq7JBVI/AAAAAAAAARg/wJJhzC3L_f4/s320/cycle_of_abuse.jpg">
            <a:extLst>
              <a:ext uri="{FF2B5EF4-FFF2-40B4-BE49-F238E27FC236}">
                <a16:creationId xmlns:a16="http://schemas.microsoft.com/office/drawing/2014/main" id="{6232E0EE-6C48-EFAE-65DC-DF54028138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b="2727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3D29779-99E5-95EE-091A-1B188AAD4B3B}"/>
              </a:ext>
            </a:extLst>
          </p:cNvPr>
          <p:cNvSpPr/>
          <p:nvPr/>
        </p:nvSpPr>
        <p:spPr>
          <a:xfrm>
            <a:off x="6256421" y="385011"/>
            <a:ext cx="5005137" cy="2502568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75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1AD14-A689-F5DF-ACE4-412145753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AU" sz="3700" dirty="0"/>
              <a:t>Tension Building</a:t>
            </a:r>
            <a:endParaRPr lang="en-US" sz="37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49BCD-EF28-6BA2-F5A8-5062AEBE9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 fontScale="92500" lnSpcReduction="10000"/>
          </a:bodyPr>
          <a:lstStyle/>
          <a:p>
            <a:r>
              <a:rPr lang="en-AU" sz="2000" dirty="0"/>
              <a:t>When the honeymoon period ends, tension will start to build in the relationship. </a:t>
            </a:r>
          </a:p>
          <a:p>
            <a:r>
              <a:rPr lang="en-AU" sz="2000" dirty="0"/>
              <a:t>An abuser may start getting angry again and making difficult demands. </a:t>
            </a:r>
          </a:p>
          <a:p>
            <a:r>
              <a:rPr lang="en-AU" sz="2000" dirty="0"/>
              <a:t>They may start breaking promises they made in the honeymoon phase and stop expressing love or affection.  </a:t>
            </a:r>
          </a:p>
          <a:p>
            <a:r>
              <a:rPr lang="en-AU" sz="2000" dirty="0"/>
              <a:t>The victim may start to fear for their safety and give in to the abuser’s requests. </a:t>
            </a:r>
          </a:p>
          <a:p>
            <a:r>
              <a:rPr lang="en-AU" sz="2000" dirty="0"/>
              <a:t>The victim may be extremely careful about what they say or do as tension is building.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http://1.bp.blogspot.com/--OSzJs9blDw/Tg7ihq7JBVI/AAAAAAAAARg/wJJhzC3L_f4/s320/cycle_of_abuse.jpg">
            <a:extLst>
              <a:ext uri="{FF2B5EF4-FFF2-40B4-BE49-F238E27FC236}">
                <a16:creationId xmlns:a16="http://schemas.microsoft.com/office/drawing/2014/main" id="{6232E0EE-6C48-EFAE-65DC-DF54028138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b="2727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1ED0C71-6A2F-5049-BF72-F055136908A4}"/>
              </a:ext>
            </a:extLst>
          </p:cNvPr>
          <p:cNvSpPr/>
          <p:nvPr/>
        </p:nvSpPr>
        <p:spPr>
          <a:xfrm rot="7605101">
            <a:off x="7691647" y="3106697"/>
            <a:ext cx="5005137" cy="250256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45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1AD14-A689-F5DF-ACE4-412145753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AU" sz="3700" dirty="0"/>
              <a:t>Explosion</a:t>
            </a:r>
            <a:endParaRPr lang="en-US" sz="37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49BCD-EF28-6BA2-F5A8-5062AEBE9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AU" sz="2000" dirty="0"/>
              <a:t>Finally, the tension is too much, and the abuser commits an act of abuse. </a:t>
            </a:r>
          </a:p>
          <a:p>
            <a:r>
              <a:rPr lang="en-AU" sz="2000" dirty="0"/>
              <a:t>Abuse may range from physical abuse, like hitting, to emotional abuse such as name-calling and humiliation. </a:t>
            </a:r>
          </a:p>
          <a:p>
            <a:r>
              <a:rPr lang="en-AU" sz="2000" dirty="0"/>
              <a:t>The goal of abuse is always to gain power and control over the victim using any means necessary. </a:t>
            </a:r>
          </a:p>
          <a:p>
            <a:r>
              <a:rPr lang="en-AU" sz="2000" dirty="0"/>
              <a:t>It’s important to remember that physical harm is not the only type of abuse. The abuse can take a variety of forms.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http://1.bp.blogspot.com/--OSzJs9blDw/Tg7ihq7JBVI/AAAAAAAAARg/wJJhzC3L_f4/s320/cycle_of_abuse.jpg">
            <a:extLst>
              <a:ext uri="{FF2B5EF4-FFF2-40B4-BE49-F238E27FC236}">
                <a16:creationId xmlns:a16="http://schemas.microsoft.com/office/drawing/2014/main" id="{6232E0EE-6C48-EFAE-65DC-DF54028138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b="2727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E581175-FEF2-6B94-B6B0-0388221E4BE8}"/>
              </a:ext>
            </a:extLst>
          </p:cNvPr>
          <p:cNvSpPr/>
          <p:nvPr/>
        </p:nvSpPr>
        <p:spPr>
          <a:xfrm rot="14024135">
            <a:off x="4690873" y="2905584"/>
            <a:ext cx="5005137" cy="2502568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271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-up of stacked books">
            <a:extLst>
              <a:ext uri="{FF2B5EF4-FFF2-40B4-BE49-F238E27FC236}">
                <a16:creationId xmlns:a16="http://schemas.microsoft.com/office/drawing/2014/main" id="{626B949D-C7D2-0DD2-B2C7-8CF0F10B5C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33DA74-51AB-10AF-C7EE-A5136B1C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GLOSSARY: 						</a:t>
            </a:r>
            <a:r>
              <a:rPr lang="en-AU" dirty="0">
                <a:solidFill>
                  <a:srgbClr val="FFFFFF"/>
                </a:solidFill>
              </a:rPr>
              <a:t>(Pg. 7)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B7809-64A7-0A0A-96F5-BB8813134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At the front of your books is your glossary. Turn to your glossary and add the following words and their definitions: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b="1" i="1" dirty="0">
                <a:solidFill>
                  <a:srgbClr val="FFFFFF"/>
                </a:solidFill>
              </a:rPr>
              <a:t>Cycle of Abuse: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Represents a pattern of how abuse may occur in a relationship. 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It is made up of 3 components:</a:t>
            </a:r>
          </a:p>
          <a:p>
            <a:pPr lvl="2"/>
            <a:r>
              <a:rPr lang="en-US" dirty="0">
                <a:solidFill>
                  <a:srgbClr val="FFFFFF"/>
                </a:solidFill>
              </a:rPr>
              <a:t>Honeymoon Period</a:t>
            </a:r>
          </a:p>
          <a:p>
            <a:pPr lvl="2"/>
            <a:r>
              <a:rPr lang="en-US" dirty="0">
                <a:solidFill>
                  <a:srgbClr val="FFFFFF"/>
                </a:solidFill>
              </a:rPr>
              <a:t>Tension Building</a:t>
            </a:r>
          </a:p>
          <a:p>
            <a:pPr lvl="2"/>
            <a:r>
              <a:rPr lang="en-US" dirty="0">
                <a:solidFill>
                  <a:srgbClr val="FFFFFF"/>
                </a:solidFill>
              </a:rPr>
              <a:t>Explosion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511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5EAE00-FD0A-D15F-AD66-3BCCAE8F6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9" y="159359"/>
            <a:ext cx="4928443" cy="2052522"/>
          </a:xfrm>
        </p:spPr>
        <p:txBody>
          <a:bodyPr anchor="b">
            <a:normAutofit/>
          </a:bodyPr>
          <a:lstStyle/>
          <a:p>
            <a:r>
              <a:rPr lang="en-US" sz="5600" dirty="0"/>
              <a:t>Where to get help? </a:t>
            </a:r>
            <a:r>
              <a:rPr lang="en-A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(pg.24)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sz="56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614C7C0-FA1D-4105-8345-1DF76F987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753" y="703679"/>
            <a:ext cx="753718" cy="1016562"/>
            <a:chOff x="422753" y="703679"/>
            <a:chExt cx="753718" cy="1016562"/>
          </a:xfrm>
        </p:grpSpPr>
        <p:sp>
          <p:nvSpPr>
            <p:cNvPr id="2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Picture 2" descr="Home Care Request - Fill out our form for help and support">
            <a:extLst>
              <a:ext uri="{FF2B5EF4-FFF2-40B4-BE49-F238E27FC236}">
                <a16:creationId xmlns:a16="http://schemas.microsoft.com/office/drawing/2014/main" id="{AD55833A-0CBC-AAA4-57BD-CE71544C3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7770" y="2201829"/>
            <a:ext cx="3952579" cy="244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16348-3246-6FCE-36FF-458A49F43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59" y="2990817"/>
            <a:ext cx="4500977" cy="3399911"/>
          </a:xfrm>
        </p:spPr>
        <p:txBody>
          <a:bodyPr anchor="t">
            <a:normAutofit/>
          </a:bodyPr>
          <a:lstStyle/>
          <a:p>
            <a:r>
              <a:rPr lang="en-AU" sz="1900" dirty="0">
                <a:solidFill>
                  <a:schemeClr val="tx1">
                    <a:alpha val="80000"/>
                  </a:schemeClr>
                </a:solidFill>
              </a:rPr>
              <a:t>People often stay in an abusive relationship for longer than they should. Once you know that you are in an abusive relationship, however, you should do something about it.</a:t>
            </a:r>
          </a:p>
          <a:p>
            <a:endParaRPr lang="en-AU" sz="19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AU" sz="1900" dirty="0">
                <a:solidFill>
                  <a:schemeClr val="tx1">
                    <a:alpha val="80000"/>
                  </a:schemeClr>
                </a:solidFill>
              </a:rPr>
              <a:t>If you are in immediate danger, call triple zero (000). The police are there to protect you. If you need to get out, you could go to a refuge, a trusted family member or friend.</a:t>
            </a:r>
          </a:p>
          <a:p>
            <a:endParaRPr lang="en-US" sz="19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2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655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0D175-C892-98D4-78AC-8036D82F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 dirty="0">
                <a:solidFill>
                  <a:srgbClr val="FFFFFF"/>
                </a:solidFill>
              </a:rPr>
              <a:t>Where to get help?</a:t>
            </a:r>
            <a:br>
              <a:rPr lang="en-US" sz="5600" dirty="0">
                <a:solidFill>
                  <a:srgbClr val="FFFFFF"/>
                </a:solidFill>
              </a:rPr>
            </a:br>
            <a:r>
              <a:rPr lang="en-US" sz="6000" dirty="0"/>
              <a:t> </a:t>
            </a:r>
            <a:r>
              <a:rPr lang="en-A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(pg.24)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en-US" sz="5600" dirty="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95203-351C-527F-BE2C-FAF5196A9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342900" lvl="0" indent="-342900">
              <a:spcAft>
                <a:spcPts val="80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AU" sz="1700" u="sng"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Women’s Domestic Violence Helpline</a:t>
            </a:r>
            <a:r>
              <a:rPr lang="en-AU" sz="1700"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1800 007 339 or (08) 9223 1188</a:t>
            </a:r>
          </a:p>
          <a:p>
            <a:pPr marL="342900" lvl="0" indent="-342900">
              <a:spcAft>
                <a:spcPts val="80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AU" sz="1700" u="sng"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Men's Domestic Violence Helpline</a:t>
            </a:r>
            <a:r>
              <a:rPr lang="en-AU" sz="1700"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1800 000 599 or (08) 9223 1199</a:t>
            </a:r>
          </a:p>
          <a:p>
            <a:pPr marL="342900" lvl="0" indent="-342900">
              <a:spcAft>
                <a:spcPts val="80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AU" sz="1700"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1800RESPECT: National Sexual Assault, Domestic Family Violence Counselling Service: 1800 737 732. You can use their website to find services in your area.</a:t>
            </a:r>
          </a:p>
          <a:p>
            <a:pPr marL="342900" lvl="0" indent="-342900">
              <a:spcAft>
                <a:spcPts val="80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AU" sz="1700" u="sng"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Lifeline</a:t>
            </a:r>
            <a:r>
              <a:rPr lang="en-AU" sz="1700"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— 13 11 14 provides support if you are suffering a personal crisis or are thinking of suicide.</a:t>
            </a:r>
          </a:p>
          <a:p>
            <a:pPr marL="342900" lvl="0" indent="-342900">
              <a:spcAft>
                <a:spcPts val="80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AU" sz="1700" u="sng"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Kids Helpline</a:t>
            </a:r>
            <a:r>
              <a:rPr lang="en-AU" sz="1700"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— 1800 55 1800 — a confidential service for young people aged between 5 and 25 via telephone, email, and web.</a:t>
            </a:r>
          </a:p>
          <a:p>
            <a:pPr marL="342900" lvl="0" indent="-342900">
              <a:spcAft>
                <a:spcPts val="800"/>
              </a:spcAft>
              <a:buFont typeface="Symbol" pitchFamily="2" charset="2"/>
              <a:buChar char=""/>
              <a:tabLst>
                <a:tab pos="457200" algn="l"/>
              </a:tabLst>
            </a:pPr>
            <a:r>
              <a:rPr lang="en-AU" sz="1700" u="sng"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MensLine Australia</a:t>
            </a:r>
            <a:r>
              <a:rPr lang="en-AU" sz="1700">
                <a:solidFill>
                  <a:schemeClr val="tx1">
                    <a:alpha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— 1300 78 99 78 — provides support to men having relationship problems and men who use or experience family and domestic violence.</a:t>
            </a:r>
          </a:p>
          <a:p>
            <a:endParaRPr lang="en-US" sz="17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66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Close up of a leaf&#10;&#10;Description automatically generated">
            <a:extLst>
              <a:ext uri="{FF2B5EF4-FFF2-40B4-BE49-F238E27FC236}">
                <a16:creationId xmlns:a16="http://schemas.microsoft.com/office/drawing/2014/main" id="{00CCDB72-F7B3-2555-0668-9292BBBFA9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7680" b="805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BA0AE-B09B-31D8-6CEC-8791CB964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1423" y="1261390"/>
            <a:ext cx="3260577" cy="433521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How can you help a friend? </a:t>
            </a:r>
            <a:r>
              <a:rPr lang="en-AU" dirty="0"/>
              <a:t>(pg.25)</a:t>
            </a:r>
            <a:r>
              <a:rPr lang="en-US" dirty="0"/>
              <a:t> 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2A800101-E361-57E5-BA5E-965251600F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8960714"/>
              </p:ext>
            </p:extLst>
          </p:nvPr>
        </p:nvGraphicFramePr>
        <p:xfrm>
          <a:off x="393032" y="1"/>
          <a:ext cx="8145379" cy="6857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3985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959C86-3260-2181-4C54-470C41A72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Activity 2: Media Review </a:t>
            </a:r>
            <a:r>
              <a:rPr lang="en-AU" sz="4800" dirty="0"/>
              <a:t>(pg.26-27)</a:t>
            </a:r>
            <a:r>
              <a:rPr lang="en-US" sz="4800" dirty="0"/>
              <a:t> </a:t>
            </a: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44179-82CC-DED7-1A5C-19DD96988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19" y="2599509"/>
            <a:ext cx="7187176" cy="3639450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000" dirty="0"/>
              <a:t>Health campaigns exist to promote positive behaviours and try to discourage negative behaviours and make the consumer/viewer aware of what is considered ‘bad’ or unhealthy. </a:t>
            </a:r>
          </a:p>
          <a:p>
            <a:endParaRPr lang="en-US" sz="2000" dirty="0"/>
          </a:p>
          <a:p>
            <a:r>
              <a:rPr lang="en-US" sz="2000" dirty="0"/>
              <a:t>While watching the videos, answer the questions in your book about what the ad is saying and how the campaign portrays that message.</a:t>
            </a:r>
          </a:p>
          <a:p>
            <a:pPr lvl="1"/>
            <a:r>
              <a:rPr lang="en-US" sz="2000" dirty="0"/>
              <a:t>What types of abuse are shown in the ad and provide examples.</a:t>
            </a:r>
          </a:p>
          <a:p>
            <a:pPr lvl="1"/>
            <a:r>
              <a:rPr lang="en-US" sz="2000" dirty="0"/>
              <a:t>Describe the cultural attitudes and behaviours that are depicted.</a:t>
            </a:r>
          </a:p>
          <a:p>
            <a:pPr lvl="1"/>
            <a:r>
              <a:rPr lang="en-US" sz="2000" dirty="0"/>
              <a:t>Outline the health impact that is shown. </a:t>
            </a:r>
          </a:p>
          <a:p>
            <a:pPr lvl="1"/>
            <a:r>
              <a:rPr lang="en-US" sz="2000" dirty="0"/>
              <a:t>What is the overall message of the ad/campaign and how is this message portrayed?</a:t>
            </a:r>
          </a:p>
        </p:txBody>
      </p:sp>
      <p:pic>
        <p:nvPicPr>
          <p:cNvPr id="7" name="Graphic 6" descr="Marketing">
            <a:extLst>
              <a:ext uri="{FF2B5EF4-FFF2-40B4-BE49-F238E27FC236}">
                <a16:creationId xmlns:a16="http://schemas.microsoft.com/office/drawing/2014/main" id="{E942C76E-F06D-E2A1-4BB5-533EF47A33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095" y="2479952"/>
            <a:ext cx="3714244" cy="371424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78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top it at the Start – Jack and Ava – 60 second television commercial">
            <a:hlinkClick r:id="" action="ppaction://media"/>
            <a:extLst>
              <a:ext uri="{FF2B5EF4-FFF2-40B4-BE49-F238E27FC236}">
                <a16:creationId xmlns:a16="http://schemas.microsoft.com/office/drawing/2014/main" id="{994CDA5C-CE97-D582-FC49-82D19CDC373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2799" y="457200"/>
            <a:ext cx="105664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25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4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top it at the start, DSS, Museum, 30 sec">
            <a:hlinkClick r:id="" action="ppaction://media"/>
            <a:extLst>
              <a:ext uri="{FF2B5EF4-FFF2-40B4-BE49-F238E27FC236}">
                <a16:creationId xmlns:a16="http://schemas.microsoft.com/office/drawing/2014/main" id="{8B4B2781-ED80-FFC1-CE4E-983B95CEF88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2799" y="457200"/>
            <a:ext cx="105664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8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1027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ive Key Components Of Exit Tickets | by dem plates | Medium">
            <a:extLst>
              <a:ext uri="{FF2B5EF4-FFF2-40B4-BE49-F238E27FC236}">
                <a16:creationId xmlns:a16="http://schemas.microsoft.com/office/drawing/2014/main" id="{246744CA-4C43-8967-8D40-DCD5046059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3" r="5664" b="-1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F3569C-3E7C-2F74-86B9-C8C32A67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REFLECTION &amp; EXIT TICKET: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E2338-DF4C-09CE-CBF0-C7C4B79F0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Watch the video #</a:t>
            </a:r>
            <a:r>
              <a:rPr lang="en-US" dirty="0" err="1">
                <a:solidFill>
                  <a:srgbClr val="FFFFFF"/>
                </a:solidFill>
              </a:rPr>
              <a:t>HaveAWord</a:t>
            </a:r>
            <a:r>
              <a:rPr lang="en-US" dirty="0">
                <a:solidFill>
                  <a:srgbClr val="FFFFFF"/>
                </a:solidFill>
              </a:rPr>
              <a:t> and think about how you can intervene if you see abuse happening. 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On your way out the door, tell your teacher and a friend how you can stand up for someone being abused (with any kind of abuse).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AU" dirty="0">
                <a:hlinkClick r:id="rId4"/>
              </a:rPr>
              <a:t>Mayor of London, Sadiq Khan on Instagram: "Male violence against women and girls starts with words. If you see it happening, have a word with yourself—then your mates. #HaveAWord"</a:t>
            </a:r>
            <a:endParaRPr lang="en-AU" dirty="0"/>
          </a:p>
          <a:p>
            <a:endParaRPr lang="en-US" dirty="0">
              <a:solidFill>
                <a:srgbClr val="FFFFFF"/>
              </a:solidFill>
            </a:endParaRPr>
          </a:p>
          <a:p>
            <a:endParaRPr lang="en-US" i="1" dirty="0">
              <a:solidFill>
                <a:srgbClr val="FFFFFF"/>
              </a:solidFill>
            </a:endParaRPr>
          </a:p>
          <a:p>
            <a:endParaRPr lang="en-US" i="1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603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E237C8-4809-6F69-ABC9-644C86F1F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582" y="2127922"/>
            <a:ext cx="4036334" cy="238760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REMINDER:</a:t>
            </a: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TOPIC TEST NEXT WEEK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ubble sheet test paper and pencil">
            <a:extLst>
              <a:ext uri="{FF2B5EF4-FFF2-40B4-BE49-F238E27FC236}">
                <a16:creationId xmlns:a16="http://schemas.microsoft.com/office/drawing/2014/main" id="{E8B5B8A4-AEDE-65F9-FCF1-1E4FD5EF8E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462"/>
          <a:stretch/>
        </p:blipFill>
        <p:spPr>
          <a:xfrm>
            <a:off x="5922492" y="1842631"/>
            <a:ext cx="5536001" cy="311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76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15650</TotalTime>
  <Words>1552</Words>
  <Application>Microsoft Office PowerPoint</Application>
  <PresentationFormat>Widescreen</PresentationFormat>
  <Paragraphs>131</Paragraphs>
  <Slides>20</Slides>
  <Notes>12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Symbol</vt:lpstr>
      <vt:lpstr>Office Theme</vt:lpstr>
      <vt:lpstr>Relationships</vt:lpstr>
      <vt:lpstr>Todays Focus:</vt:lpstr>
      <vt:lpstr>TOPIC TEST NEXT WEEK</vt:lpstr>
      <vt:lpstr>PowerPoint Presentation</vt:lpstr>
      <vt:lpstr>Optional Hook: What do you see? (pg.19) </vt:lpstr>
      <vt:lpstr>PowerPoint Presentation</vt:lpstr>
      <vt:lpstr>PowerPoint Presentation</vt:lpstr>
      <vt:lpstr>Activity 1: (pg.23)  Cycle of Abuse</vt:lpstr>
      <vt:lpstr>Honeymoon Period</vt:lpstr>
      <vt:lpstr>Tension Building</vt:lpstr>
      <vt:lpstr>Explosion</vt:lpstr>
      <vt:lpstr>GLOSSARY:       (Pg. 7)</vt:lpstr>
      <vt:lpstr>Where to get help? (pg.24) </vt:lpstr>
      <vt:lpstr>Where to get help?  (pg.24) </vt:lpstr>
      <vt:lpstr>How can you help a friend? (pg.25) </vt:lpstr>
      <vt:lpstr>Activity 2: Media Review (pg.26-27) </vt:lpstr>
      <vt:lpstr>PowerPoint Presentation</vt:lpstr>
      <vt:lpstr>PowerPoint Presentation</vt:lpstr>
      <vt:lpstr>REFLECTION &amp; EXIT TICKET:</vt:lpstr>
      <vt:lpstr>REMINDER:  TOPIC TEST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Relationships</dc:title>
  <dc:creator>HASSAN Gillian [Comet Bay College]</dc:creator>
  <cp:lastModifiedBy>HILLMAN Alissa [Willetton Senior High School]</cp:lastModifiedBy>
  <cp:revision>42</cp:revision>
  <cp:lastPrinted>2022-05-20T05:38:59Z</cp:lastPrinted>
  <dcterms:created xsi:type="dcterms:W3CDTF">2022-04-26T04:42:15Z</dcterms:created>
  <dcterms:modified xsi:type="dcterms:W3CDTF">2023-11-10T06:56:44Z</dcterms:modified>
</cp:coreProperties>
</file>