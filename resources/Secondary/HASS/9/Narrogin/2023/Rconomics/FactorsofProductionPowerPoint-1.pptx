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79" r:id="rId4"/>
    <p:sldId id="280" r:id="rId5"/>
    <p:sldId id="281" r:id="rId6"/>
    <p:sldId id="282" r:id="rId7"/>
    <p:sldId id="283" r:id="rId8"/>
    <p:sldId id="284" r:id="rId9"/>
    <p:sldId id="286" r:id="rId10"/>
    <p:sldId id="285" r:id="rId11"/>
    <p:sldId id="268" r:id="rId12"/>
    <p:sldId id="28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FF00"/>
    <a:srgbClr val="4472C4"/>
    <a:srgbClr val="FF0000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5C0D21-3465-4007-8748-1F3C54411148}" v="466" dt="2023-06-26T16:59:38.541"/>
    <p1510:client id="{EF9D956B-33DA-4C92-A4BE-BED64ED15772}" v="1724" dt="2023-06-25T19:32:27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6DA36-A254-6747-9247-305495DB86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23A78-C0DE-5602-F843-05D35B0DE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3199F-0205-FA33-6F8D-305DC853C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2039A-5B0D-ABF4-00E8-2ADD08CF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AC12-1494-142C-38F4-DC3AC5F7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1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4A30-34F3-8172-9343-1888367F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FF7B9-33E0-D564-D71C-9A1CFE3BE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BC303-6424-D552-29DD-DEEDC5710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85383-4A45-565A-677A-284CB193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39FB5-EF8C-9CB3-9C92-ACE698FD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2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10D7-B3CB-0212-64FC-A3CD39AA0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4BDC7-B3CF-803F-8834-7142D7F5F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19B67-0F18-106C-6BFC-A4DDB8F3E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17366-F7DF-671D-B8DD-BC483735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B14A9-26AB-CFE3-2A6B-F217301E4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96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F48BB-35AA-CEC4-1911-260EF3227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6AE3-A86F-9223-18B4-03E54C5A09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5080C0-80F0-3232-95DD-CCCF4DB4E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F5EA6-C8A7-39D4-68F9-E141B602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0B337-EC1F-63E0-6A22-3733D003F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AEDA7-7A84-9DD0-334C-F4CCA36A6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22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BE5FE-AFEE-D76A-7FF0-216891B1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49C9C-F53C-BA1B-8B0F-CB978D51A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74A8A-008E-0D5F-DB46-F31B6FAF0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72C8DD-4139-8549-E782-482C074D6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11F5FE-34FD-BFA0-C236-1D90FAF58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CE549-1D00-AD68-A002-5AE502BD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F52876-C616-5DE5-CC1F-5D1B8143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69A7F-5826-DA5A-030C-90F080AA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6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DD66-8077-B9EE-C039-119F3B8F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BCAB5-ED55-963D-AB0C-176034F7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7C10E-4E0D-5C94-8ABF-24D868E4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0444F-359B-FEBA-F68C-C665F3A2B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7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44E448-F984-F5B5-1BE2-D58061E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C26C2-2670-66B4-C728-D62FB9F8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601C2-77F9-0610-D459-B2D39DDC4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54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1DED-3B1D-DDAA-7AD2-39BEF99F8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19E86-2D23-91E3-73F2-F5C1C55D3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5734D-9570-1694-EE25-EEE2CA836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31BD5-D655-4F01-81A5-FB9197CBF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23094-5A23-B9D9-309D-5D4FC1718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69B01-4BAD-E524-055A-B90B00C0F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2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795B-1CF6-FFFC-E50F-41CE740B3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9D08B-3441-605A-5224-871E06268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519CD-0EB8-C638-9084-23189E7E0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EF11C0-12E6-B2DE-8A7E-7A568958D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821B7-6171-FD5F-0907-64604CC79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6FF0E-357E-6E6B-E308-5FF6BA64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67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0224-72E2-A5E9-153E-599E6246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1F991-37C2-7A39-1739-014860D25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AF453-3AA0-C707-E28B-A3FC4080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1DF1D-813E-229D-8EFC-F57ABEC9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109A8-B549-FB87-35ED-FAA02D3BF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4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582B4-F157-60BA-8827-1383146F4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4FAB9-8D57-0C39-4A0F-6579DF5F6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24038-9CC6-9B84-5A40-7C2C3BD9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D11F4-2E7A-E6FB-B1AF-BCCE8D06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1B50-50A4-AD4C-7B6D-FF3AEFCFE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76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5C42F7-965B-63D4-FC8D-00971D655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4F7F7-1607-2EE1-AA49-51D615799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F8DAF-1D8B-7A33-6852-B95A54EEC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45F06-A70B-491D-BD82-6D1EE3730994}" type="datetimeFigureOut">
              <a:rPr lang="en-US" smtClean="0"/>
              <a:t>10/9/2023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0E461-D685-0A95-F545-1664EE32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D7F66-8E8C-62FC-EF13-B3ACB1FA0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5AB8D-C0C6-45BF-89A3-BEF13D1175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2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7.jpeg"/><Relationship Id="rId12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5.jpeg"/><Relationship Id="rId5" Type="http://schemas.openxmlformats.org/officeDocument/2006/relationships/image" Target="../media/image6.png"/><Relationship Id="rId10" Type="http://schemas.openxmlformats.org/officeDocument/2006/relationships/image" Target="../media/image14.jpeg"/><Relationship Id="rId4" Type="http://schemas.openxmlformats.org/officeDocument/2006/relationships/image" Target="../media/image5.jpeg"/><Relationship Id="rId9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4.png"/><Relationship Id="rId7" Type="http://schemas.openxmlformats.org/officeDocument/2006/relationships/image" Target="../media/image15.jpeg"/><Relationship Id="rId12" Type="http://schemas.openxmlformats.org/officeDocument/2006/relationships/image" Target="../media/image2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11" Type="http://schemas.openxmlformats.org/officeDocument/2006/relationships/image" Target="../media/image20.jpeg"/><Relationship Id="rId5" Type="http://schemas.openxmlformats.org/officeDocument/2006/relationships/image" Target="../media/image13.jpeg"/><Relationship Id="rId10" Type="http://schemas.openxmlformats.org/officeDocument/2006/relationships/image" Target="../media/image19.png"/><Relationship Id="rId4" Type="http://schemas.openxmlformats.org/officeDocument/2006/relationships/image" Target="../media/image16.jpeg"/><Relationship Id="rId9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jpeg"/><Relationship Id="rId3" Type="http://schemas.openxmlformats.org/officeDocument/2006/relationships/image" Target="../media/image4.png"/><Relationship Id="rId7" Type="http://schemas.openxmlformats.org/officeDocument/2006/relationships/image" Target="../media/image18.jpeg"/><Relationship Id="rId12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5.jpeg"/><Relationship Id="rId5" Type="http://schemas.openxmlformats.org/officeDocument/2006/relationships/image" Target="../media/image20.jpeg"/><Relationship Id="rId10" Type="http://schemas.openxmlformats.org/officeDocument/2006/relationships/image" Target="../media/image24.jpeg"/><Relationship Id="rId4" Type="http://schemas.openxmlformats.org/officeDocument/2006/relationships/image" Target="../media/image21.jpeg"/><Relationship Id="rId9" Type="http://schemas.openxmlformats.org/officeDocument/2006/relationships/image" Target="../media/image22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0.jpeg"/><Relationship Id="rId4" Type="http://schemas.openxmlformats.org/officeDocument/2006/relationships/image" Target="../media/image27.jpeg"/><Relationship Id="rId9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3.jpeg"/><Relationship Id="rId21" Type="http://schemas.openxmlformats.org/officeDocument/2006/relationships/image" Target="../media/image45.png"/><Relationship Id="rId7" Type="http://schemas.openxmlformats.org/officeDocument/2006/relationships/image" Target="../media/image32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audio" Target="../media/audio1.wav"/><Relationship Id="rId16" Type="http://schemas.openxmlformats.org/officeDocument/2006/relationships/image" Target="../media/image40.png"/><Relationship Id="rId20" Type="http://schemas.openxmlformats.org/officeDocument/2006/relationships/image" Target="../media/image44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11" Type="http://schemas.openxmlformats.org/officeDocument/2006/relationships/image" Target="../media/image35.png"/><Relationship Id="rId5" Type="http://schemas.openxmlformats.org/officeDocument/2006/relationships/image" Target="../media/image29.jpe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10" Type="http://schemas.openxmlformats.org/officeDocument/2006/relationships/image" Target="../media/image31.png"/><Relationship Id="rId19" Type="http://schemas.openxmlformats.org/officeDocument/2006/relationships/image" Target="../media/image43.png"/><Relationship Id="rId4" Type="http://schemas.openxmlformats.org/officeDocument/2006/relationships/image" Target="../media/image4.png"/><Relationship Id="rId9" Type="http://schemas.openxmlformats.org/officeDocument/2006/relationships/image" Target="../media/image34.png"/><Relationship Id="rId14" Type="http://schemas.openxmlformats.org/officeDocument/2006/relationships/image" Target="../media/image38.gif"/><Relationship Id="rId22" Type="http://schemas.openxmlformats.org/officeDocument/2006/relationships/image" Target="../media/image4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akeholders to explore economic, social opportunities in energy transition  plan - Sustainable Economy Nigeria">
            <a:extLst>
              <a:ext uri="{FF2B5EF4-FFF2-40B4-BE49-F238E27FC236}">
                <a16:creationId xmlns:a16="http://schemas.microsoft.com/office/drawing/2014/main" id="{46E20673-3F99-4BD8-DFC4-FE37D414D8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0" t="4229" b="4229"/>
          <a:stretch/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64426" y="3082413"/>
            <a:ext cx="9006347" cy="3883981"/>
          </a:xfrm>
        </p:spPr>
        <p:txBody>
          <a:bodyPr>
            <a:noAutofit/>
          </a:bodyPr>
          <a:lstStyle/>
          <a:p>
            <a:pPr algn="r"/>
            <a:r>
              <a:rPr lang="en-US" sz="11500" dirty="0">
                <a:ln w="28575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sz="11500">
                <a:ln w="28575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Production</a:t>
            </a:r>
            <a:endParaRPr lang="en-US" sz="11500" dirty="0">
              <a:ln w="28575">
                <a:solidFill>
                  <a:schemeClr val="accent4"/>
                </a:solidFill>
              </a:ln>
              <a:latin typeface="Impact" panose="020B0806030902050204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5286565"/>
            <a:ext cx="960120" cy="15714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600" dirty="0">
                <a:ln w="28575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426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3965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4" name="Picture 10" descr="CEPA gives a boost to India-UAE trade ties | India | Law.asia">
            <a:extLst>
              <a:ext uri="{FF2B5EF4-FFF2-40B4-BE49-F238E27FC236}">
                <a16:creationId xmlns:a16="http://schemas.microsoft.com/office/drawing/2014/main" id="{EA7CD999-E4FF-C920-1906-7A54F31F2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838" y="249936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145" y="179904"/>
            <a:ext cx="5120640" cy="816864"/>
          </a:xfrm>
        </p:spPr>
        <p:txBody>
          <a:bodyPr/>
          <a:lstStyle/>
          <a:p>
            <a:r>
              <a:rPr lang="en-US" dirty="0">
                <a:ln>
                  <a:solidFill>
                    <a:schemeClr val="accent4"/>
                  </a:solidFill>
                </a:ln>
                <a:solidFill>
                  <a:schemeClr val="bg1"/>
                </a:solidFill>
                <a:latin typeface="Impact" panose="020B0806030902050204" pitchFamily="34" charset="0"/>
              </a:rPr>
              <a:t>Success Criteria: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145" y="1246704"/>
            <a:ext cx="7306055" cy="5611296"/>
          </a:xfrm>
        </p:spPr>
        <p:txBody>
          <a:bodyPr>
            <a:normAutofit/>
          </a:bodyPr>
          <a:lstStyle/>
          <a:p>
            <a:pPr fontAlgn="base"/>
            <a:r>
              <a:rPr lang="en-US" sz="4200" b="1" dirty="0">
                <a:ln>
                  <a:solidFill>
                    <a:schemeClr val="accent4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 land, labor, capital, and entrepreneurship in economic terms</a:t>
            </a:r>
          </a:p>
          <a:p>
            <a:pPr fontAlgn="base"/>
            <a:r>
              <a:rPr lang="en-US" sz="4200" b="1" dirty="0">
                <a:ln>
                  <a:solidFill>
                    <a:schemeClr val="accent4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 and categorize factors of production in a scenario.</a:t>
            </a:r>
          </a:p>
        </p:txBody>
      </p:sp>
    </p:spTree>
    <p:extLst>
      <p:ext uri="{BB962C8B-B14F-4D97-AF65-F5344CB8AC3E}">
        <p14:creationId xmlns:p14="http://schemas.microsoft.com/office/powerpoint/2010/main" val="1012544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las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53DF1287-B2A7-A97F-AD4B-BE5646403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0A3CEC-41CE-E5AE-8B15-F2BF0E7B1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860+ Wine Press Stock Photos, Pictures &amp; Royalty-Free Images - iStock |  Ancient wine press, Old wine press">
            <a:extLst>
              <a:ext uri="{FF2B5EF4-FFF2-40B4-BE49-F238E27FC236}">
                <a16:creationId xmlns:a16="http://schemas.microsoft.com/office/drawing/2014/main" id="{00D48B43-E740-9E4B-B810-14DC5CDDA2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47" r="8082"/>
          <a:stretch/>
        </p:blipFill>
        <p:spPr bwMode="auto">
          <a:xfrm>
            <a:off x="5384154" y="3110435"/>
            <a:ext cx="2678116" cy="3422209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ne Grower Showing A Wine Grape In Photograph by Keystone-france - Pixels">
            <a:extLst>
              <a:ext uri="{FF2B5EF4-FFF2-40B4-BE49-F238E27FC236}">
                <a16:creationId xmlns:a16="http://schemas.microsoft.com/office/drawing/2014/main" id="{CBA07033-975E-81C2-AAE2-20B91C983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83" r="19777"/>
          <a:stretch/>
        </p:blipFill>
        <p:spPr bwMode="auto">
          <a:xfrm>
            <a:off x="2956558" y="3110435"/>
            <a:ext cx="2396887" cy="3422209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Art of Growing Grapes">
            <a:extLst>
              <a:ext uri="{FF2B5EF4-FFF2-40B4-BE49-F238E27FC236}">
                <a16:creationId xmlns:a16="http://schemas.microsoft.com/office/drawing/2014/main" id="{426EE882-D9FD-ECE0-9CD3-45F89CD01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0" r="34295"/>
          <a:stretch/>
        </p:blipFill>
        <p:spPr bwMode="auto">
          <a:xfrm>
            <a:off x="484994" y="3110435"/>
            <a:ext cx="2486805" cy="3422209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AAD51B-1795-6A5A-7AC7-8EE5E6FB7168}"/>
              </a:ext>
            </a:extLst>
          </p:cNvPr>
          <p:cNvSpPr txBox="1">
            <a:spLocks/>
          </p:cNvSpPr>
          <p:nvPr/>
        </p:nvSpPr>
        <p:spPr>
          <a:xfrm>
            <a:off x="494335" y="622406"/>
            <a:ext cx="11268456" cy="2488029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To understand how producers create goods and services for consumers in a society, economists have identified four </a:t>
            </a:r>
            <a:r>
              <a:rPr lang="en-US" b="1" dirty="0">
                <a:solidFill>
                  <a:srgbClr val="FFFF00"/>
                </a:solidFill>
                <a:latin typeface="Arial Narrow" panose="020B0606020202030204" pitchFamily="34" charset="0"/>
              </a:rPr>
              <a:t>factors of production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FFFF00"/>
                </a:solidFill>
                <a:latin typeface="Arial Narrow" panose="020B0606020202030204" pitchFamily="34" charset="0"/>
              </a:rPr>
              <a:t>Factors of Production-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resources needed to produce goods and services</a:t>
            </a:r>
          </a:p>
          <a:p>
            <a:pPr marL="1419225" lvl="1" indent="-215900">
              <a:spcBef>
                <a:spcPts val="800"/>
              </a:spcBef>
            </a:pPr>
            <a:r>
              <a:rPr lang="en-US" sz="2800" b="1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</a:t>
            </a:r>
          </a:p>
          <a:p>
            <a:pPr marL="1419225" lvl="1" indent="-215900">
              <a:spcBef>
                <a:spcPts val="800"/>
              </a:spcBef>
            </a:pPr>
            <a:r>
              <a:rPr lang="en-US" sz="2800" b="1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80516-E50A-5ADC-BE67-0EC041DB46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4708" y="1233353"/>
            <a:ext cx="5745890" cy="562464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458C17-6C00-02C3-D096-FC7C02A8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0"/>
            <a:ext cx="11460480" cy="867747"/>
          </a:xfrm>
        </p:spPr>
        <p:txBody>
          <a:bodyPr>
            <a:normAutofit/>
          </a:bodyPr>
          <a:lstStyle/>
          <a:p>
            <a:r>
              <a:rPr lang="en-US" sz="48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The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Production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A291B-C497-197A-DE06-BAE1479F7DF5}"/>
              </a:ext>
            </a:extLst>
          </p:cNvPr>
          <p:cNvSpPr txBox="1"/>
          <p:nvPr/>
        </p:nvSpPr>
        <p:spPr>
          <a:xfrm>
            <a:off x="3480620" y="1940653"/>
            <a:ext cx="7374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2448E-51D3-C07C-3770-735E3BDC5426}"/>
              </a:ext>
            </a:extLst>
          </p:cNvPr>
          <p:cNvSpPr txBox="1"/>
          <p:nvPr/>
        </p:nvSpPr>
        <p:spPr>
          <a:xfrm>
            <a:off x="3480620" y="2402913"/>
            <a:ext cx="7374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</a:t>
            </a:r>
          </a:p>
        </p:txBody>
      </p:sp>
      <p:pic>
        <p:nvPicPr>
          <p:cNvPr id="1034" name="Picture 10" descr="GnosisConnect LMS">
            <a:extLst>
              <a:ext uri="{FF2B5EF4-FFF2-40B4-BE49-F238E27FC236}">
                <a16:creationId xmlns:a16="http://schemas.microsoft.com/office/drawing/2014/main" id="{1E0DCE87-6DA1-04E3-743C-4914DF840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440" y="5712936"/>
            <a:ext cx="865428" cy="865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1FFE9B-DFF4-DDE5-EDFB-0EFD0EFD70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8004" y="5722536"/>
            <a:ext cx="865428" cy="86542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747020-4D29-9179-7D57-24CB896B9F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94944" y="5880834"/>
            <a:ext cx="905149" cy="6847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76B48B2-C49D-65BE-4D92-79135722E7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34252" y="2322161"/>
            <a:ext cx="684724" cy="68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4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1" presetClass="entr" presetSubtype="0" fill="hold" nodeType="withEffect">
                                  <p:stCondLst>
                                    <p:cond delay="550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8" presetClass="entr" presetSubtype="0" accel="50000" fill="hold" nodeType="withEffect">
                                  <p:stCondLst>
                                    <p:cond delay="800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8" presetClass="entr" presetSubtype="0" accel="50000" fill="hold" nodeType="withEffect">
                                  <p:stCondLst>
                                    <p:cond delay="9250"/>
                                  </p:stCondLst>
                                  <p:iterate type="wd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9" presetClass="entr" presetSubtype="0" decel="100000" fill="hold" nodeType="withEffect">
                                  <p:stCondLst>
                                    <p:cond delay="9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8" presetClass="entr" presetSubtype="0" accel="50000" fill="hold" grpId="0" nodeType="withEffect">
                                  <p:stCondLst>
                                    <p:cond delay="1050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7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9" presetClass="entr" presetSubtype="0" decel="100000" fill="hold" nodeType="withEffect">
                                  <p:stCondLst>
                                    <p:cond delay="10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8" presetClass="entr" presetSubtype="0" accel="50000" fill="hold" grpId="0" nodeType="withEffect">
                                  <p:stCondLst>
                                    <p:cond delay="117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9" presetClass="entr" presetSubtype="0" decel="100000" fill="hold" nodeType="withEffect">
                                  <p:stCondLst>
                                    <p:cond delay="12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53DF1287-B2A7-A97F-AD4B-BE5646403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0A3CEC-41CE-E5AE-8B15-F2BF0E7B1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32" name="Picture 8" descr="860+ Wine Press Stock Photos, Pictures &amp; Royalty-Free Images - iStock |  Ancient wine press, Old wine press">
            <a:extLst>
              <a:ext uri="{FF2B5EF4-FFF2-40B4-BE49-F238E27FC236}">
                <a16:creationId xmlns:a16="http://schemas.microsoft.com/office/drawing/2014/main" id="{00D48B43-E740-9E4B-B810-14DC5CDDA2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47" r="8082"/>
          <a:stretch/>
        </p:blipFill>
        <p:spPr bwMode="auto">
          <a:xfrm>
            <a:off x="5384154" y="3110435"/>
            <a:ext cx="2678116" cy="3422209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ne Grower Showing A Wine Grape In Photograph by Keystone-france - Pixels">
            <a:extLst>
              <a:ext uri="{FF2B5EF4-FFF2-40B4-BE49-F238E27FC236}">
                <a16:creationId xmlns:a16="http://schemas.microsoft.com/office/drawing/2014/main" id="{CBA07033-975E-81C2-AAE2-20B91C983B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83" r="19777"/>
          <a:stretch/>
        </p:blipFill>
        <p:spPr bwMode="auto">
          <a:xfrm>
            <a:off x="2956558" y="3110435"/>
            <a:ext cx="2396887" cy="3422209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Art of Growing Grapes">
            <a:extLst>
              <a:ext uri="{FF2B5EF4-FFF2-40B4-BE49-F238E27FC236}">
                <a16:creationId xmlns:a16="http://schemas.microsoft.com/office/drawing/2014/main" id="{426EE882-D9FD-ECE0-9CD3-45F89CD01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60" r="34295"/>
          <a:stretch/>
        </p:blipFill>
        <p:spPr bwMode="auto">
          <a:xfrm>
            <a:off x="484994" y="3110435"/>
            <a:ext cx="2486805" cy="3422209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AAD51B-1795-6A5A-7AC7-8EE5E6FB7168}"/>
              </a:ext>
            </a:extLst>
          </p:cNvPr>
          <p:cNvSpPr txBox="1">
            <a:spLocks/>
          </p:cNvSpPr>
          <p:nvPr/>
        </p:nvSpPr>
        <p:spPr>
          <a:xfrm>
            <a:off x="494335" y="622406"/>
            <a:ext cx="11268456" cy="2488029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To understand how producers create goods and services for consumers in a society, economists have identified four </a:t>
            </a:r>
            <a:r>
              <a:rPr lang="en-US" b="1" dirty="0">
                <a:solidFill>
                  <a:srgbClr val="FFFF00"/>
                </a:solidFill>
                <a:latin typeface="Arial Narrow" panose="020B0606020202030204" pitchFamily="34" charset="0"/>
              </a:rPr>
              <a:t>factors of production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FFFF00"/>
                </a:solidFill>
                <a:latin typeface="Arial Narrow" panose="020B0606020202030204" pitchFamily="34" charset="0"/>
              </a:rPr>
              <a:t>Factors of Production-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resources needed to produce goods and services</a:t>
            </a:r>
          </a:p>
          <a:p>
            <a:pPr marL="1419225" lvl="1" indent="-215900">
              <a:spcBef>
                <a:spcPts val="800"/>
              </a:spcBef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</a:t>
            </a:r>
          </a:p>
          <a:p>
            <a:pPr marL="1419225" lvl="1" indent="-215900">
              <a:spcBef>
                <a:spcPts val="800"/>
              </a:spcBef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</a:t>
            </a:r>
            <a:endParaRPr lang="en-US" sz="2800" b="1" dirty="0">
              <a:solidFill>
                <a:srgbClr val="00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580516-E50A-5ADC-BE67-0EC041DB46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4708" y="1233353"/>
            <a:ext cx="5745890" cy="5624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AA291B-C497-197A-DE06-BAE1479F7DF5}"/>
              </a:ext>
            </a:extLst>
          </p:cNvPr>
          <p:cNvSpPr txBox="1"/>
          <p:nvPr/>
        </p:nvSpPr>
        <p:spPr>
          <a:xfrm>
            <a:off x="3480620" y="1940653"/>
            <a:ext cx="7374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2448E-51D3-C07C-3770-735E3BDC5426}"/>
              </a:ext>
            </a:extLst>
          </p:cNvPr>
          <p:cNvSpPr txBox="1"/>
          <p:nvPr/>
        </p:nvSpPr>
        <p:spPr>
          <a:xfrm>
            <a:off x="3480620" y="2402913"/>
            <a:ext cx="7374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Entrepreneurship</a:t>
            </a:r>
          </a:p>
        </p:txBody>
      </p:sp>
      <p:pic>
        <p:nvPicPr>
          <p:cNvPr id="3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99232C2E-0969-2C3B-0A75-28800261B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FF2A1-70BF-A05E-BABD-87C7D9760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2" name="Picture 4" descr="Where Does Crude Oil Come From? | Blog | Howden">
            <a:extLst>
              <a:ext uri="{FF2B5EF4-FFF2-40B4-BE49-F238E27FC236}">
                <a16:creationId xmlns:a16="http://schemas.microsoft.com/office/drawing/2014/main" id="{334BAB6D-C9E3-439A-E607-DCEFEF005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5" r="51154"/>
          <a:stretch/>
        </p:blipFill>
        <p:spPr bwMode="auto">
          <a:xfrm>
            <a:off x="5509499" y="2240508"/>
            <a:ext cx="2532101" cy="444873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IME for Kids | Fantastic Forests">
            <a:extLst>
              <a:ext uri="{FF2B5EF4-FFF2-40B4-BE49-F238E27FC236}">
                <a16:creationId xmlns:a16="http://schemas.microsoft.com/office/drawing/2014/main" id="{6EADE69F-B71F-59DE-5EE2-3C54897117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74"/>
          <a:stretch/>
        </p:blipFill>
        <p:spPr bwMode="auto">
          <a:xfrm>
            <a:off x="2908628" y="2260422"/>
            <a:ext cx="2537109" cy="44029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Ocean">
            <a:extLst>
              <a:ext uri="{FF2B5EF4-FFF2-40B4-BE49-F238E27FC236}">
                <a16:creationId xmlns:a16="http://schemas.microsoft.com/office/drawing/2014/main" id="{8DC6522D-0051-C107-C08E-42B8746AA4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7" r="48600"/>
          <a:stretch/>
        </p:blipFill>
        <p:spPr bwMode="auto">
          <a:xfrm>
            <a:off x="484994" y="2240508"/>
            <a:ext cx="2388530" cy="4422861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Amazon.com : AOFOTO 9x6ft Countryside Green Farmland Backdrop Nature Blue  Sky Clouds Cropland Farm Field Fence Grassland Crops Prairie Background for  Photography Photo Studio Props Vinyl Wallpaper : Electronics">
            <a:extLst>
              <a:ext uri="{FF2B5EF4-FFF2-40B4-BE49-F238E27FC236}">
                <a16:creationId xmlns:a16="http://schemas.microsoft.com/office/drawing/2014/main" id="{FD28887F-6DD4-BBED-E32F-5EE59ABB2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9"/>
          <a:stretch/>
        </p:blipFill>
        <p:spPr bwMode="auto">
          <a:xfrm>
            <a:off x="8110792" y="2218611"/>
            <a:ext cx="3409046" cy="4470634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2F0160-F25B-02FC-B012-CA0B4A815428}"/>
              </a:ext>
            </a:extLst>
          </p:cNvPr>
          <p:cNvSpPr txBox="1">
            <a:spLocks/>
          </p:cNvSpPr>
          <p:nvPr/>
        </p:nvSpPr>
        <p:spPr>
          <a:xfrm>
            <a:off x="461772" y="696638"/>
            <a:ext cx="11268456" cy="1521973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 economic terms,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land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includes all the natural resources found on or under ground that are used to produce goods and services.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Water, timber, livestock, minerals, gas, oil, etc.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7882D-55DF-AF06-63DA-DB71B63341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699" y="949439"/>
            <a:ext cx="7823408" cy="587329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458C17-6C00-02C3-D096-FC7C02A8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0"/>
            <a:ext cx="11460480" cy="867747"/>
          </a:xfrm>
        </p:spPr>
        <p:txBody>
          <a:bodyPr>
            <a:normAutofit/>
          </a:bodyPr>
          <a:lstStyle/>
          <a:p>
            <a:r>
              <a:rPr lang="en-US" sz="48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The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371142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xit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7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7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7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7" presetClass="exit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1" presetClass="entr" presetSubtype="0" fill="hold" nodeType="withEffect">
                                  <p:stCondLst>
                                    <p:cond delay="57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  <p:bldP spid="6" grpId="0"/>
      <p:bldP spid="8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53DF1287-B2A7-A97F-AD4B-BE5646403F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0A3CEC-41CE-E5AE-8B15-F2BF0E7B1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99232C2E-0969-2C3B-0A75-28800261B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FF2A1-70BF-A05E-BABD-87C7D9760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69"/>
            <a:ext cx="12192000" cy="6858000"/>
          </a:xfrm>
          <a:prstGeom prst="rect">
            <a:avLst/>
          </a:prstGeom>
        </p:spPr>
      </p:pic>
      <p:pic>
        <p:nvPicPr>
          <p:cNvPr id="2062" name="Picture 14" descr="Amazon.com : AOFOTO 9x6ft Countryside Green Farmland Backdrop Nature Blue  Sky Clouds Cropland Farm Field Fence Grassland Crops Prairie Background for  Photography Photo Studio Props Vinyl Wallpaper : Electronics">
            <a:extLst>
              <a:ext uri="{FF2B5EF4-FFF2-40B4-BE49-F238E27FC236}">
                <a16:creationId xmlns:a16="http://schemas.microsoft.com/office/drawing/2014/main" id="{FD28887F-6DD4-BBED-E32F-5EE59ABB2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9"/>
          <a:stretch/>
        </p:blipFill>
        <p:spPr bwMode="auto">
          <a:xfrm>
            <a:off x="8110792" y="2218611"/>
            <a:ext cx="3409046" cy="4470634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ere Does Crude Oil Come From? | Blog | Howden">
            <a:extLst>
              <a:ext uri="{FF2B5EF4-FFF2-40B4-BE49-F238E27FC236}">
                <a16:creationId xmlns:a16="http://schemas.microsoft.com/office/drawing/2014/main" id="{334BAB6D-C9E3-439A-E607-DCEFEF0056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5" r="51154"/>
          <a:stretch/>
        </p:blipFill>
        <p:spPr bwMode="auto">
          <a:xfrm>
            <a:off x="5509499" y="2240508"/>
            <a:ext cx="2532101" cy="444873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IME for Kids | Fantastic Forests">
            <a:extLst>
              <a:ext uri="{FF2B5EF4-FFF2-40B4-BE49-F238E27FC236}">
                <a16:creationId xmlns:a16="http://schemas.microsoft.com/office/drawing/2014/main" id="{6EADE69F-B71F-59DE-5EE2-3C54897117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74"/>
          <a:stretch/>
        </p:blipFill>
        <p:spPr bwMode="auto">
          <a:xfrm>
            <a:off x="2908628" y="2260422"/>
            <a:ext cx="2537109" cy="44029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Ocean">
            <a:extLst>
              <a:ext uri="{FF2B5EF4-FFF2-40B4-BE49-F238E27FC236}">
                <a16:creationId xmlns:a16="http://schemas.microsoft.com/office/drawing/2014/main" id="{8DC6522D-0051-C107-C08E-42B8746AA4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07" r="48600"/>
          <a:stretch/>
        </p:blipFill>
        <p:spPr bwMode="auto">
          <a:xfrm>
            <a:off x="484994" y="2240508"/>
            <a:ext cx="2388530" cy="4422861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2F0160-F25B-02FC-B012-CA0B4A815428}"/>
              </a:ext>
            </a:extLst>
          </p:cNvPr>
          <p:cNvSpPr txBox="1">
            <a:spLocks/>
          </p:cNvSpPr>
          <p:nvPr/>
        </p:nvSpPr>
        <p:spPr>
          <a:xfrm>
            <a:off x="461772" y="696638"/>
            <a:ext cx="11268456" cy="1521973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 economic terms,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land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includes all the natural resources found on or under ground that are used to produce goods and services.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Water, timber, livestock, minerals, gas, oil, etc.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E7882D-55DF-AF06-63DA-DB71B63341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699" y="949439"/>
            <a:ext cx="7823408" cy="5873292"/>
          </a:xfrm>
          <a:prstGeom prst="rect">
            <a:avLst/>
          </a:prstGeom>
        </p:spPr>
      </p:pic>
      <p:pic>
        <p:nvPicPr>
          <p:cNvPr id="3076" name="Picture 4" descr="Who Is a Technical Architect? Job Role, Responsibility, Skills [Updated]">
            <a:extLst>
              <a:ext uri="{FF2B5EF4-FFF2-40B4-BE49-F238E27FC236}">
                <a16:creationId xmlns:a16="http://schemas.microsoft.com/office/drawing/2014/main" id="{F2446AB9-FE3F-97D4-2663-4A130C57C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54" r="14150"/>
          <a:stretch/>
        </p:blipFill>
        <p:spPr bwMode="auto">
          <a:xfrm>
            <a:off x="473507" y="3691109"/>
            <a:ext cx="2255348" cy="302080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ree Amazing Changes Teachers Are Seeing from Implementing the New Second  Step Middle School Curriculum | Committee for Children">
            <a:extLst>
              <a:ext uri="{FF2B5EF4-FFF2-40B4-BE49-F238E27FC236}">
                <a16:creationId xmlns:a16="http://schemas.microsoft.com/office/drawing/2014/main" id="{06AB10AC-5C58-F8C8-1044-59AD17924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1" r="25552"/>
          <a:stretch/>
        </p:blipFill>
        <p:spPr bwMode="auto">
          <a:xfrm>
            <a:off x="2779371" y="3669296"/>
            <a:ext cx="2359638" cy="302080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Nursing Ethics: 4 Main Ethical Principles in Nursing | University of Phoenix">
            <a:extLst>
              <a:ext uri="{FF2B5EF4-FFF2-40B4-BE49-F238E27FC236}">
                <a16:creationId xmlns:a16="http://schemas.microsoft.com/office/drawing/2014/main" id="{03F21BEE-0832-4517-B90A-85A6FE30C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5" r="15502"/>
          <a:stretch/>
        </p:blipFill>
        <p:spPr bwMode="auto">
          <a:xfrm>
            <a:off x="5182128" y="3668445"/>
            <a:ext cx="2476183" cy="302080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The Best Approach to Leasing Warehouse Space">
            <a:extLst>
              <a:ext uri="{FF2B5EF4-FFF2-40B4-BE49-F238E27FC236}">
                <a16:creationId xmlns:a16="http://schemas.microsoft.com/office/drawing/2014/main" id="{1BAC6FEB-F7A6-B1CC-0C06-3A0F79CF5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7" r="25107"/>
          <a:stretch/>
        </p:blipFill>
        <p:spPr bwMode="auto">
          <a:xfrm>
            <a:off x="7700248" y="3720656"/>
            <a:ext cx="2563558" cy="296593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356CE8-7772-D5FF-9AF3-E6B03D29D56C}"/>
              </a:ext>
            </a:extLst>
          </p:cNvPr>
          <p:cNvSpPr txBox="1">
            <a:spLocks/>
          </p:cNvSpPr>
          <p:nvPr/>
        </p:nvSpPr>
        <p:spPr>
          <a:xfrm>
            <a:off x="445008" y="2219546"/>
            <a:ext cx="11268456" cy="1450601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Labor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is </a:t>
            </a:r>
            <a:r>
              <a:rPr lang="en-US" b="1" u="sng" dirty="0">
                <a:solidFill>
                  <a:schemeClr val="bg1"/>
                </a:solidFill>
                <a:latin typeface="Arial Narrow" panose="020B0606020202030204" pitchFamily="34" charset="0"/>
              </a:rPr>
              <a:t>all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the human time, effort, and talent that go                                         into the making of products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factory worker, architect, teacher, doctors, clerks, etc.</a:t>
            </a:r>
          </a:p>
        </p:txBody>
      </p:sp>
      <p:pic>
        <p:nvPicPr>
          <p:cNvPr id="3074" name="Picture 2" descr="Smiling factory worker man in hard hat with crossed arms on white  background 22478532 PNG">
            <a:extLst>
              <a:ext uri="{FF2B5EF4-FFF2-40B4-BE49-F238E27FC236}">
                <a16:creationId xmlns:a16="http://schemas.microsoft.com/office/drawing/2014/main" id="{1D306C40-6532-6A49-54CB-33C94BC00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7" r="16525"/>
          <a:stretch/>
        </p:blipFill>
        <p:spPr bwMode="auto">
          <a:xfrm>
            <a:off x="8345853" y="867747"/>
            <a:ext cx="4642837" cy="599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458C17-6C00-02C3-D096-FC7C02A8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0"/>
            <a:ext cx="11460480" cy="867747"/>
          </a:xfrm>
        </p:spPr>
        <p:txBody>
          <a:bodyPr>
            <a:normAutofit/>
          </a:bodyPr>
          <a:lstStyle/>
          <a:p>
            <a:r>
              <a:rPr lang="en-US" sz="48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The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80410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7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7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1" presetClass="entr" presetSubtype="0" fill="hold" nodeType="withEffect">
                                  <p:stCondLst>
                                    <p:cond delay="57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99232C2E-0969-2C3B-0A75-28800261B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FF2A1-70BF-A05E-BABD-87C7D9760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69"/>
            <a:ext cx="12192000" cy="6858000"/>
          </a:xfrm>
          <a:prstGeom prst="rect">
            <a:avLst/>
          </a:prstGeom>
        </p:spPr>
      </p:pic>
      <p:pic>
        <p:nvPicPr>
          <p:cNvPr id="3084" name="Picture 12" descr="The Best Approach to Leasing Warehouse Space">
            <a:extLst>
              <a:ext uri="{FF2B5EF4-FFF2-40B4-BE49-F238E27FC236}">
                <a16:creationId xmlns:a16="http://schemas.microsoft.com/office/drawing/2014/main" id="{1BAC6FEB-F7A6-B1CC-0C06-3A0F79CF5D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7" r="25107"/>
          <a:stretch/>
        </p:blipFill>
        <p:spPr bwMode="auto">
          <a:xfrm>
            <a:off x="7700248" y="3720656"/>
            <a:ext cx="2563558" cy="296593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Nursing Ethics: 4 Main Ethical Principles in Nursing | University of Phoenix">
            <a:extLst>
              <a:ext uri="{FF2B5EF4-FFF2-40B4-BE49-F238E27FC236}">
                <a16:creationId xmlns:a16="http://schemas.microsoft.com/office/drawing/2014/main" id="{03F21BEE-0832-4517-B90A-85A6FE30C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5" r="15502"/>
          <a:stretch/>
        </p:blipFill>
        <p:spPr bwMode="auto">
          <a:xfrm>
            <a:off x="5182128" y="3668445"/>
            <a:ext cx="2476183" cy="302080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ree Amazing Changes Teachers Are Seeing from Implementing the New Second  Step Middle School Curriculum | Committee for Children">
            <a:extLst>
              <a:ext uri="{FF2B5EF4-FFF2-40B4-BE49-F238E27FC236}">
                <a16:creationId xmlns:a16="http://schemas.microsoft.com/office/drawing/2014/main" id="{06AB10AC-5C58-F8C8-1044-59AD17924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1" r="25552"/>
          <a:stretch/>
        </p:blipFill>
        <p:spPr bwMode="auto">
          <a:xfrm>
            <a:off x="2779371" y="3669296"/>
            <a:ext cx="2359638" cy="302080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o Is a Technical Architect? Job Role, Responsibility, Skills [Updated]">
            <a:extLst>
              <a:ext uri="{FF2B5EF4-FFF2-40B4-BE49-F238E27FC236}">
                <a16:creationId xmlns:a16="http://schemas.microsoft.com/office/drawing/2014/main" id="{F2446AB9-FE3F-97D4-2663-4A130C57CC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54" r="14150"/>
          <a:stretch/>
        </p:blipFill>
        <p:spPr bwMode="auto">
          <a:xfrm>
            <a:off x="473507" y="3691109"/>
            <a:ext cx="2255348" cy="3020800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356CE8-7772-D5FF-9AF3-E6B03D29D56C}"/>
              </a:ext>
            </a:extLst>
          </p:cNvPr>
          <p:cNvSpPr txBox="1">
            <a:spLocks/>
          </p:cNvSpPr>
          <p:nvPr/>
        </p:nvSpPr>
        <p:spPr>
          <a:xfrm>
            <a:off x="445008" y="2219546"/>
            <a:ext cx="11268456" cy="1450601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Labor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is </a:t>
            </a:r>
            <a:r>
              <a:rPr lang="en-US" b="1" u="sng" dirty="0">
                <a:solidFill>
                  <a:schemeClr val="bg1"/>
                </a:solidFill>
                <a:latin typeface="Arial Narrow" panose="020B0606020202030204" pitchFamily="34" charset="0"/>
              </a:rPr>
              <a:t>all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the human time, effort, and talent that go                                         into the making of products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factory worker, architect, teacher, doctors, clerks, etc.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2F0160-F25B-02FC-B012-CA0B4A815428}"/>
              </a:ext>
            </a:extLst>
          </p:cNvPr>
          <p:cNvSpPr txBox="1">
            <a:spLocks/>
          </p:cNvSpPr>
          <p:nvPr/>
        </p:nvSpPr>
        <p:spPr>
          <a:xfrm>
            <a:off x="461772" y="696638"/>
            <a:ext cx="11268456" cy="1521973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 economic terms,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land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includes all the natural resources found on or under ground that are used to produce goods and services.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Water, timber, livestock, minerals, gas, oil,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0DF7C0-3BE6-2855-E5E3-9F9D3AFE40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109" y="2121676"/>
            <a:ext cx="2378491" cy="1484235"/>
          </a:xfrm>
          <a:prstGeom prst="rect">
            <a:avLst/>
          </a:prstGeom>
        </p:spPr>
      </p:pic>
      <p:pic>
        <p:nvPicPr>
          <p:cNvPr id="3074" name="Picture 2" descr="Smiling factory worker man in hard hat with crossed arms on white  background 22478532 PNG">
            <a:extLst>
              <a:ext uri="{FF2B5EF4-FFF2-40B4-BE49-F238E27FC236}">
                <a16:creationId xmlns:a16="http://schemas.microsoft.com/office/drawing/2014/main" id="{1D306C40-6532-6A49-54CB-33C94BC006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7" r="16525"/>
          <a:stretch/>
        </p:blipFill>
        <p:spPr bwMode="auto">
          <a:xfrm>
            <a:off x="8345853" y="867747"/>
            <a:ext cx="4642837" cy="599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i Lo Driver: What Is It? and How to Become One? | Ziprecruiter">
            <a:extLst>
              <a:ext uri="{FF2B5EF4-FFF2-40B4-BE49-F238E27FC236}">
                <a16:creationId xmlns:a16="http://schemas.microsoft.com/office/drawing/2014/main" id="{8FCFD040-741D-604A-53F7-500662264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" t="10316" r="11743" b="9507"/>
          <a:stretch/>
        </p:blipFill>
        <p:spPr bwMode="auto">
          <a:xfrm>
            <a:off x="453472" y="5466338"/>
            <a:ext cx="2037990" cy="1245571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mputer Network Architect - Career Rankings, Salary, Reviews and Advice |  US News Best Jobs">
            <a:extLst>
              <a:ext uri="{FF2B5EF4-FFF2-40B4-BE49-F238E27FC236}">
                <a16:creationId xmlns:a16="http://schemas.microsoft.com/office/drawing/2014/main" id="{B1213C07-FA4B-37C5-3C8D-8B41630E8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26"/>
          <a:stretch/>
        </p:blipFill>
        <p:spPr bwMode="auto">
          <a:xfrm>
            <a:off x="2520116" y="5455678"/>
            <a:ext cx="2451925" cy="127719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ow to Measure ROI of a College Education">
            <a:extLst>
              <a:ext uri="{FF2B5EF4-FFF2-40B4-BE49-F238E27FC236}">
                <a16:creationId xmlns:a16="http://schemas.microsoft.com/office/drawing/2014/main" id="{62AFA9A2-4C82-D555-E13A-D9167D0CE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90"/>
          <a:stretch/>
        </p:blipFill>
        <p:spPr bwMode="auto">
          <a:xfrm>
            <a:off x="5009919" y="5450015"/>
            <a:ext cx="2210042" cy="127362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ow the factory of today becomes the factory of the future">
            <a:extLst>
              <a:ext uri="{FF2B5EF4-FFF2-40B4-BE49-F238E27FC236}">
                <a16:creationId xmlns:a16="http://schemas.microsoft.com/office/drawing/2014/main" id="{A7ABFB6B-29E4-0038-555E-F71CBAC9A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8" b="7334"/>
          <a:stretch/>
        </p:blipFill>
        <p:spPr bwMode="auto">
          <a:xfrm>
            <a:off x="7290620" y="5477068"/>
            <a:ext cx="2263005" cy="124478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B77C7-E4F7-346C-4F79-065F24CFE14F}"/>
              </a:ext>
            </a:extLst>
          </p:cNvPr>
          <p:cNvSpPr txBox="1">
            <a:spLocks/>
          </p:cNvSpPr>
          <p:nvPr/>
        </p:nvSpPr>
        <p:spPr>
          <a:xfrm>
            <a:off x="445008" y="3659696"/>
            <a:ext cx="11268456" cy="1771373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 economics,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capital 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is all the resources made and used                                  by people to produce and distribute goods and services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Physical Capital: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tools, machinery, offices, warehouses, offices, etc.</a:t>
            </a:r>
          </a:p>
          <a:p>
            <a:pPr marL="512763" lvl="1" indent="-165100">
              <a:spcBef>
                <a:spcPts val="4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Human Capital</a:t>
            </a:r>
            <a:r>
              <a:rPr lang="en-US" dirty="0">
                <a:solidFill>
                  <a:srgbClr val="00FFFF"/>
                </a:solidFill>
                <a:latin typeface="Arial Narrow" panose="020B0606020202030204" pitchFamily="34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college degree, job training, etc.</a:t>
            </a:r>
          </a:p>
        </p:txBody>
      </p:sp>
      <p:pic>
        <p:nvPicPr>
          <p:cNvPr id="4098" name="Picture 2" descr="Hand of car mechanic with a wrench. Isolated over transparent background  10063632 PNG">
            <a:extLst>
              <a:ext uri="{FF2B5EF4-FFF2-40B4-BE49-F238E27FC236}">
                <a16:creationId xmlns:a16="http://schemas.microsoft.com/office/drawing/2014/main" id="{1451E49D-3893-D845-94C0-5213972F8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66012">
            <a:off x="5957180" y="2272495"/>
            <a:ext cx="7927765" cy="528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458C17-6C00-02C3-D096-FC7C02A8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0"/>
            <a:ext cx="11460480" cy="867747"/>
          </a:xfrm>
        </p:spPr>
        <p:txBody>
          <a:bodyPr>
            <a:normAutofit/>
          </a:bodyPr>
          <a:lstStyle/>
          <a:p>
            <a:r>
              <a:rPr lang="en-US" sz="48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The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179416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7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7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1" presetClass="entr" presetSubtype="0" fill="hold" nodeType="withEffect">
                                  <p:stCondLst>
                                    <p:cond delay="57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1" presetClass="entr" presetSubtype="0" fill="hold" nodeType="withEffect">
                                  <p:stCondLst>
                                    <p:cond delay="72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 tmFilter="0,0; .5, 1; 1, 1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99232C2E-0969-2C3B-0A75-28800261B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FF2A1-70BF-A05E-BABD-87C7D9760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69"/>
            <a:ext cx="12192000" cy="6858000"/>
          </a:xfrm>
          <a:prstGeom prst="rect">
            <a:avLst/>
          </a:prstGeom>
        </p:spPr>
      </p:pic>
      <p:pic>
        <p:nvPicPr>
          <p:cNvPr id="4106" name="Picture 10" descr="How the factory of today becomes the factory of the future">
            <a:extLst>
              <a:ext uri="{FF2B5EF4-FFF2-40B4-BE49-F238E27FC236}">
                <a16:creationId xmlns:a16="http://schemas.microsoft.com/office/drawing/2014/main" id="{A7ABFB6B-29E4-0038-555E-F71CBAC9A7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8" b="7334"/>
          <a:stretch/>
        </p:blipFill>
        <p:spPr bwMode="auto">
          <a:xfrm>
            <a:off x="7290620" y="5477068"/>
            <a:ext cx="2263005" cy="124478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ow to Measure ROI of a College Education">
            <a:extLst>
              <a:ext uri="{FF2B5EF4-FFF2-40B4-BE49-F238E27FC236}">
                <a16:creationId xmlns:a16="http://schemas.microsoft.com/office/drawing/2014/main" id="{62AFA9A2-4C82-D555-E13A-D9167D0CE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90"/>
          <a:stretch/>
        </p:blipFill>
        <p:spPr bwMode="auto">
          <a:xfrm>
            <a:off x="5009919" y="5450015"/>
            <a:ext cx="2210042" cy="127362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Computer Network Architect - Career Rankings, Salary, Reviews and Advice |  US News Best Jobs">
            <a:extLst>
              <a:ext uri="{FF2B5EF4-FFF2-40B4-BE49-F238E27FC236}">
                <a16:creationId xmlns:a16="http://schemas.microsoft.com/office/drawing/2014/main" id="{B1213C07-FA4B-37C5-3C8D-8B41630E8D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26"/>
          <a:stretch/>
        </p:blipFill>
        <p:spPr bwMode="auto">
          <a:xfrm>
            <a:off x="2520116" y="5455678"/>
            <a:ext cx="2451925" cy="1277193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i Lo Driver: What Is It? and How to Become One? | Ziprecruiter">
            <a:extLst>
              <a:ext uri="{FF2B5EF4-FFF2-40B4-BE49-F238E27FC236}">
                <a16:creationId xmlns:a16="http://schemas.microsoft.com/office/drawing/2014/main" id="{8FCFD040-741D-604A-53F7-5006622648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" t="10316" r="11743" b="9507"/>
          <a:stretch/>
        </p:blipFill>
        <p:spPr bwMode="auto">
          <a:xfrm>
            <a:off x="453472" y="5466338"/>
            <a:ext cx="2037990" cy="1245571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AB77C7-E4F7-346C-4F79-065F24CFE14F}"/>
              </a:ext>
            </a:extLst>
          </p:cNvPr>
          <p:cNvSpPr txBox="1">
            <a:spLocks/>
          </p:cNvSpPr>
          <p:nvPr/>
        </p:nvSpPr>
        <p:spPr>
          <a:xfrm>
            <a:off x="445008" y="3659696"/>
            <a:ext cx="11268456" cy="1771373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 economics,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capital 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is all the resources made and used                                  by people to produce and distribute goods and services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Physical Capital: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tools, machinery, offices, warehouses, offices, etc.</a:t>
            </a:r>
          </a:p>
          <a:p>
            <a:pPr marL="512763" lvl="1" indent="-165100">
              <a:spcBef>
                <a:spcPts val="4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Human Capital</a:t>
            </a:r>
            <a:r>
              <a:rPr lang="en-US" dirty="0">
                <a:solidFill>
                  <a:srgbClr val="00FFFF"/>
                </a:solidFill>
                <a:latin typeface="Arial Narrow" panose="020B0606020202030204" pitchFamily="34" charset="0"/>
              </a:rPr>
              <a:t>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college degree, job training, etc.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7356CE8-7772-D5FF-9AF3-E6B03D29D56C}"/>
              </a:ext>
            </a:extLst>
          </p:cNvPr>
          <p:cNvSpPr txBox="1">
            <a:spLocks/>
          </p:cNvSpPr>
          <p:nvPr/>
        </p:nvSpPr>
        <p:spPr>
          <a:xfrm>
            <a:off x="445008" y="2219546"/>
            <a:ext cx="11268456" cy="1450601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Labor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is </a:t>
            </a:r>
            <a:r>
              <a:rPr lang="en-US" b="1" u="sng" dirty="0">
                <a:solidFill>
                  <a:schemeClr val="bg1"/>
                </a:solidFill>
                <a:latin typeface="Arial Narrow" panose="020B0606020202030204" pitchFamily="34" charset="0"/>
              </a:rPr>
              <a:t>all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the human time, effort, and talent that go                                         into the making of products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factory worker, architect, teacher, doctors, clerks, etc.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2F0160-F25B-02FC-B012-CA0B4A815428}"/>
              </a:ext>
            </a:extLst>
          </p:cNvPr>
          <p:cNvSpPr txBox="1">
            <a:spLocks/>
          </p:cNvSpPr>
          <p:nvPr/>
        </p:nvSpPr>
        <p:spPr>
          <a:xfrm>
            <a:off x="461772" y="696638"/>
            <a:ext cx="11268456" cy="1521973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In economic terms,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land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 includes all the natural resources found on or under ground that are used to produce goods and services.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00FFFF"/>
                </a:solidFill>
                <a:latin typeface="Arial Narrow" panose="020B0606020202030204" pitchFamily="34" charset="0"/>
              </a:rPr>
              <a:t>Examples: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Water, timber, livestock, minerals, gas, oil, etc.</a:t>
            </a:r>
          </a:p>
        </p:txBody>
      </p:sp>
      <p:pic>
        <p:nvPicPr>
          <p:cNvPr id="4098" name="Picture 2" descr="Hand of car mechanic with a wrench. Isolated over transparent background  10063632 PNG">
            <a:extLst>
              <a:ext uri="{FF2B5EF4-FFF2-40B4-BE49-F238E27FC236}">
                <a16:creationId xmlns:a16="http://schemas.microsoft.com/office/drawing/2014/main" id="{1451E49D-3893-D845-94C0-5213972F8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566012">
            <a:off x="5957180" y="2272495"/>
            <a:ext cx="7927765" cy="5285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Food &amp; Wine Trips to Italy | Antinori in the Chianti Classico with TIK">
            <a:extLst>
              <a:ext uri="{FF2B5EF4-FFF2-40B4-BE49-F238E27FC236}">
                <a16:creationId xmlns:a16="http://schemas.microsoft.com/office/drawing/2014/main" id="{2C0BC470-66DB-8B85-7766-647D6EE2A9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8A4AD-8C31-410B-5BCD-CA445CDF28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764" y="0"/>
            <a:ext cx="12192000" cy="6858000"/>
          </a:xfrm>
          <a:prstGeom prst="rect">
            <a:avLst/>
          </a:prstGeom>
        </p:spPr>
      </p:pic>
      <p:pic>
        <p:nvPicPr>
          <p:cNvPr id="5134" name="Picture 14" descr="What are Innovation Goals, and how can you define them?">
            <a:extLst>
              <a:ext uri="{FF2B5EF4-FFF2-40B4-BE49-F238E27FC236}">
                <a16:creationId xmlns:a16="http://schemas.microsoft.com/office/drawing/2014/main" id="{B30A1A16-1273-C8C4-6DDD-E381FD9B2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1" r="11222"/>
          <a:stretch/>
        </p:blipFill>
        <p:spPr bwMode="auto">
          <a:xfrm>
            <a:off x="5233079" y="2301233"/>
            <a:ext cx="4797733" cy="400211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Creating a Code of Conduct for Your Small Business | Sections">
            <a:extLst>
              <a:ext uri="{FF2B5EF4-FFF2-40B4-BE49-F238E27FC236}">
                <a16:creationId xmlns:a16="http://schemas.microsoft.com/office/drawing/2014/main" id="{F9197848-5CBD-58EB-5C4A-D0F69D98D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0" r="18151"/>
          <a:stretch/>
        </p:blipFill>
        <p:spPr bwMode="auto">
          <a:xfrm>
            <a:off x="501446" y="2301233"/>
            <a:ext cx="4694082" cy="40128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212D82-E5B1-882C-9671-5B980C61D119}"/>
              </a:ext>
            </a:extLst>
          </p:cNvPr>
          <p:cNvSpPr txBox="1">
            <a:spLocks/>
          </p:cNvSpPr>
          <p:nvPr/>
        </p:nvSpPr>
        <p:spPr>
          <a:xfrm>
            <a:off x="480712" y="675387"/>
            <a:ext cx="11268456" cy="1579847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The fourth factor of production,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enterprise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, brings the other three together by combining vision, skills, ingenuity to create and run a business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FFFF00"/>
                </a:solidFill>
                <a:latin typeface="Arial Narrow" panose="020B0606020202030204" pitchFamily="34" charset="0"/>
              </a:rPr>
              <a:t>Entrepreneur: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someone who organizes, manages, and assumes                                              the risks of a business or enterprise; the agent in charge</a:t>
            </a:r>
          </a:p>
        </p:txBody>
      </p:sp>
      <p:pic>
        <p:nvPicPr>
          <p:cNvPr id="5132" name="Picture 12" descr="Entrepreneur Launch Deck » Home">
            <a:extLst>
              <a:ext uri="{FF2B5EF4-FFF2-40B4-BE49-F238E27FC236}">
                <a16:creationId xmlns:a16="http://schemas.microsoft.com/office/drawing/2014/main" id="{2F68C573-A13F-DA7A-2BB2-37C78E6051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48" b="2568"/>
          <a:stretch/>
        </p:blipFill>
        <p:spPr bwMode="auto">
          <a:xfrm>
            <a:off x="6344983" y="1340161"/>
            <a:ext cx="5880832" cy="548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0458C17-6C00-02C3-D096-FC7C02A8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0"/>
            <a:ext cx="11460480" cy="867747"/>
          </a:xfrm>
        </p:spPr>
        <p:txBody>
          <a:bodyPr>
            <a:normAutofit/>
          </a:bodyPr>
          <a:lstStyle/>
          <a:p>
            <a:r>
              <a:rPr lang="en-US" sz="48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The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2008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xit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7" presetClass="exit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7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7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47" presetClass="exit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7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1" presetClass="entr" presetSubtype="0" fill="hold" nodeType="withEffect">
                                  <p:stCondLst>
                                    <p:cond delay="62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 tmFilter="0,0; .5, 1; 1, 1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5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8" grpId="0" animBg="1"/>
      <p:bldP spid="11" grpId="0" uiExpand="1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ood &amp; Wine Trips to Italy | Antinori in the Chianti Classico with TIK">
            <a:extLst>
              <a:ext uri="{FF2B5EF4-FFF2-40B4-BE49-F238E27FC236}">
                <a16:creationId xmlns:a16="http://schemas.microsoft.com/office/drawing/2014/main" id="{99232C2E-0969-2C3B-0A75-28800261B7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4FF2A1-70BF-A05E-BABD-87C7D9760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269"/>
            <a:ext cx="12192000" cy="6858000"/>
          </a:xfrm>
          <a:prstGeom prst="rect">
            <a:avLst/>
          </a:prstGeom>
        </p:spPr>
      </p:pic>
      <p:pic>
        <p:nvPicPr>
          <p:cNvPr id="5134" name="Picture 14" descr="What are Innovation Goals, and how can you define them?">
            <a:extLst>
              <a:ext uri="{FF2B5EF4-FFF2-40B4-BE49-F238E27FC236}">
                <a16:creationId xmlns:a16="http://schemas.microsoft.com/office/drawing/2014/main" id="{B30A1A16-1273-C8C4-6DDD-E381FD9B2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1" r="11222"/>
          <a:stretch/>
        </p:blipFill>
        <p:spPr bwMode="auto">
          <a:xfrm>
            <a:off x="5233079" y="2301233"/>
            <a:ext cx="4797733" cy="400211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6" name="Picture 16" descr="Creating a Code of Conduct for Your Small Business | Sections">
            <a:extLst>
              <a:ext uri="{FF2B5EF4-FFF2-40B4-BE49-F238E27FC236}">
                <a16:creationId xmlns:a16="http://schemas.microsoft.com/office/drawing/2014/main" id="{F9197848-5CBD-58EB-5C4A-D0F69D98DF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0" r="18151"/>
          <a:stretch/>
        </p:blipFill>
        <p:spPr bwMode="auto">
          <a:xfrm>
            <a:off x="501446" y="2301233"/>
            <a:ext cx="4694082" cy="4012847"/>
          </a:xfrm>
          <a:prstGeom prst="rect">
            <a:avLst/>
          </a:prstGeom>
          <a:noFill/>
          <a:ln w="38100">
            <a:solidFill>
              <a:schemeClr val="accent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Food &amp; Wine Trips to Italy | Antinori in the Chianti Classico with TIK">
            <a:extLst>
              <a:ext uri="{FF2B5EF4-FFF2-40B4-BE49-F238E27FC236}">
                <a16:creationId xmlns:a16="http://schemas.microsoft.com/office/drawing/2014/main" id="{2C0BC470-66DB-8B85-7766-647D6EE2A9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8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4C835D-1342-988D-4015-F2819B1D66D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297057" y="-3050860"/>
            <a:ext cx="12405305" cy="12405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8A4AD-8C31-410B-5BCD-CA445CDF2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8" name="Picture 4" descr="Light PNG, Light Transparent Background - FreeIconsPNG">
            <a:extLst>
              <a:ext uri="{FF2B5EF4-FFF2-40B4-BE49-F238E27FC236}">
                <a16:creationId xmlns:a16="http://schemas.microsoft.com/office/drawing/2014/main" id="{595E9259-9FB8-8A51-D823-105ECB950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7155" y="1580358"/>
            <a:ext cx="3160418" cy="316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0476DB0-0D06-1103-ABD5-248555108C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" y="-30745"/>
            <a:ext cx="12190213" cy="687725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0212D82-E5B1-882C-9671-5B980C61D119}"/>
              </a:ext>
            </a:extLst>
          </p:cNvPr>
          <p:cNvSpPr txBox="1">
            <a:spLocks/>
          </p:cNvSpPr>
          <p:nvPr/>
        </p:nvSpPr>
        <p:spPr>
          <a:xfrm>
            <a:off x="480712" y="675387"/>
            <a:ext cx="11268456" cy="1579847"/>
          </a:xfrm>
          <a:prstGeom prst="rect">
            <a:avLst/>
          </a:prstGeom>
          <a:solidFill>
            <a:srgbClr val="000000">
              <a:alpha val="80000"/>
            </a:srgbClr>
          </a:solidFill>
          <a:ln w="57150">
            <a:solidFill>
              <a:schemeClr val="accent4"/>
            </a:solidFill>
          </a:ln>
        </p:spPr>
        <p:txBody>
          <a:bodyPr vert="horz" lIns="91440" tIns="9144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The fourth factor of production, </a:t>
            </a:r>
            <a:r>
              <a:rPr lang="en-US" b="1" dirty="0">
                <a:solidFill>
                  <a:srgbClr val="00FF00"/>
                </a:solidFill>
                <a:latin typeface="Arial Narrow" panose="020B0606020202030204" pitchFamily="34" charset="0"/>
              </a:rPr>
              <a:t>entrepreneurship</a:t>
            </a:r>
            <a:r>
              <a:rPr 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, brings the other three together by combining vision, skills, ingenuity to create and run a business</a:t>
            </a:r>
          </a:p>
          <a:p>
            <a:pPr marL="512763" lvl="1" indent="-165100">
              <a:spcBef>
                <a:spcPts val="800"/>
              </a:spcBef>
            </a:pPr>
            <a:r>
              <a:rPr lang="en-US" b="1" dirty="0">
                <a:solidFill>
                  <a:srgbClr val="FFFF00"/>
                </a:solidFill>
                <a:latin typeface="Arial Narrow" panose="020B0606020202030204" pitchFamily="34" charset="0"/>
              </a:rPr>
              <a:t>Entrepreneur: </a:t>
            </a:r>
            <a:r>
              <a:rPr lang="en-US" dirty="0">
                <a:solidFill>
                  <a:schemeClr val="bg1"/>
                </a:solidFill>
                <a:latin typeface="Arial Narrow" panose="020B0606020202030204" pitchFamily="34" charset="0"/>
              </a:rPr>
              <a:t>someone who organizes, manages, and assumes                                              the risks of a business or enterprise; the agent in charge</a:t>
            </a:r>
          </a:p>
        </p:txBody>
      </p:sp>
      <p:pic>
        <p:nvPicPr>
          <p:cNvPr id="5132" name="Picture 12" descr="Entrepreneur Launch Deck » Home">
            <a:extLst>
              <a:ext uri="{FF2B5EF4-FFF2-40B4-BE49-F238E27FC236}">
                <a16:creationId xmlns:a16="http://schemas.microsoft.com/office/drawing/2014/main" id="{2F68C573-A13F-DA7A-2BB2-37C78E6051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48" b="2568"/>
          <a:stretch/>
        </p:blipFill>
        <p:spPr bwMode="auto">
          <a:xfrm>
            <a:off x="6344983" y="1340161"/>
            <a:ext cx="5880832" cy="5482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3C2BC0C-6DD5-DE8A-EA2C-7BBE1857A55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9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r="555"/>
          <a:stretch/>
        </p:blipFill>
        <p:spPr>
          <a:xfrm>
            <a:off x="4252750" y="1312775"/>
            <a:ext cx="8479956" cy="55452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EC8A0B3-AB9C-52D4-642D-B887FD407B39}"/>
              </a:ext>
            </a:extLst>
          </p:cNvPr>
          <p:cNvSpPr/>
          <p:nvPr/>
        </p:nvSpPr>
        <p:spPr>
          <a:xfrm>
            <a:off x="-1787" y="-42235"/>
            <a:ext cx="12192000" cy="6888745"/>
          </a:xfrm>
          <a:prstGeom prst="rect">
            <a:avLst/>
          </a:prstGeom>
          <a:solidFill>
            <a:schemeClr val="dk1">
              <a:alpha val="6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458C17-6C00-02C3-D096-FC7C02A8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84" y="0"/>
            <a:ext cx="11460480" cy="867747"/>
          </a:xfrm>
        </p:spPr>
        <p:txBody>
          <a:bodyPr>
            <a:normAutofit/>
          </a:bodyPr>
          <a:lstStyle/>
          <a:p>
            <a:r>
              <a:rPr lang="en-US" sz="48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The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Factors </a:t>
            </a:r>
            <a:r>
              <a:rPr lang="en-US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of </a:t>
            </a:r>
            <a:r>
              <a:rPr lang="en-US" sz="5400" dirty="0">
                <a:ln w="19050">
                  <a:solidFill>
                    <a:schemeClr val="accent4"/>
                  </a:solidFill>
                </a:ln>
                <a:latin typeface="Impact" panose="020B0806030902050204" pitchFamily="34" charset="0"/>
              </a:rPr>
              <a:t>Production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78D9A5-EC4B-F1F7-83AC-16DDA87DDD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03338">
            <a:off x="3993110" y="3870999"/>
            <a:ext cx="976382" cy="1622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532B87-4B4A-B399-CE69-DE54AC7632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0783" y="1896367"/>
            <a:ext cx="2732093" cy="2948193"/>
          </a:xfrm>
          <a:prstGeom prst="rect">
            <a:avLst/>
          </a:prstGeom>
        </p:spPr>
      </p:pic>
      <p:pic>
        <p:nvPicPr>
          <p:cNvPr id="1030" name="Picture 6" descr="Single Gear Cog">
            <a:extLst>
              <a:ext uri="{FF2B5EF4-FFF2-40B4-BE49-F238E27FC236}">
                <a16:creationId xmlns:a16="http://schemas.microsoft.com/office/drawing/2014/main" id="{D6C26EFB-681A-C4CA-3ADD-175AEB106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110" y="3845918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urved Range Arrow Left Clip Art at Clker.com - vector clip art online,  royalty free &amp; public domain">
            <a:extLst>
              <a:ext uri="{FF2B5EF4-FFF2-40B4-BE49-F238E27FC236}">
                <a16:creationId xmlns:a16="http://schemas.microsoft.com/office/drawing/2014/main" id="{9E6DC8A9-8463-576E-3E4A-36027D62E9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54439" y="2779213"/>
            <a:ext cx="2142454" cy="2180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FFA009-4F1D-6C13-965A-5A835AD5F97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0995" y="4896727"/>
            <a:ext cx="1463352" cy="146335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F6F1E7-034B-5DCA-D967-D9B78C78DC62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r="-6180" b="15251"/>
          <a:stretch/>
        </p:blipFill>
        <p:spPr>
          <a:xfrm>
            <a:off x="4121599" y="5100826"/>
            <a:ext cx="1229450" cy="1426436"/>
          </a:xfrm>
          <a:prstGeom prst="rect">
            <a:avLst/>
          </a:prstGeom>
        </p:spPr>
      </p:pic>
      <p:pic>
        <p:nvPicPr>
          <p:cNvPr id="1036" name="Picture 12" descr="Land Design, Inc.">
            <a:extLst>
              <a:ext uri="{FF2B5EF4-FFF2-40B4-BE49-F238E27FC236}">
                <a16:creationId xmlns:a16="http://schemas.microsoft.com/office/drawing/2014/main" id="{BAB64EFD-C4D7-9C0E-07FF-AEC05980D6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133" b="45145"/>
          <a:stretch/>
        </p:blipFill>
        <p:spPr bwMode="auto">
          <a:xfrm>
            <a:off x="347274" y="5937118"/>
            <a:ext cx="2196413" cy="677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981ED62-42D2-1D3D-83C7-54F4BC37EA8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27225" y="5858336"/>
            <a:ext cx="2200385" cy="883574"/>
          </a:xfrm>
          <a:prstGeom prst="rect">
            <a:avLst/>
          </a:prstGeom>
        </p:spPr>
      </p:pic>
      <p:pic>
        <p:nvPicPr>
          <p:cNvPr id="31" name="Picture 20" descr="➕ Plus Emoji on Noto Color Emoji, Animated 15.0">
            <a:extLst>
              <a:ext uri="{FF2B5EF4-FFF2-40B4-BE49-F238E27FC236}">
                <a16:creationId xmlns:a16="http://schemas.microsoft.com/office/drawing/2014/main" id="{C165F312-007B-A9A4-DD88-4132075ED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569" y="6166826"/>
            <a:ext cx="386506" cy="3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0" descr="➕ Plus Emoji on Noto Color Emoji, Animated 15.0">
            <a:extLst>
              <a:ext uri="{FF2B5EF4-FFF2-40B4-BE49-F238E27FC236}">
                <a16:creationId xmlns:a16="http://schemas.microsoft.com/office/drawing/2014/main" id="{A3925407-0C54-9376-C004-64F956F65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0459" y="6156096"/>
            <a:ext cx="386506" cy="386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Curved Range Arrow Left Clip Art at Clker.com - vector clip art online,  royalty free &amp; public domain">
            <a:extLst>
              <a:ext uri="{FF2B5EF4-FFF2-40B4-BE49-F238E27FC236}">
                <a16:creationId xmlns:a16="http://schemas.microsoft.com/office/drawing/2014/main" id="{B70F54D5-EAF8-1CC2-A6AA-6819C257E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V="1">
            <a:off x="5776799" y="2790417"/>
            <a:ext cx="2142454" cy="222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enter for Entrepreneurship + Innovation | Grove City College">
            <a:extLst>
              <a:ext uri="{FF2B5EF4-FFF2-40B4-BE49-F238E27FC236}">
                <a16:creationId xmlns:a16="http://schemas.microsoft.com/office/drawing/2014/main" id="{41489661-4072-D5DA-4030-0D4B8E9088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6" t="18835" r="2742" b="50000"/>
          <a:stretch/>
        </p:blipFill>
        <p:spPr bwMode="auto">
          <a:xfrm>
            <a:off x="1741734" y="2933120"/>
            <a:ext cx="5364042" cy="55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9E76F07-87A6-9E72-FE9B-F3EF76D98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927" y="4740776"/>
            <a:ext cx="1524000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446D09E-AF57-E33C-19A0-DF2751D0A26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43293" y="6013486"/>
            <a:ext cx="2545622" cy="49387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27A7F9F-0E41-2AD0-2411-F8996ADE3F74}"/>
              </a:ext>
            </a:extLst>
          </p:cNvPr>
          <p:cNvSpPr txBox="1"/>
          <p:nvPr/>
        </p:nvSpPr>
        <p:spPr>
          <a:xfrm>
            <a:off x="1455420" y="2970014"/>
            <a:ext cx="7513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262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3" presetClass="entr" presetSubtype="3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272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p-Mark_DiAngelo-79054334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8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9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p-Mark_DiAngelo-79054334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lop-Mark_DiAngelo-79054334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125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2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E98585-BC5F-304F-48E1-32841D3C35F8}"/>
              </a:ext>
            </a:extLst>
          </p:cNvPr>
          <p:cNvSpPr txBox="1"/>
          <p:nvPr/>
        </p:nvSpPr>
        <p:spPr>
          <a:xfrm>
            <a:off x="0" y="1882879"/>
            <a:ext cx="125508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800" dirty="0">
                <a:latin typeface="Arial Black" panose="020B0A04020102020204" pitchFamily="34" charset="0"/>
              </a:rPr>
              <a:t>Think, Pair, Share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A1C25C-B14A-7609-6EE0-40664CF16B84}"/>
              </a:ext>
            </a:extLst>
          </p:cNvPr>
          <p:cNvSpPr txBox="1"/>
          <p:nvPr/>
        </p:nvSpPr>
        <p:spPr>
          <a:xfrm>
            <a:off x="1922206" y="3636478"/>
            <a:ext cx="83475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How Tortilla?</a:t>
            </a:r>
          </a:p>
        </p:txBody>
      </p:sp>
      <p:pic>
        <p:nvPicPr>
          <p:cNvPr id="3074" name="Picture 2" descr="Tortilla Chips — Wise Snacks">
            <a:extLst>
              <a:ext uri="{FF2B5EF4-FFF2-40B4-BE49-F238E27FC236}">
                <a16:creationId xmlns:a16="http://schemas.microsoft.com/office/drawing/2014/main" id="{91EF5098-7EC0-ED1B-3819-4D8E59BCF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4591050"/>
            <a:ext cx="5181600" cy="226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02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ORTILLA CHIPS How It's Made">
            <a:hlinkClick r:id="" action="ppaction://media"/>
            <a:extLst>
              <a:ext uri="{FF2B5EF4-FFF2-40B4-BE49-F238E27FC236}">
                <a16:creationId xmlns:a16="http://schemas.microsoft.com/office/drawing/2014/main" id="{5B88B8D4-3AE5-52EA-BBF4-5095C6E3DB13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27470" end="0.125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0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058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20 Puppeteer Icons - Free in SVG, PNG, ICO - IconScout">
            <a:extLst>
              <a:ext uri="{FF2B5EF4-FFF2-40B4-BE49-F238E27FC236}">
                <a16:creationId xmlns:a16="http://schemas.microsoft.com/office/drawing/2014/main" id="{9492E325-1ED0-A39A-E1DE-6DC61CA4A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3286" y="3249643"/>
            <a:ext cx="2951275" cy="295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conExperience » G-Collection » Tools Icon">
            <a:extLst>
              <a:ext uri="{FF2B5EF4-FFF2-40B4-BE49-F238E27FC236}">
                <a16:creationId xmlns:a16="http://schemas.microsoft.com/office/drawing/2014/main" id="{23F6E492-111F-2649-E149-1C149F1CD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8232" y="3488951"/>
            <a:ext cx="2883748" cy="288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orker - Free user icons">
            <a:extLst>
              <a:ext uri="{FF2B5EF4-FFF2-40B4-BE49-F238E27FC236}">
                <a16:creationId xmlns:a16="http://schemas.microsoft.com/office/drawing/2014/main" id="{28E9CA6E-9BAB-7353-CC53-CA2C38F2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549" y="3277170"/>
            <a:ext cx="3029465" cy="3029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eadow, landscape, land, nature, sun, tree Icon in Nature and Ecology - Flat">
            <a:extLst>
              <a:ext uri="{FF2B5EF4-FFF2-40B4-BE49-F238E27FC236}">
                <a16:creationId xmlns:a16="http://schemas.microsoft.com/office/drawing/2014/main" id="{29F41930-6050-8515-DB9E-9B62BB713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39" y="3590738"/>
            <a:ext cx="2781961" cy="2781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32" y="1"/>
            <a:ext cx="10515600" cy="100356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Check for Understanding: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432" y="856917"/>
            <a:ext cx="11390161" cy="1420457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a group of 2-3 create a master list of what it takes to create tortilla chips.  Then categorize what you saw in the video into Land, Labor, Capital, or Enterprise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39076-F639-21AC-A117-4D7DBCFE857A}"/>
              </a:ext>
            </a:extLst>
          </p:cNvPr>
          <p:cNvSpPr/>
          <p:nvPr/>
        </p:nvSpPr>
        <p:spPr>
          <a:xfrm>
            <a:off x="168090" y="2290314"/>
            <a:ext cx="2821465" cy="4580625"/>
          </a:xfrm>
          <a:prstGeom prst="rect">
            <a:avLst/>
          </a:prstGeom>
          <a:solidFill>
            <a:srgbClr val="00FF00">
              <a:alpha val="69804"/>
            </a:srgb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444A59-0161-9021-A57A-7A8AE160640B}"/>
              </a:ext>
            </a:extLst>
          </p:cNvPr>
          <p:cNvSpPr/>
          <p:nvPr/>
        </p:nvSpPr>
        <p:spPr>
          <a:xfrm>
            <a:off x="3166630" y="2290314"/>
            <a:ext cx="2821465" cy="4580625"/>
          </a:xfrm>
          <a:prstGeom prst="rect">
            <a:avLst/>
          </a:prstGeom>
          <a:solidFill>
            <a:srgbClr val="FF0000">
              <a:alpha val="80000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9E948D-146F-60D2-4685-A941065511BC}"/>
              </a:ext>
            </a:extLst>
          </p:cNvPr>
          <p:cNvSpPr/>
          <p:nvPr/>
        </p:nvSpPr>
        <p:spPr>
          <a:xfrm>
            <a:off x="6179918" y="2277372"/>
            <a:ext cx="2821465" cy="4580625"/>
          </a:xfrm>
          <a:prstGeom prst="rect">
            <a:avLst/>
          </a:prstGeom>
          <a:solidFill>
            <a:srgbClr val="4472C4">
              <a:alpha val="80000"/>
            </a:srgbClr>
          </a:solidFill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C2020D-6017-C45D-7548-F6190862C075}"/>
              </a:ext>
            </a:extLst>
          </p:cNvPr>
          <p:cNvSpPr/>
          <p:nvPr/>
        </p:nvSpPr>
        <p:spPr>
          <a:xfrm>
            <a:off x="9137136" y="2277371"/>
            <a:ext cx="2951275" cy="4580625"/>
          </a:xfrm>
          <a:prstGeom prst="rect">
            <a:avLst/>
          </a:prstGeom>
          <a:solidFill>
            <a:srgbClr val="FFFF00">
              <a:alpha val="80000"/>
            </a:srgbClr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F42188-DFCF-7C5C-F020-6EE851FF01D9}"/>
              </a:ext>
            </a:extLst>
          </p:cNvPr>
          <p:cNvSpPr txBox="1"/>
          <p:nvPr/>
        </p:nvSpPr>
        <p:spPr>
          <a:xfrm>
            <a:off x="285371" y="2277371"/>
            <a:ext cx="241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105EAD-BF32-FDCF-DD91-A4F7435EFB6A}"/>
              </a:ext>
            </a:extLst>
          </p:cNvPr>
          <p:cNvSpPr txBox="1"/>
          <p:nvPr/>
        </p:nvSpPr>
        <p:spPr>
          <a:xfrm>
            <a:off x="3370179" y="2324381"/>
            <a:ext cx="241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Labor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DEBC6E-97E8-8BCD-4F6A-C9AD9A7A45F2}"/>
              </a:ext>
            </a:extLst>
          </p:cNvPr>
          <p:cNvSpPr txBox="1"/>
          <p:nvPr/>
        </p:nvSpPr>
        <p:spPr>
          <a:xfrm>
            <a:off x="6383467" y="2324381"/>
            <a:ext cx="2414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Capital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5205A-82AA-AAE3-78A5-465A29B3184D}"/>
              </a:ext>
            </a:extLst>
          </p:cNvPr>
          <p:cNvSpPr txBox="1"/>
          <p:nvPr/>
        </p:nvSpPr>
        <p:spPr>
          <a:xfrm>
            <a:off x="9137136" y="2253160"/>
            <a:ext cx="3128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Enterprise</a:t>
            </a:r>
          </a:p>
        </p:txBody>
      </p:sp>
    </p:spTree>
    <p:extLst>
      <p:ext uri="{BB962C8B-B14F-4D97-AF65-F5344CB8AC3E}">
        <p14:creationId xmlns:p14="http://schemas.microsoft.com/office/powerpoint/2010/main" val="5338715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6F4BC40B-6649-CA3B-2CCE-D8CC7D7AF9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3" t="27798" r="8943" b="46867"/>
          <a:stretch/>
        </p:blipFill>
        <p:spPr bwMode="auto">
          <a:xfrm>
            <a:off x="167641" y="2181232"/>
            <a:ext cx="11712991" cy="467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432" y="1"/>
            <a:ext cx="10515600" cy="1003566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rial Black" panose="020B0A04020102020204" pitchFamily="34" charset="0"/>
              </a:rPr>
              <a:t>Check for Understanding: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1" y="856917"/>
            <a:ext cx="12024359" cy="1420457"/>
          </a:xfrm>
        </p:spPr>
        <p:txBody>
          <a:bodyPr>
            <a:normAutofit fontScale="92500"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Complete the Factors of Production Worksheet by placing a checkmark (    ) in the appropriate box to indicate whether the item would be classified as land, labor, capital, or entrepreneurial.</a:t>
            </a:r>
          </a:p>
        </p:txBody>
      </p:sp>
      <p:pic>
        <p:nvPicPr>
          <p:cNvPr id="4100" name="Picture 4" descr="Red checkmark icon - Free red check mark icons">
            <a:extLst>
              <a:ext uri="{FF2B5EF4-FFF2-40B4-BE49-F238E27FC236}">
                <a16:creationId xmlns:a16="http://schemas.microsoft.com/office/drawing/2014/main" id="{E81F9484-A0BF-60EA-7A8C-D3529995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518" y="1349053"/>
            <a:ext cx="340043" cy="34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702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1455</TotalTime>
  <Words>662</Words>
  <Application>Microsoft Office PowerPoint</Application>
  <PresentationFormat>Widescreen</PresentationFormat>
  <Paragraphs>58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Aharoni</vt:lpstr>
      <vt:lpstr>Arial</vt:lpstr>
      <vt:lpstr>Arial Black</vt:lpstr>
      <vt:lpstr>Arial Narrow</vt:lpstr>
      <vt:lpstr>Calibri</vt:lpstr>
      <vt:lpstr>Calibri Light</vt:lpstr>
      <vt:lpstr>Impact</vt:lpstr>
      <vt:lpstr>Office Theme</vt:lpstr>
      <vt:lpstr>Factors of Production</vt:lpstr>
      <vt:lpstr>Success Criteria:</vt:lpstr>
      <vt:lpstr>The Factors of Production</vt:lpstr>
      <vt:lpstr>The Factors of Production</vt:lpstr>
      <vt:lpstr>The Factors of Production</vt:lpstr>
      <vt:lpstr>The Factors of Production</vt:lpstr>
      <vt:lpstr>The Factors of Production</vt:lpstr>
      <vt:lpstr>The Factors of Production</vt:lpstr>
      <vt:lpstr>PowerPoint Presentation</vt:lpstr>
      <vt:lpstr>PowerPoint Presentation</vt:lpstr>
      <vt:lpstr>Check for Understanding:</vt:lpstr>
      <vt:lpstr>Check for Understanding: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Jordan Dostert</dc:creator>
  <cp:lastModifiedBy>RINTOUL Brooke [Narrogin Senior High School]</cp:lastModifiedBy>
  <cp:revision>4</cp:revision>
  <dcterms:created xsi:type="dcterms:W3CDTF">2023-06-25T16:36:59Z</dcterms:created>
  <dcterms:modified xsi:type="dcterms:W3CDTF">2023-10-09T06:29:52Z</dcterms:modified>
</cp:coreProperties>
</file>