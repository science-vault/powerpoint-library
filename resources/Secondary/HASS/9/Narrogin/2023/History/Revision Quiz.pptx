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sldIdLst>
    <p:sldId id="256" r:id="rId2"/>
    <p:sldId id="257" r:id="rId3"/>
    <p:sldId id="260" r:id="rId4"/>
    <p:sldId id="259" r:id="rId5"/>
    <p:sldId id="303" r:id="rId6"/>
    <p:sldId id="301" r:id="rId7"/>
    <p:sldId id="271" r:id="rId8"/>
    <p:sldId id="302" r:id="rId9"/>
    <p:sldId id="286" r:id="rId10"/>
    <p:sldId id="288" r:id="rId11"/>
    <p:sldId id="291" r:id="rId12"/>
    <p:sldId id="293" r:id="rId13"/>
    <p:sldId id="295" r:id="rId14"/>
    <p:sldId id="296" r:id="rId15"/>
    <p:sldId id="297" r:id="rId16"/>
    <p:sldId id="298" r:id="rId17"/>
    <p:sldId id="300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319" r:id="rId34"/>
    <p:sldId id="320" r:id="rId35"/>
    <p:sldId id="321" r:id="rId36"/>
    <p:sldId id="322" r:id="rId37"/>
    <p:sldId id="323" r:id="rId38"/>
    <p:sldId id="324" r:id="rId39"/>
    <p:sldId id="325" r:id="rId40"/>
    <p:sldId id="326" r:id="rId41"/>
    <p:sldId id="327" r:id="rId42"/>
    <p:sldId id="328" r:id="rId43"/>
    <p:sldId id="329" r:id="rId44"/>
    <p:sldId id="330" r:id="rId45"/>
    <p:sldId id="331" r:id="rId46"/>
    <p:sldId id="332" r:id="rId47"/>
    <p:sldId id="333" r:id="rId48"/>
    <p:sldId id="334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89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282FE-769F-4905-8D43-556930248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75A5F6-171B-409C-A537-FA9F3CB61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FA000-8052-4D3B-AE3C-A74E4867F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9/20/2022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5DF27-2F15-47FC-BC58-7F0AD02DD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2B92F-DDDD-4F2A-9826-D8C90D1AC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123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576EF-8466-4E61-AAB2-0158E314D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7A56A-BDB5-470E-86E3-4668834F2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FE75B-5198-4D12-9AD4-CC4059E99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9/20/2022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7604E-FB91-4A3F-918C-3F91199B5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8ED3D-4966-44F1-BC6D-3B402A804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668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C70E2-CE21-4315-8254-C4A1064BF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65B25-EB66-45FE-A945-16726CD81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830F7-4E7C-467C-AC1E-49642713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9/20/2022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851E6-4EE4-46DE-9928-8B62F902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48EDD-142A-4A0D-A1E9-39F9CECA2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311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22F23-E4BE-4A77-9A40-EE0C65A51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F6475-B326-42A0-89F0-C42280C05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FC04ED-A6A7-4B89-8007-3C60B9428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92B38-DB14-4B84-9902-A38ED0DB3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9/20/2022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7D6A6-3362-4256-B8F9-FA00B3941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30648-F274-437F-8C35-D67F837C2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684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7C1DC-DE0A-429B-B912-FE2F2CB67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DDA8E-9796-40C1-B3BA-5DBA343E8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15988-C298-4E9D-8900-71F5D3477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7A352B-A154-40F6-8D76-3A4A5424D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FEA4AE-A6FA-458D-9680-580A0DDAB4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CA76D1-5CD0-4765-A00B-9924B82D4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9/20/2022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44AECD-2100-434A-972E-69EAB8218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540DE7-54F5-45A5-8869-5DB0F5B3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06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E3339-CE01-496A-A9F7-D17CA8FB8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1D097A-11B0-496A-B5BC-A054B3EA4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9/20/2022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6643F3-DE48-4B09-988E-870E359F5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47B3F-59EF-44E9-B086-28EA8BDF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541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E8B663-C38B-4B65-B478-C0264011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9/20/2022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16E3B1-8F93-47C3-A80A-9E6A3109E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85540-9037-47FA-8278-E7FD62112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98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AC070-6F2B-4086-9959-C47585D6B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FB958-4442-48EF-BB78-1D82FA849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D67AF-4BAD-4E62-8538-124A463E0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04B70-1D77-46BD-8664-00FB8FD8F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9/20/2022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F7569-B6FC-44B4-8909-40D1CAAC5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CC55B-AC4B-4420-9EEC-CAC7DC58B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593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6E50-3B82-4B67-A36B-F25C9DCB1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07CD33-47E3-4DF2-8FA0-B7A88CA0F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DC2E4-9CE5-4D3C-B12A-965AD0039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A7265-FFED-4D93-A551-AE44C5952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9/20/2022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64B51-694B-42E0-A300-3A159F455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FDD02-29E3-45BC-871B-34AA0970C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428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A364D-A971-4259-9C73-9A7677C5B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4AAAD-D03D-4F39-9670-510C6E2B2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4B964-9EED-4F91-BB37-9D28B66D8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9/20/2022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5142F-B736-46A0-9437-83D1F6A2D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E512D-A8DB-43A6-919F-62D9BDC64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895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D15F5E-8AFD-4852-94C9-E3FD80C1C2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31CDD-CE45-4FA3-861E-B814DE831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B98A6-123A-4861-930A-F9C072BF6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9/20/2022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2C099-D1B6-4C3E-A50F-B29D97CB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B64B1-BD37-4023-988A-32B4C50EF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555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DAC7CC-8345-4F74-A796-381883B60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31610-E303-40B4-AA8E-8995DA8AF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CE59F-2F6E-481A-BCAB-A1024A7386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9/20/2022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07BD8-0614-4BED-9E67-E2CC991CA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D4B4E-6601-4287-A097-92B1B6A2E8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011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530B-D153-45FE-911C-6DB0920D77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791" y="835383"/>
            <a:ext cx="3382832" cy="3499549"/>
          </a:xfrm>
        </p:spPr>
        <p:txBody>
          <a:bodyPr>
            <a:normAutofit/>
          </a:bodyPr>
          <a:lstStyle/>
          <a:p>
            <a:pPr algn="l"/>
            <a:r>
              <a:rPr lang="en-AU" sz="4200"/>
              <a:t>Revision Quiz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12F1E6-A619-4D36-B783-75C3C68473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789" y="4334933"/>
            <a:ext cx="3382831" cy="1185333"/>
          </a:xfrm>
        </p:spPr>
        <p:txBody>
          <a:bodyPr>
            <a:normAutofit/>
          </a:bodyPr>
          <a:lstStyle/>
          <a:p>
            <a:pPr algn="l"/>
            <a:r>
              <a:rPr lang="en-AU" dirty="0">
                <a:solidFill>
                  <a:srgbClr val="7BA9B4"/>
                </a:solidFill>
              </a:rPr>
              <a:t>Year 10</a:t>
            </a:r>
          </a:p>
        </p:txBody>
      </p:sp>
      <p:pic>
        <p:nvPicPr>
          <p:cNvPr id="4" name="Picture 3" descr="Bubble sheet test paper and pencil">
            <a:extLst>
              <a:ext uri="{FF2B5EF4-FFF2-40B4-BE49-F238E27FC236}">
                <a16:creationId xmlns:a16="http://schemas.microsoft.com/office/drawing/2014/main" id="{B4D713C2-D6D5-4433-BF3B-D179202D82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558"/>
          <a:stretch/>
        </p:blipFill>
        <p:spPr>
          <a:xfrm>
            <a:off x="4654297" y="10"/>
            <a:ext cx="7537704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02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2CC6-E5BF-47C0-9832-0E8B144C0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633413" indent="-633413" algn="l"/>
            <a:r>
              <a:rPr lang="en-AU" b="1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1. During which year were the </a:t>
            </a:r>
            <a:r>
              <a:rPr lang="en-AU" b="1" dirty="0">
                <a:latin typeface="Open Sans" panose="020B0606030504020204" pitchFamily="34" charset="0"/>
              </a:rPr>
              <a:t>atomic bombs dropped?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43F08-EEB7-49A8-A38E-B00A65896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51250" indent="-514350" algn="l" fontAlgn="t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1918</a:t>
            </a:r>
            <a:endParaRPr lang="en-AU" sz="2800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pPr marL="551250" indent="-514350" algn="l" fontAlgn="t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1940</a:t>
            </a:r>
            <a:endParaRPr lang="en-AU" sz="2800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pPr marL="551250" indent="-514350" algn="l" fontAlgn="t">
              <a:buFont typeface="+mj-lt"/>
              <a:buAutoNum type="alphaLcParenR"/>
            </a:pPr>
            <a:r>
              <a:rPr lang="en-AU" sz="28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1945</a:t>
            </a:r>
          </a:p>
          <a:p>
            <a:pPr marL="551250" indent="-514350" algn="l" fontAlgn="t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1845</a:t>
            </a:r>
            <a:endParaRPr lang="en-AU" sz="2800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5DBC9D-9FE6-4920-8F46-96B9AA4B7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240" y="2209046"/>
            <a:ext cx="6041311" cy="358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1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2CC6-E5BF-47C0-9832-0E8B144C0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AU" b="1" dirty="0">
                <a:latin typeface="Open Sans" panose="020B0606030504020204" pitchFamily="34" charset="0"/>
              </a:rPr>
              <a:t>2</a:t>
            </a:r>
            <a:r>
              <a:rPr lang="en-AU" b="1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. In which two citie</a:t>
            </a:r>
            <a:r>
              <a:rPr lang="en-AU" b="1" dirty="0">
                <a:latin typeface="Open Sans" panose="020B0606030504020204" pitchFamily="34" charset="0"/>
              </a:rPr>
              <a:t>s were the atomic bombs dropped? 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43F08-EEB7-49A8-A38E-B00A65896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51250" indent="-514350" algn="l" fontAlgn="t">
              <a:buFont typeface="+mj-lt"/>
              <a:buAutoNum type="alphaLcParenR"/>
            </a:pPr>
            <a:r>
              <a:rPr lang="en-AU" sz="28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Hiroshima and Fukushim</a:t>
            </a:r>
            <a:r>
              <a:rPr lang="en-AU" dirty="0">
                <a:latin typeface="Open Sans" panose="020B0606030504020204" pitchFamily="34" charset="0"/>
              </a:rPr>
              <a:t>a</a:t>
            </a:r>
            <a:endParaRPr lang="en-AU" sz="2800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pPr marL="551250" indent="-514350" algn="l" fontAlgn="t">
              <a:buFont typeface="+mj-lt"/>
              <a:buAutoNum type="alphaLcParenR"/>
            </a:pPr>
            <a:r>
              <a:rPr lang="en-AU" sz="28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Nagasaki and Hiroshima</a:t>
            </a:r>
          </a:p>
          <a:p>
            <a:pPr marL="551250" indent="-514350" algn="l" fontAlgn="t">
              <a:buFont typeface="+mj-lt"/>
              <a:buAutoNum type="alphaLcParenR"/>
            </a:pPr>
            <a:r>
              <a:rPr lang="en-AU" dirty="0" err="1">
                <a:latin typeface="Open Sans" panose="020B0606030504020204" pitchFamily="34" charset="0"/>
              </a:rPr>
              <a:t>Toyko</a:t>
            </a:r>
            <a:r>
              <a:rPr lang="en-AU" dirty="0">
                <a:latin typeface="Open Sans" panose="020B0606030504020204" pitchFamily="34" charset="0"/>
              </a:rPr>
              <a:t> and Nagasaki</a:t>
            </a:r>
          </a:p>
          <a:p>
            <a:pPr marL="551250" indent="-514350" algn="l" fontAlgn="t">
              <a:buFont typeface="+mj-lt"/>
              <a:buAutoNum type="alphaLcParenR"/>
            </a:pPr>
            <a:r>
              <a:rPr lang="en-AU" sz="28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Fukushima and Truman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BD8970-3A5A-4313-9BE1-709025F65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730" y="3039745"/>
            <a:ext cx="590550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213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2313A-25AD-4DB1-8875-16941B50A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34988" indent="-534988"/>
            <a:r>
              <a:rPr lang="en-AU" b="1" dirty="0">
                <a:latin typeface="Open Sans" panose="020B0606030504020204" pitchFamily="34" charset="0"/>
              </a:rPr>
              <a:t>3. Who was the president of the USA who ordered the atomic bombs to be dropped?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0440D-8686-40B4-AAF9-C76851377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400" y="2506662"/>
            <a:ext cx="6125308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/>
              <a:t>John F. Kennedy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/>
              <a:t>Woodrow Wilson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/>
              <a:t>Franklin D. Roosevelt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/>
              <a:t>Harry S. Truman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A93B79-357F-4780-B29D-33FC86B2D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0362" y="1579879"/>
            <a:ext cx="3429318" cy="462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033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2313A-25AD-4DB1-8875-16941B50A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805"/>
            <a:ext cx="10515600" cy="1325563"/>
          </a:xfrm>
        </p:spPr>
        <p:txBody>
          <a:bodyPr>
            <a:normAutofit fontScale="90000"/>
          </a:bodyPr>
          <a:lstStyle/>
          <a:p>
            <a:pPr marL="534988" indent="-534988"/>
            <a:r>
              <a:rPr lang="en-AU" b="1" dirty="0">
                <a:latin typeface="Open Sans" panose="020B0606030504020204" pitchFamily="34" charset="0"/>
              </a:rPr>
              <a:t>4. Which of the following is NOT an argument </a:t>
            </a:r>
            <a:r>
              <a:rPr lang="en-AU" b="1" u="sng" dirty="0">
                <a:latin typeface="Open Sans" panose="020B0606030504020204" pitchFamily="34" charset="0"/>
              </a:rPr>
              <a:t>against</a:t>
            </a:r>
            <a:r>
              <a:rPr lang="en-AU" b="1" dirty="0">
                <a:latin typeface="Open Sans" panose="020B0606030504020204" pitchFamily="34" charset="0"/>
              </a:rPr>
              <a:t> the atomic bombs?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0440D-8686-40B4-AAF9-C76851377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480" y="2354262"/>
            <a:ext cx="8854440" cy="390493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/>
              <a:t>The Japanese were warned to surrender and still didn’t quit, which would have lead to further destruction anyway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/>
              <a:t>The USA did not wait long enough between the bombs to allow Japan to surrender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/>
              <a:t>The bombs caused massive destruction and the killing of innocent civilian lives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/>
              <a:t>Hiroshima and Nagasaki were not military targets</a:t>
            </a:r>
          </a:p>
          <a:p>
            <a:pPr marL="514350" indent="-514350">
              <a:buFont typeface="+mj-lt"/>
              <a:buAutoNum type="alphaLcParenR"/>
            </a:pPr>
            <a:endParaRPr lang="en-AU" dirty="0"/>
          </a:p>
          <a:p>
            <a:pPr marL="514350" indent="-514350">
              <a:buFont typeface="+mj-lt"/>
              <a:buAutoNum type="alphaLcParenR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48820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2313A-25AD-4DB1-8875-16941B50A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34988" indent="-534988"/>
            <a:r>
              <a:rPr lang="en-AU" b="1" dirty="0">
                <a:latin typeface="Open Sans" panose="020B0606030504020204" pitchFamily="34" charset="0"/>
              </a:rPr>
              <a:t>5. Why did the USA declare war on Japan?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0440D-8686-40B4-AAF9-C76851377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400" y="2506662"/>
            <a:ext cx="6125308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/>
              <a:t>After Japan stole their oil in the Pacific ocean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/>
              <a:t>Because Japan had invaded Manchuria in a brutal way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/>
              <a:t>Due to Japan bombing Pearl Harbour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/>
              <a:t>Due to German invading Poland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82625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5BA69-173B-451F-96DC-E17FA66B5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63068" cy="1325563"/>
          </a:xfrm>
        </p:spPr>
        <p:txBody>
          <a:bodyPr>
            <a:normAutofit/>
          </a:bodyPr>
          <a:lstStyle/>
          <a:p>
            <a:pPr marL="534988" indent="-534988"/>
            <a:r>
              <a:rPr lang="en-AU" b="1" i="0" dirty="0">
                <a:effectLst/>
                <a:latin typeface="Open Sans" panose="020B0606030504020204" pitchFamily="34" charset="0"/>
              </a:rPr>
              <a:t>6. What was the purpose of the Treaty of Versailles?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6B4EA-4153-4C33-905E-D3939532B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54842"/>
            <a:ext cx="7681957" cy="4097360"/>
          </a:xfrm>
        </p:spPr>
        <p:txBody>
          <a:bodyPr/>
          <a:lstStyle/>
          <a:p>
            <a:pPr marL="514350" indent="-514350" algn="l" fontAlgn="t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To place severe conditions on Germany to cripple them and force them to take blame for WWI</a:t>
            </a:r>
            <a:endParaRPr lang="en-AU" b="0" i="0" dirty="0">
              <a:effectLst/>
              <a:latin typeface="Open Sans" panose="020B0606030504020204" pitchFamily="34" charset="0"/>
            </a:endParaRPr>
          </a:p>
          <a:p>
            <a:pPr marL="514350" indent="-514350" algn="l" fontAlgn="t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To show how powerful Germany could be</a:t>
            </a:r>
            <a:endParaRPr lang="en-AU" b="0" i="0" dirty="0">
              <a:effectLst/>
              <a:latin typeface="Open Sans" panose="020B0606030504020204" pitchFamily="34" charset="0"/>
            </a:endParaRPr>
          </a:p>
          <a:p>
            <a:pPr marL="514350" indent="-514350" algn="l" fontAlgn="t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To place severe conditions on Germany to cripple them and force them to take blame for WWII</a:t>
            </a:r>
            <a:endParaRPr lang="en-AU" b="0" i="0" dirty="0">
              <a:effectLst/>
              <a:latin typeface="Open Sans" panose="020B0606030504020204" pitchFamily="34" charset="0"/>
            </a:endParaRPr>
          </a:p>
          <a:p>
            <a:pPr marL="514350" indent="-514350" algn="l" fontAlgn="t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To form an alliance between Germany and the Big 3</a:t>
            </a:r>
            <a:endParaRPr lang="en-AU" b="0" i="0" dirty="0"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234B8F-DCBA-4F3A-A09F-563EA88BD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692" y="2250124"/>
            <a:ext cx="3569497" cy="267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666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5BA69-173B-451F-96DC-E17FA66B5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63068" cy="1325563"/>
          </a:xfrm>
        </p:spPr>
        <p:txBody>
          <a:bodyPr>
            <a:noAutofit/>
          </a:bodyPr>
          <a:lstStyle/>
          <a:p>
            <a:pPr marL="534988" indent="-534988"/>
            <a:r>
              <a:rPr lang="en-AU" sz="3600" b="1" dirty="0">
                <a:latin typeface="Open Sans" panose="020B0606030504020204" pitchFamily="34" charset="0"/>
              </a:rPr>
              <a:t>7. What is the name given to the high-speed tactics used by Germany in WWII to invade Poland and many other countries?</a:t>
            </a:r>
            <a:endParaRPr lang="en-A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6B4EA-4153-4C33-905E-D3939532B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160" y="2428833"/>
            <a:ext cx="7681957" cy="4097360"/>
          </a:xfrm>
        </p:spPr>
        <p:txBody>
          <a:bodyPr/>
          <a:lstStyle/>
          <a:p>
            <a:pPr marL="514350" indent="-514350" algn="l" fontAlgn="t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Lebensraum </a:t>
            </a:r>
          </a:p>
          <a:p>
            <a:pPr marL="514350" indent="-514350" algn="l" fontAlgn="t">
              <a:buFont typeface="+mj-lt"/>
              <a:buAutoNum type="alphaLcParenR"/>
            </a:pPr>
            <a:r>
              <a:rPr lang="en-AU" dirty="0" err="1">
                <a:latin typeface="Open Sans" panose="020B0606030504020204" pitchFamily="34" charset="0"/>
              </a:rPr>
              <a:t>Soldaten</a:t>
            </a:r>
            <a:endParaRPr lang="en-AU" dirty="0">
              <a:latin typeface="Open Sans" panose="020B0606030504020204" pitchFamily="34" charset="0"/>
            </a:endParaRPr>
          </a:p>
          <a:p>
            <a:pPr marL="514350" indent="-514350" algn="l" fontAlgn="t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Wehrmacht</a:t>
            </a:r>
          </a:p>
          <a:p>
            <a:pPr marL="514350" indent="-514350" algn="l" fontAlgn="t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Blitzkrieg 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B91ECE-1DC7-4BF9-895B-B6814DE16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069" y="2341648"/>
            <a:ext cx="5100976" cy="353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368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94A7-CAC1-4F9C-A2E1-BEE9B2081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801688" indent="-801688"/>
            <a:r>
              <a:rPr lang="en-AU" b="1" i="0" dirty="0">
                <a:effectLst/>
                <a:latin typeface="Open Sans" panose="020B0606030504020204" pitchFamily="34" charset="0"/>
              </a:rPr>
              <a:t>8. Why was the Universal Declaration of Human Rights written? 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F157A-3AC3-4053-9AFD-D0B87B119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59880" cy="4351338"/>
          </a:xfrm>
        </p:spPr>
        <p:txBody>
          <a:bodyPr/>
          <a:lstStyle/>
          <a:p>
            <a:pPr marL="514350" indent="-514350" fontAlgn="t">
              <a:buFont typeface="+mj-lt"/>
              <a:buAutoNum type="alphaLcParenR"/>
            </a:pPr>
            <a:r>
              <a:rPr lang="en-AU" b="0" i="0" dirty="0">
                <a:effectLst/>
                <a:latin typeface="Open Sans" panose="020B0606030504020204" pitchFamily="34" charset="0"/>
              </a:rPr>
              <a:t>Because the League of Nations failed</a:t>
            </a:r>
          </a:p>
          <a:p>
            <a:pPr marL="514350" indent="-514350" fontAlgn="t">
              <a:buFont typeface="+mj-lt"/>
              <a:buAutoNum type="alphaLcParenR"/>
            </a:pPr>
            <a:r>
              <a:rPr lang="en-AU" b="0" i="0" dirty="0">
                <a:effectLst/>
                <a:latin typeface="Open Sans" panose="020B0606030504020204" pitchFamily="34" charset="0"/>
              </a:rPr>
              <a:t>As a result of the Civil War</a:t>
            </a:r>
          </a:p>
          <a:p>
            <a:pPr marL="514350" indent="-514350" fontAlgn="t">
              <a:buFont typeface="+mj-lt"/>
              <a:buAutoNum type="alphaLcParenR"/>
            </a:pPr>
            <a:r>
              <a:rPr lang="en-AU" b="0" i="0" dirty="0">
                <a:effectLst/>
                <a:latin typeface="Open Sans" panose="020B0606030504020204" pitchFamily="34" charset="0"/>
              </a:rPr>
              <a:t>As a result of the Holocaust and WWII</a:t>
            </a:r>
          </a:p>
          <a:p>
            <a:pPr marL="514350" indent="-514350" algn="l" fontAlgn="t">
              <a:buFont typeface="+mj-lt"/>
              <a:buAutoNum type="alphaLcParenR"/>
            </a:pPr>
            <a:r>
              <a:rPr lang="en-AU" b="0" i="0" dirty="0">
                <a:effectLst/>
                <a:latin typeface="Open Sans" panose="020B0606030504020204" pitchFamily="34" charset="0"/>
              </a:rPr>
              <a:t>Because Eleanor Roosevelt was a powerful leader</a:t>
            </a:r>
          </a:p>
          <a:p>
            <a:endParaRPr lang="en-AU" dirty="0"/>
          </a:p>
        </p:txBody>
      </p:sp>
      <p:pic>
        <p:nvPicPr>
          <p:cNvPr id="11266" name="Picture 2" descr="United Nations, Universal Declaration of Human Rights - UDHR, History of  Human Rights">
            <a:extLst>
              <a:ext uri="{FF2B5EF4-FFF2-40B4-BE49-F238E27FC236}">
                <a16:creationId xmlns:a16="http://schemas.microsoft.com/office/drawing/2014/main" id="{C8907405-BD07-43CB-A6C1-5E67E278C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64828">
            <a:off x="7898323" y="2256756"/>
            <a:ext cx="2801080" cy="3625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432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9. What is the historical significance of the UDHR?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730218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It started a new country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It established new laws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It abolished slavery around the world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It attempted to get all countries to acknowledge that freedom and equality (among other rights) should be universal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1247E-9007-4B2F-BDF0-7BA4800471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45" r="19931"/>
          <a:stretch/>
        </p:blipFill>
        <p:spPr>
          <a:xfrm>
            <a:off x="7568419" y="1690688"/>
            <a:ext cx="3459549" cy="30032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81204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10. What is name of the Australian who played a significant role in the formation of the United Nations?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Robert Menzies.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Franklin D. Roosevelt.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Paul Keating.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Herbert V. Evatt</a:t>
            </a:r>
          </a:p>
          <a:p>
            <a:endParaRPr lang="en-AU" dirty="0"/>
          </a:p>
        </p:txBody>
      </p:sp>
      <p:pic>
        <p:nvPicPr>
          <p:cNvPr id="14338" name="Picture 2" descr="EVATT Herbert Vere | legalopinions">
            <a:extLst>
              <a:ext uri="{FF2B5EF4-FFF2-40B4-BE49-F238E27FC236}">
                <a16:creationId xmlns:a16="http://schemas.microsoft.com/office/drawing/2014/main" id="{F9512C81-9858-4725-8F9A-0D6B06C67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602" y="2236763"/>
            <a:ext cx="3138941" cy="3766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8793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11. What role did Doc Evatt play in the creation of the Universal Declaration of Human Rights??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He was elected the third President of the General Assembly of the UN.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oversaw the vote by the UN countries to accept the UDHR.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persuaded the then sceptical Australian Government to vote in favour of the Universal Declaration.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All of the above.</a:t>
            </a:r>
          </a:p>
          <a:p>
            <a:endParaRPr lang="en-AU" dirty="0"/>
          </a:p>
        </p:txBody>
      </p:sp>
      <p:pic>
        <p:nvPicPr>
          <p:cNvPr id="15362" name="Picture 2" descr="SBS Language | The Universal Declaration of Human Rights - 70 years on">
            <a:extLst>
              <a:ext uri="{FF2B5EF4-FFF2-40B4-BE49-F238E27FC236}">
                <a16:creationId xmlns:a16="http://schemas.microsoft.com/office/drawing/2014/main" id="{9CFA4B00-30FC-4D01-9590-6F8849123F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782"/>
          <a:stretch/>
        </p:blipFill>
        <p:spPr bwMode="auto">
          <a:xfrm flipH="1">
            <a:off x="7439388" y="2352902"/>
            <a:ext cx="4201068" cy="3394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5076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12. How many articles are written in the Universal Declaration of Human Rights??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20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35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30</a:t>
            </a:r>
            <a:endParaRPr lang="en-AU" dirty="0"/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12</a:t>
            </a:r>
          </a:p>
        </p:txBody>
      </p:sp>
      <p:pic>
        <p:nvPicPr>
          <p:cNvPr id="5" name="Picture 2" descr="United Nations, Universal Declaration of Human Rights - UDHR, History of  Human Rights">
            <a:extLst>
              <a:ext uri="{FF2B5EF4-FFF2-40B4-BE49-F238E27FC236}">
                <a16:creationId xmlns:a16="http://schemas.microsoft.com/office/drawing/2014/main" id="{C8907405-BD07-43CB-A6C1-5E67E278C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64828">
            <a:off x="6485476" y="2260327"/>
            <a:ext cx="2801080" cy="3625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0293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13. What is the name of the organisation which formed in 1945 and developed the UNDHR?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League of Nations</a:t>
            </a:r>
            <a:endParaRPr lang="en-AU" dirty="0"/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Circle of Nations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Unified Nations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United Nations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737" y="2545587"/>
            <a:ext cx="4276490" cy="284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093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14. In which year was the United Nations formed?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1940, during WWII </a:t>
            </a:r>
            <a:endParaRPr lang="en-AU" dirty="0"/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1945, after WWII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1918, after WWI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2020, during the COVID outbreak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887" y="1897561"/>
            <a:ext cx="4365267" cy="373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887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15. Who is this woman?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Eleanor Roosevelt </a:t>
            </a:r>
            <a:endParaRPr lang="en-AU" dirty="0"/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Queen Mary II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 err="1">
                <a:latin typeface="Open Sans" panose="020B0606030504020204" pitchFamily="34" charset="0"/>
              </a:rPr>
              <a:t>Hansa</a:t>
            </a:r>
            <a:r>
              <a:rPr lang="en-AU" dirty="0">
                <a:latin typeface="Open Sans" panose="020B0606030504020204" pitchFamily="34" charset="0"/>
              </a:rPr>
              <a:t> Mehta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Angela Merkel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754" y="1806594"/>
            <a:ext cx="6515986" cy="390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416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16. Which country did Eleanor Roosevelt represent when writing the UNDHR?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England</a:t>
            </a:r>
            <a:endParaRPr lang="en-AU" dirty="0"/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The USA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Australia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Germany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754" y="1806594"/>
            <a:ext cx="6515986" cy="390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662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17. Which of the following best describes ‘racial segregation’?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36763"/>
            <a:ext cx="8587811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Forcing two groups of people to live together in harmony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The separation of people into racial or ethnic groups in daily life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The process of which a minority group or culture comes to resemble the majority group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When all racists are separated from each other</a:t>
            </a:r>
          </a:p>
        </p:txBody>
      </p:sp>
    </p:spTree>
    <p:extLst>
      <p:ext uri="{BB962C8B-B14F-4D97-AF65-F5344CB8AC3E}">
        <p14:creationId xmlns:p14="http://schemas.microsoft.com/office/powerpoint/2010/main" val="294093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18. What is an economic boycott?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3477"/>
            <a:ext cx="8587811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Stopping people from contributing to the economy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Refusing to spend money on a particular person, business or service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A violent form of protest which can lead to death and injury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An illegal form of protest which caused the FBI to hunt down Martin Luther King Jr. </a:t>
            </a:r>
          </a:p>
        </p:txBody>
      </p:sp>
    </p:spTree>
    <p:extLst>
      <p:ext uri="{BB962C8B-B14F-4D97-AF65-F5344CB8AC3E}">
        <p14:creationId xmlns:p14="http://schemas.microsoft.com/office/powerpoint/2010/main" val="651584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19. Who delivered the famous ‘I have a dream’ speech in 1963?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5748"/>
            <a:ext cx="8587811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Rosa Parks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John F. Kennedy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Martin Luther King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Martin Luther King Jr.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68C0A8-A25D-4FD1-BC2A-EE8286167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107" y="2243096"/>
            <a:ext cx="3499407" cy="350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503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20. What was the purpose of the march on Washington in 1963 which was attended by over 250 000 people?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1942"/>
            <a:ext cx="8587811" cy="3940200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To put pressure on the US Congress to enact the Civil Rights Act, which was a bill by President Kennedy to outlaw discrimination based on race or gender.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To prevent the US Congress from passing the Civil Rights Act as it was racist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To change the way that black people were seen in society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For Martin Luther King Jr. to tell everyone about his dreams from the previous night</a:t>
            </a:r>
          </a:p>
        </p:txBody>
      </p:sp>
    </p:spTree>
    <p:extLst>
      <p:ext uri="{BB962C8B-B14F-4D97-AF65-F5344CB8AC3E}">
        <p14:creationId xmlns:p14="http://schemas.microsoft.com/office/powerpoint/2010/main" val="1482525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21. Why did Martin Luther King Jr. model his civil rights activism on Mahatma </a:t>
            </a:r>
            <a:r>
              <a:rPr lang="en-AU" b="1" dirty="0" err="1">
                <a:latin typeface="Open Sans" panose="020B0606030504020204" pitchFamily="34" charset="0"/>
              </a:rPr>
              <a:t>Ghandi</a:t>
            </a:r>
            <a:r>
              <a:rPr lang="en-AU" b="1" dirty="0">
                <a:latin typeface="Open Sans" panose="020B0606030504020204" pitchFamily="34" charset="0"/>
              </a:rPr>
              <a:t>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1942"/>
            <a:ext cx="8587811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He was King’s grandfather and taught him about peace and love above violence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He practiced ‘Satyagraha’ which was a non-violent form of protest and encouraged protesters to see the power of truth and love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He encouraged protesters to boycott local bus businesses in India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 err="1">
                <a:latin typeface="Open Sans" panose="020B0606030504020204" pitchFamily="34" charset="0"/>
              </a:rPr>
              <a:t>Ghandi</a:t>
            </a:r>
            <a:r>
              <a:rPr lang="en-AU" dirty="0">
                <a:latin typeface="Open Sans" panose="020B0606030504020204" pitchFamily="34" charset="0"/>
              </a:rPr>
              <a:t> played a key role in the Indian civil rights movement </a:t>
            </a:r>
          </a:p>
        </p:txBody>
      </p:sp>
    </p:spTree>
    <p:extLst>
      <p:ext uri="{BB962C8B-B14F-4D97-AF65-F5344CB8AC3E}">
        <p14:creationId xmlns:p14="http://schemas.microsoft.com/office/powerpoint/2010/main" val="456520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pPr marL="801688" indent="-801688"/>
            <a:r>
              <a:rPr lang="en-AU" sz="3600" b="1">
                <a:latin typeface="Open Sans" panose="020B0606030504020204" pitchFamily="34" charset="0"/>
              </a:rPr>
              <a:t>22. On what dates was the first ‘Day of Mourning’ held? </a:t>
            </a:r>
            <a:endParaRPr lang="en-AU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sz="2400" dirty="0">
                <a:latin typeface="Open Sans" panose="020B0606030504020204" pitchFamily="34" charset="0"/>
              </a:rPr>
              <a:t>1</a:t>
            </a:r>
            <a:r>
              <a:rPr lang="en-AU" sz="2400" baseline="30000" dirty="0">
                <a:latin typeface="Open Sans" panose="020B0606030504020204" pitchFamily="34" charset="0"/>
              </a:rPr>
              <a:t>st</a:t>
            </a:r>
            <a:r>
              <a:rPr lang="en-AU" sz="2400" dirty="0">
                <a:latin typeface="Open Sans" panose="020B0606030504020204" pitchFamily="34" charset="0"/>
              </a:rPr>
              <a:t> January 1901 </a:t>
            </a:r>
          </a:p>
          <a:p>
            <a:pPr marL="514350" indent="-514350">
              <a:buFont typeface="+mj-lt"/>
              <a:buAutoNum type="alphaLcParenR"/>
            </a:pPr>
            <a:r>
              <a:rPr lang="en-AU" sz="2400" dirty="0">
                <a:latin typeface="Open Sans" panose="020B0606030504020204" pitchFamily="34" charset="0"/>
              </a:rPr>
              <a:t>26th January, 1788 </a:t>
            </a:r>
          </a:p>
          <a:p>
            <a:pPr marL="514350" indent="-514350">
              <a:buFont typeface="+mj-lt"/>
              <a:buAutoNum type="alphaLcParenR"/>
            </a:pPr>
            <a:r>
              <a:rPr lang="en-AU" sz="2400" dirty="0">
                <a:latin typeface="Open Sans" panose="020B0606030504020204" pitchFamily="34" charset="0"/>
              </a:rPr>
              <a:t>26</a:t>
            </a:r>
            <a:r>
              <a:rPr lang="en-AU" sz="2400" baseline="30000" dirty="0">
                <a:latin typeface="Open Sans" panose="020B0606030504020204" pitchFamily="34" charset="0"/>
              </a:rPr>
              <a:t>th</a:t>
            </a:r>
            <a:r>
              <a:rPr lang="en-AU" sz="2400" dirty="0">
                <a:latin typeface="Open Sans" panose="020B0606030504020204" pitchFamily="34" charset="0"/>
              </a:rPr>
              <a:t> January, 1938</a:t>
            </a:r>
          </a:p>
          <a:p>
            <a:pPr marL="514350" indent="-514350">
              <a:buFont typeface="+mj-lt"/>
              <a:buAutoNum type="alphaLcParenR"/>
            </a:pPr>
            <a:r>
              <a:rPr lang="en-AU" sz="2400" dirty="0">
                <a:latin typeface="Open Sans" panose="020B0606030504020204" pitchFamily="34" charset="0"/>
              </a:rPr>
              <a:t>10</a:t>
            </a:r>
            <a:r>
              <a:rPr lang="en-AU" sz="2400" baseline="30000" dirty="0">
                <a:latin typeface="Open Sans" panose="020B0606030504020204" pitchFamily="34" charset="0"/>
              </a:rPr>
              <a:t>th</a:t>
            </a:r>
            <a:r>
              <a:rPr lang="en-AU" sz="2400" dirty="0">
                <a:latin typeface="Open Sans" panose="020B0606030504020204" pitchFamily="34" charset="0"/>
              </a:rPr>
              <a:t> December, 1948 </a:t>
            </a:r>
          </a:p>
        </p:txBody>
      </p:sp>
      <p:grpSp>
        <p:nvGrpSpPr>
          <p:cNvPr id="18" name="Group 10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00400F8-39CB-41C5-BAA5-BAD3A82D7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377" y="1782981"/>
            <a:ext cx="6209098" cy="4361892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1497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pPr marL="801688" indent="-801688"/>
            <a:r>
              <a:rPr lang="en-AU" sz="3600" b="1" dirty="0">
                <a:latin typeface="Open Sans" panose="020B0606030504020204" pitchFamily="34" charset="0"/>
              </a:rPr>
              <a:t>23. What was Australia proclaimed as upon arrival of British settlers in 1788?</a:t>
            </a:r>
            <a:endParaRPr lang="en-A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sz="2400" dirty="0">
                <a:latin typeface="Open Sans" panose="020B0606030504020204" pitchFamily="34" charset="0"/>
              </a:rPr>
              <a:t>Van Diemen’s Land </a:t>
            </a:r>
          </a:p>
          <a:p>
            <a:pPr marL="514350" indent="-514350">
              <a:buFont typeface="+mj-lt"/>
              <a:buAutoNum type="alphaLcParenR"/>
            </a:pPr>
            <a:r>
              <a:rPr lang="en-AU" sz="2400" dirty="0">
                <a:latin typeface="Open Sans" panose="020B0606030504020204" pitchFamily="34" charset="0"/>
              </a:rPr>
              <a:t>The land of the long white cloud</a:t>
            </a:r>
          </a:p>
          <a:p>
            <a:pPr marL="514350" indent="-514350">
              <a:buFont typeface="+mj-lt"/>
              <a:buAutoNum type="alphaLcParenR"/>
            </a:pPr>
            <a:r>
              <a:rPr lang="en-AU" sz="2400" dirty="0">
                <a:latin typeface="Open Sans" panose="020B0606030504020204" pitchFamily="34" charset="0"/>
              </a:rPr>
              <a:t>Stolen</a:t>
            </a:r>
          </a:p>
          <a:p>
            <a:pPr marL="514350" indent="-514350">
              <a:buFont typeface="+mj-lt"/>
              <a:buAutoNum type="alphaLcParenR"/>
            </a:pPr>
            <a:r>
              <a:rPr lang="en-AU" sz="2400" dirty="0">
                <a:latin typeface="Open Sans" panose="020B0606030504020204" pitchFamily="34" charset="0"/>
              </a:rPr>
              <a:t>Terra Nullius</a:t>
            </a:r>
          </a:p>
        </p:txBody>
      </p:sp>
      <p:grpSp>
        <p:nvGrpSpPr>
          <p:cNvPr id="18" name="Group 10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CC3B927-0892-410F-99E3-A157D30A2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973" y="1779204"/>
            <a:ext cx="4920774" cy="352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9257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3BA5B-E50A-47D6-BDD6-3EA5B54234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Answers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065F68-4F2E-4D84-87C8-63F721DD24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012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2CC6-E5BF-47C0-9832-0E8B144C0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633413" indent="-633413" algn="l"/>
            <a:r>
              <a:rPr lang="en-AU" b="1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1. During which year were the </a:t>
            </a:r>
            <a:r>
              <a:rPr lang="en-AU" b="1" dirty="0">
                <a:latin typeface="Open Sans" panose="020B0606030504020204" pitchFamily="34" charset="0"/>
              </a:rPr>
              <a:t>atomic bombs dropped?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43F08-EEB7-49A8-A38E-B00A65896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51250" indent="-514350" algn="l" fontAlgn="t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1918</a:t>
            </a:r>
            <a:endParaRPr lang="en-AU" sz="2800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pPr marL="551250" indent="-514350" algn="l" fontAlgn="t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1940</a:t>
            </a:r>
            <a:endParaRPr lang="en-AU" sz="2800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pPr marL="551250" indent="-514350" algn="l" fontAlgn="t">
              <a:buFont typeface="+mj-lt"/>
              <a:buAutoNum type="alphaLcParenR"/>
            </a:pPr>
            <a:r>
              <a:rPr lang="en-AU" sz="2800" b="0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1945</a:t>
            </a:r>
          </a:p>
          <a:p>
            <a:pPr marL="551250" indent="-514350" algn="l" fontAlgn="t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1845</a:t>
            </a:r>
            <a:endParaRPr lang="en-AU" sz="2800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5DBC9D-9FE6-4920-8F46-96B9AA4B7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240" y="2209046"/>
            <a:ext cx="6041311" cy="358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0232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2CC6-E5BF-47C0-9832-0E8B144C0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AU" b="1" dirty="0">
                <a:latin typeface="Open Sans" panose="020B0606030504020204" pitchFamily="34" charset="0"/>
              </a:rPr>
              <a:t>2</a:t>
            </a:r>
            <a:r>
              <a:rPr lang="en-AU" b="1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. In which two citie</a:t>
            </a:r>
            <a:r>
              <a:rPr lang="en-AU" b="1" dirty="0">
                <a:latin typeface="Open Sans" panose="020B0606030504020204" pitchFamily="34" charset="0"/>
              </a:rPr>
              <a:t>s were the atomic bombs dropped? 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43F08-EEB7-49A8-A38E-B00A65896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51250" indent="-514350" algn="l" fontAlgn="t">
              <a:buFont typeface="+mj-lt"/>
              <a:buAutoNum type="alphaLcParenR"/>
            </a:pPr>
            <a:r>
              <a:rPr lang="en-AU" sz="28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Hiroshima and Fukushim</a:t>
            </a:r>
            <a:r>
              <a:rPr lang="en-AU" dirty="0">
                <a:latin typeface="Open Sans" panose="020B0606030504020204" pitchFamily="34" charset="0"/>
              </a:rPr>
              <a:t>a</a:t>
            </a:r>
            <a:endParaRPr lang="en-AU" sz="2800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pPr marL="551250" indent="-514350" algn="l" fontAlgn="t">
              <a:buFont typeface="+mj-lt"/>
              <a:buAutoNum type="alphaLcParenR"/>
            </a:pPr>
            <a:r>
              <a:rPr lang="en-AU" sz="2800" b="0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Nagasaki and Hiroshima</a:t>
            </a:r>
          </a:p>
          <a:p>
            <a:pPr marL="551250" indent="-514350" algn="l" fontAlgn="t">
              <a:buFont typeface="+mj-lt"/>
              <a:buAutoNum type="alphaLcParenR"/>
            </a:pPr>
            <a:r>
              <a:rPr lang="en-AU" dirty="0" err="1">
                <a:latin typeface="Open Sans" panose="020B0606030504020204" pitchFamily="34" charset="0"/>
              </a:rPr>
              <a:t>Toyko</a:t>
            </a:r>
            <a:r>
              <a:rPr lang="en-AU" dirty="0">
                <a:latin typeface="Open Sans" panose="020B0606030504020204" pitchFamily="34" charset="0"/>
              </a:rPr>
              <a:t> and Nagasaki</a:t>
            </a:r>
          </a:p>
          <a:p>
            <a:pPr marL="551250" indent="-514350" algn="l" fontAlgn="t">
              <a:buFont typeface="+mj-lt"/>
              <a:buAutoNum type="alphaLcParenR"/>
            </a:pPr>
            <a:r>
              <a:rPr lang="en-AU" sz="28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Fukushima and Truman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BD8970-3A5A-4313-9BE1-709025F65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730" y="3039745"/>
            <a:ext cx="590550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529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2313A-25AD-4DB1-8875-16941B50A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34988" indent="-534988"/>
            <a:r>
              <a:rPr lang="en-AU" b="1" dirty="0">
                <a:latin typeface="Open Sans" panose="020B0606030504020204" pitchFamily="34" charset="0"/>
              </a:rPr>
              <a:t>3. Who was the president of the USA who ordered the atomic bombs to be dropped?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0440D-8686-40B4-AAF9-C76851377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400" y="2506662"/>
            <a:ext cx="6125308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/>
              <a:t>John F. Kennedy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/>
              <a:t>Woodrow Wilson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/>
              <a:t>Franklin D. Roosevelt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</a:rPr>
              <a:t>Harry S. Truman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A93B79-357F-4780-B29D-33FC86B2D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0362" y="1579879"/>
            <a:ext cx="3429318" cy="462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0609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2313A-25AD-4DB1-8875-16941B50A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805"/>
            <a:ext cx="10515600" cy="1325563"/>
          </a:xfrm>
        </p:spPr>
        <p:txBody>
          <a:bodyPr>
            <a:normAutofit fontScale="90000"/>
          </a:bodyPr>
          <a:lstStyle/>
          <a:p>
            <a:pPr marL="534988" indent="-534988"/>
            <a:r>
              <a:rPr lang="en-AU" b="1" dirty="0">
                <a:latin typeface="Open Sans" panose="020B0606030504020204" pitchFamily="34" charset="0"/>
              </a:rPr>
              <a:t>4. Which of the following is NOT an argument </a:t>
            </a:r>
            <a:r>
              <a:rPr lang="en-AU" b="1" u="sng" dirty="0">
                <a:latin typeface="Open Sans" panose="020B0606030504020204" pitchFamily="34" charset="0"/>
              </a:rPr>
              <a:t>against</a:t>
            </a:r>
            <a:r>
              <a:rPr lang="en-AU" b="1" dirty="0">
                <a:latin typeface="Open Sans" panose="020B0606030504020204" pitchFamily="34" charset="0"/>
              </a:rPr>
              <a:t> the atomic bombs?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0440D-8686-40B4-AAF9-C76851377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480" y="2354262"/>
            <a:ext cx="8854440" cy="390493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</a:rPr>
              <a:t>The Japanese were warned to surrender and still didn’t quit, which would have lead to further destruction anyway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/>
              <a:t>The USA did not wait long enough between the bombs to allow Japan to surrender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/>
              <a:t>The bombs caused massive destruction and the killing of innocent civilian lives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/>
              <a:t>Hiroshima and Nagasaki were not military targets</a:t>
            </a:r>
          </a:p>
          <a:p>
            <a:pPr marL="514350" indent="-514350">
              <a:buFont typeface="+mj-lt"/>
              <a:buAutoNum type="alphaLcParenR"/>
            </a:pPr>
            <a:endParaRPr lang="en-AU" dirty="0"/>
          </a:p>
          <a:p>
            <a:pPr marL="514350" indent="-514350">
              <a:buFont typeface="+mj-lt"/>
              <a:buAutoNum type="alphaLcParenR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962631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2313A-25AD-4DB1-8875-16941B50A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34988" indent="-534988"/>
            <a:r>
              <a:rPr lang="en-AU" b="1" dirty="0">
                <a:latin typeface="Open Sans" panose="020B0606030504020204" pitchFamily="34" charset="0"/>
              </a:rPr>
              <a:t>5. Why did the USA declare war on Japan?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0440D-8686-40B4-AAF9-C76851377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400" y="2506662"/>
            <a:ext cx="6125308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/>
              <a:t>After Japan stole their oil in the Pacific ocean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/>
              <a:t>Because Japan had invaded Manchuria in a brutal way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</a:rPr>
              <a:t>Due to Japan bombing Pearl Harbour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/>
              <a:t>Due to German invading Poland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48582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5BA69-173B-451F-96DC-E17FA66B5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63068" cy="1325563"/>
          </a:xfrm>
        </p:spPr>
        <p:txBody>
          <a:bodyPr>
            <a:normAutofit/>
          </a:bodyPr>
          <a:lstStyle/>
          <a:p>
            <a:pPr marL="534988" indent="-534988"/>
            <a:r>
              <a:rPr lang="en-AU" b="1" i="0" dirty="0">
                <a:effectLst/>
                <a:latin typeface="Open Sans" panose="020B0606030504020204" pitchFamily="34" charset="0"/>
              </a:rPr>
              <a:t>6. What was the purpose of the Treaty of Versailles?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6B4EA-4153-4C33-905E-D3939532B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54842"/>
            <a:ext cx="7681957" cy="4097360"/>
          </a:xfrm>
        </p:spPr>
        <p:txBody>
          <a:bodyPr/>
          <a:lstStyle/>
          <a:p>
            <a:pPr marL="514350" indent="-514350" algn="l" fontAlgn="t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To place severe conditions on Germany to cripple them and force them to take blame for WWI</a:t>
            </a:r>
            <a:endParaRPr lang="en-AU" b="0" i="0" dirty="0">
              <a:effectLst/>
              <a:highlight>
                <a:srgbClr val="FFFF00"/>
              </a:highlight>
              <a:latin typeface="Open Sans" panose="020B0606030504020204" pitchFamily="34" charset="0"/>
            </a:endParaRPr>
          </a:p>
          <a:p>
            <a:pPr marL="514350" indent="-514350" algn="l" fontAlgn="t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To show how powerful Germany could be</a:t>
            </a:r>
            <a:endParaRPr lang="en-AU" b="0" i="0" dirty="0">
              <a:effectLst/>
              <a:latin typeface="Open Sans" panose="020B0606030504020204" pitchFamily="34" charset="0"/>
            </a:endParaRPr>
          </a:p>
          <a:p>
            <a:pPr marL="514350" indent="-514350" algn="l" fontAlgn="t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To place severe conditions on Germany to cripple them and force them to take blame for WWII</a:t>
            </a:r>
            <a:endParaRPr lang="en-AU" b="0" i="0" dirty="0">
              <a:effectLst/>
              <a:latin typeface="Open Sans" panose="020B0606030504020204" pitchFamily="34" charset="0"/>
            </a:endParaRPr>
          </a:p>
          <a:p>
            <a:pPr marL="514350" indent="-514350" algn="l" fontAlgn="t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To form an alliance between Germany and the Big 3</a:t>
            </a:r>
            <a:endParaRPr lang="en-AU" b="0" i="0" dirty="0"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234B8F-DCBA-4F3A-A09F-563EA88BD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692" y="2250124"/>
            <a:ext cx="3569497" cy="267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0723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5BA69-173B-451F-96DC-E17FA66B5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63068" cy="1325563"/>
          </a:xfrm>
        </p:spPr>
        <p:txBody>
          <a:bodyPr>
            <a:noAutofit/>
          </a:bodyPr>
          <a:lstStyle/>
          <a:p>
            <a:pPr marL="534988" indent="-534988"/>
            <a:r>
              <a:rPr lang="en-AU" sz="3600" b="1" dirty="0">
                <a:latin typeface="Open Sans" panose="020B0606030504020204" pitchFamily="34" charset="0"/>
              </a:rPr>
              <a:t>7. What is the name given to the high-speed tactics used by Germany in WWII to invade Poland and many other countries?</a:t>
            </a:r>
            <a:endParaRPr lang="en-A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6B4EA-4153-4C33-905E-D3939532B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160" y="2428833"/>
            <a:ext cx="7681957" cy="4097360"/>
          </a:xfrm>
        </p:spPr>
        <p:txBody>
          <a:bodyPr/>
          <a:lstStyle/>
          <a:p>
            <a:pPr marL="514350" indent="-514350" algn="l" fontAlgn="t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Lebensraum </a:t>
            </a:r>
          </a:p>
          <a:p>
            <a:pPr marL="514350" indent="-514350" algn="l" fontAlgn="t">
              <a:buFont typeface="+mj-lt"/>
              <a:buAutoNum type="alphaLcParenR"/>
            </a:pPr>
            <a:r>
              <a:rPr lang="en-AU" dirty="0" err="1">
                <a:latin typeface="Open Sans" panose="020B0606030504020204" pitchFamily="34" charset="0"/>
              </a:rPr>
              <a:t>Soldaten</a:t>
            </a:r>
            <a:endParaRPr lang="en-AU" dirty="0">
              <a:latin typeface="Open Sans" panose="020B0606030504020204" pitchFamily="34" charset="0"/>
            </a:endParaRPr>
          </a:p>
          <a:p>
            <a:pPr marL="514350" indent="-514350" algn="l" fontAlgn="t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Wehrmacht</a:t>
            </a:r>
          </a:p>
          <a:p>
            <a:pPr marL="514350" indent="-514350" algn="l" fontAlgn="t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Blitzkrieg</a:t>
            </a:r>
            <a:r>
              <a:rPr lang="en-AU" dirty="0">
                <a:latin typeface="Open Sans" panose="020B0606030504020204" pitchFamily="34" charset="0"/>
              </a:rPr>
              <a:t> 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B91ECE-1DC7-4BF9-895B-B6814DE16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069" y="2341648"/>
            <a:ext cx="5100976" cy="353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9661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94A7-CAC1-4F9C-A2E1-BEE9B2081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801688" indent="-801688"/>
            <a:r>
              <a:rPr lang="en-AU" b="1" i="0" dirty="0">
                <a:effectLst/>
                <a:latin typeface="Open Sans" panose="020B0606030504020204" pitchFamily="34" charset="0"/>
              </a:rPr>
              <a:t>8. Why was the Universal Declaration of Human Rights written? 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F157A-3AC3-4053-9AFD-D0B87B119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59880" cy="4351338"/>
          </a:xfrm>
        </p:spPr>
        <p:txBody>
          <a:bodyPr/>
          <a:lstStyle/>
          <a:p>
            <a:pPr marL="514350" indent="-514350" fontAlgn="t">
              <a:buFont typeface="+mj-lt"/>
              <a:buAutoNum type="alphaLcParenR"/>
            </a:pPr>
            <a:r>
              <a:rPr lang="en-AU" b="0" i="0" dirty="0">
                <a:effectLst/>
                <a:latin typeface="Open Sans" panose="020B0606030504020204" pitchFamily="34" charset="0"/>
              </a:rPr>
              <a:t>Because the League of Nations failed</a:t>
            </a:r>
          </a:p>
          <a:p>
            <a:pPr marL="514350" indent="-514350" fontAlgn="t">
              <a:buFont typeface="+mj-lt"/>
              <a:buAutoNum type="alphaLcParenR"/>
            </a:pPr>
            <a:r>
              <a:rPr lang="en-AU" b="0" i="0" dirty="0">
                <a:effectLst/>
                <a:latin typeface="Open Sans" panose="020B0606030504020204" pitchFamily="34" charset="0"/>
              </a:rPr>
              <a:t>As a result of the Civil War</a:t>
            </a:r>
          </a:p>
          <a:p>
            <a:pPr marL="514350" indent="-514350" fontAlgn="t">
              <a:buFont typeface="+mj-lt"/>
              <a:buAutoNum type="alphaLcParenR"/>
            </a:pPr>
            <a:r>
              <a:rPr lang="en-AU" b="0" i="0" dirty="0"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As a result of the Holocaust and WWII</a:t>
            </a:r>
          </a:p>
          <a:p>
            <a:pPr marL="514350" indent="-514350" algn="l" fontAlgn="t">
              <a:buFont typeface="+mj-lt"/>
              <a:buAutoNum type="alphaLcParenR"/>
            </a:pPr>
            <a:r>
              <a:rPr lang="en-AU" b="0" i="0" dirty="0">
                <a:effectLst/>
                <a:latin typeface="Open Sans" panose="020B0606030504020204" pitchFamily="34" charset="0"/>
              </a:rPr>
              <a:t>Because Eleanor Roosevelt was a powerful leader</a:t>
            </a:r>
          </a:p>
          <a:p>
            <a:endParaRPr lang="en-AU" dirty="0"/>
          </a:p>
        </p:txBody>
      </p:sp>
      <p:pic>
        <p:nvPicPr>
          <p:cNvPr id="11266" name="Picture 2" descr="United Nations, Universal Declaration of Human Rights - UDHR, History of  Human Rights">
            <a:extLst>
              <a:ext uri="{FF2B5EF4-FFF2-40B4-BE49-F238E27FC236}">
                <a16:creationId xmlns:a16="http://schemas.microsoft.com/office/drawing/2014/main" id="{C8907405-BD07-43CB-A6C1-5E67E278C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64828">
            <a:off x="7898323" y="2256756"/>
            <a:ext cx="2801080" cy="3625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5838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9. What is the historical significance of the UDHR?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730218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It started a new country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It established new laws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It abolished slavery around the world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It attempted to get all countries to acknowledge that freedom and equality (among other rights) should be universal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1247E-9007-4B2F-BDF0-7BA4800471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45" r="19931"/>
          <a:stretch/>
        </p:blipFill>
        <p:spPr>
          <a:xfrm>
            <a:off x="7568419" y="1690688"/>
            <a:ext cx="3459549" cy="30032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010876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10. What is name of the Australian who played a significant role in the formation of the United Nations?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Robert Menzies.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Franklin D. Roosevelt.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Paul Keating.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Herbert V. Evatt</a:t>
            </a:r>
          </a:p>
          <a:p>
            <a:endParaRPr lang="en-AU" dirty="0"/>
          </a:p>
        </p:txBody>
      </p:sp>
      <p:pic>
        <p:nvPicPr>
          <p:cNvPr id="14338" name="Picture 2" descr="EVATT Herbert Vere | legalopinions">
            <a:extLst>
              <a:ext uri="{FF2B5EF4-FFF2-40B4-BE49-F238E27FC236}">
                <a16:creationId xmlns:a16="http://schemas.microsoft.com/office/drawing/2014/main" id="{F9512C81-9858-4725-8F9A-0D6B06C67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602" y="2236763"/>
            <a:ext cx="3138941" cy="3766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56651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11. What role did Doc Evatt play in the creation of the Universal Declaration of Human Rights??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He was elected the third President of the General Assembly of the UN.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oversaw the vote by the UN countries to accept the UDHR.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persuaded the then sceptical Australian Government to vote in favour of the Universal Declaration.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All of the above.</a:t>
            </a:r>
          </a:p>
          <a:p>
            <a:endParaRPr lang="en-AU" dirty="0"/>
          </a:p>
        </p:txBody>
      </p:sp>
      <p:pic>
        <p:nvPicPr>
          <p:cNvPr id="15362" name="Picture 2" descr="SBS Language | The Universal Declaration of Human Rights - 70 years on">
            <a:extLst>
              <a:ext uri="{FF2B5EF4-FFF2-40B4-BE49-F238E27FC236}">
                <a16:creationId xmlns:a16="http://schemas.microsoft.com/office/drawing/2014/main" id="{9CFA4B00-30FC-4D01-9590-6F8849123F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782"/>
          <a:stretch/>
        </p:blipFill>
        <p:spPr bwMode="auto">
          <a:xfrm flipH="1">
            <a:off x="7439388" y="2352902"/>
            <a:ext cx="4201068" cy="3394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34823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12. How many articles are written in the Universal Declaration of Human Rights??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20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35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30</a:t>
            </a:r>
            <a:endParaRPr lang="en-AU" dirty="0">
              <a:highlight>
                <a:srgbClr val="FFFF00"/>
              </a:highlight>
            </a:endParaRP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12</a:t>
            </a:r>
          </a:p>
        </p:txBody>
      </p:sp>
      <p:pic>
        <p:nvPicPr>
          <p:cNvPr id="5" name="Picture 2" descr="United Nations, Universal Declaration of Human Rights - UDHR, History of  Human Rights">
            <a:extLst>
              <a:ext uri="{FF2B5EF4-FFF2-40B4-BE49-F238E27FC236}">
                <a16:creationId xmlns:a16="http://schemas.microsoft.com/office/drawing/2014/main" id="{C8907405-BD07-43CB-A6C1-5E67E278C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64828">
            <a:off x="6485476" y="2260327"/>
            <a:ext cx="2801080" cy="3625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43231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13. What is the name of the organisation which formed in 1945 and developed the UNDHR?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League of Nations</a:t>
            </a:r>
            <a:endParaRPr lang="en-AU" dirty="0"/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Circle of Nations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Unified Nations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United Nations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737" y="2545587"/>
            <a:ext cx="4276490" cy="284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2006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14. In which year was the United Nations formed?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1940, during WWII </a:t>
            </a:r>
            <a:endParaRPr lang="en-AU" dirty="0"/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1945, after WWII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1918, after WWI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2020, during the COVID outbreak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887" y="1897561"/>
            <a:ext cx="4365267" cy="373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6206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15. Who is this woman?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Eleanor Roosevelt </a:t>
            </a:r>
            <a:endParaRPr lang="en-AU" dirty="0">
              <a:highlight>
                <a:srgbClr val="FFFF00"/>
              </a:highlight>
            </a:endParaRP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Queen Mary II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 err="1">
                <a:latin typeface="Open Sans" panose="020B0606030504020204" pitchFamily="34" charset="0"/>
              </a:rPr>
              <a:t>Hansa</a:t>
            </a:r>
            <a:r>
              <a:rPr lang="en-AU" dirty="0">
                <a:latin typeface="Open Sans" panose="020B0606030504020204" pitchFamily="34" charset="0"/>
              </a:rPr>
              <a:t> Mehta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Angela Merkel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754" y="1806594"/>
            <a:ext cx="6515986" cy="390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2870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16. Which country did Eleanor Roosevelt represent when writing the UNDHR?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England</a:t>
            </a:r>
            <a:endParaRPr lang="en-AU" dirty="0"/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The USA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Australia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Germany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754" y="1806594"/>
            <a:ext cx="6515986" cy="390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7278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17. Which of the following best describes ‘racial segregation’?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36763"/>
            <a:ext cx="8587811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Forcing two groups of people to live together in harmony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The separation of people into racial or ethnic groups in daily life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The process of which a minority group or culture comes to resemble the majority group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When all racists are separated from each other</a:t>
            </a:r>
          </a:p>
        </p:txBody>
      </p:sp>
    </p:spTree>
    <p:extLst>
      <p:ext uri="{BB962C8B-B14F-4D97-AF65-F5344CB8AC3E}">
        <p14:creationId xmlns:p14="http://schemas.microsoft.com/office/powerpoint/2010/main" val="42067833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18. What is an economic boycott?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3477"/>
            <a:ext cx="8587811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Stopping people from contributing to the economy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Refusing to spend money on a particular person, business or service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A violent form of protest which can lead to death and injury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An illegal form of protest which caused the FBI to hunt down Martin Luther King Jr. </a:t>
            </a:r>
          </a:p>
        </p:txBody>
      </p:sp>
    </p:spTree>
    <p:extLst>
      <p:ext uri="{BB962C8B-B14F-4D97-AF65-F5344CB8AC3E}">
        <p14:creationId xmlns:p14="http://schemas.microsoft.com/office/powerpoint/2010/main" val="40222322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19. Who delivered the famous ‘I have a dream’ speech in 1963?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5748"/>
            <a:ext cx="8587811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Rosa Parks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John F. Kennedy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Martin Luther King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Martin Luther King Jr</a:t>
            </a:r>
            <a:r>
              <a:rPr lang="en-AU" dirty="0">
                <a:latin typeface="Open Sans" panose="020B0606030504020204" pitchFamily="34" charset="0"/>
              </a:rPr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68C0A8-A25D-4FD1-BC2A-EE8286167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107" y="2243096"/>
            <a:ext cx="3499407" cy="350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611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20. What was the purpose of the march on Washington in 1963 which was attended by over 250 000 people?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1942"/>
            <a:ext cx="8587811" cy="3940200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To put pressure on the US Congress to enact the Civil Rights Act, which was a bill by President Kennedy to outlaw discrimination based on race or gender.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To prevent the US Congress from passing the Civil Rights Act as it was racist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To change the way that black people were seen in society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For Martin Luther King Jr. to tell everyone about his dreams from the previous night</a:t>
            </a:r>
          </a:p>
        </p:txBody>
      </p:sp>
    </p:spTree>
    <p:extLst>
      <p:ext uri="{BB962C8B-B14F-4D97-AF65-F5344CB8AC3E}">
        <p14:creationId xmlns:p14="http://schemas.microsoft.com/office/powerpoint/2010/main" val="37765713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21. Why did Martin Luther King Jr. model his civil rights activism on Mahatma </a:t>
            </a:r>
            <a:r>
              <a:rPr lang="en-AU" b="1" dirty="0" err="1">
                <a:latin typeface="Open Sans" panose="020B0606030504020204" pitchFamily="34" charset="0"/>
              </a:rPr>
              <a:t>Ghandi</a:t>
            </a:r>
            <a:r>
              <a:rPr lang="en-AU" b="1" dirty="0">
                <a:latin typeface="Open Sans" panose="020B0606030504020204" pitchFamily="34" charset="0"/>
              </a:rPr>
              <a:t>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1942"/>
            <a:ext cx="8587811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He was King’s grandfather and taught him about peace and love above violence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He practiced ‘Satyagraha’ which was a non-violent form of protest and encouraged protesters to see the power of truth and love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He encouraged protesters to boycott local bus businesses in India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 err="1">
                <a:latin typeface="Open Sans" panose="020B0606030504020204" pitchFamily="34" charset="0"/>
              </a:rPr>
              <a:t>Ghandi</a:t>
            </a:r>
            <a:r>
              <a:rPr lang="en-AU" dirty="0">
                <a:latin typeface="Open Sans" panose="020B0606030504020204" pitchFamily="34" charset="0"/>
              </a:rPr>
              <a:t> played a key role in the Indian civil rights movement </a:t>
            </a:r>
          </a:p>
        </p:txBody>
      </p:sp>
    </p:spTree>
    <p:extLst>
      <p:ext uri="{BB962C8B-B14F-4D97-AF65-F5344CB8AC3E}">
        <p14:creationId xmlns:p14="http://schemas.microsoft.com/office/powerpoint/2010/main" val="34741314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pPr marL="801688" indent="-801688"/>
            <a:r>
              <a:rPr lang="en-AU" sz="3600" b="1">
                <a:latin typeface="Open Sans" panose="020B0606030504020204" pitchFamily="34" charset="0"/>
              </a:rPr>
              <a:t>22. On what dates was the first ‘Day of Mourning’ held? </a:t>
            </a:r>
            <a:endParaRPr lang="en-AU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sz="2400" dirty="0">
                <a:latin typeface="Open Sans" panose="020B0606030504020204" pitchFamily="34" charset="0"/>
              </a:rPr>
              <a:t>1</a:t>
            </a:r>
            <a:r>
              <a:rPr lang="en-AU" sz="2400" baseline="30000" dirty="0">
                <a:latin typeface="Open Sans" panose="020B0606030504020204" pitchFamily="34" charset="0"/>
              </a:rPr>
              <a:t>st</a:t>
            </a:r>
            <a:r>
              <a:rPr lang="en-AU" sz="2400" dirty="0">
                <a:latin typeface="Open Sans" panose="020B0606030504020204" pitchFamily="34" charset="0"/>
              </a:rPr>
              <a:t> January 1901 </a:t>
            </a:r>
          </a:p>
          <a:p>
            <a:pPr marL="514350" indent="-514350">
              <a:buFont typeface="+mj-lt"/>
              <a:buAutoNum type="alphaLcParenR"/>
            </a:pPr>
            <a:r>
              <a:rPr lang="en-AU" sz="2400" dirty="0">
                <a:latin typeface="Open Sans" panose="020B0606030504020204" pitchFamily="34" charset="0"/>
              </a:rPr>
              <a:t>26th January, 1788 </a:t>
            </a:r>
          </a:p>
          <a:p>
            <a:pPr marL="514350" indent="-514350">
              <a:buFont typeface="+mj-lt"/>
              <a:buAutoNum type="alphaLcParenR"/>
            </a:pPr>
            <a:r>
              <a:rPr lang="en-AU" sz="2400" dirty="0">
                <a:highlight>
                  <a:srgbClr val="FFFF00"/>
                </a:highlight>
                <a:latin typeface="Open Sans" panose="020B0606030504020204" pitchFamily="34" charset="0"/>
              </a:rPr>
              <a:t>26</a:t>
            </a:r>
            <a:r>
              <a:rPr lang="en-AU" sz="2400" baseline="30000" dirty="0">
                <a:highlight>
                  <a:srgbClr val="FFFF00"/>
                </a:highlight>
                <a:latin typeface="Open Sans" panose="020B0606030504020204" pitchFamily="34" charset="0"/>
              </a:rPr>
              <a:t>th</a:t>
            </a:r>
            <a:r>
              <a:rPr lang="en-AU" sz="2400" dirty="0">
                <a:highlight>
                  <a:srgbClr val="FFFF00"/>
                </a:highlight>
                <a:latin typeface="Open Sans" panose="020B0606030504020204" pitchFamily="34" charset="0"/>
              </a:rPr>
              <a:t> January, 1938</a:t>
            </a:r>
          </a:p>
          <a:p>
            <a:pPr marL="514350" indent="-514350">
              <a:buFont typeface="+mj-lt"/>
              <a:buAutoNum type="alphaLcParenR"/>
            </a:pPr>
            <a:r>
              <a:rPr lang="en-AU" sz="2400" dirty="0">
                <a:latin typeface="Open Sans" panose="020B0606030504020204" pitchFamily="34" charset="0"/>
              </a:rPr>
              <a:t>10</a:t>
            </a:r>
            <a:r>
              <a:rPr lang="en-AU" sz="2400" baseline="30000" dirty="0">
                <a:latin typeface="Open Sans" panose="020B0606030504020204" pitchFamily="34" charset="0"/>
              </a:rPr>
              <a:t>th</a:t>
            </a:r>
            <a:r>
              <a:rPr lang="en-AU" sz="2400" dirty="0">
                <a:latin typeface="Open Sans" panose="020B0606030504020204" pitchFamily="34" charset="0"/>
              </a:rPr>
              <a:t> December, 1948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0400F8-39CB-41C5-BAA5-BAD3A82D7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377" y="1782981"/>
            <a:ext cx="6209098" cy="436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645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pPr marL="801688" indent="-801688"/>
            <a:r>
              <a:rPr lang="en-AU" sz="3600" b="1" dirty="0">
                <a:latin typeface="Open Sans" panose="020B0606030504020204" pitchFamily="34" charset="0"/>
              </a:rPr>
              <a:t>23. What was Australia proclaimed as upon arrival of British settlers in 1788?</a:t>
            </a:r>
            <a:endParaRPr lang="en-A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sz="2400" dirty="0">
                <a:latin typeface="Open Sans" panose="020B0606030504020204" pitchFamily="34" charset="0"/>
              </a:rPr>
              <a:t>Van Diemen’s Land </a:t>
            </a:r>
          </a:p>
          <a:p>
            <a:pPr marL="514350" indent="-514350">
              <a:buFont typeface="+mj-lt"/>
              <a:buAutoNum type="alphaLcParenR"/>
            </a:pPr>
            <a:r>
              <a:rPr lang="en-AU" sz="2400" dirty="0">
                <a:latin typeface="Open Sans" panose="020B0606030504020204" pitchFamily="34" charset="0"/>
              </a:rPr>
              <a:t>The land of the long white cloud</a:t>
            </a:r>
          </a:p>
          <a:p>
            <a:pPr marL="514350" indent="-514350">
              <a:buFont typeface="+mj-lt"/>
              <a:buAutoNum type="alphaLcParenR"/>
            </a:pPr>
            <a:r>
              <a:rPr lang="en-AU" sz="2400" dirty="0">
                <a:latin typeface="Open Sans" panose="020B0606030504020204" pitchFamily="34" charset="0"/>
              </a:rPr>
              <a:t>Stolen</a:t>
            </a:r>
          </a:p>
          <a:p>
            <a:pPr marL="514350" indent="-514350">
              <a:buFont typeface="+mj-lt"/>
              <a:buAutoNum type="alphaLcParenR"/>
            </a:pPr>
            <a:r>
              <a:rPr lang="en-AU" sz="2400" dirty="0">
                <a:highlight>
                  <a:srgbClr val="FFFF00"/>
                </a:highlight>
                <a:latin typeface="Open Sans" panose="020B0606030504020204" pitchFamily="34" charset="0"/>
              </a:rPr>
              <a:t>Terra Nullius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C3B927-0892-410F-99E3-A157D30A2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973" y="1779204"/>
            <a:ext cx="4920774" cy="352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158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751</TotalTime>
  <Words>1879</Words>
  <Application>Microsoft Office PowerPoint</Application>
  <PresentationFormat>Widescreen</PresentationFormat>
  <Paragraphs>233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Calibri Light</vt:lpstr>
      <vt:lpstr>Open Sans</vt:lpstr>
      <vt:lpstr>Office Theme</vt:lpstr>
      <vt:lpstr>Revision Quiz</vt:lpstr>
      <vt:lpstr>1. During which year were the atomic bombs dropped?</vt:lpstr>
      <vt:lpstr>2. In which two cities were the atomic bombs dropped? </vt:lpstr>
      <vt:lpstr>3. Who was the president of the USA who ordered the atomic bombs to be dropped?</vt:lpstr>
      <vt:lpstr>4. Which of the following is NOT an argument against the atomic bombs?</vt:lpstr>
      <vt:lpstr>5. Why did the USA declare war on Japan? </vt:lpstr>
      <vt:lpstr>6. What was the purpose of the Treaty of Versailles?</vt:lpstr>
      <vt:lpstr>7. What is the name given to the high-speed tactics used by Germany in WWII to invade Poland and many other countries?</vt:lpstr>
      <vt:lpstr>8. Why was the Universal Declaration of Human Rights written? </vt:lpstr>
      <vt:lpstr>9. What is the historical significance of the UDHR?</vt:lpstr>
      <vt:lpstr>10. What is name of the Australian who played a significant role in the formation of the United Nations?</vt:lpstr>
      <vt:lpstr>11. What role did Doc Evatt play in the creation of the Universal Declaration of Human Rights??</vt:lpstr>
      <vt:lpstr>12. How many articles are written in the Universal Declaration of Human Rights??</vt:lpstr>
      <vt:lpstr>13. What is the name of the organisation which formed in 1945 and developed the UNDHR? </vt:lpstr>
      <vt:lpstr>14. In which year was the United Nations formed? </vt:lpstr>
      <vt:lpstr>15. Who is this woman? </vt:lpstr>
      <vt:lpstr>16. Which country did Eleanor Roosevelt represent when writing the UNDHR? </vt:lpstr>
      <vt:lpstr>17. Which of the following best describes ‘racial segregation’? </vt:lpstr>
      <vt:lpstr>18. What is an economic boycott?</vt:lpstr>
      <vt:lpstr>19. Who delivered the famous ‘I have a dream’ speech in 1963?</vt:lpstr>
      <vt:lpstr>20. What was the purpose of the march on Washington in 1963 which was attended by over 250 000 people? </vt:lpstr>
      <vt:lpstr>21. Why did Martin Luther King Jr. model his civil rights activism on Mahatma Ghandi?</vt:lpstr>
      <vt:lpstr>22. On what dates was the first ‘Day of Mourning’ held? </vt:lpstr>
      <vt:lpstr>23. What was Australia proclaimed as upon arrival of British settlers in 1788?</vt:lpstr>
      <vt:lpstr>Answers</vt:lpstr>
      <vt:lpstr>1. During which year were the atomic bombs dropped?</vt:lpstr>
      <vt:lpstr>2. In which two cities were the atomic bombs dropped? </vt:lpstr>
      <vt:lpstr>3. Who was the president of the USA who ordered the atomic bombs to be dropped?</vt:lpstr>
      <vt:lpstr>4. Which of the following is NOT an argument against the atomic bombs?</vt:lpstr>
      <vt:lpstr>5. Why did the USA declare war on Japan? </vt:lpstr>
      <vt:lpstr>6. What was the purpose of the Treaty of Versailles?</vt:lpstr>
      <vt:lpstr>7. What is the name given to the high-speed tactics used by Germany in WWII to invade Poland and many other countries?</vt:lpstr>
      <vt:lpstr>8. Why was the Universal Declaration of Human Rights written? </vt:lpstr>
      <vt:lpstr>9. What is the historical significance of the UDHR?</vt:lpstr>
      <vt:lpstr>10. What is name of the Australian who played a significant role in the formation of the United Nations?</vt:lpstr>
      <vt:lpstr>11. What role did Doc Evatt play in the creation of the Universal Declaration of Human Rights??</vt:lpstr>
      <vt:lpstr>12. How many articles are written in the Universal Declaration of Human Rights??</vt:lpstr>
      <vt:lpstr>13. What is the name of the organisation which formed in 1945 and developed the UNDHR? </vt:lpstr>
      <vt:lpstr>14. In which year was the United Nations formed? </vt:lpstr>
      <vt:lpstr>15. Who is this woman? </vt:lpstr>
      <vt:lpstr>16. Which country did Eleanor Roosevelt represent when writing the UNDHR? </vt:lpstr>
      <vt:lpstr>17. Which of the following best describes ‘racial segregation’? </vt:lpstr>
      <vt:lpstr>18. What is an economic boycott?</vt:lpstr>
      <vt:lpstr>19. Who delivered the famous ‘I have a dream’ speech in 1963?</vt:lpstr>
      <vt:lpstr>20. What was the purpose of the march on Washington in 1963 which was attended by over 250 000 people? </vt:lpstr>
      <vt:lpstr>21. Why did Martin Luther King Jr. model his civil rights activism on Mahatma Ghandi?</vt:lpstr>
      <vt:lpstr>22. On what dates was the first ‘Day of Mourning’ held? </vt:lpstr>
      <vt:lpstr>23. What was Australia proclaimed as upon arrival of British settlers in 1788?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Quiz</dc:title>
  <dc:creator>Wendy Sargeantson</dc:creator>
  <cp:lastModifiedBy>DONAVON Rebecca [Narrogin Senior High School]</cp:lastModifiedBy>
  <cp:revision>21</cp:revision>
  <dcterms:created xsi:type="dcterms:W3CDTF">2021-09-20T11:20:52Z</dcterms:created>
  <dcterms:modified xsi:type="dcterms:W3CDTF">2022-09-20T02:49:04Z</dcterms:modified>
</cp:coreProperties>
</file>