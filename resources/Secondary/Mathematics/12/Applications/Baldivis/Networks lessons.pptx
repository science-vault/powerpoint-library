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6" r:id="rId7"/>
    <p:sldId id="268" r:id="rId8"/>
    <p:sldId id="260" r:id="rId9"/>
    <p:sldId id="321" r:id="rId10"/>
    <p:sldId id="336" r:id="rId11"/>
    <p:sldId id="340" r:id="rId12"/>
    <p:sldId id="269" r:id="rId13"/>
    <p:sldId id="261" r:id="rId14"/>
    <p:sldId id="341" r:id="rId15"/>
    <p:sldId id="343" r:id="rId16"/>
    <p:sldId id="344" r:id="rId17"/>
    <p:sldId id="345" r:id="rId18"/>
    <p:sldId id="350" r:id="rId19"/>
    <p:sldId id="351" r:id="rId20"/>
    <p:sldId id="353" r:id="rId21"/>
    <p:sldId id="355" r:id="rId22"/>
    <p:sldId id="354" r:id="rId23"/>
    <p:sldId id="356" r:id="rId24"/>
    <p:sldId id="352" r:id="rId25"/>
    <p:sldId id="262" r:id="rId26"/>
    <p:sldId id="346" r:id="rId27"/>
    <p:sldId id="311" r:id="rId28"/>
    <p:sldId id="347" r:id="rId29"/>
    <p:sldId id="357" r:id="rId30"/>
    <p:sldId id="358" r:id="rId31"/>
    <p:sldId id="348" r:id="rId32"/>
    <p:sldId id="265" r:id="rId33"/>
    <p:sldId id="359" r:id="rId34"/>
    <p:sldId id="360" r:id="rId35"/>
    <p:sldId id="361" r:id="rId36"/>
    <p:sldId id="263" r:id="rId37"/>
    <p:sldId id="365" r:id="rId38"/>
    <p:sldId id="366" r:id="rId39"/>
    <p:sldId id="364" r:id="rId40"/>
    <p:sldId id="362" r:id="rId41"/>
    <p:sldId id="367" r:id="rId42"/>
    <p:sldId id="363" r:id="rId43"/>
    <p:sldId id="36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34EE-EDB7-46A2-9AF0-C22F10402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C7923-C1C7-469B-94AB-FB563EBF6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A0A3D-5A3E-4B9F-B4A5-84AA19C7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294BC-8557-4F55-A9C7-B1367750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DF9E6-A1DB-4566-AF49-89615129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0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0B66-C5F4-4328-8A0E-B358E703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FC982-CE09-4EDC-BF73-523E69AF2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26F4D-DD12-4ED9-A6F5-E886A30A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AF0C-5C69-4C72-853C-5C395318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F8FDE-FADA-4928-993B-D1415F41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05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A8A5-992F-47FB-BEE3-4667B1A0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40F72-8D4C-43DB-9A63-B311B46A8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46D94-0CB4-4CFD-8181-45B9DABAF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DD8D3-23A6-46A6-B24F-39F77C01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E891-5534-4699-8522-977C0C0A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071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569E-EDDF-4737-902E-4384798A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5C5F-6D65-4F50-83F2-3B393B67E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30A8D-AAE2-499C-BE9C-DC8971661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69CBF-5AF8-4478-A2C4-7120AF4B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BC7CA-8798-4A39-AE3C-F0411240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3522B-519F-4383-A8D6-3F927BBA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699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FFEA-6609-49BC-ACF0-1B3369A4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927B6-A4DC-496B-8DC5-0A3291593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FCCB3-DAE8-43CB-896E-3DFBEA2A4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A4930-2718-48A8-A0ED-A9FB0057E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BA405-CB68-4E0B-B35B-346B61120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17AAA-D1E7-4B0C-B904-2F1D80FF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196198-E26E-41B5-AF84-A559A035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D15C90-6720-4911-8722-A1770C09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75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B2B8-C229-41D2-8E09-7DCDA3A9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A5391-BE6A-46CC-87DE-5D85CD53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233EE-024E-403D-B2C2-D2B6ED04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86976-9AA6-4849-802A-4DD0E5C4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072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3B24A-44BE-4FF2-A190-911C74F1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F78E8-E166-4B88-9A20-885DD37F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50FCD-11AB-4F00-81D9-B933574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846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09C1-5387-4D10-B0FC-8023A3AE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C926-BD97-42B6-B061-FD59B1B1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9E3EB-1DF1-454E-B0C7-DF30C775A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994A9-5CDF-434E-AD90-4F24F0A4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B5CB5-1B97-4385-8DCA-DA2360A6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11C4-55F6-4049-B458-F761C00C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687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F68F-0749-487C-8AE8-E41AF228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22F77-1073-4444-8765-6D0207AF02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0871A-CD16-4C3C-8907-D26C89438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B5A7C-7C0E-4BC5-AEE2-C797DFE1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C79C7-76B5-48AA-88EA-8571291F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71FCA-08F9-490E-8CB8-952B179B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092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8067-43A9-49F5-BBC3-0FB92108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E103D-1B86-4BC1-B81B-A176DC15F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C2B86-1839-415F-B593-E74F8B64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71A0B-24F5-46EE-81A2-E300344D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92124-7BDC-44FE-BFD4-F896502E0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721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15119-3835-4864-9F96-7013ACAE6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DA0FF-4FE0-4D94-82AC-550A197B4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F20F3-F41E-4D3E-8D16-E7ADF18C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D76CB-7256-4578-B1DF-65E6B09C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534A2-369F-44B4-A261-8EFA3DE7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02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06316-CA46-4732-8CF4-06252FAC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E97B3-344A-40CE-95F8-4D4BA2043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FE1D1-9394-4DF7-B931-C39806225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609A-5F60-4CE8-9027-5D5E995F8301}" type="datetimeFigureOut">
              <a:rPr lang="en-AU" smtClean="0"/>
              <a:t>29/11/2021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04D68-8861-4066-A6B6-D486CC3B5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12D9-DB27-4661-9B22-DBE05831A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8CD06-F425-45C4-80EE-F12A0EF702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55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8.xml"/><Relationship Id="rId7" Type="http://schemas.openxmlformats.org/officeDocument/2006/relationships/slide" Target="slide3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19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28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dark mesh">
            <a:extLst>
              <a:ext uri="{FF2B5EF4-FFF2-40B4-BE49-F238E27FC236}">
                <a16:creationId xmlns:a16="http://schemas.microsoft.com/office/drawing/2014/main" id="{F406BFAE-73EF-4D5A-9BF4-3EF904C6A8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DB0B6-BCBE-4329-9AF3-4C7096D05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AU" sz="4000" b="1" dirty="0"/>
              <a:t>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197B4-6D49-4C95-A940-F91CD822F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r>
              <a:rPr lang="en-AU" sz="2000"/>
              <a:t>Yr12 applications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94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4A5A-44F6-4634-A8C8-3A512564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FB9D-FF37-4D77-868C-F4CE1BF61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hlinkClick r:id="rId2" action="ppaction://hlinksldjump"/>
              </a:rPr>
              <a:t>Lesson 1: Network Basics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3" action="ppaction://hlinksldjump"/>
              </a:rPr>
              <a:t>Lesson 2: Network Vocabulary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4" action="ppaction://hlinksldjump"/>
              </a:rPr>
              <a:t>Lesson 3: Types of Graphs (Planar, trees, bipartite etc)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5" action="ppaction://hlinksldjump"/>
              </a:rPr>
              <a:t>Lesson 4: Adjacency Matrices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6" action="ppaction://hlinksldjump"/>
              </a:rPr>
              <a:t>Lesson 5: Eulerian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7" action="ppaction://hlinksldjump"/>
              </a:rPr>
              <a:t>Lesson 6: Hamiltonian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8" action="ppaction://hlinksldjump"/>
              </a:rPr>
              <a:t>Lesson 7: Shortest Paths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545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5CF9-FE07-4050-8430-7EDEDF1C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4137"/>
            <a:ext cx="10515600" cy="1325563"/>
          </a:xfrm>
        </p:spPr>
        <p:txBody>
          <a:bodyPr/>
          <a:lstStyle/>
          <a:p>
            <a:r>
              <a:rPr lang="en-AU" b="1" dirty="0"/>
              <a:t>Syllabus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6ADF27-1D63-4131-8944-122537193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451" y="1409700"/>
                <a:ext cx="11782424" cy="476726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AU" b="1" dirty="0"/>
                  <a:t>The definition of a graph and associated terminology</a:t>
                </a:r>
                <a:endParaRPr lang="en-AU" dirty="0"/>
              </a:p>
              <a:p>
                <a:r>
                  <a:rPr lang="en-AU" dirty="0"/>
                  <a:t>3.3.1	demonstrate the meanings of, and use, the terms: graph, edge, vertex, loop, degree of a vertex, subgraph, simple graph, complete graph, bipartite graph, directed graph (digraph), arc, weighted graph, and network</a:t>
                </a:r>
              </a:p>
              <a:p>
                <a:r>
                  <a:rPr lang="en-AU" dirty="0"/>
                  <a:t>3.3.2	identify practical situations that can be represented by a network, and construct such networks</a:t>
                </a:r>
              </a:p>
              <a:p>
                <a:r>
                  <a:rPr lang="en-AU" dirty="0"/>
                  <a:t>3.3.3	construct an adjacency matrix from a given graph or digraph and use the matrix to solve associated problems</a:t>
                </a:r>
              </a:p>
              <a:p>
                <a:r>
                  <a:rPr lang="en-AU" b="1" dirty="0"/>
                  <a:t>Planar graphs</a:t>
                </a:r>
              </a:p>
              <a:p>
                <a:r>
                  <a:rPr lang="en-AU" dirty="0"/>
                  <a:t>3.3.4 	demonstrate the meanings of, and use, the terms: planar graph and face</a:t>
                </a:r>
              </a:p>
              <a:p>
                <a:r>
                  <a:rPr lang="en-AU" dirty="0"/>
                  <a:t>3.3.5	apply Euler’s formula,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AU" sz="2000" dirty="0"/>
                  <a:t> </a:t>
                </a:r>
                <a:r>
                  <a:rPr lang="en-AU" dirty="0"/>
                  <a:t>to solve problems relating to planar graphs</a:t>
                </a:r>
              </a:p>
              <a:p>
                <a:r>
                  <a:rPr lang="en-AU" b="1" dirty="0"/>
                  <a:t>Paths and cycles</a:t>
                </a:r>
                <a:endParaRPr lang="en-AU" dirty="0"/>
              </a:p>
              <a:p>
                <a:r>
                  <a:rPr lang="en-AU" dirty="0"/>
                  <a:t>3.3.6	demonstrate the meanings of, and use, the terms: walk, trail, path, closed walk, closed trail, cycle, connected graph, and bridge</a:t>
                </a:r>
              </a:p>
              <a:p>
                <a:r>
                  <a:rPr lang="en-AU" dirty="0"/>
                  <a:t>3.3.7	investigate and solve practical problems to determine the shortest path between two vertices in a weighted graph (by trial-and-error methods only)</a:t>
                </a:r>
              </a:p>
              <a:p>
                <a:r>
                  <a:rPr lang="en-AU" dirty="0"/>
                  <a:t>3.3.8	demonstrate the meanings of, and use, the terms: Eulerian graph, Eulerian trail, semi-Eulerian graph, semi-Eulerian trail and the conditions for their existence, and use these concepts to investigate and solve practical problems</a:t>
                </a:r>
              </a:p>
              <a:p>
                <a:r>
                  <a:rPr lang="en-AU" dirty="0"/>
                  <a:t>3.3.9	demonstrate the meanings of, and use, the terms: Hamiltonian graph and semi-Hamiltonian graph, and use these concepts to investigate and solve practical problems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6ADF27-1D63-4131-8944-122537193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1" y="1409700"/>
                <a:ext cx="11782424" cy="4767263"/>
              </a:xfrm>
              <a:blipFill>
                <a:blip r:embed="rId2"/>
                <a:stretch>
                  <a:fillRect l="-310" t="-2046" r="-724" b="-2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47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Network basics</a:t>
            </a:r>
          </a:p>
          <a:p>
            <a:pPr marL="0" indent="0">
              <a:buNone/>
            </a:pPr>
            <a:r>
              <a:rPr lang="en-AU" dirty="0"/>
              <a:t>EQ: What are networks?</a:t>
            </a: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93DA7B9A-8752-4019-AD42-5B9E6B1CD665}"/>
              </a:ext>
            </a:extLst>
          </p:cNvPr>
          <p:cNvSpPr/>
          <p:nvPr/>
        </p:nvSpPr>
        <p:spPr>
          <a:xfrm>
            <a:off x="8667751" y="619125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03124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FCA8-3FBF-4FBD-A73F-908A5AE2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Networks in real life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B916ED-4452-4BCB-9CC3-9F6934A79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7481" y="1352485"/>
            <a:ext cx="6082376" cy="49811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D5C158-6485-4BE7-A88A-6674529554BC}"/>
              </a:ext>
            </a:extLst>
          </p:cNvPr>
          <p:cNvSpPr txBox="1"/>
          <p:nvPr/>
        </p:nvSpPr>
        <p:spPr>
          <a:xfrm>
            <a:off x="713984" y="2480153"/>
            <a:ext cx="3244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Networks are a graphical way of representing information that is connected.</a:t>
            </a:r>
          </a:p>
        </p:txBody>
      </p:sp>
    </p:spTree>
    <p:extLst>
      <p:ext uri="{BB962C8B-B14F-4D97-AF65-F5344CB8AC3E}">
        <p14:creationId xmlns:p14="http://schemas.microsoft.com/office/powerpoint/2010/main" val="271193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556134-C8E9-4266-8F20-D902AA10563A}"/>
              </a:ext>
            </a:extLst>
          </p:cNvPr>
          <p:cNvCxnSpPr/>
          <p:nvPr/>
        </p:nvCxnSpPr>
        <p:spPr>
          <a:xfrm>
            <a:off x="0" y="9048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4076164-8DA0-4F19-A86F-4421F648F899}"/>
              </a:ext>
            </a:extLst>
          </p:cNvPr>
          <p:cNvSpPr/>
          <p:nvPr/>
        </p:nvSpPr>
        <p:spPr>
          <a:xfrm>
            <a:off x="552450" y="1721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Topic: Network basics</a:t>
            </a:r>
          </a:p>
          <a:p>
            <a:r>
              <a:rPr lang="en-AU" dirty="0"/>
              <a:t>EQ: What are networks?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3C477-3FCB-4FBF-998E-4DD48BDECB8F}"/>
              </a:ext>
            </a:extLst>
          </p:cNvPr>
          <p:cNvSpPr txBox="1"/>
          <p:nvPr/>
        </p:nvSpPr>
        <p:spPr>
          <a:xfrm>
            <a:off x="693989" y="1409075"/>
            <a:ext cx="25780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Vertices (sing: vertex) or nodes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Edges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Faces or Regions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2EBC7-E87A-4929-9AF1-5B8044461FAE}"/>
              </a:ext>
            </a:extLst>
          </p:cNvPr>
          <p:cNvSpPr txBox="1"/>
          <p:nvPr/>
        </p:nvSpPr>
        <p:spPr>
          <a:xfrm>
            <a:off x="4160540" y="1428810"/>
            <a:ext cx="58915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Junctions and end points			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Connections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Separated areas: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71E1E6-99B5-4439-97CD-6BCB58286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94" y="1266843"/>
            <a:ext cx="3619732" cy="1069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FA74E-8CAF-41B2-864B-4AFB2A506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951" y="2941044"/>
            <a:ext cx="4208822" cy="1192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AA791-0E8E-4249-8523-574A6EEA8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970" y="4896810"/>
            <a:ext cx="3991841" cy="151916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70A403-A5B2-4B06-9FF5-737ACF56C8B0}"/>
              </a:ext>
            </a:extLst>
          </p:cNvPr>
          <p:cNvCxnSpPr/>
          <p:nvPr/>
        </p:nvCxnSpPr>
        <p:spPr>
          <a:xfrm>
            <a:off x="3329149" y="904875"/>
            <a:ext cx="0" cy="6200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66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0DD7-E192-4887-AC87-395A3037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Exercise 5A</a:t>
            </a:r>
          </a:p>
        </p:txBody>
      </p:sp>
    </p:spTree>
    <p:extLst>
      <p:ext uri="{BB962C8B-B14F-4D97-AF65-F5344CB8AC3E}">
        <p14:creationId xmlns:p14="http://schemas.microsoft.com/office/powerpoint/2010/main" val="87422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Network Vocabulary</a:t>
            </a:r>
          </a:p>
          <a:p>
            <a:pPr marL="0" indent="0">
              <a:buNone/>
            </a:pPr>
            <a:r>
              <a:rPr lang="en-AU" dirty="0"/>
              <a:t>EQ: What are key words you need to know about networks?</a:t>
            </a: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426001DD-7A4D-4ACC-960B-29298A0F9422}"/>
              </a:ext>
            </a:extLst>
          </p:cNvPr>
          <p:cNvSpPr/>
          <p:nvPr/>
        </p:nvSpPr>
        <p:spPr>
          <a:xfrm>
            <a:off x="8667751" y="619125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69250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key words you need to know about networks?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1993" y="1904921"/>
            <a:ext cx="30598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Theory</a:t>
            </a:r>
          </a:p>
          <a:p>
            <a:endParaRPr lang="en-AU" dirty="0"/>
          </a:p>
          <a:p>
            <a:r>
              <a:rPr lang="en-AU" dirty="0"/>
              <a:t>What is a graph?</a:t>
            </a:r>
          </a:p>
          <a:p>
            <a:endParaRPr lang="en-AU" dirty="0"/>
          </a:p>
          <a:p>
            <a:r>
              <a:rPr lang="en-AU" dirty="0"/>
              <a:t>What is a loop?</a:t>
            </a:r>
          </a:p>
          <a:p>
            <a:endParaRPr lang="en-AU" dirty="0"/>
          </a:p>
          <a:p>
            <a:r>
              <a:rPr lang="en-AU" dirty="0"/>
              <a:t>What are multiple edges?</a:t>
            </a:r>
          </a:p>
          <a:p>
            <a:endParaRPr lang="en-AU" dirty="0"/>
          </a:p>
          <a:p>
            <a:r>
              <a:rPr lang="en-AU" dirty="0"/>
              <a:t>What is a weighted graph/network?</a:t>
            </a:r>
          </a:p>
          <a:p>
            <a:endParaRPr lang="en-AU" dirty="0"/>
          </a:p>
          <a:p>
            <a:r>
              <a:rPr lang="en-AU" dirty="0"/>
              <a:t>What are directed edges/arcs?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a simple graph / simple network?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3833" y="1904922"/>
            <a:ext cx="596351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study of networks</a:t>
            </a:r>
          </a:p>
          <a:p>
            <a:endParaRPr lang="en-AU" dirty="0"/>
          </a:p>
          <a:p>
            <a:r>
              <a:rPr lang="en-AU" dirty="0"/>
              <a:t>A diagram with vertices and edges.</a:t>
            </a:r>
          </a:p>
          <a:p>
            <a:endParaRPr lang="en-AU" dirty="0"/>
          </a:p>
          <a:p>
            <a:r>
              <a:rPr lang="en-AU" dirty="0"/>
              <a:t>An edge that starts and finishes at the same vertex.</a:t>
            </a:r>
          </a:p>
          <a:p>
            <a:endParaRPr lang="en-AU" dirty="0"/>
          </a:p>
          <a:p>
            <a:r>
              <a:rPr lang="en-AU" dirty="0"/>
              <a:t>Two or more edges that connect the same two vertices.</a:t>
            </a:r>
          </a:p>
          <a:p>
            <a:endParaRPr lang="en-AU" dirty="0"/>
          </a:p>
          <a:p>
            <a:r>
              <a:rPr lang="en-AU" dirty="0"/>
              <a:t>Edges that are ‘worth’ different amounts (distance, cost, time </a:t>
            </a:r>
            <a:r>
              <a:rPr lang="en-AU" dirty="0" err="1"/>
              <a:t>etc</a:t>
            </a:r>
            <a:r>
              <a:rPr lang="en-AU" dirty="0"/>
              <a:t>).</a:t>
            </a:r>
          </a:p>
          <a:p>
            <a:endParaRPr lang="en-AU" dirty="0"/>
          </a:p>
          <a:p>
            <a:r>
              <a:rPr lang="en-AU" dirty="0"/>
              <a:t>Edges with directions given </a:t>
            </a:r>
          </a:p>
          <a:p>
            <a:r>
              <a:rPr lang="en-AU" dirty="0"/>
              <a:t>Graphs without directed edges are call undirected graphs, graphs with directed edges are call directed graphs.</a:t>
            </a:r>
          </a:p>
          <a:p>
            <a:endParaRPr lang="en-AU" dirty="0"/>
          </a:p>
          <a:p>
            <a:r>
              <a:rPr lang="en-AU" dirty="0"/>
              <a:t>An undirected, unweighted graph with no loops or multiple edges.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752184" y="5139854"/>
            <a:ext cx="7200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328249" y="5134203"/>
            <a:ext cx="63492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18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key words you need to know about networks?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1993" y="1904921"/>
            <a:ext cx="30598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walk?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Closed walk</a:t>
            </a:r>
          </a:p>
          <a:p>
            <a:endParaRPr lang="en-AU" dirty="0"/>
          </a:p>
          <a:p>
            <a:r>
              <a:rPr lang="en-AU" dirty="0"/>
              <a:t>Open walk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Length</a:t>
            </a:r>
          </a:p>
          <a:p>
            <a:endParaRPr lang="en-AU" dirty="0"/>
          </a:p>
          <a:p>
            <a:r>
              <a:rPr lang="en-AU" dirty="0"/>
              <a:t>Connected vertices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Adjacent vertices.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4583833" y="1904922"/>
            <a:ext cx="59635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Any path on a network from one vertex to another</a:t>
            </a:r>
          </a:p>
          <a:p>
            <a:r>
              <a:rPr lang="en-AU" dirty="0"/>
              <a:t>e.g.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walk that starts and finishes at the same vertex e.g. ABCA</a:t>
            </a:r>
          </a:p>
          <a:p>
            <a:endParaRPr lang="en-AU" dirty="0"/>
          </a:p>
          <a:p>
            <a:r>
              <a:rPr lang="en-AU" dirty="0"/>
              <a:t>A walk that ends at a different vertex e.g. ABCD</a:t>
            </a:r>
          </a:p>
          <a:p>
            <a:r>
              <a:rPr lang="en-AU" dirty="0"/>
              <a:t>*a walk can repeat edges e.g. ACBCD</a:t>
            </a:r>
          </a:p>
          <a:p>
            <a:endParaRPr lang="en-AU" dirty="0"/>
          </a:p>
          <a:p>
            <a:r>
              <a:rPr lang="en-AU" dirty="0"/>
              <a:t>The number of edges used in the walk.</a:t>
            </a:r>
          </a:p>
          <a:p>
            <a:endParaRPr lang="en-AU" dirty="0"/>
          </a:p>
          <a:p>
            <a:r>
              <a:rPr lang="en-AU" dirty="0"/>
              <a:t>If it is possible to get from one vertex to another along several edges.</a:t>
            </a:r>
          </a:p>
          <a:p>
            <a:endParaRPr lang="en-AU" dirty="0"/>
          </a:p>
          <a:p>
            <a:r>
              <a:rPr lang="en-AU" dirty="0"/>
              <a:t>If the vertices are connected by only one edge.</a:t>
            </a:r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04" y="2296653"/>
            <a:ext cx="1925214" cy="13625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7584" y="2464162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ACD and ABCD are ‘walks’ from A to D</a:t>
            </a:r>
          </a:p>
        </p:txBody>
      </p:sp>
    </p:spTree>
    <p:extLst>
      <p:ext uri="{BB962C8B-B14F-4D97-AF65-F5344CB8AC3E}">
        <p14:creationId xmlns:p14="http://schemas.microsoft.com/office/powerpoint/2010/main" val="420497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key words you need to know about networks?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1993" y="1904921"/>
            <a:ext cx="30598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walk?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Trail</a:t>
            </a:r>
          </a:p>
          <a:p>
            <a:endParaRPr lang="en-US" dirty="0"/>
          </a:p>
          <a:p>
            <a:r>
              <a:rPr lang="en-US" dirty="0"/>
              <a:t>Path</a:t>
            </a:r>
            <a:endParaRPr lang="en-AU" dirty="0"/>
          </a:p>
          <a:p>
            <a:endParaRPr lang="en-AU" dirty="0"/>
          </a:p>
          <a:p>
            <a:endParaRPr lang="en-US" dirty="0"/>
          </a:p>
          <a:p>
            <a:r>
              <a:rPr lang="en-US" dirty="0"/>
              <a:t>Cycle</a:t>
            </a:r>
            <a:endParaRPr lang="en-AU" dirty="0"/>
          </a:p>
          <a:p>
            <a:endParaRPr lang="en-AU" dirty="0"/>
          </a:p>
          <a:p>
            <a:r>
              <a:rPr lang="en-AU" dirty="0"/>
              <a:t>Connected graph</a:t>
            </a:r>
          </a:p>
          <a:p>
            <a:endParaRPr lang="en-US" dirty="0"/>
          </a:p>
          <a:p>
            <a:r>
              <a:rPr lang="en-US" dirty="0"/>
              <a:t>Bridge</a:t>
            </a:r>
            <a:endParaRPr lang="en-AU" dirty="0"/>
          </a:p>
          <a:p>
            <a:endParaRPr lang="en-AU" dirty="0"/>
          </a:p>
          <a:p>
            <a:r>
              <a:rPr lang="en-US" dirty="0"/>
              <a:t>Complete Graphs (</a:t>
            </a:r>
            <a:r>
              <a:rPr lang="en-US" dirty="0" err="1"/>
              <a:t>Kn</a:t>
            </a:r>
            <a:r>
              <a:rPr lang="en-US" dirty="0"/>
              <a:t>)</a:t>
            </a:r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4583833" y="1904922"/>
            <a:ext cx="59635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Any path on a network from one vertex to another</a:t>
            </a:r>
          </a:p>
          <a:p>
            <a:r>
              <a:rPr lang="en-AU" dirty="0"/>
              <a:t>e.g.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US" dirty="0"/>
              <a:t>A walk that involves no repeated edges </a:t>
            </a:r>
            <a:r>
              <a:rPr lang="en-US" dirty="0" err="1"/>
              <a:t>eg</a:t>
            </a:r>
            <a:r>
              <a:rPr lang="en-US" dirty="0"/>
              <a:t> CABCD</a:t>
            </a:r>
          </a:p>
          <a:p>
            <a:endParaRPr lang="en-US" dirty="0"/>
          </a:p>
          <a:p>
            <a:r>
              <a:rPr lang="en-US" dirty="0"/>
              <a:t>A walk that involves no repeated edges or vertices (other than perhaps the start/finish) </a:t>
            </a:r>
            <a:r>
              <a:rPr lang="en-US" dirty="0" err="1"/>
              <a:t>Eg</a:t>
            </a:r>
            <a:r>
              <a:rPr lang="en-US" dirty="0"/>
              <a:t> ABCD</a:t>
            </a:r>
          </a:p>
          <a:p>
            <a:endParaRPr lang="en-US" dirty="0"/>
          </a:p>
          <a:p>
            <a:r>
              <a:rPr lang="en-US" dirty="0"/>
              <a:t>Closed Path </a:t>
            </a:r>
            <a:r>
              <a:rPr lang="en-US" dirty="0" err="1"/>
              <a:t>Eg</a:t>
            </a:r>
            <a:r>
              <a:rPr lang="en-US" dirty="0"/>
              <a:t> ABCA</a:t>
            </a:r>
          </a:p>
          <a:p>
            <a:endParaRPr lang="en-US" dirty="0"/>
          </a:p>
          <a:p>
            <a:r>
              <a:rPr lang="en-US" dirty="0"/>
              <a:t>All vertices are connected vertices</a:t>
            </a:r>
          </a:p>
          <a:p>
            <a:endParaRPr lang="en-US" dirty="0"/>
          </a:p>
          <a:p>
            <a:r>
              <a:rPr lang="en-US" dirty="0"/>
              <a:t>An edge that when removed leaves the graph disconnected</a:t>
            </a:r>
          </a:p>
          <a:p>
            <a:endParaRPr lang="en-US" dirty="0"/>
          </a:p>
          <a:p>
            <a:r>
              <a:rPr lang="en-US" dirty="0"/>
              <a:t>Simple graphs where all vertices are joined by exactly 1 edge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04" y="2296653"/>
            <a:ext cx="1925214" cy="13625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7584" y="2464162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ACD and ABCD are ‘walks’ from A to D</a:t>
            </a:r>
          </a:p>
        </p:txBody>
      </p:sp>
    </p:spTree>
    <p:extLst>
      <p:ext uri="{BB962C8B-B14F-4D97-AF65-F5344CB8AC3E}">
        <p14:creationId xmlns:p14="http://schemas.microsoft.com/office/powerpoint/2010/main" val="361195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A8240-6187-476B-A52C-66B71F6B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Exercise 5B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54DB-6B19-4FFA-A1CF-B61919FD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8593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Types of graphs</a:t>
            </a:r>
          </a:p>
          <a:p>
            <a:pPr marL="0" indent="0">
              <a:buNone/>
            </a:pPr>
            <a:r>
              <a:rPr lang="en-AU" dirty="0"/>
              <a:t>EQ: What are the different types of networks?</a:t>
            </a: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80D8DB8E-6EA7-4C32-A777-63C3EA212FC8}"/>
              </a:ext>
            </a:extLst>
          </p:cNvPr>
          <p:cNvSpPr/>
          <p:nvPr/>
        </p:nvSpPr>
        <p:spPr>
          <a:xfrm>
            <a:off x="8667751" y="619125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287583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What are the different types of networks?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17471" y="2076846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Planar Graphs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4501260" y="2076847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graph that </a:t>
            </a:r>
            <a:r>
              <a:rPr lang="en-US" i="1" dirty="0"/>
              <a:t>can be </a:t>
            </a:r>
            <a:r>
              <a:rPr lang="en-US" dirty="0"/>
              <a:t>drawn in the same plane (without its edges crossing over).</a:t>
            </a:r>
            <a:endParaRPr lang="en-AU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467" y="2852936"/>
            <a:ext cx="2063962" cy="19103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308" y="2852937"/>
            <a:ext cx="1871758" cy="17232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510" y="2636913"/>
            <a:ext cx="1999143" cy="17439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15766" y="4763471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Planar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6979729" y="4672078"/>
            <a:ext cx="95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Planar!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8827049" y="4533579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be drawn like this!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692903" y="5895534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Euler’s Rule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4530378" y="5941702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Euler’s Rule ( f + v = e + 2) can be used to prove if a shape </a:t>
            </a:r>
            <a:r>
              <a:rPr lang="en-US" b="1" dirty="0"/>
              <a:t>has been drawn </a:t>
            </a:r>
            <a:r>
              <a:rPr lang="en-US" dirty="0"/>
              <a:t>planar. </a:t>
            </a:r>
            <a:endParaRPr lang="en-AU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4787108" y="5337933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 + 5 ≠ 20 + 2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6720309" y="522874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+ 4 ≠ 8 + 2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8827049" y="528295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+ 4 = 6 + 2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678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What are the different types of networks?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17471" y="2076846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Subgraphs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4511824" y="207684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 of an original graph</a:t>
            </a:r>
            <a:endParaRPr lang="en-AU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628" y="2114518"/>
            <a:ext cx="1881175" cy="14224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896" y="2124446"/>
            <a:ext cx="1476671" cy="142960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43514" y="4014974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Bipartite Graphs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7339253" y="3576999"/>
            <a:ext cx="1813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9357204" y="3645642"/>
            <a:ext cx="119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Subgraph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4522614" y="4005349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graph where vertices are split into 2 groups and </a:t>
            </a:r>
            <a:r>
              <a:rPr lang="en-US" b="1" dirty="0"/>
              <a:t>no edges </a:t>
            </a:r>
            <a:r>
              <a:rPr lang="en-US" dirty="0"/>
              <a:t>join vertices of the same group.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1752660" y="4738197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Trees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4522614" y="4679952"/>
            <a:ext cx="602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connected simple graph (no loops, no multiple edges) that contains no cycles (closed paths). </a:t>
            </a:r>
            <a:r>
              <a:rPr lang="en-US" i="1" dirty="0"/>
              <a:t>Every edge must be a bridge</a:t>
            </a:r>
            <a:r>
              <a:rPr lang="en-US" dirty="0"/>
              <a:t>.</a:t>
            </a:r>
            <a:endParaRPr lang="en-AU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849" y="5326282"/>
            <a:ext cx="1242551" cy="116238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13487" y="6449705"/>
            <a:ext cx="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</a:t>
            </a:r>
            <a:endParaRPr lang="en-AU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485" y="5381724"/>
            <a:ext cx="1609557" cy="1106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75634" y="6488668"/>
            <a:ext cx="280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 Tree (contains a cycle)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 rot="20675485">
            <a:off x="8182527" y="5490368"/>
            <a:ext cx="244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 tree with n vertices has n-1 edges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71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28" grpId="0"/>
      <p:bldP spid="33" grpId="0"/>
      <p:bldP spid="35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12D8A-E64E-4C0C-A58A-6F2776D9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16" y="288062"/>
            <a:ext cx="10550860" cy="3454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C063A0-CD19-4575-AAEA-603F0C1A0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74" y="3362325"/>
            <a:ext cx="861060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1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24E152-5316-477D-8536-8F61474F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1" y="228325"/>
            <a:ext cx="7198201" cy="4332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D3B685-754F-4B03-8CCA-F58335A21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3529" y="2697621"/>
            <a:ext cx="2269050" cy="559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6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606065-FE4B-48FE-996A-06AA5381ED7B}"/>
              </a:ext>
            </a:extLst>
          </p:cNvPr>
          <p:cNvSpPr txBox="1"/>
          <p:nvPr/>
        </p:nvSpPr>
        <p:spPr>
          <a:xfrm>
            <a:off x="3400938" y="2782669"/>
            <a:ext cx="559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/>
              <a:t>Complete exercise 5C please</a:t>
            </a:r>
          </a:p>
        </p:txBody>
      </p:sp>
    </p:spTree>
    <p:extLst>
      <p:ext uri="{BB962C8B-B14F-4D97-AF65-F5344CB8AC3E}">
        <p14:creationId xmlns:p14="http://schemas.microsoft.com/office/powerpoint/2010/main" val="2842919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Adjacency Matrices</a:t>
            </a:r>
          </a:p>
          <a:p>
            <a:pPr marL="0" indent="0">
              <a:buNone/>
            </a:pPr>
            <a:r>
              <a:rPr lang="en-AU" dirty="0"/>
              <a:t>EQ: How do use adjacency matrices?</a:t>
            </a: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0C1474E3-B3BD-4F37-9EA1-56C36FAF3019}"/>
              </a:ext>
            </a:extLst>
          </p:cNvPr>
          <p:cNvSpPr/>
          <p:nvPr/>
        </p:nvSpPr>
        <p:spPr>
          <a:xfrm>
            <a:off x="8667751" y="619125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09502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5865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019388" y="1586501"/>
            <a:ext cx="0" cy="548800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3009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Adjacency matrices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use adjacency matrices?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2571D-76A9-4A9C-91AC-EAD387FE869D}"/>
              </a:ext>
            </a:extLst>
          </p:cNvPr>
          <p:cNvSpPr txBox="1"/>
          <p:nvPr/>
        </p:nvSpPr>
        <p:spPr>
          <a:xfrm>
            <a:off x="153480" y="1758880"/>
            <a:ext cx="2927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an adjacency matrix?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950D6A-E9A1-4867-ABE9-C4116A4434F3}"/>
              </a:ext>
            </a:extLst>
          </p:cNvPr>
          <p:cNvSpPr txBox="1"/>
          <p:nvPr/>
        </p:nvSpPr>
        <p:spPr>
          <a:xfrm>
            <a:off x="3488924" y="1811725"/>
            <a:ext cx="686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 adjacency matrix maps the edges that connect vertices in a network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3CB601-C443-4CC5-B2C5-A34D85306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467" y="2192274"/>
            <a:ext cx="2812200" cy="230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41B5D8-2E14-44E2-BFE1-63CD1DB2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745" y="2268058"/>
            <a:ext cx="2103275" cy="19968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DDC94A-212C-46B9-A099-F24D1DC9FA9E}"/>
              </a:ext>
            </a:extLst>
          </p:cNvPr>
          <p:cNvSpPr txBox="1"/>
          <p:nvPr/>
        </p:nvSpPr>
        <p:spPr>
          <a:xfrm>
            <a:off x="355108" y="4820574"/>
            <a:ext cx="2459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does it change for directed matrices?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CC5375-DB78-4488-B996-15E53CE35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918" y="4920867"/>
            <a:ext cx="2915400" cy="17524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14B17F-70B0-4174-AAA5-44F277FA2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719" y="5082579"/>
            <a:ext cx="2244600" cy="15002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8F487C-B70E-4FA8-8103-08471B5DB7AB}"/>
              </a:ext>
            </a:extLst>
          </p:cNvPr>
          <p:cNvSpPr txBox="1"/>
          <p:nvPr/>
        </p:nvSpPr>
        <p:spPr>
          <a:xfrm>
            <a:off x="8161300" y="5677134"/>
            <a:ext cx="673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From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F15FC0-BDE1-4262-9747-200ECBEFBC8A}"/>
              </a:ext>
            </a:extLst>
          </p:cNvPr>
          <p:cNvSpPr txBox="1"/>
          <p:nvPr/>
        </p:nvSpPr>
        <p:spPr>
          <a:xfrm>
            <a:off x="9851019" y="4736201"/>
            <a:ext cx="39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057264-B11E-4DF4-8348-F948FC000B4C}"/>
              </a:ext>
            </a:extLst>
          </p:cNvPr>
          <p:cNvSpPr txBox="1"/>
          <p:nvPr/>
        </p:nvSpPr>
        <p:spPr>
          <a:xfrm>
            <a:off x="9969516" y="2797223"/>
            <a:ext cx="2007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Not directed are symmetric across the diagonal</a:t>
            </a:r>
          </a:p>
        </p:txBody>
      </p:sp>
    </p:spTree>
    <p:extLst>
      <p:ext uri="{BB962C8B-B14F-4D97-AF65-F5344CB8AC3E}">
        <p14:creationId xmlns:p14="http://schemas.microsoft.com/office/powerpoint/2010/main" val="143127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5865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86728" y="1586501"/>
            <a:ext cx="0" cy="548800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3009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Adjacency matrices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use adjacency matrices?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2571D-76A9-4A9C-91AC-EAD387FE869D}"/>
              </a:ext>
            </a:extLst>
          </p:cNvPr>
          <p:cNvSpPr txBox="1"/>
          <p:nvPr/>
        </p:nvSpPr>
        <p:spPr>
          <a:xfrm>
            <a:off x="153480" y="1758879"/>
            <a:ext cx="2802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we apply adjacency matrices?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2BCE0-F0C2-43F8-8251-95DC6FB25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7" y="1615867"/>
            <a:ext cx="3070200" cy="1733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7C75C0-D87E-41D5-85C1-580D1A69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612" y="1607810"/>
            <a:ext cx="2064000" cy="1797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26B14E-5472-47BB-A095-7503A3EEF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727" y="3499535"/>
            <a:ext cx="2167200" cy="16619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A9E327-A3C8-49F0-A627-085B4D26E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210" y="3405544"/>
            <a:ext cx="2244600" cy="174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89FDF6-E24E-43EF-984F-704033C93407}"/>
                  </a:ext>
                </a:extLst>
              </p:cNvPr>
              <p:cNvSpPr txBox="1"/>
              <p:nvPr/>
            </p:nvSpPr>
            <p:spPr>
              <a:xfrm>
                <a:off x="2839457" y="5203502"/>
                <a:ext cx="380646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tells you how many ways you can travel between 2 vertices travelling on exactly 2 edges.</a:t>
                </a:r>
                <a:br>
                  <a:rPr lang="en-AU" dirty="0"/>
                </a:br>
                <a:r>
                  <a:rPr lang="en-AU" dirty="0" err="1"/>
                  <a:t>Eg.</a:t>
                </a:r>
                <a:r>
                  <a:rPr lang="en-AU" dirty="0"/>
                  <a:t> ABA and ADA are ways to get to A from A with 2 edges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89FDF6-E24E-43EF-984F-704033C93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457" y="5203502"/>
                <a:ext cx="3806464" cy="1477328"/>
              </a:xfrm>
              <a:prstGeom prst="rect">
                <a:avLst/>
              </a:prstGeom>
              <a:blipFill>
                <a:blip r:embed="rId6"/>
                <a:stretch>
                  <a:fillRect l="-1442" t="-2479" r="-641" b="-57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B5AE77-31DB-4653-86FC-350489C419E9}"/>
                  </a:ext>
                </a:extLst>
              </p:cNvPr>
              <p:cNvSpPr/>
              <p:nvPr/>
            </p:nvSpPr>
            <p:spPr>
              <a:xfrm>
                <a:off x="7694232" y="5115356"/>
                <a:ext cx="4022079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tells you how many ways you can travel between 2 vertices travelling on exactly 3 edges.</a:t>
                </a:r>
                <a:br>
                  <a:rPr lang="en-AU" dirty="0"/>
                </a:br>
                <a:r>
                  <a:rPr lang="en-AU" dirty="0" err="1"/>
                  <a:t>Eg.</a:t>
                </a:r>
                <a:r>
                  <a:rPr lang="en-AU" dirty="0"/>
                  <a:t> ABDA and ADBA are ways to get from A to A with a walk of length 3.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B5AE77-31DB-4653-86FC-350489C41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232" y="5115356"/>
                <a:ext cx="4022079" cy="1477328"/>
              </a:xfrm>
              <a:prstGeom prst="rect">
                <a:avLst/>
              </a:prstGeom>
              <a:blipFill>
                <a:blip r:embed="rId7"/>
                <a:stretch>
                  <a:fillRect l="-1212" t="-2066" r="-1515" b="-57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21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920A-CAC6-4039-B336-B27ED3F70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38" y="311150"/>
            <a:ext cx="10515600" cy="60325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Practice Question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1AF5E-9D43-4B4B-B3E7-F8730369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47" y="818663"/>
            <a:ext cx="10654106" cy="46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79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5EB576-C1C0-4A10-A7CE-396F0B2C8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931" y="2266950"/>
            <a:ext cx="9646278" cy="4086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D45F2-02C3-4678-975F-489D2B1961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50" t="22003" r="18172" b="41138"/>
          <a:stretch/>
        </p:blipFill>
        <p:spPr>
          <a:xfrm>
            <a:off x="1981199" y="714375"/>
            <a:ext cx="78390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12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5730-7006-4A6A-A16D-8685869B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worksheet KLUP</a:t>
            </a:r>
          </a:p>
        </p:txBody>
      </p:sp>
    </p:spTree>
    <p:extLst>
      <p:ext uri="{BB962C8B-B14F-4D97-AF65-F5344CB8AC3E}">
        <p14:creationId xmlns:p14="http://schemas.microsoft.com/office/powerpoint/2010/main" val="1177769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Eulerian</a:t>
            </a:r>
          </a:p>
          <a:p>
            <a:pPr marL="0" indent="0">
              <a:buNone/>
            </a:pPr>
            <a:r>
              <a:rPr lang="en-AU" dirty="0"/>
              <a:t>EQ: How do you know if a network is Eulerian or not?</a:t>
            </a: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0C1474E3-B3BD-4F37-9EA1-56C36FAF3019}"/>
              </a:ext>
            </a:extLst>
          </p:cNvPr>
          <p:cNvSpPr/>
          <p:nvPr/>
        </p:nvSpPr>
        <p:spPr>
          <a:xfrm>
            <a:off x="8667751" y="619125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612778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an you solve the Ragnarok riddle_ - Dan Finkel">
            <a:hlinkClick r:id="" action="ppaction://media"/>
            <a:extLst>
              <a:ext uri="{FF2B5EF4-FFF2-40B4-BE49-F238E27FC236}">
                <a16:creationId xmlns:a16="http://schemas.microsoft.com/office/drawing/2014/main" id="{FCC96634-90C1-43BF-A36B-035804C1F32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7873" y="361950"/>
            <a:ext cx="11176253" cy="6286500"/>
          </a:xfrm>
        </p:spPr>
      </p:pic>
    </p:spTree>
    <p:extLst>
      <p:ext uri="{BB962C8B-B14F-4D97-AF65-F5344CB8AC3E}">
        <p14:creationId xmlns:p14="http://schemas.microsoft.com/office/powerpoint/2010/main" val="324974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453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know if a network is Eulerian or not?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8482" y="1920457"/>
            <a:ext cx="30233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Euler’s rule?</a:t>
            </a:r>
          </a:p>
          <a:p>
            <a:r>
              <a:rPr lang="en-AU" dirty="0"/>
              <a:t>*pronounced oiler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does Traversable mean?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Traversable or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3833" y="1961935"/>
            <a:ext cx="59635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F  +  V  =  E  +  2</a:t>
            </a:r>
          </a:p>
          <a:p>
            <a:r>
              <a:rPr lang="en-AU" sz="1200" dirty="0"/>
              <a:t>*for any polyhedron that does not intersect itself</a:t>
            </a:r>
          </a:p>
          <a:p>
            <a:r>
              <a:rPr lang="en-AU" dirty="0"/>
              <a:t>F – Faces</a:t>
            </a:r>
          </a:p>
          <a:p>
            <a:r>
              <a:rPr lang="en-AU" dirty="0"/>
              <a:t>V – Vertices (corners)</a:t>
            </a:r>
          </a:p>
          <a:p>
            <a:r>
              <a:rPr lang="en-AU" dirty="0"/>
              <a:t>E – Edges</a:t>
            </a:r>
          </a:p>
          <a:p>
            <a:endParaRPr lang="en-AU" dirty="0"/>
          </a:p>
          <a:p>
            <a:r>
              <a:rPr lang="en-AU" dirty="0"/>
              <a:t>Any network that can be drawn without taking the pen off the paper or going over the same edge twice.</a:t>
            </a:r>
          </a:p>
          <a:p>
            <a:endParaRPr lang="en-AU" dirty="0"/>
          </a:p>
          <a:p>
            <a:r>
              <a:rPr lang="en-AU" dirty="0"/>
              <a:t>Count the number of nodes (vertices) with an ODD number of edges joining to it. </a:t>
            </a:r>
          </a:p>
          <a:p>
            <a:endParaRPr lang="en-AU" b="1" u="sng" dirty="0">
              <a:solidFill>
                <a:srgbClr val="FF0000"/>
              </a:solidFill>
            </a:endParaRPr>
          </a:p>
          <a:p>
            <a:r>
              <a:rPr lang="en-AU" b="1" u="sng" dirty="0">
                <a:solidFill>
                  <a:srgbClr val="FF0000"/>
                </a:solidFill>
              </a:rPr>
              <a:t>NO</a:t>
            </a:r>
            <a:r>
              <a:rPr lang="en-AU" dirty="0"/>
              <a:t> odd nodes or </a:t>
            </a:r>
            <a:r>
              <a:rPr lang="en-AU" b="1" u="sng" dirty="0">
                <a:solidFill>
                  <a:srgbClr val="FF0000"/>
                </a:solidFill>
              </a:rPr>
              <a:t>TWO</a:t>
            </a:r>
            <a:r>
              <a:rPr lang="en-AU" dirty="0"/>
              <a:t> odd nodes = traversable</a:t>
            </a:r>
          </a:p>
          <a:p>
            <a:endParaRPr lang="en-AU" dirty="0"/>
          </a:p>
          <a:p>
            <a:r>
              <a:rPr lang="en-AU" dirty="0"/>
              <a:t>No odd nodes = traversable path</a:t>
            </a:r>
          </a:p>
          <a:p>
            <a:r>
              <a:rPr lang="en-AU" dirty="0"/>
              <a:t>Two odd nodes = traversable circuit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224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B710D-E5A4-4234-A7B3-AC89AF971356}"/>
              </a:ext>
            </a:extLst>
          </p:cNvPr>
          <p:cNvSpPr txBox="1"/>
          <p:nvPr/>
        </p:nvSpPr>
        <p:spPr>
          <a:xfrm>
            <a:off x="1125337" y="402639"/>
            <a:ext cx="531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Are the following traversable?</a:t>
            </a:r>
          </a:p>
        </p:txBody>
      </p:sp>
      <p:pic>
        <p:nvPicPr>
          <p:cNvPr id="1026" name="Picture 2" descr="The Chinese Postman Problem | IB Maths Resources from Intermathematics">
            <a:extLst>
              <a:ext uri="{FF2B5EF4-FFF2-40B4-BE49-F238E27FC236}">
                <a16:creationId xmlns:a16="http://schemas.microsoft.com/office/drawing/2014/main" id="{03307C3D-201F-4DC6-A5FC-4B398EB9C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49" y="1357785"/>
            <a:ext cx="8810625" cy="509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41B28B-4816-4174-9BF6-2F31CE7EDC13}"/>
              </a:ext>
            </a:extLst>
          </p:cNvPr>
          <p:cNvSpPr txBox="1"/>
          <p:nvPr/>
        </p:nvSpPr>
        <p:spPr>
          <a:xfrm>
            <a:off x="3187084" y="985675"/>
            <a:ext cx="827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FF0000"/>
                </a:solidFill>
              </a:rPr>
              <a:t>No 			Yes			Yes</a:t>
            </a:r>
          </a:p>
        </p:txBody>
      </p:sp>
    </p:spTree>
    <p:extLst>
      <p:ext uri="{BB962C8B-B14F-4D97-AF65-F5344CB8AC3E}">
        <p14:creationId xmlns:p14="http://schemas.microsoft.com/office/powerpoint/2010/main" val="48285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617241" y="15329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10426" y="15251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know if a network is Eulerian or not?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6473" y="1607810"/>
            <a:ext cx="30233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Eulerian Trail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Eulerian Circuit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Eulerian Graph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Semi-Eulerian Trail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Semi-Eulerian 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CF03E4-2D5D-4A95-A7AF-E8DDF9411DAD}"/>
              </a:ext>
            </a:extLst>
          </p:cNvPr>
          <p:cNvSpPr txBox="1"/>
          <p:nvPr/>
        </p:nvSpPr>
        <p:spPr>
          <a:xfrm>
            <a:off x="4041405" y="1586555"/>
            <a:ext cx="81505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 Eulerian trail is a trail in a connected network that travels every edge in the graph only once. Vertices can be repeated, but not edges</a:t>
            </a:r>
          </a:p>
          <a:p>
            <a:endParaRPr lang="en-AU" dirty="0"/>
          </a:p>
          <a:p>
            <a:r>
              <a:rPr lang="en-AU" dirty="0"/>
              <a:t>An Eulerian circuit: If an Eulerian trail is closed (trail begins and ends at the same vertex).</a:t>
            </a:r>
          </a:p>
          <a:p>
            <a:endParaRPr lang="en-AU" dirty="0"/>
          </a:p>
          <a:p>
            <a:r>
              <a:rPr lang="en-AU" dirty="0"/>
              <a:t>Eulerian Graph: A graph with a closed Eulerian circuit.</a:t>
            </a:r>
          </a:p>
          <a:p>
            <a:r>
              <a:rPr lang="en-AU" dirty="0"/>
              <a:t>Things to check:</a:t>
            </a:r>
          </a:p>
          <a:p>
            <a:r>
              <a:rPr lang="en-AU" dirty="0"/>
              <a:t> 1. all vertices are even</a:t>
            </a:r>
          </a:p>
          <a:p>
            <a:r>
              <a:rPr lang="en-AU" dirty="0"/>
              <a:t>2. Start and finish at the same vertex for the circuit</a:t>
            </a:r>
          </a:p>
          <a:p>
            <a:r>
              <a:rPr lang="en-AU" dirty="0"/>
              <a:t>3. Every edge must be traversed only once</a:t>
            </a:r>
          </a:p>
          <a:p>
            <a:endParaRPr lang="en-AU" dirty="0"/>
          </a:p>
          <a:p>
            <a:r>
              <a:rPr lang="en-AU" dirty="0"/>
              <a:t>Semi-Eulerian trail; the trail is open (begins and ends at different points). It still goes on every edge exactly once.</a:t>
            </a:r>
          </a:p>
          <a:p>
            <a:endParaRPr lang="en-AU" dirty="0"/>
          </a:p>
          <a:p>
            <a:r>
              <a:rPr lang="en-AU" dirty="0"/>
              <a:t>It is a semi-</a:t>
            </a:r>
            <a:r>
              <a:rPr lang="en-AU" dirty="0" err="1"/>
              <a:t>Eulerain</a:t>
            </a:r>
            <a:r>
              <a:rPr lang="en-AU" dirty="0"/>
              <a:t> path is it has an open trail. </a:t>
            </a:r>
          </a:p>
          <a:p>
            <a:r>
              <a:rPr lang="en-AU" dirty="0"/>
              <a:t>Things to check:</a:t>
            </a:r>
          </a:p>
          <a:p>
            <a:pPr marL="342900" indent="-342900">
              <a:buAutoNum type="arabicPeriod"/>
            </a:pPr>
            <a:r>
              <a:rPr lang="en-AU" dirty="0"/>
              <a:t>Exactly 2 odd vertices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4487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6D29E-6CE5-4A5C-8FB5-BCC2CADDFF56}"/>
              </a:ext>
            </a:extLst>
          </p:cNvPr>
          <p:cNvSpPr txBox="1"/>
          <p:nvPr/>
        </p:nvSpPr>
        <p:spPr>
          <a:xfrm>
            <a:off x="1837678" y="763480"/>
            <a:ext cx="6893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Determine whether the following are Eulerian, Semi-Eulerian or neither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40113-788C-4B54-8B92-8E3F320DB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75" y="1844666"/>
            <a:ext cx="3018600" cy="1584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281D4C-ACBC-4DDB-9FF5-4426AFB9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50" y="1721800"/>
            <a:ext cx="4128000" cy="170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3DCECD-3BB1-40DA-82CF-DA16D8F3E95A}"/>
              </a:ext>
            </a:extLst>
          </p:cNvPr>
          <p:cNvSpPr txBox="1"/>
          <p:nvPr/>
        </p:nvSpPr>
        <p:spPr>
          <a:xfrm>
            <a:off x="1285875" y="4391025"/>
            <a:ext cx="8646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Neither                                                                                                            Semi- Eulerian </a:t>
            </a:r>
          </a:p>
          <a:p>
            <a:endParaRPr lang="en-AU" dirty="0"/>
          </a:p>
          <a:p>
            <a:r>
              <a:rPr lang="en-AU" dirty="0"/>
              <a:t>More than 2  odd vertices                                                                            exactly 2 odd vertices</a:t>
            </a:r>
          </a:p>
        </p:txBody>
      </p:sp>
    </p:spTree>
    <p:extLst>
      <p:ext uri="{BB962C8B-B14F-4D97-AF65-F5344CB8AC3E}">
        <p14:creationId xmlns:p14="http://schemas.microsoft.com/office/powerpoint/2010/main" val="369415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04F12-308A-413E-B3DA-33C48206E631}"/>
              </a:ext>
            </a:extLst>
          </p:cNvPr>
          <p:cNvSpPr txBox="1"/>
          <p:nvPr/>
        </p:nvSpPr>
        <p:spPr>
          <a:xfrm>
            <a:off x="2432482" y="1225118"/>
            <a:ext cx="587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Complete KLUP exercise 8B Eulerian and Semi-Eulerian paths</a:t>
            </a:r>
          </a:p>
        </p:txBody>
      </p:sp>
    </p:spTree>
    <p:extLst>
      <p:ext uri="{BB962C8B-B14F-4D97-AF65-F5344CB8AC3E}">
        <p14:creationId xmlns:p14="http://schemas.microsoft.com/office/powerpoint/2010/main" val="2987305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623686"/>
            <a:ext cx="5120114" cy="1692794"/>
          </a:xfrm>
        </p:spPr>
        <p:txBody>
          <a:bodyPr>
            <a:normAutofit/>
          </a:bodyPr>
          <a:lstStyle/>
          <a:p>
            <a:r>
              <a:rPr lang="en-AU" b="1" dirty="0"/>
              <a:t>Lesson 6 </a:t>
            </a: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800" dirty="0"/>
              <a:t>Topic: Hamiltonian</a:t>
            </a:r>
          </a:p>
          <a:p>
            <a:pPr marL="0" indent="0">
              <a:buNone/>
            </a:pPr>
            <a:r>
              <a:rPr lang="en-AU" sz="1800" dirty="0"/>
              <a:t>EQ: How can we tell if a network is Hamiltonian?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D0E36-3573-4F68-ACEE-588FA5C51A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75" r="-2" b="18224"/>
          <a:stretch/>
        </p:blipFill>
        <p:spPr>
          <a:xfrm>
            <a:off x="5878850" y="13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1" name="Oval 20">
            <a:hlinkClick r:id="rId3" action="ppaction://hlinksldjump"/>
            <a:extLst>
              <a:ext uri="{FF2B5EF4-FFF2-40B4-BE49-F238E27FC236}">
                <a16:creationId xmlns:a16="http://schemas.microsoft.com/office/drawing/2014/main" id="{13A41005-D6E7-43D2-9C2E-E988D5B030BF}"/>
              </a:ext>
            </a:extLst>
          </p:cNvPr>
          <p:cNvSpPr/>
          <p:nvPr/>
        </p:nvSpPr>
        <p:spPr>
          <a:xfrm>
            <a:off x="1986652" y="5886240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50982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52510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4167005" y="1525102"/>
            <a:ext cx="52069" cy="50200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3447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Hamiltonian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can we tell if a network is Hamiltonian?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1631673"/>
            <a:ext cx="30233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Hamiltonian Path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Hamiltonian Cycle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Semi-Hamiltonian graph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Properties of Hamiltonian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3833" y="1607810"/>
            <a:ext cx="57953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Hamiltonian Path is a path in a connected graph that includes every vertex exactly once.</a:t>
            </a:r>
          </a:p>
          <a:p>
            <a:endParaRPr lang="en-AU" dirty="0"/>
          </a:p>
          <a:p>
            <a:r>
              <a:rPr lang="en-AU" dirty="0"/>
              <a:t>A Hamiltonian Cycle is a closed path that goes to each vertex exactly once. </a:t>
            </a:r>
            <a:r>
              <a:rPr lang="en-AU" b="1" dirty="0"/>
              <a:t>This is a Hamiltonian Graph</a:t>
            </a:r>
          </a:p>
          <a:p>
            <a:endParaRPr lang="en-AU" b="1" dirty="0"/>
          </a:p>
          <a:p>
            <a:endParaRPr lang="en-AU" b="1" dirty="0"/>
          </a:p>
          <a:p>
            <a:r>
              <a:rPr lang="en-AU" dirty="0"/>
              <a:t>A semi-Hamiltonian graph is a graph that contains a Hamiltonian path, but not a cycle.</a:t>
            </a:r>
          </a:p>
          <a:p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Connected graph</a:t>
            </a:r>
          </a:p>
          <a:p>
            <a:pPr marL="285750" indent="-285750">
              <a:buFontTx/>
              <a:buChar char="-"/>
            </a:pPr>
            <a:r>
              <a:rPr lang="en-AU" dirty="0"/>
              <a:t>Any Hamiltonian cycle can be converted to a Hamiltonian path by removing one edge</a:t>
            </a:r>
          </a:p>
          <a:p>
            <a:pPr marL="285750" indent="-285750">
              <a:buFontTx/>
              <a:buChar char="-"/>
            </a:pPr>
            <a:r>
              <a:rPr lang="en-AU" dirty="0"/>
              <a:t>A Hamiltonian path can be converted to a cycle only if the end points are connect by an edge</a:t>
            </a:r>
          </a:p>
          <a:p>
            <a:pPr marL="285750" indent="-285750">
              <a:buFontTx/>
              <a:buChar char="-"/>
            </a:pPr>
            <a:r>
              <a:rPr lang="en-AU" dirty="0"/>
              <a:t>All complete graphs are Hamiltonian</a:t>
            </a:r>
          </a:p>
          <a:p>
            <a:pPr marL="285750" indent="-285750">
              <a:buFontTx/>
              <a:buChar char="-"/>
            </a:pPr>
            <a:r>
              <a:rPr lang="en-AU" dirty="0"/>
              <a:t>Complete bipartite graphs which have the same number of vertices in each group are Hamiltonian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96A16F-6ACD-419F-B4BE-D6944228B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264" y="2069475"/>
            <a:ext cx="2097878" cy="123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941F0-927D-4DD1-A3D1-80D35FD65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4" y="799350"/>
            <a:ext cx="2889600" cy="16425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44A406-7B49-4433-87A4-B9C4CDBD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14" y="2844717"/>
            <a:ext cx="2554200" cy="1571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0A7329-22F4-46CC-AE51-0F624E338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14" y="4818950"/>
            <a:ext cx="2812200" cy="1661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0CEEBA-6A4F-4409-AB3B-153939599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88" y="870483"/>
            <a:ext cx="2760600" cy="1500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C40BB-90F0-48A7-AE0F-B85FF703D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44717"/>
            <a:ext cx="2502600" cy="1519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B4F71-0B26-4048-B695-2B5EEA55B6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8488" y="4971894"/>
            <a:ext cx="2554200" cy="1539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2029E-76FF-43D0-97E8-B1FF39511FD2}"/>
              </a:ext>
            </a:extLst>
          </p:cNvPr>
          <p:cNvSpPr txBox="1"/>
          <p:nvPr/>
        </p:nvSpPr>
        <p:spPr>
          <a:xfrm>
            <a:off x="1740023" y="168676"/>
            <a:ext cx="835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Classify the following as Eulerian, semi-Eulerian, Hamiltonian, and/or semi-Hamiltonian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1B204-8C86-4967-B173-9E94C54A9C56}"/>
              </a:ext>
            </a:extLst>
          </p:cNvPr>
          <p:cNvSpPr txBox="1"/>
          <p:nvPr/>
        </p:nvSpPr>
        <p:spPr>
          <a:xfrm>
            <a:off x="3271872" y="1640470"/>
            <a:ext cx="314958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Eulerian and Hamiltonian</a:t>
            </a: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r>
              <a:rPr lang="en-AU" b="1" dirty="0">
                <a:solidFill>
                  <a:srgbClr val="FF0000"/>
                </a:solidFill>
              </a:rPr>
              <a:t>Semi-Eulerian and Hamiltonian</a:t>
            </a: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r>
              <a:rPr lang="en-AU" b="1" dirty="0">
                <a:solidFill>
                  <a:srgbClr val="FF0000"/>
                </a:solidFill>
              </a:rPr>
              <a:t>Hamiltonian</a:t>
            </a:r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45401-B836-47F3-9675-A87008C0EE14}"/>
              </a:ext>
            </a:extLst>
          </p:cNvPr>
          <p:cNvSpPr txBox="1"/>
          <p:nvPr/>
        </p:nvSpPr>
        <p:spPr>
          <a:xfrm>
            <a:off x="8692688" y="1501970"/>
            <a:ext cx="313194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Semi- Eulerian</a:t>
            </a: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r>
              <a:rPr lang="en-AU" b="1" dirty="0">
                <a:solidFill>
                  <a:srgbClr val="FF0000"/>
                </a:solidFill>
              </a:rPr>
              <a:t>None </a:t>
            </a: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rgbClr val="FF0000"/>
              </a:solidFill>
            </a:endParaRPr>
          </a:p>
          <a:p>
            <a:r>
              <a:rPr lang="en-AU" b="1" dirty="0">
                <a:solidFill>
                  <a:srgbClr val="FF0000"/>
                </a:solidFill>
              </a:rPr>
              <a:t>Eulerian and semi-Hamiltonian</a:t>
            </a:r>
          </a:p>
        </p:txBody>
      </p:sp>
    </p:spTree>
    <p:extLst>
      <p:ext uri="{BB962C8B-B14F-4D97-AF65-F5344CB8AC3E}">
        <p14:creationId xmlns:p14="http://schemas.microsoft.com/office/powerpoint/2010/main" val="236076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173739-EB85-4155-9EE2-EF343D12CE06}"/>
              </a:ext>
            </a:extLst>
          </p:cNvPr>
          <p:cNvSpPr txBox="1"/>
          <p:nvPr/>
        </p:nvSpPr>
        <p:spPr>
          <a:xfrm>
            <a:off x="1935332" y="1322773"/>
            <a:ext cx="33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Please complete KLUP exercise 8C</a:t>
            </a:r>
          </a:p>
        </p:txBody>
      </p:sp>
    </p:spTree>
    <p:extLst>
      <p:ext uri="{BB962C8B-B14F-4D97-AF65-F5344CB8AC3E}">
        <p14:creationId xmlns:p14="http://schemas.microsoft.com/office/powerpoint/2010/main" val="563840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024-2860-4F7F-9D46-FB6478EC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7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1748-254C-433B-886F-5F711243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Shortest path</a:t>
            </a:r>
          </a:p>
          <a:p>
            <a:pPr marL="0" indent="0">
              <a:buNone/>
            </a:pPr>
            <a:r>
              <a:rPr lang="en-AU" dirty="0"/>
              <a:t>EQ: How can we work out the shortest path for a network?</a:t>
            </a: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2D973934-FD6B-403A-B09B-47EC440C9F51}"/>
              </a:ext>
            </a:extLst>
          </p:cNvPr>
          <p:cNvSpPr/>
          <p:nvPr/>
        </p:nvSpPr>
        <p:spPr>
          <a:xfrm>
            <a:off x="8667751" y="619125"/>
            <a:ext cx="2457450" cy="81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36404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1B31-F0A9-4B0D-9FB3-3175A3B9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07613" cy="1768475"/>
          </a:xfrm>
        </p:spPr>
        <p:txBody>
          <a:bodyPr/>
          <a:lstStyle/>
          <a:p>
            <a:r>
              <a:rPr lang="en-AU" dirty="0"/>
              <a:t>Starting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99CC5-BF7F-4A1E-BBE1-59A17157B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89" y="3288548"/>
            <a:ext cx="11967411" cy="32043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diagram above shows a network of roads linking the locations of H,A,B,C,D,E,F and W, shown as circles (the circles are the vertices, not loops – the reason we are using circles will become apparent later). The number on the road (edge) is the distance between the two locations, in kms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motorist wished to travel from home, at H, to work, at W, by the shortest route. Which route should the motorist take and how long will it be?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F37A33D8-CF3C-4649-BDF9-CEE93E522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12" y="84221"/>
            <a:ext cx="9032888" cy="32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0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F2C9-A0BD-4ADD-AADA-EABE46A1C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6" y="365125"/>
            <a:ext cx="2646948" cy="1325563"/>
          </a:xfrm>
        </p:spPr>
        <p:txBody>
          <a:bodyPr/>
          <a:lstStyle/>
          <a:p>
            <a:r>
              <a:rPr lang="en-AU" dirty="0"/>
              <a:t>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71B25-5CA2-4626-939F-75E55389B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6" y="3734635"/>
            <a:ext cx="11806989" cy="2874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travelling by the shortest route, the motorist now realizes there may be a quicker route (road conditions, speed limits, etc...). She estimates the time it takes to travel each section of road, in minutes, shown on the diagram above.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Assuming her estimations are correct, which route should she take to complete the journey from H to W as quickly as possible, and how long will it take?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 descr="A close up of a watch&#10;&#10;Description automatically generated">
            <a:extLst>
              <a:ext uri="{FF2B5EF4-FFF2-40B4-BE49-F238E27FC236}">
                <a16:creationId xmlns:a16="http://schemas.microsoft.com/office/drawing/2014/main" id="{F8572AEB-BF4D-4271-992E-4D3FC62F8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909" y="0"/>
            <a:ext cx="9459091" cy="347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23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52510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616" y="404664"/>
            <a:ext cx="2153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Shortest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can we calculate the shortest path for a network?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7471" y="1673508"/>
            <a:ext cx="7894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Shortest path is the path to get from one vertex to another on a weighted network, where there least amount of weight is used.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CE11B-7726-418B-B96B-59BAE2F1BEB8}"/>
              </a:ext>
            </a:extLst>
          </p:cNvPr>
          <p:cNvSpPr txBox="1"/>
          <p:nvPr/>
        </p:nvSpPr>
        <p:spPr>
          <a:xfrm>
            <a:off x="1997415" y="2477963"/>
            <a:ext cx="885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simple networks, it can be easy to spot the shortest path, as below:</a:t>
            </a:r>
          </a:p>
        </p:txBody>
      </p:sp>
      <p:pic>
        <p:nvPicPr>
          <p:cNvPr id="14" name="Picture 13" descr="A picture containing clock&#10;&#10;Description automatically generated">
            <a:extLst>
              <a:ext uri="{FF2B5EF4-FFF2-40B4-BE49-F238E27FC236}">
                <a16:creationId xmlns:a16="http://schemas.microsoft.com/office/drawing/2014/main" id="{9AB6A4ED-A17D-4C3E-8446-76EEE540A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55" y="2906902"/>
            <a:ext cx="2016224" cy="1441652"/>
          </a:xfrm>
          <a:prstGeom prst="rect">
            <a:avLst/>
          </a:prstGeom>
        </p:spPr>
      </p:pic>
      <p:pic>
        <p:nvPicPr>
          <p:cNvPr id="15" name="Picture 14" descr="A close up of a clock&#10;&#10;Description automatically generated">
            <a:extLst>
              <a:ext uri="{FF2B5EF4-FFF2-40B4-BE49-F238E27FC236}">
                <a16:creationId xmlns:a16="http://schemas.microsoft.com/office/drawing/2014/main" id="{79C66B75-5194-4E15-AB18-AF8D43D8B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616" y="2906902"/>
            <a:ext cx="2304256" cy="1348342"/>
          </a:xfrm>
          <a:prstGeom prst="rect">
            <a:avLst/>
          </a:prstGeom>
        </p:spPr>
      </p:pic>
      <p:pic>
        <p:nvPicPr>
          <p:cNvPr id="16" name="Picture 15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6B291347-DC8F-4894-93EF-E035F3A81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055" y="2891034"/>
            <a:ext cx="2410239" cy="14314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6F0869-256D-47CD-8B53-42AF6A74466B}"/>
              </a:ext>
            </a:extLst>
          </p:cNvPr>
          <p:cNvSpPr txBox="1"/>
          <p:nvPr/>
        </p:nvSpPr>
        <p:spPr>
          <a:xfrm>
            <a:off x="2027040" y="4538717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complicated networks, simple inspection may not be so easy, as below:</a:t>
            </a:r>
          </a:p>
        </p:txBody>
      </p:sp>
      <p:pic>
        <p:nvPicPr>
          <p:cNvPr id="18" name="Picture 17" descr="A close up of a watch&#10;&#10;Description automatically generated">
            <a:extLst>
              <a:ext uri="{FF2B5EF4-FFF2-40B4-BE49-F238E27FC236}">
                <a16:creationId xmlns:a16="http://schemas.microsoft.com/office/drawing/2014/main" id="{CE9FDD1C-6D43-405D-BC77-5535E0991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60" y="4990780"/>
            <a:ext cx="4209596" cy="17729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943D030-C36D-45B3-9066-4155D5CFF090}"/>
              </a:ext>
            </a:extLst>
          </p:cNvPr>
          <p:cNvSpPr txBox="1"/>
          <p:nvPr/>
        </p:nvSpPr>
        <p:spPr>
          <a:xfrm>
            <a:off x="8147719" y="5276216"/>
            <a:ext cx="1690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these, we will use an algorithm to help us</a:t>
            </a:r>
          </a:p>
        </p:txBody>
      </p:sp>
    </p:spTree>
    <p:extLst>
      <p:ext uri="{BB962C8B-B14F-4D97-AF65-F5344CB8AC3E}">
        <p14:creationId xmlns:p14="http://schemas.microsoft.com/office/powerpoint/2010/main" val="362692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EF57ED34-7CDC-4D7A-B2E9-529958791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2" y="0"/>
            <a:ext cx="9028888" cy="3240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DCF4A-3F2D-4878-86D0-8AFD34C7D80C}"/>
              </a:ext>
            </a:extLst>
          </p:cNvPr>
          <p:cNvSpPr txBox="1"/>
          <p:nvPr/>
        </p:nvSpPr>
        <p:spPr>
          <a:xfrm>
            <a:off x="737537" y="3921550"/>
            <a:ext cx="2920063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 we proceed from A to H, we will place a number at each vertex in turn, to indicate the length of the shortest path from A (or whatever starting point) to that vertex. We’ve also labelled that edge in red</a:t>
            </a:r>
          </a:p>
        </p:txBody>
      </p:sp>
      <p:pic>
        <p:nvPicPr>
          <p:cNvPr id="8" name="Picture 7" descr="A close up of a clock&#10;&#10;Description automatically generated">
            <a:extLst>
              <a:ext uri="{FF2B5EF4-FFF2-40B4-BE49-F238E27FC236}">
                <a16:creationId xmlns:a16="http://schemas.microsoft.com/office/drawing/2014/main" id="{E2654021-D4EF-4354-9400-BBF556EED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073" y="3921550"/>
            <a:ext cx="6612340" cy="255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2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8C3CB-CC4F-4908-BCE7-6B893686EDC4}"/>
              </a:ext>
            </a:extLst>
          </p:cNvPr>
          <p:cNvSpPr txBox="1"/>
          <p:nvPr/>
        </p:nvSpPr>
        <p:spPr>
          <a:xfrm>
            <a:off x="911043" y="384758"/>
            <a:ext cx="201967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continue on to E,F and G, the diagram will look like this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11DF7-768F-4E75-9324-A7AE5BA797D0}"/>
              </a:ext>
            </a:extLst>
          </p:cNvPr>
          <p:cNvSpPr txBox="1"/>
          <p:nvPr/>
        </p:nvSpPr>
        <p:spPr>
          <a:xfrm>
            <a:off x="906174" y="2571958"/>
            <a:ext cx="312857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can then complete the method by continuing on to point H: Thus the shortest path from A to H is 40 units. By backtracking from H back to A, along red numbers only, we see that the shortest path is H-E-B-A</a:t>
            </a:r>
          </a:p>
        </p:txBody>
      </p:sp>
      <p:pic>
        <p:nvPicPr>
          <p:cNvPr id="6" name="Picture 5" descr="A close up of a watch&#10;&#10;Description automatically generated">
            <a:extLst>
              <a:ext uri="{FF2B5EF4-FFF2-40B4-BE49-F238E27FC236}">
                <a16:creationId xmlns:a16="http://schemas.microsoft.com/office/drawing/2014/main" id="{0E5EC87C-DAAB-43E1-AE76-5483CE149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799" y="374534"/>
            <a:ext cx="5256584" cy="2031686"/>
          </a:xfrm>
          <a:prstGeom prst="rect">
            <a:avLst/>
          </a:prstGeom>
        </p:spPr>
      </p:pic>
      <p:pic>
        <p:nvPicPr>
          <p:cNvPr id="7" name="Picture 6" descr="A close up of a watch&#10;&#10;Description automatically generated">
            <a:extLst>
              <a:ext uri="{FF2B5EF4-FFF2-40B4-BE49-F238E27FC236}">
                <a16:creationId xmlns:a16="http://schemas.microsoft.com/office/drawing/2014/main" id="{ADB5DA97-47A2-4509-9649-1861BD28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629" y="2822468"/>
            <a:ext cx="5048790" cy="1965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AB84E7-7F08-4BCC-9B7C-998E064E9F5C}"/>
              </a:ext>
            </a:extLst>
          </p:cNvPr>
          <p:cNvSpPr txBox="1"/>
          <p:nvPr/>
        </p:nvSpPr>
        <p:spPr>
          <a:xfrm>
            <a:off x="1077507" y="5057110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Thus the shortest path is 40 units and is achieved by the route ABEH</a:t>
            </a:r>
          </a:p>
        </p:txBody>
      </p:sp>
    </p:spTree>
    <p:extLst>
      <p:ext uri="{BB962C8B-B14F-4D97-AF65-F5344CB8AC3E}">
        <p14:creationId xmlns:p14="http://schemas.microsoft.com/office/powerpoint/2010/main" val="135523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996FE-96C0-440D-9543-9020BA46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Please complete exercise 6A Sadler</a:t>
            </a:r>
          </a:p>
        </p:txBody>
      </p:sp>
    </p:spTree>
    <p:extLst>
      <p:ext uri="{BB962C8B-B14F-4D97-AF65-F5344CB8AC3E}">
        <p14:creationId xmlns:p14="http://schemas.microsoft.com/office/powerpoint/2010/main" val="3236488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EDBD-11E9-4A67-87EF-91B9A28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71762"/>
            <a:ext cx="10515600" cy="1325563"/>
          </a:xfrm>
        </p:spPr>
        <p:txBody>
          <a:bodyPr/>
          <a:lstStyle/>
          <a:p>
            <a:pPr algn="ctr"/>
            <a:r>
              <a:rPr lang="en-AU" b="1" dirty="0">
                <a:solidFill>
                  <a:schemeClr val="bg2"/>
                </a:solidFill>
                <a:latin typeface="Bahnschrift SemiCondensed" panose="020B0502040204020203" pitchFamily="34" charset="0"/>
              </a:rPr>
              <a:t>Networks will return in Unit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CADAE-C131-4EC5-B5C1-D16700080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3997325"/>
            <a:ext cx="10515600" cy="2308225"/>
          </a:xfrm>
        </p:spPr>
        <p:txBody>
          <a:bodyPr/>
          <a:lstStyle/>
          <a:p>
            <a:pPr marL="0" indent="0">
              <a:buNone/>
            </a:pPr>
            <a:r>
              <a:rPr lang="en-AU" b="1" dirty="0">
                <a:solidFill>
                  <a:schemeClr val="bg2"/>
                </a:solidFill>
              </a:rPr>
              <a:t>Further revision</a:t>
            </a:r>
          </a:p>
          <a:p>
            <a:pPr marL="0" indent="0">
              <a:buNone/>
            </a:pPr>
            <a:r>
              <a:rPr lang="en-AU" dirty="0" err="1">
                <a:solidFill>
                  <a:schemeClr val="bg2"/>
                </a:solidFill>
              </a:rPr>
              <a:t>Misc</a:t>
            </a:r>
            <a:r>
              <a:rPr lang="en-AU" dirty="0">
                <a:solidFill>
                  <a:schemeClr val="bg2"/>
                </a:solidFill>
              </a:rPr>
              <a:t> 6 Sadler</a:t>
            </a:r>
          </a:p>
          <a:p>
            <a:pPr marL="0" indent="0">
              <a:buNone/>
            </a:pPr>
            <a:r>
              <a:rPr lang="en-AU" dirty="0">
                <a:solidFill>
                  <a:schemeClr val="bg2"/>
                </a:solidFill>
              </a:rPr>
              <a:t>Ch 12, 13 and 14 in ATF WACE revision book</a:t>
            </a:r>
          </a:p>
          <a:p>
            <a:pPr marL="0" indent="0">
              <a:buNone/>
            </a:pPr>
            <a:r>
              <a:rPr lang="en-AU" dirty="0" err="1">
                <a:solidFill>
                  <a:schemeClr val="bg2"/>
                </a:solidFill>
              </a:rPr>
              <a:t>Mathspace</a:t>
            </a:r>
            <a:endParaRPr lang="en-A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36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2138</Words>
  <Application>Microsoft Office PowerPoint</Application>
  <PresentationFormat>Widescreen</PresentationFormat>
  <Paragraphs>427</Paragraphs>
  <Slides>43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Bahnschrift SemiCondensed</vt:lpstr>
      <vt:lpstr>Calibri</vt:lpstr>
      <vt:lpstr>Calibri Light</vt:lpstr>
      <vt:lpstr>Cambria Math</vt:lpstr>
      <vt:lpstr>Office Theme</vt:lpstr>
      <vt:lpstr>Networks</vt:lpstr>
      <vt:lpstr>Contents</vt:lpstr>
      <vt:lpstr>Syllabus</vt:lpstr>
      <vt:lpstr>Lesson 1 </vt:lpstr>
      <vt:lpstr>Networks in real life</vt:lpstr>
      <vt:lpstr>PowerPoint Presentation</vt:lpstr>
      <vt:lpstr>Complete Exercise 5A</vt:lpstr>
      <vt:lpstr>Lesson 2 </vt:lpstr>
      <vt:lpstr>PowerPoint Presentation</vt:lpstr>
      <vt:lpstr>PowerPoint Presentation</vt:lpstr>
      <vt:lpstr>PowerPoint Presentation</vt:lpstr>
      <vt:lpstr>Complete Exercise 5B</vt:lpstr>
      <vt:lpstr>Lesson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 4 </vt:lpstr>
      <vt:lpstr>PowerPoint Presentation</vt:lpstr>
      <vt:lpstr>PowerPoint Presentation</vt:lpstr>
      <vt:lpstr>PowerPoint Presentation</vt:lpstr>
      <vt:lpstr>PowerPoint Presentation</vt:lpstr>
      <vt:lpstr>Complete worksheet KLUP</vt:lpstr>
      <vt:lpstr>Lesson 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 6 </vt:lpstr>
      <vt:lpstr>PowerPoint Presentation</vt:lpstr>
      <vt:lpstr>PowerPoint Presentation</vt:lpstr>
      <vt:lpstr>PowerPoint Presentation</vt:lpstr>
      <vt:lpstr>Lesson 7 </vt:lpstr>
      <vt:lpstr>Starting problem</vt:lpstr>
      <vt:lpstr>continued</vt:lpstr>
      <vt:lpstr>PowerPoint Presentation</vt:lpstr>
      <vt:lpstr>PowerPoint Presentation</vt:lpstr>
      <vt:lpstr>PowerPoint Presentation</vt:lpstr>
      <vt:lpstr>Please complete exercise 6A Sadler</vt:lpstr>
      <vt:lpstr>Networks will return in Unit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</dc:title>
  <dc:creator>MORGAN Adam [Baldivis Secondary College]</dc:creator>
  <cp:lastModifiedBy>MORGAN Adam [Baldivis Secondary College]</cp:lastModifiedBy>
  <cp:revision>56</cp:revision>
  <dcterms:created xsi:type="dcterms:W3CDTF">2021-11-17T03:48:45Z</dcterms:created>
  <dcterms:modified xsi:type="dcterms:W3CDTF">2021-11-29T04:40:31Z</dcterms:modified>
</cp:coreProperties>
</file>