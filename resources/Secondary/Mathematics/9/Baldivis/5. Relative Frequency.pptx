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8" r:id="rId2"/>
    <p:sldId id="266" r:id="rId3"/>
    <p:sldId id="281" r:id="rId4"/>
    <p:sldId id="282" r:id="rId5"/>
    <p:sldId id="267" r:id="rId6"/>
    <p:sldId id="268" r:id="rId7"/>
    <p:sldId id="269" r:id="rId8"/>
    <p:sldId id="270" r:id="rId9"/>
    <p:sldId id="271" r:id="rId10"/>
    <p:sldId id="273" r:id="rId11"/>
    <p:sldId id="274" r:id="rId12"/>
    <p:sldId id="275" r:id="rId13"/>
    <p:sldId id="276" r:id="rId14"/>
    <p:sldId id="277" r:id="rId15"/>
    <p:sldId id="278" r:id="rId16"/>
    <p:sldId id="260" r:id="rId17"/>
    <p:sldId id="256" r:id="rId18"/>
    <p:sldId id="257" r:id="rId19"/>
    <p:sldId id="279" r:id="rId20"/>
  </p:sldIdLst>
  <p:sldSz cx="9144000" cy="5715000" type="screen16x10"/>
  <p:notesSz cx="6858000" cy="9144000"/>
  <p:defaultTextStyle>
    <a:defPPr>
      <a:defRPr lang="en-US"/>
    </a:defPPr>
    <a:lvl1pPr marL="0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8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5181" autoAdjust="0"/>
  </p:normalViewPr>
  <p:slideViewPr>
    <p:cSldViewPr snapToGrid="0">
      <p:cViewPr varScale="1">
        <p:scale>
          <a:sx n="88" d="100"/>
          <a:sy n="88" d="100"/>
        </p:scale>
        <p:origin x="13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85FCDA-A895-4CC2-B93B-034283F0357D}" type="datetimeFigureOut">
              <a:rPr lang="en-AU" smtClean="0"/>
              <a:t>16/05/2018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C0FC27-C414-48A6-8678-84749B205E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0721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Answer is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C0FC27-C414-48A6-8678-84749B205ED7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22594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Use car listings ppt for a list of cars to use for this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C0FC27-C414-48A6-8678-84749B205ED7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521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35302"/>
            <a:ext cx="77724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16/05/2018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9751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16/05/2018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7229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7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4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88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66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9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6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16/05/2018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9051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16/05/2018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5072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4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66" indent="0">
              <a:buNone/>
              <a:defRPr sz="135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6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66" indent="0">
              <a:buNone/>
              <a:defRPr sz="135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6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16/05/2018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5314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16/05/2018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492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16/05/2018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8413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60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3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884" indent="0">
              <a:buNone/>
              <a:defRPr sz="1050"/>
            </a:lvl2pPr>
            <a:lvl3pPr marL="685766" indent="0">
              <a:buNone/>
              <a:defRPr sz="900"/>
            </a:lvl3pPr>
            <a:lvl4pPr marL="1028649" indent="0">
              <a:buNone/>
              <a:defRPr sz="750"/>
            </a:lvl4pPr>
            <a:lvl5pPr marL="1371532" indent="0">
              <a:buNone/>
              <a:defRPr sz="750"/>
            </a:lvl5pPr>
            <a:lvl6pPr marL="1714415" indent="0">
              <a:buNone/>
              <a:defRPr sz="750"/>
            </a:lvl6pPr>
            <a:lvl7pPr marL="2057297" indent="0">
              <a:buNone/>
              <a:defRPr sz="750"/>
            </a:lvl7pPr>
            <a:lvl8pPr marL="2400180" indent="0">
              <a:buNone/>
              <a:defRPr sz="750"/>
            </a:lvl8pPr>
            <a:lvl9pPr marL="2743064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16/05/2018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249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60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84" indent="0">
              <a:buNone/>
              <a:defRPr sz="2100"/>
            </a:lvl2pPr>
            <a:lvl3pPr marL="685766" indent="0">
              <a:buNone/>
              <a:defRPr sz="1800"/>
            </a:lvl3pPr>
            <a:lvl4pPr marL="1028649" indent="0">
              <a:buNone/>
              <a:defRPr sz="1500"/>
            </a:lvl4pPr>
            <a:lvl5pPr marL="1371532" indent="0">
              <a:buNone/>
              <a:defRPr sz="1500"/>
            </a:lvl5pPr>
            <a:lvl6pPr marL="1714415" indent="0">
              <a:buNone/>
              <a:defRPr sz="1500"/>
            </a:lvl6pPr>
            <a:lvl7pPr marL="2057297" indent="0">
              <a:buNone/>
              <a:defRPr sz="1500"/>
            </a:lvl7pPr>
            <a:lvl8pPr marL="2400180" indent="0">
              <a:buNone/>
              <a:defRPr sz="1500"/>
            </a:lvl8pPr>
            <a:lvl9pPr marL="2743064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3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884" indent="0">
              <a:buNone/>
              <a:defRPr sz="1050"/>
            </a:lvl2pPr>
            <a:lvl3pPr marL="685766" indent="0">
              <a:buNone/>
              <a:defRPr sz="900"/>
            </a:lvl3pPr>
            <a:lvl4pPr marL="1028649" indent="0">
              <a:buNone/>
              <a:defRPr sz="750"/>
            </a:lvl4pPr>
            <a:lvl5pPr marL="1371532" indent="0">
              <a:buNone/>
              <a:defRPr sz="750"/>
            </a:lvl5pPr>
            <a:lvl6pPr marL="1714415" indent="0">
              <a:buNone/>
              <a:defRPr sz="750"/>
            </a:lvl6pPr>
            <a:lvl7pPr marL="2057297" indent="0">
              <a:buNone/>
              <a:defRPr sz="750"/>
            </a:lvl7pPr>
            <a:lvl8pPr marL="2400180" indent="0">
              <a:buNone/>
              <a:defRPr sz="750"/>
            </a:lvl8pPr>
            <a:lvl9pPr marL="2743064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16/05/2018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2532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16/05/2018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0340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04275"/>
            <a:ext cx="1971675" cy="48431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6" y="304275"/>
            <a:ext cx="5800725" cy="48431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16/05/2018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1463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4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60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A99ED-A8AF-4676-B05C-E766400A731B}" type="datetimeFigureOut">
              <a:rPr lang="en-AU" smtClean="0"/>
              <a:t>16/05/2018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60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60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2070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0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5" y="66904"/>
            <a:ext cx="1702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 8/11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87623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relative frequencies allow us to predict results?</a:t>
            </a:r>
          </a:p>
          <a:p>
            <a:endParaRPr lang="en-AU" sz="2400" dirty="0"/>
          </a:p>
          <a:p>
            <a:r>
              <a:rPr lang="en-AU" sz="2400" dirty="0"/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6F51A0A-FCCD-4066-AD5E-2CFDDA3779A1}"/>
              </a:ext>
            </a:extLst>
          </p:cNvPr>
          <p:cNvSpPr txBox="1">
            <a:spLocks/>
          </p:cNvSpPr>
          <p:nvPr/>
        </p:nvSpPr>
        <p:spPr>
          <a:xfrm>
            <a:off x="381613" y="1302763"/>
            <a:ext cx="6097562" cy="238574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171442" indent="-171442" algn="l" defTabSz="685766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25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07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90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74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56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39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22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05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1800" b="1" dirty="0"/>
              <a:t>Steps to be successful this lesson: 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AU" sz="1800" dirty="0"/>
              <a:t>Get materials out (notebook, pen, pencil, ruler, calculator)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AU" sz="1800" dirty="0"/>
              <a:t>Rule up notebook and write Topic and EQ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AU" sz="1800" dirty="0"/>
              <a:t>Start on review questions </a:t>
            </a:r>
            <a:r>
              <a:rPr lang="en-AU" sz="1800" dirty="0">
                <a:latin typeface="Century Gothic" panose="020B0502020202020204" pitchFamily="34" charset="0"/>
              </a:rPr>
              <a:t>→</a:t>
            </a:r>
            <a:endParaRPr lang="en-AU" sz="1800" dirty="0"/>
          </a:p>
          <a:p>
            <a:pPr>
              <a:buFont typeface="Arial" panose="020B0604020202020204" pitchFamily="34" charset="0"/>
              <a:buAutoNum type="arabicPeriod"/>
            </a:pPr>
            <a:r>
              <a:rPr lang="en-AU" sz="1800" dirty="0"/>
              <a:t>Check your answers with someone sitting next to you 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AU" sz="1800" dirty="0"/>
              <a:t>Is your notebook up to date? (Contents page, glossary, review notes etc.)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506A9B-FC75-4C26-A98E-9642B59EDED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143" t="27105" r="29143" b="58461"/>
          <a:stretch/>
        </p:blipFill>
        <p:spPr>
          <a:xfrm>
            <a:off x="2743200" y="3809075"/>
            <a:ext cx="6036588" cy="102714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C3E094E-9C0E-486F-93AD-857192D577C5}"/>
              </a:ext>
            </a:extLst>
          </p:cNvPr>
          <p:cNvSpPr/>
          <p:nvPr/>
        </p:nvSpPr>
        <p:spPr>
          <a:xfrm>
            <a:off x="2712717" y="4951037"/>
            <a:ext cx="60975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Riddle: I am a number with a couple of friends, quarter a dozen, and you'll find me again. What am I?</a:t>
            </a:r>
          </a:p>
        </p:txBody>
      </p:sp>
    </p:spTree>
    <p:extLst>
      <p:ext uri="{BB962C8B-B14F-4D97-AF65-F5344CB8AC3E}">
        <p14:creationId xmlns:p14="http://schemas.microsoft.com/office/powerpoint/2010/main" val="1893565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1612" y="632406"/>
            <a:ext cx="8762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relative frequencies allow us to predict results?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Relative frequency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𝑎𝑛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blipFill rotWithShape="0">
                <a:blip r:embed="rId2"/>
                <a:stretch>
                  <a:fillRect l="-776" b="-57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DF9D60D9-33F7-47C5-8303-59D30D2F1F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3968"/>
          <a:stretch/>
        </p:blipFill>
        <p:spPr>
          <a:xfrm>
            <a:off x="1867823" y="2101828"/>
            <a:ext cx="7276177" cy="17301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71E61DF-2E4F-43D5-B982-71EE093D8F94}"/>
              </a:ext>
            </a:extLst>
          </p:cNvPr>
          <p:cNvSpPr txBox="1"/>
          <p:nvPr/>
        </p:nvSpPr>
        <p:spPr>
          <a:xfrm>
            <a:off x="335917" y="1543675"/>
            <a:ext cx="13935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relative frequency?</a:t>
            </a:r>
          </a:p>
        </p:txBody>
      </p:sp>
    </p:spTree>
    <p:extLst>
      <p:ext uri="{BB962C8B-B14F-4D97-AF65-F5344CB8AC3E}">
        <p14:creationId xmlns:p14="http://schemas.microsoft.com/office/powerpoint/2010/main" val="1403477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FA58DF8-7147-4D8E-8BD0-7BCB32DE0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354" y="400049"/>
            <a:ext cx="6886575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793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779C8B-347A-4038-85C9-6F336341B40A}"/>
              </a:ext>
            </a:extLst>
          </p:cNvPr>
          <p:cNvSpPr txBox="1"/>
          <p:nvPr/>
        </p:nvSpPr>
        <p:spPr>
          <a:xfrm>
            <a:off x="786968" y="4521986"/>
            <a:ext cx="76230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There is a lot of media attention on homelessness in Australia in today’s media. What is the relative frequency that an Australian is homeless </a:t>
            </a:r>
            <a:r>
              <a:rPr lang="en-AU" dirty="0" err="1"/>
              <a:t>complared</a:t>
            </a:r>
            <a:r>
              <a:rPr lang="en-AU" dirty="0"/>
              <a:t> to other nations. </a:t>
            </a:r>
            <a:r>
              <a:rPr lang="en-AU" sz="1200" dirty="0"/>
              <a:t>(Figures are from https://homelessworldcup.org/homelessness-statistics/)</a:t>
            </a:r>
            <a:endParaRPr lang="en-AU" dirty="0"/>
          </a:p>
        </p:txBody>
      </p:sp>
      <p:pic>
        <p:nvPicPr>
          <p:cNvPr id="3" name="UK Homeless Numbers on the Rise">
            <a:hlinkClick r:id="" action="ppaction://media"/>
            <a:extLst>
              <a:ext uri="{FF2B5EF4-FFF2-40B4-BE49-F238E27FC236}">
                <a16:creationId xmlns:a16="http://schemas.microsoft.com/office/drawing/2014/main" id="{34E121F3-408E-41A4-A851-9779B94F7AB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77941" y="159369"/>
            <a:ext cx="7071334" cy="397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741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423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1612" y="573427"/>
            <a:ext cx="8762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relative frequencies allow us to predict results?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247766"/>
              </p:ext>
            </p:extLst>
          </p:nvPr>
        </p:nvGraphicFramePr>
        <p:xfrm>
          <a:off x="2502562" y="2280955"/>
          <a:ext cx="1919236" cy="238680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54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2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Homeless 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Australia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105,000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3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India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78,000,000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England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112,070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France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141,000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Germany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284,000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Canada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Guatemala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475,000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2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USA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610,042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Relative frequency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𝑎𝑛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blipFill rotWithShape="0">
                <a:blip r:embed="rId2"/>
                <a:stretch>
                  <a:fillRect l="-776" b="-57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4740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1612" y="632406"/>
            <a:ext cx="8762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relative frequencies allow us to predict results?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3231760"/>
              </p:ext>
            </p:extLst>
          </p:nvPr>
        </p:nvGraphicFramePr>
        <p:xfrm>
          <a:off x="2502562" y="2280955"/>
          <a:ext cx="6203288" cy="242151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54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65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2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Homeless 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Population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Relative Frequency of Homelessness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Australia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105,000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23,490,700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3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India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78,000,000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1,260,000,000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England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112,070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53,500,000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France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141,000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66,836,154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baseline="0" dirty="0">
                        <a:effectLst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Germany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284,000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80,219,695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Canada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35,540,400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Guatemala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475,000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effectLst/>
                        </a:rPr>
                        <a:t>15,853,144</a:t>
                      </a: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endParaRPr lang="en-AU" sz="1400" dirty="0">
                        <a:latin typeface="+mn-lt"/>
                      </a:endParaRPr>
                    </a:p>
                  </a:txBody>
                  <a:tcPr marL="55395" marR="55395" marT="27697" marB="2769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2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USA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610,042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319,000,000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328078" y="1487912"/>
                <a:ext cx="6286500" cy="5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Relative frequency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𝑎𝑛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8078" y="1487912"/>
                <a:ext cx="6286500" cy="526554"/>
              </a:xfrm>
              <a:prstGeom prst="rect">
                <a:avLst/>
              </a:prstGeom>
              <a:blipFill>
                <a:blip r:embed="rId2"/>
                <a:stretch>
                  <a:fillRect l="-873" b="-697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5186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1612" y="632406"/>
            <a:ext cx="8762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relative frequencies allow us to predict results?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747718"/>
              </p:ext>
            </p:extLst>
          </p:nvPr>
        </p:nvGraphicFramePr>
        <p:xfrm>
          <a:off x="2502562" y="2280955"/>
          <a:ext cx="6203288" cy="242151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54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65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2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Homeless 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Population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Relative Frequency of Homelessness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Australia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105,000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23,490,700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105000 ÷ 23490700        = </a:t>
                      </a:r>
                      <a:r>
                        <a:rPr lang="en-AU" sz="1400" baseline="0" dirty="0">
                          <a:effectLst/>
                        </a:rPr>
                        <a:t> </a:t>
                      </a:r>
                      <a:r>
                        <a:rPr lang="en-AU" sz="1400" dirty="0">
                          <a:effectLst/>
                        </a:rPr>
                        <a:t>0.0045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3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India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78,000,000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1,260,000,000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England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112,070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53,500,000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France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141,000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66,836,154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baseline="0" dirty="0">
                        <a:effectLst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Germany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284,000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80,219,695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Canada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35,540,400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Guatemala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475,000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effectLst/>
                        </a:rPr>
                        <a:t>15,853,144</a:t>
                      </a: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endParaRPr lang="en-AU" sz="1400" dirty="0">
                        <a:latin typeface="+mn-lt"/>
                      </a:endParaRPr>
                    </a:p>
                  </a:txBody>
                  <a:tcPr marL="55395" marR="55395" marT="27697" marB="2769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2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USA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610,042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319,000,000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Relative frequency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𝑎𝑛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blipFill rotWithShape="0">
                <a:blip r:embed="rId2"/>
                <a:stretch>
                  <a:fillRect l="-776" b="-57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1425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1612" y="632406"/>
            <a:ext cx="8762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relative frequencies allow us to predict results?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442684"/>
              </p:ext>
            </p:extLst>
          </p:nvPr>
        </p:nvGraphicFramePr>
        <p:xfrm>
          <a:off x="2502562" y="2280955"/>
          <a:ext cx="6203288" cy="242151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54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65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2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Homeless 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Population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Relative Frequency of Homelessness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Australia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105,000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23,490,700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105000 ÷ 23490700        = </a:t>
                      </a:r>
                      <a:r>
                        <a:rPr lang="en-AU" sz="1400" baseline="0" dirty="0">
                          <a:effectLst/>
                        </a:rPr>
                        <a:t> </a:t>
                      </a:r>
                      <a:r>
                        <a:rPr lang="en-AU" sz="1400" dirty="0">
                          <a:effectLst/>
                        </a:rPr>
                        <a:t>0.0045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3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India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78,000,000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1,260,000,000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78000000</a:t>
                      </a:r>
                      <a:r>
                        <a:rPr lang="en-AU" sz="1400" baseline="0" dirty="0">
                          <a:effectLst/>
                        </a:rPr>
                        <a:t> ÷ 126000000 =  0.06</a:t>
                      </a:r>
                      <a:r>
                        <a:rPr lang="en-AU" sz="1400" baseline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19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England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112,070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53,500,000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France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141,000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66,836,154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baseline="0" dirty="0">
                        <a:effectLst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Germany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284,000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80,219,695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Canada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35,540,400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Guatemala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475,000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effectLst/>
                        </a:rPr>
                        <a:t>15,853,144</a:t>
                      </a: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endParaRPr lang="en-AU" sz="1400" dirty="0">
                        <a:latin typeface="+mn-lt"/>
                      </a:endParaRPr>
                    </a:p>
                  </a:txBody>
                  <a:tcPr marL="55395" marR="55395" marT="27697" marB="2769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2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USA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610,042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319,000,000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Relative frequency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𝑎𝑛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blipFill rotWithShape="0">
                <a:blip r:embed="rId2"/>
                <a:stretch>
                  <a:fillRect l="-776" b="-57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8933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1612" y="632406"/>
            <a:ext cx="8762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relative frequencies allow us to predict results?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029006"/>
              </p:ext>
            </p:extLst>
          </p:nvPr>
        </p:nvGraphicFramePr>
        <p:xfrm>
          <a:off x="2502562" y="2280955"/>
          <a:ext cx="6203288" cy="242151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54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65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2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Homeless 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Population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Relative Frequency of Homelessness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Australia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105,000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23,490,700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105000 ÷ 23490700        = </a:t>
                      </a:r>
                      <a:r>
                        <a:rPr lang="en-AU" sz="1400" baseline="0" dirty="0">
                          <a:effectLst/>
                        </a:rPr>
                        <a:t> </a:t>
                      </a:r>
                      <a:r>
                        <a:rPr lang="en-AU" sz="1400" dirty="0">
                          <a:effectLst/>
                        </a:rPr>
                        <a:t>0.0045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3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India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78,000,000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1,260,000,000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78000000</a:t>
                      </a:r>
                      <a:r>
                        <a:rPr lang="en-AU" sz="1400" baseline="0" dirty="0">
                          <a:effectLst/>
                        </a:rPr>
                        <a:t> ÷ 126000000 =  0.06</a:t>
                      </a:r>
                      <a:r>
                        <a:rPr lang="en-AU" sz="1400" baseline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19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England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112,070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53,500,000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112070 ÷ 53500000        =</a:t>
                      </a:r>
                      <a:r>
                        <a:rPr lang="en-AU" sz="1400" baseline="0" dirty="0">
                          <a:effectLst/>
                        </a:rPr>
                        <a:t>  0.0021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France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141,000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66,836,154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baseline="0" dirty="0">
                        <a:effectLst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Germany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284,000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80,219,695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Canada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35,540,400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Guatemala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475,000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effectLst/>
                        </a:rPr>
                        <a:t>15,853,144</a:t>
                      </a: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endParaRPr lang="en-AU" sz="1400" dirty="0">
                        <a:latin typeface="+mn-lt"/>
                      </a:endParaRPr>
                    </a:p>
                  </a:txBody>
                  <a:tcPr marL="55395" marR="55395" marT="27697" marB="2769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2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USA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610,042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319,000,000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Relative frequency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𝑎𝑛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blipFill rotWithShape="0">
                <a:blip r:embed="rId2"/>
                <a:stretch>
                  <a:fillRect l="-776" b="-57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8642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1612" y="632406"/>
            <a:ext cx="8762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–How do relative frequencies allow us to predict results?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9583"/>
              </p:ext>
            </p:extLst>
          </p:nvPr>
        </p:nvGraphicFramePr>
        <p:xfrm>
          <a:off x="2502562" y="2280955"/>
          <a:ext cx="6203288" cy="242151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54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65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2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Homeless 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Population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Relative Frequency of Homelessness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Australia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105,000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23,490,700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105000 ÷ 23490700        = </a:t>
                      </a:r>
                      <a:r>
                        <a:rPr lang="en-AU" sz="1400" baseline="0" dirty="0">
                          <a:effectLst/>
                        </a:rPr>
                        <a:t> </a:t>
                      </a:r>
                      <a:r>
                        <a:rPr lang="en-AU" sz="1400" dirty="0">
                          <a:effectLst/>
                        </a:rPr>
                        <a:t>0.0045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3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India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78,000,000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1,260,000,000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78000000</a:t>
                      </a:r>
                      <a:r>
                        <a:rPr lang="en-AU" sz="1400" baseline="0" dirty="0">
                          <a:effectLst/>
                        </a:rPr>
                        <a:t> ÷ 126000000 =  0.06</a:t>
                      </a:r>
                      <a:r>
                        <a:rPr lang="en-AU" sz="1400" baseline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19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England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112,070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53,500,000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112070 ÷ 53500000        =</a:t>
                      </a:r>
                      <a:r>
                        <a:rPr lang="en-AU" sz="1400" baseline="0" dirty="0">
                          <a:effectLst/>
                        </a:rPr>
                        <a:t>  0.0021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France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141,000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66,836,154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141000 ÷ 66836154       </a:t>
                      </a:r>
                      <a:r>
                        <a:rPr lang="en-AU" sz="1400" baseline="0" dirty="0">
                          <a:effectLst/>
                        </a:rPr>
                        <a:t> =  0.0021</a:t>
                      </a: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Germany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284,000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80,219,695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Canada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35,540,400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Guatemala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475,000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effectLst/>
                        </a:rPr>
                        <a:t>15,853,144</a:t>
                      </a: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endParaRPr lang="en-AU" sz="1400" dirty="0">
                        <a:latin typeface="+mn-lt"/>
                      </a:endParaRPr>
                    </a:p>
                  </a:txBody>
                  <a:tcPr marL="55395" marR="55395" marT="27697" marB="2769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2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USA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610,042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319,000,000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Relative frequency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𝑎𝑛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blipFill rotWithShape="0">
                <a:blip r:embed="rId2"/>
                <a:stretch>
                  <a:fillRect l="-776" b="-57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8380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1612" y="632406"/>
            <a:ext cx="8762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relative frequencies allow us to predict results?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304943"/>
              </p:ext>
            </p:extLst>
          </p:nvPr>
        </p:nvGraphicFramePr>
        <p:xfrm>
          <a:off x="2502562" y="2280955"/>
          <a:ext cx="6203288" cy="242151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54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65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2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Homeless 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Population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Relative Frequency of Homelessness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Australia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105,000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23,490,700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105000 ÷ 23490700        = </a:t>
                      </a:r>
                      <a:r>
                        <a:rPr lang="en-AU" sz="1400" baseline="0" dirty="0">
                          <a:effectLst/>
                        </a:rPr>
                        <a:t> </a:t>
                      </a:r>
                      <a:r>
                        <a:rPr lang="en-AU" sz="1400" dirty="0">
                          <a:effectLst/>
                        </a:rPr>
                        <a:t>0.0045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3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India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78,000,000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1,260,000,000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78000000</a:t>
                      </a:r>
                      <a:r>
                        <a:rPr lang="en-AU" sz="1400" baseline="0" dirty="0">
                          <a:effectLst/>
                        </a:rPr>
                        <a:t> ÷ 126000000 =  0.06</a:t>
                      </a:r>
                      <a:r>
                        <a:rPr lang="en-AU" sz="1400" baseline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19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England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112,070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53,500,000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112070 ÷ 53500000        =</a:t>
                      </a:r>
                      <a:r>
                        <a:rPr lang="en-AU" sz="1400" baseline="0" dirty="0">
                          <a:effectLst/>
                        </a:rPr>
                        <a:t>  0.0021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France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141,000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66,836,154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141000 ÷ 66836154       </a:t>
                      </a:r>
                      <a:r>
                        <a:rPr lang="en-AU" sz="1400" baseline="0" dirty="0">
                          <a:effectLst/>
                        </a:rPr>
                        <a:t> =  0.0021</a:t>
                      </a: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Germany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284,000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80,219,695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284000 ÷ 80219695       </a:t>
                      </a:r>
                      <a:r>
                        <a:rPr lang="en-AU" sz="1400" baseline="0" dirty="0">
                          <a:effectLst/>
                        </a:rPr>
                        <a:t> =  0.0035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Canada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35,540,400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Guatemala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475,000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effectLst/>
                        </a:rPr>
                        <a:t>15,853,144</a:t>
                      </a: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endParaRPr lang="en-AU" sz="1400" dirty="0">
                        <a:latin typeface="+mn-lt"/>
                      </a:endParaRPr>
                    </a:p>
                  </a:txBody>
                  <a:tcPr marL="55395" marR="55395" marT="27697" marB="2769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2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USA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610,042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319,000,000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Relative frequency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𝑎𝑛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blipFill rotWithShape="0">
                <a:blip r:embed="rId2"/>
                <a:stretch>
                  <a:fillRect l="-776" b="-57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186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1612" y="632406"/>
            <a:ext cx="8762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relative frequencies allow us to predict results?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775983"/>
              </p:ext>
            </p:extLst>
          </p:nvPr>
        </p:nvGraphicFramePr>
        <p:xfrm>
          <a:off x="2502562" y="2280955"/>
          <a:ext cx="6203288" cy="242151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54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65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2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Homeless 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Population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Relative Frequency of Homelessness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Australia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105,000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23,490,700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105000 ÷ 23490700        = </a:t>
                      </a:r>
                      <a:r>
                        <a:rPr lang="en-AU" sz="1400" baseline="0" dirty="0">
                          <a:effectLst/>
                        </a:rPr>
                        <a:t> </a:t>
                      </a:r>
                      <a:r>
                        <a:rPr lang="en-AU" sz="1400" dirty="0">
                          <a:effectLst/>
                        </a:rPr>
                        <a:t>0.0045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3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India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78,000,000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1,260,000,000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78000000</a:t>
                      </a:r>
                      <a:r>
                        <a:rPr lang="en-AU" sz="1400" baseline="0" dirty="0">
                          <a:effectLst/>
                        </a:rPr>
                        <a:t> ÷ 126000000 =  0.06</a:t>
                      </a:r>
                      <a:r>
                        <a:rPr lang="en-AU" sz="1400" baseline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19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England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112,070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53,500,000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112070 ÷ 53500000        =</a:t>
                      </a:r>
                      <a:r>
                        <a:rPr lang="en-AU" sz="1400" baseline="0" dirty="0">
                          <a:effectLst/>
                        </a:rPr>
                        <a:t>  0.0021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France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141,000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66,836,154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141000 ÷ 66836154       </a:t>
                      </a:r>
                      <a:r>
                        <a:rPr lang="en-AU" sz="1400" baseline="0" dirty="0">
                          <a:effectLst/>
                        </a:rPr>
                        <a:t> =  0.0021</a:t>
                      </a: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Germany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284,000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80,219,695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284000 ÷ 80219695       </a:t>
                      </a:r>
                      <a:r>
                        <a:rPr lang="en-AU" sz="1400" baseline="0" dirty="0">
                          <a:effectLst/>
                        </a:rPr>
                        <a:t> =  0.0035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Canada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35,540,400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235000  ÷ 35540400       =  0.0066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Guatemala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475,000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effectLst/>
                        </a:rPr>
                        <a:t>15,853,144</a:t>
                      </a: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endParaRPr lang="en-AU" sz="1400" dirty="0">
                        <a:latin typeface="+mn-lt"/>
                      </a:endParaRPr>
                    </a:p>
                  </a:txBody>
                  <a:tcPr marL="55395" marR="55395" marT="27697" marB="2769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2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USA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610,042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319,000,000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Relative frequency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𝑎𝑛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blipFill rotWithShape="0">
                <a:blip r:embed="rId2"/>
                <a:stretch>
                  <a:fillRect l="-776" b="-57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5617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1612" y="632406"/>
            <a:ext cx="8762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relative frequencies allow us to predict results?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511193"/>
              </p:ext>
            </p:extLst>
          </p:nvPr>
        </p:nvGraphicFramePr>
        <p:xfrm>
          <a:off x="2502562" y="2280955"/>
          <a:ext cx="6203288" cy="242151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54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65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2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Homeless 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Population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Relative Frequency of Homelessness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Australia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105,000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23,490,700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105000 ÷ 23490700        = </a:t>
                      </a:r>
                      <a:r>
                        <a:rPr lang="en-AU" sz="1400" baseline="0" dirty="0">
                          <a:effectLst/>
                        </a:rPr>
                        <a:t> </a:t>
                      </a:r>
                      <a:r>
                        <a:rPr lang="en-AU" sz="1400" dirty="0">
                          <a:effectLst/>
                        </a:rPr>
                        <a:t>0.0045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3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India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78,000,000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1,260,000,000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78000000</a:t>
                      </a:r>
                      <a:r>
                        <a:rPr lang="en-AU" sz="1400" baseline="0" dirty="0">
                          <a:effectLst/>
                        </a:rPr>
                        <a:t> ÷ 126000000 =  0.06</a:t>
                      </a:r>
                      <a:r>
                        <a:rPr lang="en-AU" sz="1400" baseline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19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England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112,070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53,500,000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112070 ÷ 53500000        =</a:t>
                      </a:r>
                      <a:r>
                        <a:rPr lang="en-AU" sz="1400" baseline="0" dirty="0">
                          <a:effectLst/>
                        </a:rPr>
                        <a:t>  0.0021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France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141,000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66,836,154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141000 ÷ 66836154       </a:t>
                      </a:r>
                      <a:r>
                        <a:rPr lang="en-AU" sz="1400" baseline="0" dirty="0">
                          <a:effectLst/>
                        </a:rPr>
                        <a:t> =  0.0021</a:t>
                      </a: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Germany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284,000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80,219,695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284000 ÷ 80219695       </a:t>
                      </a:r>
                      <a:r>
                        <a:rPr lang="en-AU" sz="1400" baseline="0" dirty="0">
                          <a:effectLst/>
                        </a:rPr>
                        <a:t> =  0.0035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Canada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35,540,400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235000  ÷ 35540400       =  0.0066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Guatemala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475,000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effectLst/>
                        </a:rPr>
                        <a:t>15,853,144</a:t>
                      </a: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r>
                        <a:rPr lang="en-AU" sz="1400" dirty="0">
                          <a:latin typeface="+mn-lt"/>
                        </a:rPr>
                        <a:t> =</a:t>
                      </a:r>
                      <a:r>
                        <a:rPr lang="en-AU" sz="1400" baseline="0" dirty="0">
                          <a:latin typeface="+mn-lt"/>
                        </a:rPr>
                        <a:t> 475000  ÷ 15853144       =  0.0300</a:t>
                      </a:r>
                      <a:endParaRPr lang="en-AU" sz="1400" dirty="0">
                        <a:latin typeface="+mn-lt"/>
                      </a:endParaRPr>
                    </a:p>
                  </a:txBody>
                  <a:tcPr marL="55395" marR="55395" marT="27697" marB="2769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2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USA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610,042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319,000,000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Relative frequency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𝑎𝑛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blipFill rotWithShape="0">
                <a:blip r:embed="rId2"/>
                <a:stretch>
                  <a:fillRect l="-776" b="-57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4024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1612" y="632406"/>
            <a:ext cx="8762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relative frequencies allow us to predict results?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502562" y="2280955"/>
          <a:ext cx="6203288" cy="242151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54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65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2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Homeless 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Population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Relative Frequency of Homelessness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Australia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105,000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23,490,700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105000 ÷ 23490700        = </a:t>
                      </a:r>
                      <a:r>
                        <a:rPr lang="en-AU" sz="1400" baseline="0" dirty="0">
                          <a:effectLst/>
                        </a:rPr>
                        <a:t> </a:t>
                      </a:r>
                      <a:r>
                        <a:rPr lang="en-AU" sz="1400" dirty="0">
                          <a:effectLst/>
                        </a:rPr>
                        <a:t>0.0045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3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India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78,000,000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1,260,000,000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78000000</a:t>
                      </a:r>
                      <a:r>
                        <a:rPr lang="en-AU" sz="1400" baseline="0" dirty="0">
                          <a:effectLst/>
                        </a:rPr>
                        <a:t> ÷ 126000000 =  0.06</a:t>
                      </a:r>
                      <a:r>
                        <a:rPr lang="en-AU" sz="1400" baseline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19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England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112,070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53,500,000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112070 ÷ 53500000        =</a:t>
                      </a:r>
                      <a:r>
                        <a:rPr lang="en-AU" sz="1400" baseline="0" dirty="0">
                          <a:effectLst/>
                        </a:rPr>
                        <a:t>  0.0021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France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141,000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66,836,154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141000 ÷ 66836154       </a:t>
                      </a:r>
                      <a:r>
                        <a:rPr lang="en-AU" sz="1400" baseline="0" dirty="0">
                          <a:effectLst/>
                        </a:rPr>
                        <a:t> =  0.0021</a:t>
                      </a: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Germany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284,000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80,219,695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284000 ÷ 80219695       </a:t>
                      </a:r>
                      <a:r>
                        <a:rPr lang="en-AU" sz="1400" baseline="0" dirty="0">
                          <a:effectLst/>
                        </a:rPr>
                        <a:t> =  0.0035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Canada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35,540,400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235000  ÷ 35540400       =  0.0066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Guatemala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475,000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effectLst/>
                        </a:rPr>
                        <a:t>15,853,144</a:t>
                      </a: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r>
                        <a:rPr lang="en-AU" sz="1400" dirty="0">
                          <a:latin typeface="+mn-lt"/>
                        </a:rPr>
                        <a:t> =</a:t>
                      </a:r>
                      <a:r>
                        <a:rPr lang="en-AU" sz="1400" baseline="0" dirty="0">
                          <a:latin typeface="+mn-lt"/>
                        </a:rPr>
                        <a:t> 475000  ÷ 15853144       =  0.0300</a:t>
                      </a:r>
                      <a:endParaRPr lang="en-AU" sz="1400" dirty="0">
                        <a:latin typeface="+mn-lt"/>
                      </a:endParaRPr>
                    </a:p>
                  </a:txBody>
                  <a:tcPr marL="55395" marR="55395" marT="27697" marB="2769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2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USA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610,042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319,000,000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610042</a:t>
                      </a:r>
                      <a:r>
                        <a:rPr lang="en-AU" sz="1400" baseline="0" dirty="0">
                          <a:effectLst/>
                        </a:rPr>
                        <a:t>  ÷  319000000    =  0.0019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Relative frequency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𝑎𝑛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blipFill rotWithShape="0">
                <a:blip r:embed="rId2"/>
                <a:stretch>
                  <a:fillRect l="-776" b="-57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0867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1612" y="632406"/>
            <a:ext cx="8762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relative frequencies allow us to predict results?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502562" y="2280955"/>
          <a:ext cx="6203288" cy="242151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54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65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2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Homeless 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Population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Relative Frequency of Homelessness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Australia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105,000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23,490,700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105000 ÷ 23490700        = </a:t>
                      </a:r>
                      <a:r>
                        <a:rPr lang="en-AU" sz="1400" baseline="0" dirty="0">
                          <a:effectLst/>
                        </a:rPr>
                        <a:t> </a:t>
                      </a:r>
                      <a:r>
                        <a:rPr lang="en-AU" sz="1400" dirty="0">
                          <a:effectLst/>
                        </a:rPr>
                        <a:t>0.0045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3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India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78,000,000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1,260,000,000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78000000</a:t>
                      </a:r>
                      <a:r>
                        <a:rPr lang="en-AU" sz="1400" baseline="0" dirty="0">
                          <a:effectLst/>
                        </a:rPr>
                        <a:t> ÷ 126000000 =  0.06</a:t>
                      </a:r>
                      <a:r>
                        <a:rPr lang="en-AU" sz="1400" baseline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19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England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112,070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53,500,000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112070 ÷ 53500000        =</a:t>
                      </a:r>
                      <a:r>
                        <a:rPr lang="en-AU" sz="1400" baseline="0" dirty="0">
                          <a:effectLst/>
                        </a:rPr>
                        <a:t>  0.0021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France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141,000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66,836,154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141000 ÷ 66836154       </a:t>
                      </a:r>
                      <a:r>
                        <a:rPr lang="en-AU" sz="1400" baseline="0" dirty="0">
                          <a:effectLst/>
                        </a:rPr>
                        <a:t> =  0.0021</a:t>
                      </a: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Germany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284,000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80,219,695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284000 ÷ 80219695       </a:t>
                      </a:r>
                      <a:r>
                        <a:rPr lang="en-AU" sz="1400" baseline="0" dirty="0">
                          <a:effectLst/>
                        </a:rPr>
                        <a:t> =  0.0035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Canada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35,540,400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235000  ÷ 35540400       =  0.0066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Guatemala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475,000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effectLst/>
                        </a:rPr>
                        <a:t>15,853,144</a:t>
                      </a: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r>
                        <a:rPr lang="en-AU" sz="1400" dirty="0">
                          <a:latin typeface="+mn-lt"/>
                        </a:rPr>
                        <a:t> =</a:t>
                      </a:r>
                      <a:r>
                        <a:rPr lang="en-AU" sz="1400" baseline="0" dirty="0">
                          <a:latin typeface="+mn-lt"/>
                        </a:rPr>
                        <a:t> 475000  ÷ 15853144       =  0.0300</a:t>
                      </a:r>
                      <a:endParaRPr lang="en-AU" sz="1400" dirty="0">
                        <a:latin typeface="+mn-lt"/>
                      </a:endParaRPr>
                    </a:p>
                  </a:txBody>
                  <a:tcPr marL="55395" marR="55395" marT="27697" marB="2769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2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USA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610,042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319,000,000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610042</a:t>
                      </a:r>
                      <a:r>
                        <a:rPr lang="en-AU" sz="1400" baseline="0" dirty="0">
                          <a:effectLst/>
                        </a:rPr>
                        <a:t>  ÷  319000000    =  0.0019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Relative frequency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𝑎𝑛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blipFill rotWithShape="0">
                <a:blip r:embed="rId2"/>
                <a:stretch>
                  <a:fillRect l="-776" b="-57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4849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0075" y="209550"/>
            <a:ext cx="6819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Activity</a:t>
            </a:r>
          </a:p>
          <a:p>
            <a:r>
              <a:rPr lang="en-AU" dirty="0"/>
              <a:t>Create a table showing the relative frequency of cars for each category.</a:t>
            </a:r>
          </a:p>
          <a:p>
            <a:endParaRPr lang="en-AU" dirty="0"/>
          </a:p>
          <a:p>
            <a:endParaRPr lang="en-AU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395628"/>
              </p:ext>
            </p:extLst>
          </p:nvPr>
        </p:nvGraphicFramePr>
        <p:xfrm>
          <a:off x="685800" y="914400"/>
          <a:ext cx="7867650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814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0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76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4315">
                <a:tc>
                  <a:txBody>
                    <a:bodyPr/>
                    <a:lstStyle/>
                    <a:p>
                      <a:r>
                        <a:rPr lang="en-AU" dirty="0"/>
                        <a:t>Car</a:t>
                      </a:r>
                      <a:r>
                        <a:rPr lang="en-AU" baseline="0" dirty="0"/>
                        <a:t> cost</a:t>
                      </a:r>
                      <a:endParaRPr lang="en-A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Tally 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Frequency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Relative Frequency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771">
                <a:tc>
                  <a:txBody>
                    <a:bodyPr/>
                    <a:lstStyle/>
                    <a:p>
                      <a:r>
                        <a:rPr lang="en-AU" dirty="0"/>
                        <a:t>Less that $10,000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866">
                <a:tc>
                  <a:txBody>
                    <a:bodyPr/>
                    <a:lstStyle/>
                    <a:p>
                      <a:r>
                        <a:rPr lang="en-AU" dirty="0"/>
                        <a:t>$10,000</a:t>
                      </a:r>
                      <a:r>
                        <a:rPr lang="en-AU" baseline="0" dirty="0"/>
                        <a:t> to $19,999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436"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$20,000</a:t>
                      </a:r>
                      <a:r>
                        <a:rPr lang="en-AU" baseline="0" dirty="0"/>
                        <a:t> to $29,999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531"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$30,000</a:t>
                      </a:r>
                      <a:r>
                        <a:rPr lang="en-AU" baseline="0" dirty="0"/>
                        <a:t> to $39,999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626"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$40,000</a:t>
                      </a:r>
                      <a:r>
                        <a:rPr lang="en-AU" baseline="0" dirty="0"/>
                        <a:t> to $49,999</a:t>
                      </a:r>
                      <a:endParaRPr lang="en-AU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671"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Over</a:t>
                      </a:r>
                      <a:r>
                        <a:rPr lang="en-AU" baseline="0" dirty="0"/>
                        <a:t> $50,000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891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dirty="0"/>
                        <a:t>Total =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799" y="3396525"/>
            <a:ext cx="71342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u="sng" dirty="0"/>
              <a:t>Use the relative frequencies above to answer the following.</a:t>
            </a:r>
          </a:p>
          <a:p>
            <a:pPr marL="342900" indent="-342900">
              <a:buAutoNum type="arabicPeriod"/>
            </a:pPr>
            <a:r>
              <a:rPr lang="en-AU" dirty="0"/>
              <a:t>What is the probability that a car costs less than $10,000?</a:t>
            </a:r>
          </a:p>
          <a:p>
            <a:pPr marL="342900" indent="-342900">
              <a:buAutoNum type="arabicPeriod"/>
            </a:pPr>
            <a:r>
              <a:rPr lang="en-AU" dirty="0"/>
              <a:t>What is the chance that a car costs less than $30,000?</a:t>
            </a:r>
          </a:p>
          <a:p>
            <a:pPr marL="342900" indent="-342900">
              <a:buAutoNum type="arabicPeriod"/>
            </a:pPr>
            <a:r>
              <a:rPr lang="en-AU" dirty="0"/>
              <a:t>What is the likelihood that a car costs between $20,000 and $40,000</a:t>
            </a:r>
          </a:p>
          <a:p>
            <a:pPr marL="342900" indent="-342900">
              <a:buAutoNum type="arabicPeriod"/>
            </a:pPr>
            <a:r>
              <a:rPr lang="en-AU" dirty="0"/>
              <a:t>If a internet site has 4,000 cars for sale, use the relative frequencies above to predict the number of cars for each category.</a:t>
            </a:r>
          </a:p>
        </p:txBody>
      </p:sp>
    </p:spTree>
    <p:extLst>
      <p:ext uri="{BB962C8B-B14F-4D97-AF65-F5344CB8AC3E}">
        <p14:creationId xmlns:p14="http://schemas.microsoft.com/office/powerpoint/2010/main" val="40410819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831" y="0"/>
            <a:ext cx="3811880" cy="138824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831" y="1458837"/>
            <a:ext cx="3811880" cy="134196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832" y="2870989"/>
            <a:ext cx="3811880" cy="134605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831" y="4288625"/>
            <a:ext cx="3811880" cy="134056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1900" y="48383"/>
            <a:ext cx="3827337" cy="133985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1900" y="1458428"/>
            <a:ext cx="3806303" cy="134237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1900" y="2835896"/>
            <a:ext cx="3847893" cy="133510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4015" y="4248458"/>
            <a:ext cx="3823663" cy="137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1661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12" y="73735"/>
            <a:ext cx="3689683" cy="12939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843" y="73734"/>
            <a:ext cx="3833394" cy="136699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713" y="4324703"/>
            <a:ext cx="3689683" cy="129393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712" y="1480056"/>
            <a:ext cx="3689683" cy="129195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712" y="2880254"/>
            <a:ext cx="3706391" cy="131770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5843" y="1480056"/>
            <a:ext cx="3833394" cy="136324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5843" y="2880255"/>
            <a:ext cx="3833394" cy="137578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5843" y="4335834"/>
            <a:ext cx="3833394" cy="135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7653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42975" y="742950"/>
            <a:ext cx="6200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So,</a:t>
            </a:r>
          </a:p>
          <a:p>
            <a:r>
              <a:rPr lang="en-AU" dirty="0"/>
              <a:t>How do relative frequencies allow us to predict results?</a:t>
            </a:r>
          </a:p>
        </p:txBody>
      </p:sp>
    </p:spTree>
    <p:extLst>
      <p:ext uri="{BB962C8B-B14F-4D97-AF65-F5344CB8AC3E}">
        <p14:creationId xmlns:p14="http://schemas.microsoft.com/office/powerpoint/2010/main" val="1273220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30977E4C-76EF-4FCD-9C02-C8D490E8EFBA}" vid="{C09BC989-AE4B-4384-86A8-BD46923AB8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2 - jw</Template>
  <TotalTime>3630</TotalTime>
  <Words>936</Words>
  <Application>Microsoft Office PowerPoint</Application>
  <PresentationFormat>On-screen Show (16:10)</PresentationFormat>
  <Paragraphs>456</Paragraphs>
  <Slides>19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Century Gothic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E4092707</cp:lastModifiedBy>
  <cp:revision>17</cp:revision>
  <dcterms:created xsi:type="dcterms:W3CDTF">2016-11-03T13:11:16Z</dcterms:created>
  <dcterms:modified xsi:type="dcterms:W3CDTF">2018-05-17T22:52:40Z</dcterms:modified>
</cp:coreProperties>
</file>