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8" r:id="rId2"/>
    <p:sldId id="266" r:id="rId3"/>
    <p:sldId id="281" r:id="rId4"/>
    <p:sldId id="282" r:id="rId5"/>
    <p:sldId id="267" r:id="rId6"/>
    <p:sldId id="269" r:id="rId7"/>
    <p:sldId id="283" r:id="rId8"/>
    <p:sldId id="260" r:id="rId9"/>
    <p:sldId id="256" r:id="rId10"/>
    <p:sldId id="257" r:id="rId11"/>
    <p:sldId id="279" r:id="rId12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0" autoAdjust="0"/>
    <p:restoredTop sz="85212" autoAdjust="0"/>
  </p:normalViewPr>
  <p:slideViewPr>
    <p:cSldViewPr snapToGrid="0">
      <p:cViewPr varScale="1">
        <p:scale>
          <a:sx n="106" d="100"/>
          <a:sy n="106" d="100"/>
        </p:scale>
        <p:origin x="1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5FCDA-A895-4CC2-B93B-034283F0357D}" type="datetimeFigureOut">
              <a:rPr lang="en-AU" smtClean="0"/>
              <a:t>13/5/19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0FC27-C414-48A6-8678-84749B205E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721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Answer is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C0FC27-C414-48A6-8678-84749B205ED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2259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 car listings ppt for a list of cars to use for this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C0FC27-C414-48A6-8678-84749B205ED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52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646"/>
            <a:ext cx="9144000" cy="4336521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207623"/>
            <a:ext cx="7929000" cy="2475876"/>
          </a:xfrm>
        </p:spPr>
        <p:txBody>
          <a:bodyPr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4400706"/>
            <a:ext cx="7929000" cy="362478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51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821657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72657"/>
            <a:ext cx="7928999" cy="8087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851906"/>
            <a:ext cx="7915931" cy="303042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3171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4336521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459497"/>
            <a:ext cx="7921064" cy="1224000"/>
          </a:xfr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4401001"/>
            <a:ext cx="7921064" cy="361629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9609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821657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851906"/>
            <a:ext cx="3889405" cy="30323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851906"/>
            <a:ext cx="3895937" cy="30323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388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821657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812396"/>
            <a:ext cx="3892393" cy="480218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292616"/>
            <a:ext cx="3892392" cy="259159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812396"/>
            <a:ext cx="3895937" cy="480218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292616"/>
            <a:ext cx="3895937" cy="259159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9792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821657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108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040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71740"/>
            <a:ext cx="2660650" cy="151220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71740"/>
            <a:ext cx="2660650" cy="1348663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71741"/>
            <a:ext cx="4689475" cy="451246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883949"/>
            <a:ext cx="2660650" cy="300025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9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606269"/>
            <a:ext cx="3639741" cy="1347636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715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953904"/>
            <a:ext cx="3639741" cy="2930304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5034469"/>
            <a:ext cx="732659" cy="304271"/>
          </a:xfrm>
        </p:spPr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5034469"/>
            <a:ext cx="2471560" cy="304271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929907"/>
            <a:ext cx="796616" cy="408833"/>
          </a:xfrm>
        </p:spPr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0043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000500"/>
            <a:ext cx="7921064" cy="47228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0005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472782"/>
            <a:ext cx="7921064" cy="411427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9121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901214"/>
            <a:ext cx="4749312" cy="2699323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1032085"/>
            <a:ext cx="4420380" cy="2204927"/>
          </a:xfr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3" y="3703067"/>
            <a:ext cx="4418727" cy="594368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901214"/>
            <a:ext cx="2857501" cy="3396221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8431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4" y="1905488"/>
            <a:ext cx="3671336" cy="2086643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2029964"/>
            <a:ext cx="3286891" cy="167315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905000"/>
            <a:ext cx="3660225" cy="191293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1762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821657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9766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71741"/>
            <a:ext cx="3391762" cy="4512468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88476"/>
            <a:ext cx="1871093" cy="42789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71741"/>
            <a:ext cx="4958655" cy="4512468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786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7500" y="372657"/>
            <a:ext cx="7928999" cy="80870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1820334"/>
            <a:ext cx="7922464" cy="306199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36" y="5034469"/>
            <a:ext cx="6483240" cy="3042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969" y="5034469"/>
            <a:ext cx="1007780" cy="3042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749" y="4929907"/>
            <a:ext cx="796616" cy="408833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07444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  <a:p>
            <a:endParaRPr lang="en-AU" sz="2400" dirty="0"/>
          </a:p>
          <a:p>
            <a:r>
              <a:rPr lang="en-AU" sz="2400" dirty="0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6F51A0A-FCCD-4066-AD5E-2CFDDA3779A1}"/>
              </a:ext>
            </a:extLst>
          </p:cNvPr>
          <p:cNvSpPr txBox="1">
            <a:spLocks/>
          </p:cNvSpPr>
          <p:nvPr/>
        </p:nvSpPr>
        <p:spPr>
          <a:xfrm>
            <a:off x="2318697" y="1195101"/>
            <a:ext cx="6097562" cy="23857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>
            <a:lvl1pPr marL="171442" indent="-171442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2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07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1800" b="1" dirty="0"/>
              <a:t>Steps to be successful this lesson: 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AU" sz="1800" dirty="0"/>
              <a:t>Get materials out (notebook, pen, pencil, ruler, calculator)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AU" sz="1800" dirty="0"/>
              <a:t>Rule up notebook and write Topic and EQ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AU" sz="1800" dirty="0"/>
              <a:t>Start on review questions </a:t>
            </a:r>
            <a:r>
              <a:rPr lang="en-AU" sz="1800" dirty="0">
                <a:latin typeface="Century Gothic" panose="020B0502020202020204" pitchFamily="34" charset="0"/>
              </a:rPr>
              <a:t>→</a:t>
            </a:r>
            <a:endParaRPr lang="en-AU" sz="1800" dirty="0"/>
          </a:p>
          <a:p>
            <a:pPr>
              <a:buFont typeface="Arial" panose="020B0604020202020204" pitchFamily="34" charset="0"/>
              <a:buAutoNum type="arabicPeriod"/>
            </a:pPr>
            <a:r>
              <a:rPr lang="en-AU" sz="1800" dirty="0"/>
              <a:t>Check your answers with someone sitting next to you 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AU" sz="1800" dirty="0"/>
              <a:t>Is your notebook up to date? (Contents page, glossary, review notes etc.)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506A9B-FC75-4C26-A98E-9642B59EDE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43" t="27105" r="29143" b="58461"/>
          <a:stretch/>
        </p:blipFill>
        <p:spPr>
          <a:xfrm>
            <a:off x="2349184" y="3704516"/>
            <a:ext cx="6036588" cy="10271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3E094E-9C0E-486F-93AD-857192D577C5}"/>
              </a:ext>
            </a:extLst>
          </p:cNvPr>
          <p:cNvSpPr/>
          <p:nvPr/>
        </p:nvSpPr>
        <p:spPr>
          <a:xfrm>
            <a:off x="2288219" y="4855328"/>
            <a:ext cx="60975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Riddle: I am a number with a couple of friends, quarter a dozen, and you'll find me again. What am I?</a:t>
            </a:r>
          </a:p>
        </p:txBody>
      </p:sp>
    </p:spTree>
    <p:extLst>
      <p:ext uri="{BB962C8B-B14F-4D97-AF65-F5344CB8AC3E}">
        <p14:creationId xmlns:p14="http://schemas.microsoft.com/office/powerpoint/2010/main" val="1893565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DF9D60D9-33F7-47C5-8303-59D30D2F1F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968"/>
          <a:stretch/>
        </p:blipFill>
        <p:spPr>
          <a:xfrm>
            <a:off x="1867823" y="2101828"/>
            <a:ext cx="7276177" cy="17301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1E61DF-2E4F-43D5-B982-71EE093D8F94}"/>
              </a:ext>
            </a:extLst>
          </p:cNvPr>
          <p:cNvSpPr txBox="1"/>
          <p:nvPr/>
        </p:nvSpPr>
        <p:spPr>
          <a:xfrm>
            <a:off x="335917" y="1543675"/>
            <a:ext cx="1393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relative frequency?</a:t>
            </a:r>
          </a:p>
        </p:txBody>
      </p:sp>
    </p:spTree>
    <p:extLst>
      <p:ext uri="{BB962C8B-B14F-4D97-AF65-F5344CB8AC3E}">
        <p14:creationId xmlns:p14="http://schemas.microsoft.com/office/powerpoint/2010/main" val="140347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A58DF8-7147-4D8E-8BD0-7BCB32DE0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354" y="400049"/>
            <a:ext cx="688657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9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779C8B-347A-4038-85C9-6F336341B40A}"/>
              </a:ext>
            </a:extLst>
          </p:cNvPr>
          <p:cNvSpPr txBox="1"/>
          <p:nvPr/>
        </p:nvSpPr>
        <p:spPr>
          <a:xfrm>
            <a:off x="786968" y="4521986"/>
            <a:ext cx="7623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There is a lot of media attention on homelessness in Australia in today’s media. What is the relative frequency that an Australian is homeless </a:t>
            </a:r>
            <a:r>
              <a:rPr lang="en-AU" dirty="0" err="1"/>
              <a:t>complared</a:t>
            </a:r>
            <a:r>
              <a:rPr lang="en-AU" dirty="0"/>
              <a:t> to other nations. </a:t>
            </a:r>
            <a:r>
              <a:rPr lang="en-AU" sz="1200" dirty="0"/>
              <a:t>(Figures are from https://homelessworldcup.org/homelessness-statistics/)</a:t>
            </a:r>
            <a:endParaRPr lang="en-AU" dirty="0"/>
          </a:p>
        </p:txBody>
      </p:sp>
      <p:pic>
        <p:nvPicPr>
          <p:cNvPr id="3" name="UK Homeless Numbers on the Rise">
            <a:hlinkClick r:id="" action="ppaction://media"/>
            <a:extLst>
              <a:ext uri="{FF2B5EF4-FFF2-40B4-BE49-F238E27FC236}">
                <a16:creationId xmlns:a16="http://schemas.microsoft.com/office/drawing/2014/main" id="{34E121F3-408E-41A4-A851-9779B94F7A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77941" y="159369"/>
            <a:ext cx="7071334" cy="397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4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2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573427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relative frequencies allow us to predict results</a:t>
            </a:r>
            <a:r>
              <a:rPr lang="en-AU" sz="2400" dirty="0"/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619556" y="1179444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556" y="1179444"/>
                <a:ext cx="6286500" cy="526554"/>
              </a:xfrm>
              <a:prstGeom prst="rect">
                <a:avLst/>
              </a:prstGeom>
              <a:blipFill>
                <a:blip r:embed="rId2"/>
                <a:stretch>
                  <a:fillRect l="-806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3A8A61-590A-D545-8040-634B992EE2DF}"/>
              </a:ext>
            </a:extLst>
          </p:cNvPr>
          <p:cNvCxnSpPr/>
          <p:nvPr/>
        </p:nvCxnSpPr>
        <p:spPr>
          <a:xfrm>
            <a:off x="95644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5F88103-282D-8A49-828B-A301EDB8F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406100"/>
              </p:ext>
            </p:extLst>
          </p:nvPr>
        </p:nvGraphicFramePr>
        <p:xfrm>
          <a:off x="1064731" y="2520880"/>
          <a:ext cx="8127395" cy="30047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3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9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1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1145">
                  <a:extLst>
                    <a:ext uri="{9D8B030D-6E8A-4147-A177-3AD203B41FA5}">
                      <a16:colId xmlns:a16="http://schemas.microsoft.com/office/drawing/2014/main" val="2712606210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of Population (x100)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Australia</a:t>
                      </a:r>
                      <a:endParaRPr lang="en-AU" sz="14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105,000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India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England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France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Germany</a:t>
                      </a:r>
                      <a:endParaRPr lang="en-AU" sz="14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Canada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Guatemala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USA</a:t>
                      </a:r>
                      <a:endParaRPr lang="en-AU" sz="14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3BEB14-195F-9F46-AA73-3906ED71869C}"/>
              </a:ext>
            </a:extLst>
          </p:cNvPr>
          <p:cNvSpPr txBox="1"/>
          <p:nvPr/>
        </p:nvSpPr>
        <p:spPr>
          <a:xfrm>
            <a:off x="1082842" y="2151548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Rule up this table in your INB</a:t>
            </a:r>
          </a:p>
        </p:txBody>
      </p:sp>
    </p:spTree>
    <p:extLst>
      <p:ext uri="{BB962C8B-B14F-4D97-AF65-F5344CB8AC3E}">
        <p14:creationId xmlns:p14="http://schemas.microsoft.com/office/powerpoint/2010/main" val="2914740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20350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82BFC83-666A-AB4A-8528-0E06B6F54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161192"/>
              </p:ext>
            </p:extLst>
          </p:nvPr>
        </p:nvGraphicFramePr>
        <p:xfrm>
          <a:off x="920350" y="1590547"/>
          <a:ext cx="8127395" cy="303802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73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1145">
                  <a:extLst>
                    <a:ext uri="{9D8B030D-6E8A-4147-A177-3AD203B41FA5}">
                      <a16:colId xmlns:a16="http://schemas.microsoft.com/office/drawing/2014/main" val="2712606210"/>
                    </a:ext>
                  </a:extLst>
                </a:gridCol>
              </a:tblGrid>
              <a:tr h="2111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of Population (x100)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Australia</a:t>
                      </a:r>
                      <a:endParaRPr lang="en-AU" sz="14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0.45% of Australia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India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6.19% of India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England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France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Germany</a:t>
                      </a:r>
                      <a:endParaRPr lang="en-AU" sz="14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Canada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Guatemala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USA</a:t>
                      </a:r>
                      <a:endParaRPr lang="en-AU" sz="14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425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20350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612" y="632406"/>
            <a:ext cx="8762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82BFC83-666A-AB4A-8528-0E06B6F54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389744"/>
              </p:ext>
            </p:extLst>
          </p:nvPr>
        </p:nvGraphicFramePr>
        <p:xfrm>
          <a:off x="926186" y="1245960"/>
          <a:ext cx="8127395" cy="287705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5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2862">
                  <a:extLst>
                    <a:ext uri="{9D8B030D-6E8A-4147-A177-3AD203B41FA5}">
                      <a16:colId xmlns:a16="http://schemas.microsoft.com/office/drawing/2014/main" val="2712606210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of Population (x100)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Australia</a:t>
                      </a:r>
                      <a:endParaRPr lang="en-AU" sz="14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0.45% of Australia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India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6.19% of India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England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0.21% of England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France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aseline="0" dirty="0">
                          <a:effectLst/>
                        </a:rPr>
                        <a:t>0.21% of France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Germany</a:t>
                      </a:r>
                      <a:endParaRPr lang="en-AU" sz="14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0.35% of Germany=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Canada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0.66% of Canada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effectLst/>
                        </a:rPr>
                        <a:t>Guatemala</a:t>
                      </a:r>
                      <a:endParaRPr lang="en-AU" sz="1400" b="1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latin typeface="+mn-lt"/>
                        </a:rPr>
                        <a:t>=</a:t>
                      </a:r>
                      <a:r>
                        <a:rPr lang="en-AU" sz="1400" baseline="0" dirty="0">
                          <a:latin typeface="+mn-lt"/>
                        </a:rPr>
                        <a:t> 475000  ÷ 15853144       =  0.0300</a:t>
                      </a:r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dirty="0">
                          <a:latin typeface="+mn-lt"/>
                        </a:rPr>
                        <a:t>3% of Guatemala</a:t>
                      </a: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</a:rPr>
                        <a:t>USA</a:t>
                      </a:r>
                      <a:endParaRPr lang="en-AU" sz="14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610,042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= 610042</a:t>
                      </a:r>
                      <a:r>
                        <a:rPr lang="en-AU" sz="1400" baseline="0" dirty="0">
                          <a:effectLst/>
                        </a:rPr>
                        <a:t>  ÷  319000000    =  0.0019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0.19% of USA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E7B545F-D8A3-4B48-B7AB-5046D04204F6}"/>
              </a:ext>
            </a:extLst>
          </p:cNvPr>
          <p:cNvSpPr txBox="1"/>
          <p:nvPr/>
        </p:nvSpPr>
        <p:spPr>
          <a:xfrm>
            <a:off x="980146" y="4337945"/>
            <a:ext cx="80194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The reason we use the relative frequency, is we can compare like to like, where as comparing raw numbers would not give a true and reflective idea of scale – there is 742.86 times as many homeless people in India when compared to Australia, however, there is only 5.74% more RELATIVE to their population size, which is ~53 times larger than Australia. </a:t>
            </a:r>
          </a:p>
        </p:txBody>
      </p:sp>
    </p:spTree>
    <p:extLst>
      <p:ext uri="{BB962C8B-B14F-4D97-AF65-F5344CB8AC3E}">
        <p14:creationId xmlns:p14="http://schemas.microsoft.com/office/powerpoint/2010/main" val="3346043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75" y="209550"/>
            <a:ext cx="6819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Activity</a:t>
            </a:r>
          </a:p>
          <a:p>
            <a:r>
              <a:rPr lang="en-AU" dirty="0"/>
              <a:t>Create a table showing the relative frequency of cars for each category.</a:t>
            </a:r>
          </a:p>
          <a:p>
            <a:endParaRPr lang="en-AU" dirty="0"/>
          </a:p>
          <a:p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132916"/>
              </p:ext>
            </p:extLst>
          </p:nvPr>
        </p:nvGraphicFramePr>
        <p:xfrm>
          <a:off x="685800" y="1106388"/>
          <a:ext cx="7867650" cy="2583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315">
                <a:tc>
                  <a:txBody>
                    <a:bodyPr/>
                    <a:lstStyle/>
                    <a:p>
                      <a:r>
                        <a:rPr lang="en-AU" dirty="0"/>
                        <a:t>Car</a:t>
                      </a:r>
                      <a:r>
                        <a:rPr lang="en-AU" baseline="0" dirty="0"/>
                        <a:t> cost</a:t>
                      </a:r>
                      <a:endParaRPr lang="en-A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Tally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Frequency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Relative Frequency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771">
                <a:tc>
                  <a:txBody>
                    <a:bodyPr/>
                    <a:lstStyle/>
                    <a:p>
                      <a:r>
                        <a:rPr lang="en-AU" dirty="0"/>
                        <a:t>Less that $10,000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66">
                <a:tc>
                  <a:txBody>
                    <a:bodyPr/>
                    <a:lstStyle/>
                    <a:p>
                      <a:r>
                        <a:rPr lang="en-AU" dirty="0"/>
                        <a:t>$10,000</a:t>
                      </a:r>
                      <a:r>
                        <a:rPr lang="en-AU" baseline="0" dirty="0"/>
                        <a:t> to $19,999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436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$20,000</a:t>
                      </a:r>
                      <a:r>
                        <a:rPr lang="en-AU" baseline="0" dirty="0"/>
                        <a:t> to $29,999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31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$30,000</a:t>
                      </a:r>
                      <a:r>
                        <a:rPr lang="en-AU" baseline="0" dirty="0"/>
                        <a:t> to $39,999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626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$40,000</a:t>
                      </a:r>
                      <a:r>
                        <a:rPr lang="en-AU" baseline="0" dirty="0"/>
                        <a:t> to $49,999</a:t>
                      </a:r>
                      <a:endParaRPr lang="en-A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71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Over</a:t>
                      </a:r>
                      <a:r>
                        <a:rPr lang="en-AU" baseline="0" dirty="0"/>
                        <a:t> $50,000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/>
                        <a:t>Total =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3689568"/>
            <a:ext cx="7134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u="sng" dirty="0"/>
              <a:t>Use the relative frequencies above to answer the following.</a:t>
            </a:r>
          </a:p>
          <a:p>
            <a:pPr marL="342900" indent="-342900">
              <a:buAutoNum type="arabicPeriod"/>
            </a:pPr>
            <a:r>
              <a:rPr lang="en-AU" sz="1600" dirty="0"/>
              <a:t>What is the probability that a car costs less than $10,000?</a:t>
            </a:r>
          </a:p>
          <a:p>
            <a:pPr marL="342900" indent="-342900">
              <a:buAutoNum type="arabicPeriod"/>
            </a:pPr>
            <a:r>
              <a:rPr lang="en-AU" sz="1600" dirty="0"/>
              <a:t>What is the chance that a car costs less than $30,000?</a:t>
            </a:r>
          </a:p>
          <a:p>
            <a:pPr marL="342900" indent="-342900">
              <a:buAutoNum type="arabicPeriod"/>
            </a:pPr>
            <a:r>
              <a:rPr lang="en-AU" sz="1600" dirty="0"/>
              <a:t>What is the likelihood that a car costs between $20,000 and $40,000</a:t>
            </a:r>
          </a:p>
          <a:p>
            <a:pPr marL="342900" indent="-342900">
              <a:buAutoNum type="arabicPeriod"/>
            </a:pPr>
            <a:r>
              <a:rPr lang="en-AU" sz="1600" dirty="0"/>
              <a:t>If a internet site has 4,000 cars for sale, use the relative frequencies above to predict the number of cars for each category.</a:t>
            </a:r>
          </a:p>
        </p:txBody>
      </p:sp>
    </p:spTree>
    <p:extLst>
      <p:ext uri="{BB962C8B-B14F-4D97-AF65-F5344CB8AC3E}">
        <p14:creationId xmlns:p14="http://schemas.microsoft.com/office/powerpoint/2010/main" val="4041081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31" y="0"/>
            <a:ext cx="3811880" cy="13882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31" y="1458837"/>
            <a:ext cx="3811880" cy="13419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32" y="2870989"/>
            <a:ext cx="3811880" cy="13460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31" y="4288625"/>
            <a:ext cx="3811880" cy="13405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1900" y="48383"/>
            <a:ext cx="3827337" cy="13398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1900" y="1458428"/>
            <a:ext cx="3806303" cy="13423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1900" y="2835896"/>
            <a:ext cx="3847893" cy="13351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4015" y="4248458"/>
            <a:ext cx="3823663" cy="137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66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12" y="73735"/>
            <a:ext cx="3689683" cy="12939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843" y="73734"/>
            <a:ext cx="3833394" cy="13669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13" y="4324703"/>
            <a:ext cx="3689683" cy="12939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712" y="1480056"/>
            <a:ext cx="3689683" cy="12919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712" y="2880254"/>
            <a:ext cx="3706391" cy="13177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5843" y="1480056"/>
            <a:ext cx="3833394" cy="13632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5843" y="2880255"/>
            <a:ext cx="3833394" cy="13757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5843" y="4335834"/>
            <a:ext cx="3833394" cy="135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6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2975" y="742950"/>
            <a:ext cx="6200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So,</a:t>
            </a:r>
          </a:p>
          <a:p>
            <a:r>
              <a:rPr lang="en-AU" dirty="0"/>
              <a:t>How do relative frequencies allow us to predict results?</a:t>
            </a:r>
          </a:p>
        </p:txBody>
      </p:sp>
    </p:spTree>
    <p:extLst>
      <p:ext uri="{BB962C8B-B14F-4D97-AF65-F5344CB8AC3E}">
        <p14:creationId xmlns:p14="http://schemas.microsoft.com/office/powerpoint/2010/main" val="12732206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{1914B0F4-D167-E647-B925-DD6B491DD2A7}tf10001121</Template>
  <TotalTime>3644</TotalTime>
  <Words>660</Words>
  <Application>Microsoft Macintosh PowerPoint</Application>
  <PresentationFormat>On-screen Show (16:10)</PresentationFormat>
  <Paragraphs>173</Paragraphs>
  <Slides>11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Century Gothic</vt:lpstr>
      <vt:lpstr>Wingdings 2</vt:lpstr>
      <vt:lpstr>Quotable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POWER Travis [Baldivis Secondary College]</cp:lastModifiedBy>
  <cp:revision>19</cp:revision>
  <dcterms:created xsi:type="dcterms:W3CDTF">2016-11-03T13:11:16Z</dcterms:created>
  <dcterms:modified xsi:type="dcterms:W3CDTF">2019-05-13T14:00:12Z</dcterms:modified>
</cp:coreProperties>
</file>