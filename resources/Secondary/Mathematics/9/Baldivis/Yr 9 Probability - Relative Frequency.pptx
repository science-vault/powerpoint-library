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280" r:id="rId3"/>
    <p:sldId id="281" r:id="rId4"/>
    <p:sldId id="282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60" r:id="rId18"/>
    <p:sldId id="279" r:id="rId19"/>
  </p:sldIdLst>
  <p:sldSz cx="9144000" cy="5715000" type="screen16x10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181" autoAdjust="0"/>
  </p:normalViewPr>
  <p:slideViewPr>
    <p:cSldViewPr snapToGrid="0">
      <p:cViewPr varScale="1">
        <p:scale>
          <a:sx n="108" d="100"/>
          <a:sy n="108" d="100"/>
        </p:scale>
        <p:origin x="10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5FCDA-A895-4CC2-B93B-034283F0357D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0FC27-C414-48A6-8678-84749B205E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72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Use car listings ppt for a list of cars to use for this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C0FC27-C414-48A6-8678-84749B205ED7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52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7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60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60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5"/>
            <a:ext cx="1971675" cy="4843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04275"/>
            <a:ext cx="5800725" cy="4843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24/10/2017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  <a:p>
            <a:endParaRPr lang="en-AU" sz="2400" dirty="0"/>
          </a:p>
          <a:p>
            <a:r>
              <a:rPr lang="en-AU" sz="2400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AD1669-4619-4F95-BC5F-BB028CFD5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80" y="398351"/>
            <a:ext cx="8524551" cy="266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2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A58DF8-7147-4D8E-8BD0-7BCB32DE0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54" y="400049"/>
            <a:ext cx="68865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9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779C8B-347A-4038-85C9-6F336341B40A}"/>
              </a:ext>
            </a:extLst>
          </p:cNvPr>
          <p:cNvSpPr txBox="1"/>
          <p:nvPr/>
        </p:nvSpPr>
        <p:spPr>
          <a:xfrm>
            <a:off x="786968" y="4521986"/>
            <a:ext cx="7623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is a lot of media attention on homelessness in Australia in today’s media. What is the relative frequency that an Australian is homeless </a:t>
            </a:r>
            <a:r>
              <a:rPr lang="en-AU" dirty="0" err="1"/>
              <a:t>complared</a:t>
            </a:r>
            <a:r>
              <a:rPr lang="en-AU" dirty="0"/>
              <a:t> to other nations. </a:t>
            </a:r>
            <a:r>
              <a:rPr lang="en-AU" sz="1200" dirty="0"/>
              <a:t>(Figures are from https://homelessworldcup.org/homelessness-statistics/)</a:t>
            </a:r>
            <a:endParaRPr lang="en-AU" dirty="0"/>
          </a:p>
        </p:txBody>
      </p:sp>
      <p:pic>
        <p:nvPicPr>
          <p:cNvPr id="3" name="UK Homeless Numbers on the Rise">
            <a:hlinkClick r:id="" action="ppaction://media"/>
            <a:extLst>
              <a:ext uri="{FF2B5EF4-FFF2-40B4-BE49-F238E27FC236}">
                <a16:creationId xmlns:a16="http://schemas.microsoft.com/office/drawing/2014/main" id="{34E121F3-408E-41A4-A851-9779B94F7A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77941" y="159369"/>
            <a:ext cx="7071334" cy="397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2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47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47766"/>
              </p:ext>
            </p:extLst>
          </p:nvPr>
        </p:nvGraphicFramePr>
        <p:xfrm>
          <a:off x="2502562" y="2280955"/>
          <a:ext cx="1919236" cy="24062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610,042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474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31760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18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47718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2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42684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933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29006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baseline="0" dirty="0">
                        <a:effectLst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64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958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380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0494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8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77598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617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11193"/>
              </p:ext>
            </p:extLst>
          </p:nvPr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02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867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5" y="66904"/>
            <a:ext cx="1702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8/11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762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relative frequencies allow us to predict results?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49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Relative Frequency</a:t>
            </a:r>
            <a:endParaRPr lang="en-AU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2562" y="2280955"/>
          <a:ext cx="6203288" cy="244099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5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Homeless 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Population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Relative Frequency of Homelessness</a:t>
                      </a:r>
                    </a:p>
                  </a:txBody>
                  <a:tcPr marL="41546" marR="41546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Australia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105,000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23,490,700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105000 ÷ 23490700        = </a:t>
                      </a:r>
                      <a:r>
                        <a:rPr lang="en-AU" sz="1400" baseline="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0.0045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3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India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78,000,000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1,260,000,000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78000000</a:t>
                      </a:r>
                      <a:r>
                        <a:rPr lang="en-AU" sz="1400" baseline="0" dirty="0">
                          <a:effectLst/>
                        </a:rPr>
                        <a:t> ÷ 126000000 =  0.06</a:t>
                      </a:r>
                      <a:r>
                        <a:rPr lang="en-AU" sz="1400" baseline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England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112,070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53,500,000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112070 ÷ 53500000        =</a:t>
                      </a:r>
                      <a:r>
                        <a:rPr lang="en-AU" sz="1400" baseline="0" dirty="0">
                          <a:effectLst/>
                        </a:rPr>
                        <a:t>  0.0021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France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141,000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66,836,154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141000 ÷ 66836154       </a:t>
                      </a:r>
                      <a:r>
                        <a:rPr lang="en-AU" sz="1400" baseline="0" dirty="0">
                          <a:effectLst/>
                        </a:rPr>
                        <a:t> =  0.0021</a:t>
                      </a: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Germany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284,000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80,219,695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284000 ÷ 80219695       </a:t>
                      </a:r>
                      <a:r>
                        <a:rPr lang="en-AU" sz="1400" baseline="0" dirty="0">
                          <a:effectLst/>
                        </a:rPr>
                        <a:t> =  0.0035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Canada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235,000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35,540,400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235000  ÷ 35540400       =  0.0066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Guatemala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475,000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15,853,144</a:t>
                      </a: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r>
                        <a:rPr lang="en-AU" sz="1400" dirty="0">
                          <a:latin typeface="+mn-lt"/>
                        </a:rPr>
                        <a:t> =</a:t>
                      </a:r>
                      <a:r>
                        <a:rPr lang="en-AU" sz="1400" baseline="0" dirty="0">
                          <a:latin typeface="+mn-lt"/>
                        </a:rPr>
                        <a:t> 475000  ÷ 15853144       =  0.0300</a:t>
                      </a:r>
                      <a:endParaRPr lang="en-AU" sz="1400" dirty="0">
                        <a:latin typeface="+mn-lt"/>
                      </a:endParaRPr>
                    </a:p>
                  </a:txBody>
                  <a:tcPr marL="55395" marR="55395" marT="27697" marB="2769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2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USA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610,042</a:t>
                      </a:r>
                      <a:endParaRPr lang="en-AU" sz="14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319,000,000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 = 610042</a:t>
                      </a:r>
                      <a:r>
                        <a:rPr lang="en-AU" sz="1400" baseline="0" dirty="0">
                          <a:effectLst/>
                        </a:rPr>
                        <a:t>  ÷  319000000    =  0.0019</a:t>
                      </a:r>
                      <a:endParaRPr lang="en-AU" sz="1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546" marR="41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Relative frequency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428750"/>
                <a:ext cx="6286500" cy="526554"/>
              </a:xfrm>
              <a:prstGeom prst="rect">
                <a:avLst/>
              </a:prstGeom>
              <a:blipFill rotWithShape="0">
                <a:blip r:embed="rId2"/>
                <a:stretch>
                  <a:fillRect l="-776" b="-57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84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75" y="209550"/>
            <a:ext cx="681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Activity</a:t>
            </a:r>
          </a:p>
          <a:p>
            <a:r>
              <a:rPr lang="en-AU" dirty="0"/>
              <a:t>Create a table showing the relative frequency of cars for each category.</a:t>
            </a:r>
          </a:p>
          <a:p>
            <a:endParaRPr lang="en-AU" dirty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395628"/>
              </p:ext>
            </p:extLst>
          </p:nvPr>
        </p:nvGraphicFramePr>
        <p:xfrm>
          <a:off x="685800" y="914400"/>
          <a:ext cx="786765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15">
                <a:tc>
                  <a:txBody>
                    <a:bodyPr/>
                    <a:lstStyle/>
                    <a:p>
                      <a:r>
                        <a:rPr lang="en-AU" dirty="0"/>
                        <a:t>Car</a:t>
                      </a:r>
                      <a:r>
                        <a:rPr lang="en-AU" baseline="0" dirty="0"/>
                        <a:t> cost</a:t>
                      </a:r>
                      <a:endParaRPr lang="en-AU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Tally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Relative Frequency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71">
                <a:tc>
                  <a:txBody>
                    <a:bodyPr/>
                    <a:lstStyle/>
                    <a:p>
                      <a:r>
                        <a:rPr lang="en-AU" dirty="0"/>
                        <a:t>Less that 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66">
                <a:tc>
                  <a:txBody>
                    <a:bodyPr/>
                    <a:lstStyle/>
                    <a:p>
                      <a:r>
                        <a:rPr lang="en-AU" dirty="0"/>
                        <a:t>$10,000</a:t>
                      </a:r>
                      <a:r>
                        <a:rPr lang="en-AU" baseline="0" dirty="0"/>
                        <a:t> to $19,999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43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$20,000</a:t>
                      </a:r>
                      <a:r>
                        <a:rPr lang="en-AU" baseline="0" dirty="0"/>
                        <a:t> to $29,999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3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$30,000</a:t>
                      </a:r>
                      <a:r>
                        <a:rPr lang="en-AU" baseline="0" dirty="0"/>
                        <a:t> to $39,999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626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$40,000</a:t>
                      </a:r>
                      <a:r>
                        <a:rPr lang="en-AU" baseline="0" dirty="0"/>
                        <a:t> to $49,999</a:t>
                      </a:r>
                      <a:endParaRPr lang="en-A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671"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Over</a:t>
                      </a:r>
                      <a:r>
                        <a:rPr lang="en-AU" baseline="0" dirty="0"/>
                        <a:t> $50,000</a:t>
                      </a:r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91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/>
                        <a:t>Total =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799" y="3396525"/>
            <a:ext cx="71342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u="sng" dirty="0"/>
              <a:t>Use the relative frequencies above to answer the following.</a:t>
            </a:r>
          </a:p>
          <a:p>
            <a:pPr marL="342900" indent="-342900">
              <a:buAutoNum type="arabicPeriod"/>
            </a:pPr>
            <a:r>
              <a:rPr lang="en-AU" dirty="0"/>
              <a:t>What is the probability that a car costs less than $10,000?</a:t>
            </a:r>
          </a:p>
          <a:p>
            <a:pPr marL="342900" indent="-342900">
              <a:buAutoNum type="arabicPeriod"/>
            </a:pPr>
            <a:r>
              <a:rPr lang="en-AU" dirty="0"/>
              <a:t>What is the chance that a car costs less than $30,000?</a:t>
            </a:r>
          </a:p>
          <a:p>
            <a:pPr marL="342900" indent="-342900">
              <a:buAutoNum type="arabicPeriod"/>
            </a:pPr>
            <a:r>
              <a:rPr lang="en-AU" dirty="0"/>
              <a:t>What is the likelihood that a car costs between $20,000 and $40,000</a:t>
            </a:r>
          </a:p>
          <a:p>
            <a:pPr marL="342900" indent="-342900">
              <a:buAutoNum type="arabicPeriod"/>
            </a:pPr>
            <a:r>
              <a:rPr lang="en-AU" dirty="0"/>
              <a:t>If a internet site has 4,000 cars for sale, use the relative frequencies above to predict the number of cars for each category.</a:t>
            </a:r>
          </a:p>
        </p:txBody>
      </p:sp>
    </p:spTree>
    <p:extLst>
      <p:ext uri="{BB962C8B-B14F-4D97-AF65-F5344CB8AC3E}">
        <p14:creationId xmlns:p14="http://schemas.microsoft.com/office/powerpoint/2010/main" val="404108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975" y="742950"/>
            <a:ext cx="6200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So,</a:t>
            </a:r>
          </a:p>
          <a:p>
            <a:r>
              <a:rPr lang="en-AU" dirty="0"/>
              <a:t>How do relative frequencies allow us to predict results?</a:t>
            </a:r>
          </a:p>
        </p:txBody>
      </p:sp>
    </p:spTree>
    <p:extLst>
      <p:ext uri="{BB962C8B-B14F-4D97-AF65-F5344CB8AC3E}">
        <p14:creationId xmlns:p14="http://schemas.microsoft.com/office/powerpoint/2010/main" val="127322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0977E4C-76EF-4FCD-9C02-C8D490E8EFBA}" vid="{C09BC989-AE4B-4384-86A8-BD46923AB8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2 - jw</Template>
  <TotalTime>807</TotalTime>
  <Words>865</Words>
  <Application>Microsoft Office PowerPoint</Application>
  <PresentationFormat>On-screen Show (16:10)</PresentationFormat>
  <Paragraphs>458</Paragraphs>
  <Slides>18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13</cp:revision>
  <dcterms:created xsi:type="dcterms:W3CDTF">2016-11-03T13:11:16Z</dcterms:created>
  <dcterms:modified xsi:type="dcterms:W3CDTF">2017-10-24T07:11:29Z</dcterms:modified>
</cp:coreProperties>
</file>